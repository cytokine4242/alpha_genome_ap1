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01404cc-c828-e16c-01d6-3e59341f2104}">
          <p14:sldIdLst>
            <p14:sldId id="256"/>
          </p14:sldIdLst>
        </p14:section>
        <p14:section name="Design" id="{aeaa8909-f91c-c833-ece7-019fab163991}">
          <p14:sldIdLst>
            <p14:sldId id="257"/>
            <p14:sldId id="258"/>
          </p14:sldIdLst>
        </p14:section>
        <p14:section name="Findings" id="{c4f17531-031a-7acf-ca7b-93e435df1572}">
          <p14:sldIdLst>
            <p14:sldId id="259"/>
            <p14:sldId id="260"/>
            <p14:sldId id="261"/>
            <p14:sldId id="262"/>
            <p14:sldId id="263"/>
            <p14:sldId id="264"/>
            <p14:sldId id="265"/>
            <p14:sldId id="266"/>
          </p14:sldIdLst>
        </p14:section>
        <p14:section name="Conclusion" id="{8f9b6703-81cc-7cc6-f3aa-e274f2ecd890}">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Mouse cardiomyocytes, young sedentary / aged sedentary / aged exercise. Sites defined by TOBIAS footprints of Fos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definitions pick out largely different sites. Report every result labelled by which definition it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131 kb window is what AlphaGenome takes as input; we only ever edit the middle 600 bp. Each tile is 3 replicate random replacements, averaged. Effects are log2(edited / 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Raw, Dynamic sites lose less to every wide edit. Matching now holds measured snATAC accessibility constant as well as the predicted value, peak width and TSS distance; that removes most of the gap but not all of it. What survives is confined to the 170 bp scale: the motif and the whole peak are worth the same to both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 million footprinted cardiomyocyte TFBS mapped onto the scan. Dynamic is split into its four directional classes because a gain and a loss could cancel in the pooled comparison. The one comparison that survives correction does so only before matching: Age Up sites lean more on KLF/SP neighbours, FDR 0.04 raw and 0.26 matched, so it is context rather than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panel counts every MEF2 footprint, important or not: it is occurrence, not importance. Middle panel is importance, measured against footprint-free tiles at the same distance, so the general fall-off with distance is removed. Right panel: 5.6% of Age Up sites carry a MEF2 footprint within 25 bp against 13.7% of their matched Stable controls (Fisher p 0.004, FDR 0.03); Exercise Down is similar but weaker. No 10-11 bp repeat survives correction, so no fixed protein-protein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promoters a few hundred bp from a TSS, matched on predicted accessibility (0.96 vs 1.12) and peak width (1359 vs 1329 bp). At the Sqstm1 promoter AP-1 is bound in all three conditions, the motif window is worth -1.00 and 81% of the loss sits within 85 bp. At the Psmd11 promoter AP-1 is absent in young and gained in both aged states, the motif is still the strongest window but only -0.58, and the loss is smeared over 114 bp against 83. Psmd11 rises with age, matching the AP-1 gain; the exercise direction does not match, so do not claim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of 16 scan features separate Dynamic from matched Stable. Share of dependence within 85 bp 0.63 vs 0.74, spread 94 vs 86 bp, largest single-base effect 0.74 vs 0.90. Age Up is the most diffuse class of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dose-response slope tracks core quality measured independently from the genome sequence, rho 0.30. Orientation is irrelevant, as expected for a near-palindrome.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titration experiment was designed before this hypothesis existed, so this is a prediction rather than a fit. Caveat: the motif-sensitivity result does not survive matching on measured accessibility; the core-quality result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comparable quantity is a ratio within each element, so assay scale cancels. The class direction disagrees: in the MPRA responsive elements depend MORE on their sequence, which separates intrinsic potential from what sets accessibility in the genome.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mutation-response profile is a null and a well-controlled one: given the same chromatin, the two classes lose the same amount to the same kind of edit. What is not null is the scale at which that is true and the one missing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open: whether the MEF2 deficit at Dynamic sites is detection or genuine differential occupancy of equally-present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r>
              <a:rPr lang="en-US" sz="4000" b="1" dirty="0">
                <a:solidFill>
                  <a:schemeClr val="tx1"/>
                </a:solidFill>
              </a:rPr>
              <a:t> </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FIGUR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5943600"/>
            <a:ext cx="11155680" cy="658368"/>
          </a:xfrm>
          <a:prstGeom prst="rect">
            <a:avLst/>
          </a:prstGeom>
          <a:noFill/>
          <a:ln/>
        </p:spPr>
        <p:txBody>
          <a:bodyPr wrap="square" rtlCol="0"/>
          <a:lstStyle>
            <a:lvl1pPr algn="l" indent="0" marL="0">
              <a:buNone/>
              <a:defRPr lang="en-US" sz="1500" dirty="0">
                <a:solidFill>
                  <a:schemeClr val="tx1"/>
                </a:solidFill>
              </a:defRPr>
            </a:lvl1pPr>
          </a:lstStyle>
          <a:p>
            <a:pPr algn="l" indent="0" marL="0">
              <a:buNone/>
            </a:pPr>
            <a:r>
              <a:rPr lang="en-US" sz="1500" dirty="0">
                <a:solidFill>
                  <a:schemeClr val="tx1"/>
                </a:solidFill>
              </a:rPr>
              <a:t> </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nchor="b"/>
          <a:lstStyle/>
          <a:p>
            <a:pPr algn="l" indent="0" marL="0">
              <a:buNone/>
            </a:pPr>
            <a:r>
              <a:rPr lang="en-US" sz="4000" b="1" dirty="0">
                <a:solidFill>
                  <a:schemeClr val="tx1"/>
                </a:solidFill>
              </a:rPr>
              <a:t>What makes an AP-1 site respond to ageing?</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nchor="t"/>
          <a:lstStyle/>
          <a:p>
            <a:pPr algn="l" indent="0" marL="0">
              <a:buNone/>
            </a:pPr>
            <a:r>
              <a:rPr lang="en-US" sz="1700" dirty="0">
                <a:solidFill>
                  <a:schemeClr val="tx2"/>
                </a:solidFill>
              </a:rPr>
              <a:t>In-silico mutagenesis of every cardiomyocyte AP-1 element with AlphaGenome</a:t>
            </a:r>
            <a:endParaRPr lang="en-US" sz="1700" dirty="0"/>
          </a:p>
          <a:p>
            <a:pPr algn="l" indent="0" marL="0">
              <a:buNone/>
            </a:pPr>
            <a:r>
              <a:rPr lang="en-US" sz="1500" dirty="0">
                <a:solidFill>
                  <a:srgbClr val="595959"/>
                </a:solidFill>
              </a:rPr>
              <a:t>3,678 sites · 364 mutations each · validated against snATAC, RNA and a fibroblast MPRA</a:t>
            </a:r>
            <a:endParaRPr lang="en-US" sz="1700" dirty="0"/>
          </a:p>
        </p:txBody>
      </p:sp>
      <p:sp>
        <p:nvSpPr>
          <p:cNvPr id="4" name="rule"/>
          <p:cNvSpPr/>
          <p:nvPr/>
        </p:nvSpPr>
        <p:spPr>
          <a:xfrm>
            <a:off x="896112" y="3493008"/>
            <a:ext cx="2011680" cy="0"/>
          </a:xfrm>
          <a:prstGeom prst="line">
            <a:avLst/>
          </a:prstGeom>
          <a:noFill/>
          <a:ln w="31750">
            <a:solidFill>
              <a:srgbClr val="11111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Two ways to call a site responsive, and they disagree</a:t>
            </a:r>
            <a:endParaRPr lang="en-US" sz="2800" dirty="0"/>
          </a:p>
        </p:txBody>
      </p:sp>
      <p:sp>
        <p:nvSpPr>
          <p:cNvPr id="3" name="Text 1"/>
          <p:cNvSpPr txBox="1"/>
          <p:nvPr/>
        </p:nvSpPr>
        <p:spPr>
          <a:xfrm>
            <a:off x="502920" y="1234440"/>
            <a:ext cx="5760720" cy="3657600"/>
          </a:xfrm>
          <a:prstGeom prst="rect">
            <a:avLst/>
          </a:prstGeom>
          <a:noFill/>
          <a:ln/>
        </p:spPr>
        <p:txBody>
          <a:bodyPr wrap="square" lIns="0" tIns="0" rIns="0" bIns="0" rtlCol="0" anchor="ctr"/>
          <a:lstStyle/>
          <a:p>
            <a:pPr indent="0" marL="0">
              <a:buNone/>
            </a:pPr>
            <a:r>
              <a:rPr lang="en-US" sz="1900" b="1" dirty="0">
                <a:solidFill>
                  <a:srgbClr val="111111"/>
                </a:solidFill>
              </a:rPr>
              <a:t>Threshold (binary call)</a:t>
            </a:r>
            <a:endParaRPr lang="en-US" sz="1700" dirty="0"/>
          </a:p>
          <a:p>
            <a:pPr indent="0" marL="0">
              <a:spcAft>
                <a:spcPts val="1400"/>
              </a:spcAft>
              <a:buNone/>
            </a:pPr>
            <a:r>
              <a:rPr lang="en-US" sz="1700" dirty="0">
                <a:solidFill>
                  <a:srgbClr val="111111"/>
                </a:solidFill>
              </a:rPr>
              <a:t>The TOBIAS footprint crosses the calling threshold between conditions. Age Up 396, Age Down 179, Exercise Up 186, Exercise Down 276. Stable = called in all three conditions, 2,907 sites.</a:t>
            </a:r>
            <a:endParaRPr lang="en-US" sz="1700" dirty="0"/>
          </a:p>
          <a:p>
            <a:pPr indent="0" marL="0">
              <a:buNone/>
            </a:pPr>
            <a:r>
              <a:rPr lang="en-US" sz="1900" b="1" dirty="0">
                <a:solidFill>
                  <a:srgbClr val="111111"/>
                </a:solidFill>
              </a:rPr>
              <a:t>Δscore (graded)</a:t>
            </a:r>
            <a:endParaRPr lang="en-US" sz="1700" dirty="0"/>
          </a:p>
          <a:p>
            <a:pPr indent="0" marL="0">
              <a:spcAft>
                <a:spcPts val="1400"/>
              </a:spcAft>
              <a:buNone/>
            </a:pPr>
            <a:r>
              <a:rPr lang="en-US" sz="1700" dirty="0">
                <a:solidFill>
                  <a:srgbClr val="111111"/>
                </a:solidFill>
              </a:rPr>
              <a:t>The top fifth of the change in binding score, whether or not the call ever crossed the line. 736 sites each way.</a:t>
            </a:r>
            <a:endParaRPr lang="en-US" sz="1700" dirty="0"/>
          </a:p>
          <a:p>
            <a:pPr indent="0" marL="0">
              <a:buNone/>
            </a:pPr>
            <a:r>
              <a:rPr lang="en-US" sz="1700" dirty="0">
                <a:solidFill>
                  <a:srgbClr val="595959"/>
                </a:solidFill>
              </a:rPr>
              <a:t>Only 22% of Δscore-Up sites ever cross the threshold, and 40% of threshold-Stable sites show a large score change.</a:t>
            </a:r>
            <a:endParaRPr lang="en-US" sz="1700" dirty="0"/>
          </a:p>
        </p:txBody>
      </p:sp>
      <p:sp>
        <p:nvSpPr>
          <p:cNvPr id="4" name="stat-0"/>
          <p:cNvSpPr/>
          <p:nvPr/>
        </p:nvSpPr>
        <p:spPr>
          <a:xfrm>
            <a:off x="502920" y="5074920"/>
            <a:ext cx="5440680" cy="1234440"/>
          </a:xfrm>
          <a:prstGeom prst="roundRect">
            <a:avLst>
              <a:gd name="adj" fmla="val 4444"/>
            </a:avLst>
          </a:prstGeom>
          <a:solidFill>
            <a:srgbClr val="F2F2F2"/>
          </a:solidFill>
          <a:ln w="12700">
            <a:solidFill>
              <a:srgbClr val="E2E2E2"/>
            </a:solidFill>
            <a:prstDash val="solid"/>
          </a:ln>
        </p:spPr>
      </p:sp>
      <p:sp>
        <p:nvSpPr>
          <p:cNvPr id="5" name="Text 3"/>
          <p:cNvSpPr txBox="1"/>
          <p:nvPr/>
        </p:nvSpPr>
        <p:spPr>
          <a:xfrm>
            <a:off x="612648" y="516636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ρ 0.57</a:t>
            </a:r>
            <a:endParaRPr lang="en-US" sz="3000" dirty="0"/>
          </a:p>
        </p:txBody>
      </p:sp>
      <p:sp>
        <p:nvSpPr>
          <p:cNvPr id="6" name="Text 4"/>
          <p:cNvSpPr txBox="1"/>
          <p:nvPr/>
        </p:nvSpPr>
        <p:spPr>
          <a:xfrm>
            <a:off x="612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Δscore vs the measured snATAC change with age</a:t>
            </a:r>
            <a:endParaRPr lang="en-US" sz="1200" dirty="0"/>
          </a:p>
        </p:txBody>
      </p:sp>
      <p:sp>
        <p:nvSpPr>
          <p:cNvPr id="7" name="stat-1"/>
          <p:cNvSpPr/>
          <p:nvPr/>
        </p:nvSpPr>
        <p:spPr>
          <a:xfrm>
            <a:off x="6217920" y="5074920"/>
            <a:ext cx="5440680" cy="1234440"/>
          </a:xfrm>
          <a:prstGeom prst="roundRect">
            <a:avLst>
              <a:gd name="adj" fmla="val 4444"/>
            </a:avLst>
          </a:prstGeom>
          <a:solidFill>
            <a:srgbClr val="F2F2F2"/>
          </a:solidFill>
          <a:ln w="12700">
            <a:solidFill>
              <a:srgbClr val="E2E2E2"/>
            </a:solidFill>
            <a:prstDash val="solid"/>
          </a:ln>
        </p:spPr>
      </p:sp>
      <p:sp>
        <p:nvSpPr>
          <p:cNvPr id="8" name="Text 6"/>
          <p:cNvSpPr txBox="1"/>
          <p:nvPr/>
        </p:nvSpPr>
        <p:spPr>
          <a:xfrm>
            <a:off x="6327648" y="516636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ρ 0.31</a:t>
            </a:r>
            <a:endParaRPr lang="en-US" sz="3000" dirty="0"/>
          </a:p>
        </p:txBody>
      </p:sp>
      <p:sp>
        <p:nvSpPr>
          <p:cNvPr id="9" name="Text 7"/>
          <p:cNvSpPr txBox="1"/>
          <p:nvPr/>
        </p:nvSpPr>
        <p:spPr>
          <a:xfrm>
            <a:off x="6327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threshold class vs the same measured change</a:t>
            </a:r>
            <a:endParaRPr lang="en-US" sz="1200" dirty="0"/>
          </a:p>
        </p:txBody>
      </p:sp>
      <p:sp>
        <p:nvSpPr>
          <p:cNvPr id="10" name="matching-note"/>
          <p:cNvSpPr txBox="1"/>
          <p:nvPr/>
        </p:nvSpPr>
        <p:spPr>
          <a:xfrm>
            <a:off x="6492240" y="1371600"/>
            <a:ext cx="5166360" cy="1371600"/>
          </a:xfrm>
          <a:prstGeom prst="rect">
            <a:avLst/>
          </a:prstGeom>
          <a:solidFill>
            <a:srgbClr val="F2F2F2"/>
          </a:solidFill>
          <a:ln/>
        </p:spPr>
        <p:txBody>
          <a:bodyPr wrap="square" lIns="152400" tIns="152400" rIns="152400" bIns="152400" rtlCol="0" anchor="ctr"/>
          <a:lstStyle/>
          <a:p>
            <a:pPr indent="0" marL="0">
              <a:buNone/>
            </a:pPr>
            <a:r>
              <a:rPr lang="en-US" sz="1500" dirty="0">
                <a:solidFill>
                  <a:srgbClr val="111111"/>
                </a:solidFill>
              </a:rPr>
              <a:t>Every comparison below matches each responsive site to a Stable site on predicted accessibility, peak width, TSS distance and measured accessibility.</a:t>
            </a:r>
            <a:endParaRPr lang="en-US" sz="1500" dirty="0"/>
          </a:p>
        </p:txBody>
      </p:sp>
      <p:sp>
        <p:nvSpPr>
          <p:cNvPr id="11" name="Text 9"/>
          <p:cNvSpPr txBox="1"/>
          <p:nvPr/>
        </p:nvSpPr>
        <p:spPr>
          <a:xfrm>
            <a:off x="6492240" y="2971800"/>
            <a:ext cx="5166360" cy="1920240"/>
          </a:xfrm>
          <a:prstGeom prst="rect">
            <a:avLst/>
          </a:prstGeom>
          <a:noFill/>
          <a:ln/>
        </p:spPr>
        <p:txBody>
          <a:bodyPr wrap="square" lIns="0" tIns="0" rIns="0" bIns="0" rtlCol="0" anchor="ctr"/>
          <a:lstStyle/>
          <a:p>
            <a:pPr indent="0" marL="0">
              <a:buNone/>
            </a:pPr>
            <a:r>
              <a:rPr lang="en-US" sz="1700" b="1" dirty="0">
                <a:solidFill>
                  <a:srgbClr val="000000"/>
                </a:solidFill>
              </a:rPr>
              <a:t>Which to believe?</a:t>
            </a:r>
            <a:endParaRPr lang="en-US" sz="1700" dirty="0"/>
          </a:p>
          <a:p>
            <a:pPr indent="0" marL="0">
              <a:buNone/>
            </a:pPr>
            <a:r>
              <a:rPr lang="en-US" sz="1500" dirty="0">
                <a:solidFill>
                  <a:srgbClr val="595959"/>
                </a:solidFill>
              </a:rPr>
              <a:t>Δscore tracks the measured snATAC change about twice as well, so it is the better description of what actually changed. The threshold call is what the field reports, so both are carried through and every result below is labelled with the one it comes from.</a:t>
            </a:r>
            <a:endParaRPr lang="en-US" sz="1700" dirty="0"/>
          </a:p>
        </p:txBody>
      </p:sp>
      <p:sp>
        <p:nvSpPr>
          <p:cNvPr id="1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one site looks like</a:t>
            </a:r>
            <a:endParaRPr lang="en-US" sz="2800" dirty="0"/>
          </a:p>
        </p:txBody>
      </p:sp>
      <p:pic>
        <p:nvPicPr>
          <p:cNvPr id="3" name="Image 0" descr="/Users/z5162865/WongLab/AlphaGenome_Ap1/Analysis/slide_figures/s0_element.png">    </p:cNvPr>
          <p:cNvPicPr>
            <a:picLocks noChangeAspect="1"/>
          </p:cNvPicPr>
          <p:nvPr/>
        </p:nvPicPr>
        <p:blipFill>
          <a:blip r:embed="rId1"/>
          <a:stretch>
            <a:fillRect/>
          </a:stretch>
        </p:blipFill>
        <p:spPr>
          <a:xfrm>
            <a:off x="897451" y="1143000"/>
            <a:ext cx="10366617" cy="3520440"/>
          </a:xfrm>
          <a:prstGeom prst="rect">
            <a:avLst/>
          </a:prstGeom>
        </p:spPr>
      </p:pic>
      <p:sp>
        <p:nvSpPr>
          <p:cNvPr id="4" name="stat-0"/>
          <p:cNvSpPr/>
          <p:nvPr/>
        </p:nvSpPr>
        <p:spPr>
          <a:xfrm>
            <a:off x="502920" y="4846320"/>
            <a:ext cx="3535680" cy="868680"/>
          </a:xfrm>
          <a:prstGeom prst="roundRect">
            <a:avLst>
              <a:gd name="adj" fmla="val 6316"/>
            </a:avLst>
          </a:prstGeom>
          <a:solidFill>
            <a:srgbClr val="F2F2F2"/>
          </a:solidFill>
          <a:ln w="12700">
            <a:solidFill>
              <a:srgbClr val="E2E2E2"/>
            </a:solidFill>
            <a:prstDash val="solid"/>
          </a:ln>
        </p:spPr>
      </p:sp>
      <p:sp>
        <p:nvSpPr>
          <p:cNvPr id="5" name="Text 2"/>
          <p:cNvSpPr txBox="1"/>
          <p:nvPr/>
        </p:nvSpPr>
        <p:spPr>
          <a:xfrm>
            <a:off x="61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3,678</a:t>
            </a:r>
            <a:endParaRPr lang="en-US" sz="3000" dirty="0"/>
          </a:p>
        </p:txBody>
      </p:sp>
      <p:sp>
        <p:nvSpPr>
          <p:cNvPr id="6" name="Text 3"/>
          <p:cNvSpPr txBox="1"/>
          <p:nvPr/>
        </p:nvSpPr>
        <p:spPr>
          <a:xfrm>
            <a:off x="61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cardiomyocyte AP-1 sites</a:t>
            </a:r>
            <a:endParaRPr lang="en-US" sz="1200" dirty="0"/>
          </a:p>
        </p:txBody>
      </p:sp>
      <p:sp>
        <p:nvSpPr>
          <p:cNvPr id="7" name="stat-1"/>
          <p:cNvSpPr/>
          <p:nvPr/>
        </p:nvSpPr>
        <p:spPr>
          <a:xfrm>
            <a:off x="4312920" y="4846320"/>
            <a:ext cx="3535680" cy="868680"/>
          </a:xfrm>
          <a:prstGeom prst="roundRect">
            <a:avLst>
              <a:gd name="adj" fmla="val 6316"/>
            </a:avLst>
          </a:prstGeom>
          <a:solidFill>
            <a:srgbClr val="F2F2F2"/>
          </a:solidFill>
          <a:ln w="12700">
            <a:solidFill>
              <a:srgbClr val="E2E2E2"/>
            </a:solidFill>
            <a:prstDash val="solid"/>
          </a:ln>
        </p:spPr>
      </p:sp>
      <p:sp>
        <p:nvSpPr>
          <p:cNvPr id="8" name="Text 5"/>
          <p:cNvSpPr txBox="1"/>
          <p:nvPr/>
        </p:nvSpPr>
        <p:spPr>
          <a:xfrm>
            <a:off x="442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364</a:t>
            </a:r>
            <a:endParaRPr lang="en-US" sz="3000" dirty="0"/>
          </a:p>
        </p:txBody>
      </p:sp>
      <p:sp>
        <p:nvSpPr>
          <p:cNvPr id="9" name="Text 6"/>
          <p:cNvSpPr txBox="1"/>
          <p:nvPr/>
        </p:nvSpPr>
        <p:spPr>
          <a:xfrm>
            <a:off x="442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edits of each one</a:t>
            </a:r>
            <a:endParaRPr lang="en-US" sz="1200" dirty="0"/>
          </a:p>
        </p:txBody>
      </p:sp>
      <p:sp>
        <p:nvSpPr>
          <p:cNvPr id="10" name="stat-2"/>
          <p:cNvSpPr/>
          <p:nvPr/>
        </p:nvSpPr>
        <p:spPr>
          <a:xfrm>
            <a:off x="8122920" y="4846320"/>
            <a:ext cx="3535680" cy="868680"/>
          </a:xfrm>
          <a:prstGeom prst="roundRect">
            <a:avLst>
              <a:gd name="adj" fmla="val 6316"/>
            </a:avLst>
          </a:prstGeom>
          <a:solidFill>
            <a:srgbClr val="F2F2F2"/>
          </a:solidFill>
          <a:ln w="12700">
            <a:solidFill>
              <a:srgbClr val="E2E2E2"/>
            </a:solidFill>
            <a:prstDash val="solid"/>
          </a:ln>
        </p:spPr>
      </p:sp>
      <p:sp>
        <p:nvSpPr>
          <p:cNvPr id="11" name="Text 8"/>
          <p:cNvSpPr txBox="1"/>
          <p:nvPr/>
        </p:nvSpPr>
        <p:spPr>
          <a:xfrm>
            <a:off x="8232648" y="4937760"/>
            <a:ext cx="3316224" cy="548640"/>
          </a:xfrm>
          <a:prstGeom prst="rect">
            <a:avLst/>
          </a:prstGeom>
          <a:noFill/>
          <a:ln/>
        </p:spPr>
        <p:txBody>
          <a:bodyPr wrap="square" lIns="0" tIns="0" rIns="0" bIns="0" rtlCol="0" anchor="ctr"/>
          <a:lstStyle/>
          <a:p>
            <a:pPr algn="ctr" indent="0" marL="0">
              <a:buNone/>
            </a:pPr>
            <a:r>
              <a:rPr lang="en-US" sz="3000" b="1" dirty="0">
                <a:solidFill>
                  <a:srgbClr val="C2551C"/>
                </a:solidFill>
              </a:rPr>
              <a:t>772 / 2,907</a:t>
            </a:r>
            <a:endParaRPr lang="en-US" sz="3000" dirty="0"/>
          </a:p>
        </p:txBody>
      </p:sp>
      <p:sp>
        <p:nvSpPr>
          <p:cNvPr id="12" name="Text 9"/>
          <p:cNvSpPr txBox="1"/>
          <p:nvPr/>
        </p:nvSpPr>
        <p:spPr>
          <a:xfrm>
            <a:off x="823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Dynamic against Stable sites</a:t>
            </a:r>
            <a:endParaRPr lang="en-US" sz="120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edit is read as the change in predicted accessibility over the surrounding 170 bp</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Most of the difference is chromatin, not sequence</a:t>
            </a:r>
            <a:endParaRPr lang="en-US" sz="2800" dirty="0"/>
          </a:p>
        </p:txBody>
      </p:sp>
      <p:pic>
        <p:nvPicPr>
          <p:cNvPr id="3" name="Image 0" descr="/Users/z5162865/WongLab/AlphaGenome_Ap1/Analysis/slide_figures/d_block.png">    </p:cNvPr>
          <p:cNvPicPr>
            <a:picLocks noChangeAspect="1"/>
          </p:cNvPicPr>
          <p:nvPr/>
        </p:nvPicPr>
        <p:blipFill>
          <a:blip r:embed="rId1"/>
          <a:stretch>
            <a:fillRect/>
          </a:stretch>
        </p:blipFill>
        <p:spPr>
          <a:xfrm>
            <a:off x="565042" y="960120"/>
            <a:ext cx="7099516" cy="1005840"/>
          </a:xfrm>
          <a:prstGeom prst="rect">
            <a:avLst/>
          </a:prstGeom>
        </p:spPr>
      </p:pic>
      <p:pic>
        <p:nvPicPr>
          <p:cNvPr id="4" name="Image 1" descr="/Users/z5162865/WongLab/AlphaGenome_Ap1/Analysis/slide_figures/s2_matched_null.png">    </p:cNvPr>
          <p:cNvPicPr>
            <a:picLocks noChangeAspect="1"/>
          </p:cNvPicPr>
          <p:nvPr/>
        </p:nvPicPr>
        <p:blipFill>
          <a:blip r:embed="rId2"/>
          <a:stretch>
            <a:fillRect/>
          </a:stretch>
        </p:blipFill>
        <p:spPr>
          <a:xfrm>
            <a:off x="1832087" y="2029968"/>
            <a:ext cx="8497347" cy="3657600"/>
          </a:xfrm>
          <a:prstGeom prst="rect">
            <a:avLst/>
          </a:prstGeom>
        </p:spPr>
      </p:pic>
      <p:sp>
        <p:nvSpPr>
          <p:cNvPr id="5"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motif and the whole peak behave the same once context is matched; a residual 170 bp difference survives, and the next slide shows what it is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Both classes lean on the same partners</a:t>
            </a:r>
            <a:endParaRPr lang="en-US" sz="2800" dirty="0"/>
          </a:p>
        </p:txBody>
      </p:sp>
      <p:pic>
        <p:nvPicPr>
          <p:cNvPr id="3" name="Image 0" descr="/Users/z5162865/WongLab/AlphaGenome_Ap1/Analysis/slide_figures/d_tile.png">    </p:cNvPr>
          <p:cNvPicPr>
            <a:picLocks noChangeAspect="1"/>
          </p:cNvPicPr>
          <p:nvPr/>
        </p:nvPicPr>
        <p:blipFill>
          <a:blip r:embed="rId1"/>
          <a:stretch>
            <a:fillRect/>
          </a:stretch>
        </p:blipFill>
        <p:spPr>
          <a:xfrm>
            <a:off x="565042" y="960120"/>
            <a:ext cx="7099516" cy="1005840"/>
          </a:xfrm>
          <a:prstGeom prst="rect">
            <a:avLst/>
          </a:prstGeom>
        </p:spPr>
      </p:pic>
      <p:pic>
        <p:nvPicPr>
          <p:cNvPr id="4" name="Image 1" descr="/Users/z5162865/WongLab/AlphaGenome_Ap1/Analysis/slide_figures/s8_partners.png">    </p:cNvPr>
          <p:cNvPicPr>
            <a:picLocks noChangeAspect="1"/>
          </p:cNvPicPr>
          <p:nvPr/>
        </p:nvPicPr>
        <p:blipFill>
          <a:blip r:embed="rId2"/>
          <a:stretch>
            <a:fillRect/>
          </a:stretch>
        </p:blipFill>
        <p:spPr>
          <a:xfrm>
            <a:off x="502920" y="2300013"/>
            <a:ext cx="11155680" cy="3126653"/>
          </a:xfrm>
          <a:prstGeom prst="rect">
            <a:avLst/>
          </a:prstGeom>
        </p:spPr>
      </p:pic>
      <p:sp>
        <p:nvSpPr>
          <p:cNvPr id="5"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ranking is the validation — MEF2, GATA, NFI, TEAD, none of it told to the model; the class split is the question, and no class leans on a different partner</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are missing their closest MEF2</a:t>
            </a:r>
            <a:endParaRPr lang="en-US" sz="2800" dirty="0"/>
          </a:p>
        </p:txBody>
      </p:sp>
      <p:pic>
        <p:nvPicPr>
          <p:cNvPr id="3" name="Image 0" descr="/Users/z5162865/WongLab/AlphaGenome_Ap1/Analysis/slide_figures/s7_spacing.png">    </p:cNvPr>
          <p:cNvPicPr>
            <a:picLocks noChangeAspect="1"/>
          </p:cNvPicPr>
          <p:nvPr/>
        </p:nvPicPr>
        <p:blipFill>
          <a:blip r:embed="rId1"/>
          <a:stretch>
            <a:fillRect/>
          </a:stretch>
        </p:blipFill>
        <p:spPr>
          <a:xfrm>
            <a:off x="502920" y="1703295"/>
            <a:ext cx="11155680" cy="335997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MEF2 sits 2.67× more often right beside the motif than chance, and it is the age-gained sites that lack one (FDR 0.03)</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The same contrast at one pair of promoters</a:t>
            </a:r>
            <a:endParaRPr lang="en-US" sz="2800" dirty="0"/>
          </a:p>
        </p:txBody>
      </p:sp>
      <p:pic>
        <p:nvPicPr>
          <p:cNvPr id="3" name="Image 0" descr="/Users/z5162865/WongLab/AlphaGenome_Ap1/Analysis/example_track/example_scan_track.png">    </p:cNvPr>
          <p:cNvPicPr>
            <a:picLocks noChangeAspect="1"/>
          </p:cNvPicPr>
          <p:nvPr/>
        </p:nvPicPr>
        <p:blipFill>
          <a:blip r:embed="rId1"/>
          <a:stretch>
            <a:fillRect/>
          </a:stretch>
        </p:blipFill>
        <p:spPr>
          <a:xfrm>
            <a:off x="1202961" y="1051560"/>
            <a:ext cx="9755599" cy="475488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stable site has MEF2 abutting its AP-1 motif at 19 bp; the age-gained site has no MEF2 anywhere in the element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spread their dependence out</a:t>
            </a:r>
            <a:endParaRPr lang="en-US" sz="2800" dirty="0"/>
          </a:p>
        </p:txBody>
      </p:sp>
      <p:pic>
        <p:nvPicPr>
          <p:cNvPr id="3" name="Image 0" descr="/Users/z5162865/WongLab/AlphaGenome_Ap1/Analysis/slide_figures/d_base.png">    </p:cNvPr>
          <p:cNvPicPr>
            <a:picLocks noChangeAspect="1"/>
          </p:cNvPicPr>
          <p:nvPr/>
        </p:nvPicPr>
        <p:blipFill>
          <a:blip r:embed="rId1"/>
          <a:stretch>
            <a:fillRect/>
          </a:stretch>
        </p:blipFill>
        <p:spPr>
          <a:xfrm>
            <a:off x="502920" y="998536"/>
            <a:ext cx="7223760" cy="929007"/>
          </a:xfrm>
          <a:prstGeom prst="rect">
            <a:avLst/>
          </a:prstGeom>
        </p:spPr>
      </p:pic>
      <p:pic>
        <p:nvPicPr>
          <p:cNvPr id="4" name="Image 1" descr="/Users/z5162865/WongLab/AlphaGenome_Ap1/Analysis/slide_figures/s3_dependence.png">    </p:cNvPr>
          <p:cNvPicPr>
            <a:picLocks noChangeAspect="1"/>
          </p:cNvPicPr>
          <p:nvPr/>
        </p:nvPicPr>
        <p:blipFill>
          <a:blip r:embed="rId2"/>
          <a:stretch>
            <a:fillRect/>
          </a:stretch>
        </p:blipFill>
        <p:spPr>
          <a:xfrm>
            <a:off x="773919" y="2029968"/>
            <a:ext cx="10613681" cy="3657600"/>
          </a:xfrm>
          <a:prstGeom prst="rect">
            <a:avLst/>
          </a:prstGeom>
        </p:spPr>
      </p:pic>
      <p:sp>
        <p:nvSpPr>
          <p:cNvPr id="5"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this is the part that survives matching: a responsive site has no single anchor holding it open</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Motif strength is a switch; position is a dial</a:t>
            </a:r>
            <a:endParaRPr lang="en-US" sz="2800" dirty="0"/>
          </a:p>
        </p:txBody>
      </p:sp>
      <p:pic>
        <p:nvPicPr>
          <p:cNvPr id="3" name="Image 0" descr="/Users/z5162865/WongLab/AlphaGenome_Ap1/Analysis/slide_figures/d_titr.png">    </p:cNvPr>
          <p:cNvPicPr>
            <a:picLocks noChangeAspect="1"/>
          </p:cNvPicPr>
          <p:nvPr/>
        </p:nvPicPr>
        <p:blipFill>
          <a:blip r:embed="rId1"/>
          <a:stretch>
            <a:fillRect/>
          </a:stretch>
        </p:blipFill>
        <p:spPr>
          <a:xfrm>
            <a:off x="565042" y="960120"/>
            <a:ext cx="7099516" cy="1005840"/>
          </a:xfrm>
          <a:prstGeom prst="rect">
            <a:avLst/>
          </a:prstGeom>
        </p:spPr>
      </p:pic>
      <p:pic>
        <p:nvPicPr>
          <p:cNvPr id="4" name="Image 1" descr="/Users/z5162865/WongLab/AlphaGenome_Ap1/Analysis/slide_figures/s4_titration.png">    </p:cNvPr>
          <p:cNvPicPr>
            <a:picLocks noChangeAspect="1"/>
          </p:cNvPicPr>
          <p:nvPr/>
        </p:nvPicPr>
        <p:blipFill>
          <a:blip r:embed="rId2"/>
          <a:stretch>
            <a:fillRect/>
          </a:stretch>
        </p:blipFill>
        <p:spPr>
          <a:xfrm>
            <a:off x="502920" y="2095594"/>
            <a:ext cx="11155680" cy="3535492"/>
          </a:xfrm>
          <a:prstGeom prst="rect">
            <a:avLst/>
          </a:prstGeom>
        </p:spPr>
      </p:pic>
      <p:sp>
        <p:nvSpPr>
          <p:cNvPr id="5"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one wrong base costs −0.45 of the −0.56 total and a moved motif recovers only a third — but every class titrates the same way</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read AP-1 dosage more sharply</a:t>
            </a:r>
            <a:endParaRPr lang="en-US" sz="2800" dirty="0"/>
          </a:p>
        </p:txBody>
      </p:sp>
      <p:pic>
        <p:nvPicPr>
          <p:cNvPr id="3" name="Image 0" descr="/Users/z5162865/WongLab/AlphaGenome_Ap1/Analysis/slide_figures/s5_age_gained.png">    </p:cNvPr>
          <p:cNvPicPr>
            <a:picLocks noChangeAspect="1"/>
          </p:cNvPicPr>
          <p:nvPr/>
        </p:nvPicPr>
        <p:blipFill>
          <a:blip r:embed="rId1"/>
          <a:stretch>
            <a:fillRect/>
          </a:stretch>
        </p:blipFill>
        <p:spPr>
          <a:xfrm>
            <a:off x="805222" y="1097280"/>
            <a:ext cx="10551077" cy="3794760"/>
          </a:xfrm>
          <a:prstGeom prst="rect">
            <a:avLst/>
          </a:prstGeom>
        </p:spPr>
      </p:pic>
      <p:sp>
        <p:nvSpPr>
          <p:cNvPr id="4" name="massaction"/>
          <p:cNvSpPr txBox="1"/>
          <p:nvPr/>
        </p:nvSpPr>
        <p:spPr>
          <a:xfrm>
            <a:off x="502920" y="5029200"/>
            <a:ext cx="11155680" cy="914400"/>
          </a:xfrm>
          <a:prstGeom prst="rect">
            <a:avLst/>
          </a:prstGeom>
          <a:solidFill>
            <a:srgbClr val="F2F2F2"/>
          </a:solidFill>
          <a:ln/>
        </p:spPr>
        <p:txBody>
          <a:bodyPr wrap="square" lIns="152400" tIns="152400" rIns="152400" bIns="152400" rtlCol="0" anchor="ctr"/>
          <a:lstStyle/>
          <a:p>
            <a:pPr indent="0" marL="0">
              <a:buNone/>
            </a:pPr>
            <a:r>
              <a:rPr lang="en-US" sz="1700" b="1" dirty="0">
                <a:solidFill>
                  <a:srgbClr val="C2551C"/>
                </a:solidFill>
              </a:rPr>
              <a:t>Mass action   </a:t>
            </a:r>
            <a:pPr indent="0" marL="0">
              <a:buNone/>
            </a:pPr>
            <a:r>
              <a:rPr lang="en-US" sz="1500" dirty="0">
                <a:solidFill>
                  <a:srgbClr val="000000"/>
                </a:solidFill>
              </a:rPr>
              <a:t>if ageing raises AP-1 activity, occupancy rises first at the highest-affinity motifs — exactly the sites that gain. Losing binding is not the reverse: age-lost sites show no sequence signature at all.</a:t>
            </a:r>
            <a:endParaRPr lang="en-US" sz="1700" dirty="0"/>
          </a:p>
        </p:txBody>
      </p:sp>
      <p:sp>
        <p:nvSpPr>
          <p:cNvPr id="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An independent reporter assay agrees</a:t>
            </a:r>
            <a:endParaRPr lang="en-US" sz="2800" dirty="0"/>
          </a:p>
        </p:txBody>
      </p:sp>
      <p:pic>
        <p:nvPicPr>
          <p:cNvPr id="3" name="Image 0" descr="/Users/z5162865/WongLab/AlphaGenome_Ap1/Analysis/slide_figures/s6_mpra.png">    </p:cNvPr>
          <p:cNvPicPr>
            <a:picLocks noChangeAspect="1"/>
          </p:cNvPicPr>
          <p:nvPr/>
        </p:nvPicPr>
        <p:blipFill>
          <a:blip r:embed="rId1"/>
          <a:stretch>
            <a:fillRect/>
          </a:stretch>
        </p:blipFill>
        <p:spPr>
          <a:xfrm>
            <a:off x="1191113" y="2240280"/>
            <a:ext cx="9779295" cy="3520440"/>
          </a:xfrm>
          <a:prstGeom prst="rect">
            <a:avLst/>
          </a:prstGeom>
        </p:spPr>
      </p:pic>
      <p:sp>
        <p:nvSpPr>
          <p:cNvPr id="4" name="stat-0"/>
          <p:cNvSpPr/>
          <p:nvPr/>
        </p:nvSpPr>
        <p:spPr>
          <a:xfrm>
            <a:off x="502920" y="1097280"/>
            <a:ext cx="5440680" cy="1051560"/>
          </a:xfrm>
          <a:prstGeom prst="roundRect">
            <a:avLst>
              <a:gd name="adj" fmla="val 5217"/>
            </a:avLst>
          </a:prstGeom>
          <a:solidFill>
            <a:srgbClr val="F2F2F2"/>
          </a:solidFill>
          <a:ln w="12700">
            <a:solidFill>
              <a:srgbClr val="E2E2E2"/>
            </a:solidFill>
            <a:prstDash val="solid"/>
          </a:ln>
        </p:spPr>
      </p:sp>
      <p:sp>
        <p:nvSpPr>
          <p:cNvPr id="5" name="Text 2"/>
          <p:cNvSpPr txBox="1"/>
          <p:nvPr/>
        </p:nvSpPr>
        <p:spPr>
          <a:xfrm>
            <a:off x="612648" y="118872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7.5%</a:t>
            </a:r>
            <a:endParaRPr lang="en-US" sz="3000" dirty="0"/>
          </a:p>
        </p:txBody>
      </p:sp>
      <p:sp>
        <p:nvSpPr>
          <p:cNvPr id="6" name="Text 3"/>
          <p:cNvSpPr txBox="1"/>
          <p:nvPr/>
        </p:nvSpPr>
        <p:spPr>
          <a:xfrm>
            <a:off x="612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AlphaGenome: the motif's share of local dependence</a:t>
            </a:r>
            <a:endParaRPr lang="en-US" sz="1200" dirty="0"/>
          </a:p>
        </p:txBody>
      </p:sp>
      <p:sp>
        <p:nvSpPr>
          <p:cNvPr id="7" name="stat-1"/>
          <p:cNvSpPr/>
          <p:nvPr/>
        </p:nvSpPr>
        <p:spPr>
          <a:xfrm>
            <a:off x="6217920" y="1097280"/>
            <a:ext cx="5440680" cy="1051560"/>
          </a:xfrm>
          <a:prstGeom prst="roundRect">
            <a:avLst>
              <a:gd name="adj" fmla="val 5217"/>
            </a:avLst>
          </a:prstGeom>
          <a:solidFill>
            <a:srgbClr val="F2F2F2"/>
          </a:solidFill>
          <a:ln w="12700">
            <a:solidFill>
              <a:srgbClr val="E2E2E2"/>
            </a:solidFill>
            <a:prstDash val="solid"/>
          </a:ln>
        </p:spPr>
      </p:sp>
      <p:sp>
        <p:nvSpPr>
          <p:cNvPr id="8" name="Text 5"/>
          <p:cNvSpPr txBox="1"/>
          <p:nvPr/>
        </p:nvSpPr>
        <p:spPr>
          <a:xfrm>
            <a:off x="6327648" y="118872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9.3%</a:t>
            </a:r>
            <a:endParaRPr lang="en-US" sz="3000" dirty="0"/>
          </a:p>
        </p:txBody>
      </p:sp>
      <p:sp>
        <p:nvSpPr>
          <p:cNvPr id="9" name="Text 6"/>
          <p:cNvSpPr txBox="1"/>
          <p:nvPr/>
        </p:nvSpPr>
        <p:spPr>
          <a:xfrm>
            <a:off x="6327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fibroblast MPRA: the same quantity, measured in the lab</a:t>
            </a:r>
            <a:endParaRPr lang="en-US" sz="1200" dirty="0"/>
          </a:p>
        </p:txBody>
      </p:sp>
      <p:sp>
        <p:nvSpPr>
          <p:cNvPr id="10"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two assays, different cell types and readouts, both put the AP-1 motif under a tenth of its 170 bp surroundings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this changes</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A responsive AP-1 site is a marginal one, not a differently-built one</a:t>
            </a:r>
            <a:endParaRPr lang="en-US" sz="1700" dirty="0"/>
          </a:p>
          <a:p>
            <a:pPr algn="l" indent="0" marL="0">
              <a:spcAft>
                <a:spcPts val="1500"/>
              </a:spcAft>
              <a:buNone/>
            </a:pPr>
            <a:r>
              <a:rPr lang="en-US" sz="1700" dirty="0">
                <a:solidFill>
                  <a:schemeClr val="tx1"/>
                </a:solidFill>
              </a:rPr>
              <a:t>Weaker AP-1 motif, fewer AP-1 motifs around it, and its dependence spread thinly across the element instead of anchored on the motif. The same partners matter, in the same order, in every class.</a:t>
            </a:r>
            <a:endParaRPr lang="en-US" sz="1700" dirty="0"/>
          </a:p>
          <a:p>
            <a:pPr algn="l" indent="0" marL="0">
              <a:buNone/>
            </a:pPr>
            <a:r>
              <a:rPr lang="en-US" sz="1900" b="1" dirty="0">
                <a:solidFill>
                  <a:schemeClr val="tx1"/>
                </a:solidFill>
              </a:rPr>
              <a:t>Two things survive matching, and only two</a:t>
            </a:r>
            <a:endParaRPr lang="en-US" sz="1700" dirty="0"/>
          </a:p>
          <a:p>
            <a:pPr algn="l" indent="0" marL="0">
              <a:spcAft>
                <a:spcPts val="1500"/>
              </a:spcAft>
              <a:buNone/>
            </a:pPr>
            <a:r>
              <a:rPr lang="en-US" sz="1700" dirty="0">
                <a:solidFill>
                  <a:schemeClr val="tx1"/>
                </a:solidFill>
              </a:rPr>
              <a:t>Scale: the 11 bp motif and the whole peak are worth the same to both classes, but replacing the 170 bp element costs a Dynamic site 0.24 less — what you expect when the dependence is spread wider. Partner: age-gained sites lack a MEF2 abutting the motif, 5.6% against 13.7% of matched controls.</a:t>
            </a:r>
            <a:endParaRPr lang="en-US" sz="1700" dirty="0"/>
          </a:p>
          <a:p>
            <a:pPr algn="l" indent="0" marL="0">
              <a:buNone/>
            </a:pPr>
            <a:r>
              <a:rPr lang="en-US" sz="1900" b="1" dirty="0">
                <a:solidFill>
                  <a:schemeClr val="tx1"/>
                </a:solidFill>
              </a:rPr>
              <a:t>That is why it fluctuates</a:t>
            </a:r>
            <a:endParaRPr lang="en-US" sz="1700" dirty="0"/>
          </a:p>
          <a:p>
            <a:pPr algn="l" indent="0" marL="0">
              <a:spcAft>
                <a:spcPts val="1500"/>
              </a:spcAft>
              <a:buNone/>
            </a:pPr>
            <a:r>
              <a:rPr lang="en-US" sz="1700" dirty="0">
                <a:solidFill>
                  <a:schemeClr val="tx1"/>
                </a:solidFill>
              </a:rPr>
              <a:t>A weak motif with no close MEF2 to hold it sits near the occupancy threshold, so its binding tracks how much AP-1 protein is available — which is what ageing changes.</a:t>
            </a:r>
            <a:endParaRPr lang="en-US" sz="1700" dirty="0"/>
          </a:p>
          <a:p>
            <a:pPr algn="l" indent="0" marL="0">
              <a:buNone/>
            </a:pPr>
            <a:r>
              <a:rPr lang="en-US" sz="1900" b="1" dirty="0">
                <a:solidFill>
                  <a:schemeClr val="tx1"/>
                </a:solidFill>
              </a:rPr>
              <a:t>Gain and loss are different events</a:t>
            </a:r>
            <a:endParaRPr lang="en-US" sz="1700" dirty="0"/>
          </a:p>
          <a:p>
            <a:pPr algn="l" indent="0" marL="0">
              <a:buNone/>
            </a:pPr>
            <a:r>
              <a:rPr lang="en-US" sz="1700" dirty="0">
                <a:solidFill>
                  <a:schemeClr val="tx1"/>
                </a:solidFill>
              </a:rPr>
              <a:t>Age-gained sites have better cores and read AP-1 dosage more sharply. Age-lost sites show no sequence signature of their own.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Where this goes next</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Fine-tuned condition-aware head</a:t>
            </a:r>
            <a:endParaRPr lang="en-US" sz="1700" dirty="0"/>
          </a:p>
          <a:p>
            <a:pPr algn="l" indent="0" marL="0">
              <a:spcAft>
                <a:spcPts val="1400"/>
              </a:spcAft>
              <a:buNone/>
            </a:pPr>
            <a:r>
              <a:rPr lang="en-US" sz="1700" dirty="0">
                <a:solidFill>
                  <a:schemeClr val="tx1"/>
                </a:solidFill>
              </a:rPr>
              <a:t>A frozen-trunk probe on our own cardiomyocyte and fibroblast ATAC already reaches profile r = 0.65 against 0.59 for the built-in heart head, training 0.01% of the model. Next: 1 bp insertion targets, then LoRA.</a:t>
            </a:r>
            <a:endParaRPr lang="en-US" sz="1700" dirty="0"/>
          </a:p>
          <a:p>
            <a:pPr algn="l" indent="0" marL="0">
              <a:buNone/>
            </a:pPr>
            <a:r>
              <a:rPr lang="en-US" sz="1900" b="1" dirty="0">
                <a:solidFill>
                  <a:schemeClr val="tx1"/>
                </a:solidFill>
              </a:rPr>
              <a:t>Does AP-1 activity actually rise with age?</a:t>
            </a:r>
            <a:endParaRPr lang="en-US" sz="1700" dirty="0"/>
          </a:p>
          <a:p>
            <a:pPr algn="l" indent="0" marL="0">
              <a:spcAft>
                <a:spcPts val="1400"/>
              </a:spcAft>
              <a:buNone/>
            </a:pPr>
            <a:r>
              <a:rPr lang="en-US" sz="1700" dirty="0">
                <a:solidFill>
                  <a:schemeClr val="tx1"/>
                </a:solidFill>
              </a:rPr>
              <a:t>The mass-action reading rests on it. One check against the RNA.</a:t>
            </a:r>
            <a:endParaRPr lang="en-US" sz="1700" dirty="0"/>
          </a:p>
          <a:p>
            <a:pPr algn="l" indent="0" marL="0">
              <a:buNone/>
            </a:pPr>
            <a:r>
              <a:rPr lang="en-US" sz="1900" b="1" dirty="0">
                <a:solidFill>
                  <a:schemeClr val="tx1"/>
                </a:solidFill>
              </a:rPr>
              <a:t>Fibroblast scan</a:t>
            </a:r>
            <a:endParaRPr lang="en-US" sz="1700" dirty="0"/>
          </a:p>
          <a:p>
            <a:pPr algn="l" indent="0" marL="0">
              <a:buNone/>
            </a:pPr>
            <a:r>
              <a:rPr lang="en-US" sz="1700" dirty="0">
                <a:solidFill>
                  <a:schemeClr val="tx1"/>
                </a:solidFill>
              </a:rPr>
              <a:t>If MEF2 also tops the partner ranking in fibroblasts, the ranking is a model artefact rather than cardiac biology. This is the sharpest available control.</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AlphaGenome perturbation of AP-1 sites</dc:title>
  <dc:subject>PptxGenJS Presentation</dc:subject>
  <dc:creator>Jack</dc:creator>
  <cp:lastModifiedBy>Jack</cp:lastModifiedBy>
  <cp:revision>1</cp:revision>
  <dcterms:created xsi:type="dcterms:W3CDTF">2026-10-23T00:22:00Z</dcterms:created>
  <dcterms:modified xsi:type="dcterms:W3CDTF">2026-10-23T00:22:00Z</dcterms:modified>
</cp:coreProperties>
</file>