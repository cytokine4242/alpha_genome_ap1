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c41bb3-2150-5909-bd5c-8c37af43eed1}">
          <p14:sldIdLst>
            <p14:sldId id="256"/>
          </p14:sldIdLst>
        </p14:section>
        <p14:section name="Design" id="{fc44c119-ce92-d7c3-f082-531e9d85fde1}">
          <p14:sldIdLst>
            <p14:sldId id="257"/>
            <p14:sldId id="258"/>
          </p14:sldIdLst>
        </p14:section>
        <p14:section name="Findings" id="{131e7957-5d27-3996-71a0-83a81f3691d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" id="{aad3ccac-18b6-7666-85fa-435c01aa2cbc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Mouse cardiomyocytes, young sedentary / aged sedentary / aged exercise. Sites defined by TOBIAS footprints of Fos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definitions pick out largely different sites. Report every result labelled by which definition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131 kb window is what AlphaGenome takes as input; we only ever edit the middle 600 bp. Each tile is 3 replicate random replacements, averaged. Effects are log2(edited / native).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Raw, Dynamic sites lose less to every wide edit. Matching now holds measured snATAC accessibility constant as well as the predicted value, peak width and TSS distance; that removes most of the gap but not all of it. What survives is confined to the 170 bp scale: the motif and the whole peak are worth the same to both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2.49 million footprinted cardiomyocyte TFBS mapped onto the scan. Dynamic is split into its four directional classes because a gain and a loss could cancel in the pooled comparison. The one comparison that survives correction does so only before matching: Age Up sites lean more on KLF/SP neighbours, FDR 0.04 raw and 0.26 matched, so it is context rather than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panel counts every MEF2 footprint, important or not: it is occurrence, not importance. Middle panel is importance, measured against footprint-free tiles at the same distance, so the general fall-off with distance is removed. Right panel: 5.6% of Age Up sites carry a MEF2 footprint within 25 bp against 13.7% of their matched Stable controls (Fisher p 0.004, FDR 0.03); Exercise Down is similar but weaker. No 10-11 bp repeat survives correction, so no fixed protein-protein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are promoters a few hundred bp from a TSS, matched on predicted accessibility (0.96 vs 1.12) and peak width (1359 vs 1329 bp). At the Sqstm1 promoter AP-1 is bound in all three conditions, the motif window is worth -1.00 and 81% of the loss sits within 85 bp. At the Psmd11 promoter AP-1 is absent in young and gained in both aged states, the motif is still the strongest window but only -0.58, and the loss is smeared over 114 bp against 83. Psmd11 rises with age, matching the AP-1 gain; the exercise direction does not match, so do not claim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of 16 scan features separate Dynamic from matched Stable. Share of dependence within 85 bp 0.63 vs 0.74, spread 94 vs 86 bp, largest single-base effect 0.74 vs 0.90. Age Up is the most diffuse class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dose-response slope tracks core quality measured independently from the genome sequence, rho 0.30. Orientation is irrelevant, as expected for a near-palindrome.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titration experiment was designed before this hypothesis existed, so this is a prediction rather than a fit. Caveat: the motif-sensitivity result does not survive matching on measured accessibility; the core-quality result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comparable quantity is a ratio within each element, so assay scale cancels. The class direction disagrees: in the MPRA responsive elements depend MORE on their sequence, which separates intrinsic potential from what sets accessibility in the genome.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 result is well controlled and is itself the point: responsiveness is not encoded in local sequence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open: whether the MEF2 deficit at Dynamic sites is detection or genuine differential occupancy of equally-present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What makes an AP-1 site respond to ageing?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In-silico mutagenesis of every cardiomyocyte AP-1 element with AlphaGenome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3,678 sites · 364 mutations each · validated against snATAC, RNA and a fibroblast MPRA</a:t>
            </a:r>
            <a:endParaRPr lang="en-US" sz="1700" dirty="0"/>
          </a:p>
        </p:txBody>
      </p:sp>
      <p:sp>
        <p:nvSpPr>
          <p:cNvPr id="4" name="rule"/>
          <p:cNvSpPr/>
          <p:nvPr/>
        </p:nvSpPr>
        <p:spPr>
          <a:xfrm>
            <a:off x="896112" y="3493008"/>
            <a:ext cx="2011680" cy="0"/>
          </a:xfrm>
          <a:prstGeom prst="line">
            <a:avLst/>
          </a:prstGeom>
          <a:noFill/>
          <a:ln w="3175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Two ways to call a site responsive, and they disagree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Threshold (binary call)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TOBIAS footprint is absent in young and called in aged. 396 Age Up sites, 179 Age Down. Stable = called in all three conditions.</a:t>
            </a:r>
            <a:endParaRPr lang="en-US" sz="17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Δscore (graded)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top fifth of the change in binding score, whether or not the call ever crossed the line. 736 sites each way.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</a:rPr>
              <a:t>Only 22% of Δscore-Up sites ever cross the threshold, and 40% of threshold-Stable sites show a large score change.</a:t>
            </a:r>
            <a:endParaRPr lang="en-US" sz="1700" dirty="0"/>
          </a:p>
        </p:txBody>
      </p:sp>
      <p:sp>
        <p:nvSpPr>
          <p:cNvPr id="4" name="stat-0"/>
          <p:cNvSpPr/>
          <p:nvPr/>
        </p:nvSpPr>
        <p:spPr>
          <a:xfrm>
            <a:off x="502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0.57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Δscore vs measured snATAC change (age)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0.31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threshold class vs measured change</a:t>
            </a:r>
            <a:endParaRPr lang="en-US" sz="1200" dirty="0"/>
          </a:p>
        </p:txBody>
      </p:sp>
      <p:sp>
        <p:nvSpPr>
          <p:cNvPr id="10" name="matching-note"/>
          <p:cNvSpPr txBox="1"/>
          <p:nvPr/>
        </p:nvSpPr>
        <p:spPr>
          <a:xfrm>
            <a:off x="6492240" y="1371600"/>
            <a:ext cx="5166360" cy="137160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Every comparison below matches each responsive site to a Stable site on predicted accessibility, peak width, TSS distance and measured accessibility.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</a:rPr>
              <a:t>The Δscore definition tracks the measured data about twice as well.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one site looks like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0_e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451" y="1143000"/>
            <a:ext cx="10366617" cy="352044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4846320"/>
            <a:ext cx="3535680" cy="868680"/>
          </a:xfrm>
          <a:prstGeom prst="roundRect">
            <a:avLst>
              <a:gd name="adj" fmla="val 6316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4937760"/>
            <a:ext cx="3316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3,678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5504688"/>
            <a:ext cx="3316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cardiomyocyte AP-1 sites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4312920" y="4846320"/>
            <a:ext cx="3535680" cy="868680"/>
          </a:xfrm>
          <a:prstGeom prst="roundRect">
            <a:avLst>
              <a:gd name="adj" fmla="val 6316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22648" y="4937760"/>
            <a:ext cx="3316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364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4422648" y="5504688"/>
            <a:ext cx="3316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edits of each one</a:t>
            </a:r>
            <a:endParaRPr lang="en-US" sz="1200" dirty="0"/>
          </a:p>
        </p:txBody>
      </p:sp>
      <p:sp>
        <p:nvSpPr>
          <p:cNvPr id="10" name="stat-2"/>
          <p:cNvSpPr/>
          <p:nvPr/>
        </p:nvSpPr>
        <p:spPr>
          <a:xfrm>
            <a:off x="8122920" y="4846320"/>
            <a:ext cx="3535680" cy="868680"/>
          </a:xfrm>
          <a:prstGeom prst="roundRect">
            <a:avLst>
              <a:gd name="adj" fmla="val 6316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32648" y="4937760"/>
            <a:ext cx="3316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170 bp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232648" y="5504688"/>
            <a:ext cx="3316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the window every effect is read over</a:t>
            </a:r>
            <a:endParaRPr lang="en-US" sz="12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each experiment that follows is introduced where its result appears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Most of the difference is chromatin, not sequence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d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42" y="960120"/>
            <a:ext cx="7099516" cy="1005840"/>
          </a:xfrm>
          <a:prstGeom prst="rect">
            <a:avLst/>
          </a:prstGeom>
        </p:spPr>
      </p:pic>
      <p:pic>
        <p:nvPicPr>
          <p:cNvPr id="4" name="Image 1" descr="/Users/z5162865/WongLab/AlphaGenome_Ap1/Analysis/slide_figures/s2_matched_n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87" y="2029968"/>
            <a:ext cx="8497347" cy="365760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motif and the whole peak behave the same once context is matched; a residual 170 bp difference survives, and the next slide shows what it 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Both classes lean on the same partners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d_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42" y="960120"/>
            <a:ext cx="7099516" cy="1005840"/>
          </a:xfrm>
          <a:prstGeom prst="rect">
            <a:avLst/>
          </a:prstGeom>
        </p:spPr>
      </p:pic>
      <p:pic>
        <p:nvPicPr>
          <p:cNvPr id="4" name="Image 1" descr="/Users/z5162865/WongLab/AlphaGenome_Ap1/Analysis/slide_figures/s8_partn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00013"/>
            <a:ext cx="11155680" cy="312665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ranking is the validation — MEF2, GATA, NFI, TEAD, none of it told to the model; the class split is the question, and no class leans on a different partner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Age-gained sites are missing their closest MEF2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7_spa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03295"/>
            <a:ext cx="11155680" cy="335997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MEF2 sits 2.67× more often right beside the motif than chance, and it is the age-gained sites that lack one (FDR 0.03)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Two promoters, one stable and one age-gained</a:t>
            </a:r>
            <a:endParaRPr lang="en-US" sz="2800" dirty="0"/>
          </a:p>
        </p:txBody>
      </p:sp>
      <p:pic>
        <p:nvPicPr>
          <p:cNvPr id="3" name="Image 0" descr="/Users/z5162865/WongLab/AlphaGenome_Ap1/Analysis/example_track/example_scan_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2961" y="1051560"/>
            <a:ext cx="9755599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same motif in the same kind of promoter is worth −1.00 where binding is stable and −0.58 where it is age-gained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spread their dependence out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d_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98536"/>
            <a:ext cx="7223760" cy="929007"/>
          </a:xfrm>
          <a:prstGeom prst="rect">
            <a:avLst/>
          </a:prstGeom>
        </p:spPr>
      </p:pic>
      <p:pic>
        <p:nvPicPr>
          <p:cNvPr id="4" name="Image 1" descr="/Users/z5162865/WongLab/AlphaGenome_Ap1/Analysis/slide_figures/s3_depend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19" y="2029968"/>
            <a:ext cx="10613681" cy="365760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this is the part that survives matching: a responsive site has no single anchor holding it open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Motif strength is a switch; position is a dial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d_tit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42" y="960120"/>
            <a:ext cx="7099516" cy="1005840"/>
          </a:xfrm>
          <a:prstGeom prst="rect">
            <a:avLst/>
          </a:prstGeom>
        </p:spPr>
      </p:pic>
      <p:pic>
        <p:nvPicPr>
          <p:cNvPr id="4" name="Image 1" descr="/Users/z5162865/WongLab/AlphaGenome_Ap1/Analysis/slide_figures/s4_tit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594"/>
            <a:ext cx="11155680" cy="3535492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one wrong base costs −0.45 of the −0.56 total and a moved motif recovers only a third — but every class titrates the same way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Age-gained sites read AP-1 dosage more sharply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5_age_g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222" y="1097280"/>
            <a:ext cx="10551077" cy="3794760"/>
          </a:xfrm>
          <a:prstGeom prst="rect">
            <a:avLst/>
          </a:prstGeom>
        </p:spPr>
      </p:pic>
      <p:sp>
        <p:nvSpPr>
          <p:cNvPr id="4" name="massaction"/>
          <p:cNvSpPr txBox="1"/>
          <p:nvPr/>
        </p:nvSpPr>
        <p:spPr>
          <a:xfrm>
            <a:off x="502920" y="5029200"/>
            <a:ext cx="11155680" cy="91440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551C"/>
                </a:solidFill>
              </a:rPr>
              <a:t>Mass action   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if ageing raises AP-1 activity, occupancy rises first at the highest-affinity motifs — exactly the sites that gain. Losing binding is not the reverse: age-lost sites show no sequence signature at all.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 independent reporter assay agrees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6_mp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113" y="2240280"/>
            <a:ext cx="9779295" cy="352044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7.5%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AlphaGenome: the motif's share of local dependence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9.3%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fibroblast MPRA: the same quantity, measured in the lab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two assays, different cell types and readouts, both put the AP-1 motif under a tenth of its 170 bp surroundings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changes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responsive AP-1 site is a marginal one, not a differently-built one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Weaker AP-1 motif, fewer AP-1 motifs around it, sparser and less MEF2-rich neighbourhood, dependence spread thinly across the element. Nothing about how it responds to mutation differs.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That is why it fluctuates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weak motif in a poorly-supported enhancer sits near the occupancy threshold, so its binding tracks how much AP-1 protein is available — which is what ageing changes.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Gain and loss are different events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Age-gained sites have better cores and read dosage more sharply. Age-lost sites are MEF2-rich, high-scoring sites drifting down, with no sequence signature of their 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Where this goes next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Fine-tuned condition-aware head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frozen-trunk probe on our own cardiomyocyte and fibroblast ATAC already reaches profile r = 0.65 against 0.59 for the built-in heart head, training 0.01% of the model. Next: 1 bp insertion targets, then LoRA.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Does AP-1 activity actually rise with age?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mass-action reading rests on it. One check against the RNA.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Fibroblast scan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If MEF2 also tops the partner ranking in fibroblasts, the ranking is a model artefact rather than cardiac biology. This is the sharpest available control.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1 Mono">
  <a:themeElements>
    <a:clrScheme name="AP1 Mono">
      <a:dk1>
        <a:srgbClr val="111111"/>
      </a:dk1>
      <a:lt1>
        <a:srgbClr val="FFFFFF"/>
      </a:lt1>
      <a:dk2>
        <a:srgbClr val="595959"/>
      </a:dk2>
      <a:lt2>
        <a:srgbClr val="F2F2F2"/>
      </a:lt2>
      <a:accent1>
        <a:srgbClr val="C2551C"/>
      </a:accent1>
      <a:accent2>
        <a:srgbClr val="1F6FB2"/>
      </a:accent2>
      <a:accent3>
        <a:srgbClr val="111111"/>
      </a:accent3>
      <a:accent4>
        <a:srgbClr val="8C8C8C"/>
      </a:accent4>
      <a:accent5>
        <a:srgbClr val="D9D9D9"/>
      </a:accent5>
      <a:accent6>
        <a:srgbClr val="595959"/>
      </a:accent6>
      <a:hlink>
        <a:srgbClr val="1F6FB2"/>
      </a:hlink>
      <a:folHlink>
        <a:srgbClr val="595959"/>
      </a:folHlink>
    </a:clrScheme>
    <a:fontScheme name="AP1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AlphaGenome perturbation of AP-1 sites</dc:title>
  <dc:subject>PptxGenJS Presentation</dc:subject>
  <dc:creator>Jack</dc:creator>
  <cp:lastModifiedBy>Jack</cp:lastModifiedBy>
  <cp:revision>1</cp:revision>
  <dcterms:created xsi:type="dcterms:W3CDTF">2026-10-23T00:16:12Z</dcterms:created>
  <dcterms:modified xsi:type="dcterms:W3CDTF">2026-10-23T00:16:12Z</dcterms:modified>
</cp:coreProperties>
</file>