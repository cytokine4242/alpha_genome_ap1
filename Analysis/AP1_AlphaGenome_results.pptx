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a5d981-545e-fd8f-f845-d8f8a5f61d48}">
          <p14:sldIdLst>
            <p14:sldId id="256"/>
          </p14:sldIdLst>
        </p14:section>
        <p14:section name="Design" id="{b0194f64-36d0-4258-82c9-90ae778c10bb}">
          <p14:sldIdLst>
            <p14:sldId id="257"/>
            <p14:sldId id="258"/>
          </p14:sldIdLst>
        </p14:section>
        <p14:section name="Findings" id="{550918ff-3762-aa46-57e7-84480359118a}">
          <p14:sldIdLst>
            <p14:sldId id="259"/>
            <p14:sldId id="260"/>
            <p14:sldId id="261"/>
            <p14:sldId id="262"/>
            <p14:sldId id="263"/>
            <p14:sldId id="264"/>
            <p14:sldId id="265"/>
            <p14:sldId id="266"/>
            <p14:sldId id="267"/>
            <p14:sldId id="268"/>
            <p14:sldId id="269"/>
          </p14:sldIdLst>
        </p14:section>
        <p14:section name="Conclusion" id="{11ccf227-0fe8-59cb-3f57-a0b955e537ad}">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Chosen to illustrate the odds-ratio result on the previous slide, not as evidence in itself: n = 2. The pair is matched on predicted accessibility (0.77 vs 0.74) and peak width (758 vs 803), and both carry a comparable number of neighbouring AP-1 footprints, so the difference is which window the model weights. The age-gained site is MAS only, meaning AP-1 is called in aged sedentary but not in young or aged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s2_matched_null-title-0"/>
          <p:cNvSpPr txBox="1"/>
          <p:nvPr/>
        </p:nvSpPr>
        <p:spPr>
          <a:xfrm>
            <a:off x="612648"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612648"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612648" y="2079013"/>
            <a:ext cx="2688336" cy="2443942"/>
          </a:xfrm>
          <a:prstGeom prst="rect">
            <a:avLst/>
          </a:prstGeom>
        </p:spPr>
      </p:pic>
      <p:sp>
        <p:nvSpPr>
          <p:cNvPr id="6" name="s2_matched_null-title-1"/>
          <p:cNvSpPr txBox="1"/>
          <p:nvPr/>
        </p:nvSpPr>
        <p:spPr>
          <a:xfrm>
            <a:off x="3374136"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7" name="s2_matched_null-sub-1"/>
          <p:cNvSpPr txBox="1"/>
          <p:nvPr/>
        </p:nvSpPr>
        <p:spPr>
          <a:xfrm>
            <a:off x="3374136"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8" name="Image 1" descr="/Users/z5162865/WongLab/AlphaGenome_Ap1/Analysis/slide_figures/panels/s2_matched_null_c1_r0.png">    </p:cNvPr>
          <p:cNvPicPr>
            <a:picLocks noChangeAspect="1"/>
          </p:cNvPicPr>
          <p:nvPr/>
        </p:nvPicPr>
        <p:blipFill>
          <a:blip r:embed="rId2"/>
          <a:stretch>
            <a:fillRect/>
          </a:stretch>
        </p:blipFill>
        <p:spPr>
          <a:xfrm>
            <a:off x="3374136" y="2079013"/>
            <a:ext cx="2688336" cy="2443942"/>
          </a:xfrm>
          <a:prstGeom prst="rect">
            <a:avLst/>
          </a:prstGeom>
        </p:spPr>
      </p:pic>
      <p:sp>
        <p:nvSpPr>
          <p:cNvPr id="9" name="s2_matched_null-title-2"/>
          <p:cNvSpPr txBox="1"/>
          <p:nvPr/>
        </p:nvSpPr>
        <p:spPr>
          <a:xfrm>
            <a:off x="6135624"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0" name="s2_matched_null-sub-2"/>
          <p:cNvSpPr txBox="1"/>
          <p:nvPr/>
        </p:nvSpPr>
        <p:spPr>
          <a:xfrm>
            <a:off x="6135624"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1" name="Image 2" descr="/Users/z5162865/WongLab/AlphaGenome_Ap1/Analysis/slide_figures/panels/s2_matched_null_c2_r0.png">    </p:cNvPr>
          <p:cNvPicPr>
            <a:picLocks noChangeAspect="1"/>
          </p:cNvPicPr>
          <p:nvPr/>
        </p:nvPicPr>
        <p:blipFill>
          <a:blip r:embed="rId3"/>
          <a:stretch>
            <a:fillRect/>
          </a:stretch>
        </p:blipFill>
        <p:spPr>
          <a:xfrm>
            <a:off x="6135624" y="2079013"/>
            <a:ext cx="2688336" cy="2443942"/>
          </a:xfrm>
          <a:prstGeom prst="rect">
            <a:avLst/>
          </a:prstGeom>
        </p:spPr>
      </p:pic>
      <p:sp>
        <p:nvSpPr>
          <p:cNvPr id="12" name="s2_matched_null-title-3"/>
          <p:cNvSpPr txBox="1"/>
          <p:nvPr/>
        </p:nvSpPr>
        <p:spPr>
          <a:xfrm>
            <a:off x="8897112"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3" name="s2_matched_null-sub-3"/>
          <p:cNvSpPr txBox="1"/>
          <p:nvPr/>
        </p:nvSpPr>
        <p:spPr>
          <a:xfrm>
            <a:off x="8897112"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4" name="Image 3" descr="/Users/z5162865/WongLab/AlphaGenome_Ap1/Analysis/slide_figures/panels/s2_matched_null_c3_r0.png">    </p:cNvPr>
          <p:cNvPicPr>
            <a:picLocks noChangeAspect="1"/>
          </p:cNvPicPr>
          <p:nvPr/>
        </p:nvPicPr>
        <p:blipFill>
          <a:blip r:embed="rId4"/>
          <a:stretch>
            <a:fillRect/>
          </a:stretch>
        </p:blipFill>
        <p:spPr>
          <a:xfrm>
            <a:off x="8897112" y="2079013"/>
            <a:ext cx="2688336" cy="2443942"/>
          </a:xfrm>
          <a:prstGeom prst="rect">
            <a:avLst/>
          </a:prstGeom>
        </p:spPr>
      </p:pic>
      <p:sp>
        <p:nvSpPr>
          <p:cNvPr id="15" name="s2_matched_null-dot-0"/>
          <p:cNvSpPr/>
          <p:nvPr/>
        </p:nvSpPr>
        <p:spPr>
          <a:xfrm>
            <a:off x="502920" y="4914900"/>
            <a:ext cx="109728" cy="109728"/>
          </a:xfrm>
          <a:prstGeom prst="ellipse">
            <a:avLst/>
          </a:prstGeom>
          <a:solidFill>
            <a:srgbClr val="4F4F4F"/>
          </a:solidFill>
          <a:ln w="12700">
            <a:solidFill>
              <a:srgbClr val="4F4F4F"/>
            </a:solidFill>
            <a:prstDash val="solid"/>
          </a:ln>
        </p:spPr>
      </p:sp>
      <p:sp>
        <p:nvSpPr>
          <p:cNvPr id="16" name="s2_matched_null-leg-0"/>
          <p:cNvSpPr txBox="1"/>
          <p:nvPr/>
        </p:nvSpPr>
        <p:spPr>
          <a:xfrm>
            <a:off x="658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2_matched_null-dot-1"/>
          <p:cNvSpPr/>
          <p:nvPr/>
        </p:nvSpPr>
        <p:spPr>
          <a:xfrm>
            <a:off x="1825142" y="4914900"/>
            <a:ext cx="109728" cy="109728"/>
          </a:xfrm>
          <a:prstGeom prst="ellipse">
            <a:avLst/>
          </a:prstGeom>
          <a:solidFill>
            <a:srgbClr val="C2551C"/>
          </a:solidFill>
          <a:ln w="12700">
            <a:solidFill>
              <a:srgbClr val="C2551C"/>
            </a:solidFill>
            <a:prstDash val="solid"/>
          </a:ln>
        </p:spPr>
      </p:sp>
      <p:sp>
        <p:nvSpPr>
          <p:cNvPr id="18" name="s2_matched_null-leg-1"/>
          <p:cNvSpPr txBox="1"/>
          <p:nvPr/>
        </p:nvSpPr>
        <p:spPr>
          <a:xfrm>
            <a:off x="1980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2_matched_null-dot-2"/>
          <p:cNvSpPr/>
          <p:nvPr/>
        </p:nvSpPr>
        <p:spPr>
          <a:xfrm>
            <a:off x="2686507" y="4914900"/>
            <a:ext cx="109728" cy="109728"/>
          </a:xfrm>
          <a:prstGeom prst="ellipse">
            <a:avLst/>
          </a:prstGeom>
          <a:solidFill>
            <a:srgbClr val="1F6FB2"/>
          </a:solidFill>
          <a:ln w="12700">
            <a:solidFill>
              <a:srgbClr val="1F6FB2"/>
            </a:solidFill>
            <a:prstDash val="solid"/>
          </a:ln>
        </p:spPr>
      </p:sp>
      <p:sp>
        <p:nvSpPr>
          <p:cNvPr id="20" name="s2_matched_null-leg-2"/>
          <p:cNvSpPr txBox="1"/>
          <p:nvPr/>
        </p:nvSpPr>
        <p:spPr>
          <a:xfrm>
            <a:off x="2841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2_matched_null-dot-3"/>
          <p:cNvSpPr/>
          <p:nvPr/>
        </p:nvSpPr>
        <p:spPr>
          <a:xfrm>
            <a:off x="3679546" y="4914900"/>
            <a:ext cx="109728" cy="109728"/>
          </a:xfrm>
          <a:prstGeom prst="ellipse">
            <a:avLst/>
          </a:prstGeom>
          <a:solidFill>
            <a:srgbClr val="2E7D32"/>
          </a:solidFill>
          <a:ln w="12700">
            <a:solidFill>
              <a:srgbClr val="2E7D32"/>
            </a:solidFill>
            <a:prstDash val="solid"/>
          </a:ln>
        </p:spPr>
      </p:sp>
      <p:sp>
        <p:nvSpPr>
          <p:cNvPr id="22" name="s2_matched_null-leg-3"/>
          <p:cNvSpPr txBox="1"/>
          <p:nvPr/>
        </p:nvSpPr>
        <p:spPr>
          <a:xfrm>
            <a:off x="3834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2_matched_null-dot-4"/>
          <p:cNvSpPr/>
          <p:nvPr/>
        </p:nvSpPr>
        <p:spPr>
          <a:xfrm>
            <a:off x="4870094" y="4914900"/>
            <a:ext cx="109728" cy="109728"/>
          </a:xfrm>
          <a:prstGeom prst="ellipse">
            <a:avLst/>
          </a:prstGeom>
          <a:solidFill>
            <a:srgbClr val="7B3FA0"/>
          </a:solidFill>
          <a:ln w="12700">
            <a:solidFill>
              <a:srgbClr val="7B3FA0"/>
            </a:solidFill>
            <a:prstDash val="solid"/>
          </a:ln>
        </p:spPr>
      </p:sp>
      <p:sp>
        <p:nvSpPr>
          <p:cNvPr id="24" name="s2_matched_null-leg-4"/>
          <p:cNvSpPr txBox="1"/>
          <p:nvPr/>
        </p:nvSpPr>
        <p:spPr>
          <a:xfrm>
            <a:off x="5025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2_matched_null-dot-5"/>
          <p:cNvSpPr/>
          <p:nvPr/>
        </p:nvSpPr>
        <p:spPr>
          <a:xfrm>
            <a:off x="6192317" y="4914900"/>
            <a:ext cx="109728" cy="109728"/>
          </a:xfrm>
          <a:prstGeom prst="ellipse">
            <a:avLst/>
          </a:prstGeom>
          <a:solidFill>
            <a:srgbClr val="B3B2AE"/>
          </a:solidFill>
          <a:ln w="12700">
            <a:solidFill>
              <a:srgbClr val="B3B2AE"/>
            </a:solidFill>
            <a:prstDash val="solid"/>
          </a:ln>
        </p:spPr>
      </p:sp>
      <p:sp>
        <p:nvSpPr>
          <p:cNvPr id="26" name="s2_matched_null-leg-5"/>
          <p:cNvSpPr txBox="1"/>
          <p:nvPr/>
        </p:nvSpPr>
        <p:spPr>
          <a:xfrm>
            <a:off x="6347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s2_matched_null-key"/>
          <p:cNvSpPr txBox="1"/>
          <p:nvPr/>
        </p:nvSpPr>
        <p:spPr>
          <a:xfrm>
            <a:off x="502920" y="514807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28"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662171" y="1883664"/>
            <a:ext cx="4049257"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odds ratio against all Stable sites with a 95% CI; dotted line = no difference.   MEF2, does it have one: Age Up 0.45, Exercise Down 0.56, Dynamic 0.58, all FDR ≤ 0.005.   AP-1, when it has one: Dynamic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the model leans on: its own motif, or a neighbour</a:t>
            </a:r>
            <a:endParaRPr lang="en-US" sz="2800" dirty="0"/>
          </a:p>
        </p:txBody>
      </p:sp>
      <p:sp>
        <p:nvSpPr>
          <p:cNvPr id="3" name="cl-intro"/>
          <p:cNvSpPr txBox="1"/>
          <p:nvPr/>
        </p:nvSpPr>
        <p:spPr>
          <a:xfrm>
            <a:off x="731520" y="1005840"/>
            <a:ext cx="10881360" cy="457200"/>
          </a:xfrm>
          <a:prstGeom prst="rect">
            <a:avLst/>
          </a:prstGeom>
          <a:noFill/>
          <a:ln/>
        </p:spPr>
        <p:txBody>
          <a:bodyPr wrap="square" lIns="0" tIns="0" rIns="0" bIns="0" rtlCol="0" anchor="ctr"/>
          <a:lstStyle/>
          <a:p>
            <a:pPr indent="0" marL="0">
              <a:buNone/>
            </a:pPr>
            <a:r>
              <a:rPr lang="en-US" sz="1150" dirty="0">
                <a:solidFill>
                  <a:srgbClr val="595959"/>
                </a:solidFill>
              </a:rPr>
              <a:t>Two elements with a comparable set of neighbouring AP-1 footprints and comparable accessibility. Coloured bars are the three most damaging windows; gold marks the called AP-1 motif; the lane below shows every other AP-1 footprint, merged where calls overlap and numbered.</a:t>
            </a:r>
            <a:endParaRPr lang="en-US" sz="1150" dirty="0"/>
          </a:p>
        </p:txBody>
      </p:sp>
      <p:sp>
        <p:nvSpPr>
          <p:cNvPr id="4" name="cl-t1"/>
          <p:cNvSpPr txBox="1"/>
          <p:nvPr/>
        </p:nvSpPr>
        <p:spPr>
          <a:xfrm>
            <a:off x="731520" y="1572768"/>
            <a:ext cx="10881360" cy="256032"/>
          </a:xfrm>
          <a:prstGeom prst="rect">
            <a:avLst/>
          </a:prstGeom>
          <a:noFill/>
          <a:ln/>
        </p:spPr>
        <p:txBody>
          <a:bodyPr wrap="square" lIns="0" tIns="0" rIns="0" bIns="0" rtlCol="0" anchor="ctr"/>
          <a:lstStyle/>
          <a:p>
            <a:pPr indent="0" marL="0">
              <a:buNone/>
            </a:pPr>
            <a:r>
              <a:rPr lang="en-US" sz="1300" b="1" dirty="0">
                <a:solidFill>
                  <a:srgbClr val="1F6FB2"/>
                </a:solidFill>
              </a:rPr>
              <a:t>Stable  </a:t>
            </a:r>
            <a:pPr indent="0" marL="0">
              <a:buNone/>
            </a:pPr>
            <a:r>
              <a:rPr lang="en-US" sz="1200" dirty="0">
                <a:solidFill>
                  <a:srgbClr val="111111"/>
                </a:solidFill>
              </a:rPr>
              <a:t>chr2:110,186,562 — all three top windows are the motif itself</a:t>
            </a:r>
            <a:endParaRPr lang="en-US" sz="1300" dirty="0"/>
          </a:p>
        </p:txBody>
      </p:sp>
      <p:pic>
        <p:nvPicPr>
          <p:cNvPr id="5" name="Image 0" descr="/Users/z5162865/WongLab/AlphaGenome_Ap1/Analysis/slide_figures/panels/s11_cluster_stable.png">    </p:cNvPr>
          <p:cNvPicPr>
            <a:picLocks noChangeAspect="1"/>
          </p:cNvPicPr>
          <p:nvPr/>
        </p:nvPicPr>
        <p:blipFill>
          <a:blip r:embed="rId1"/>
          <a:stretch>
            <a:fillRect/>
          </a:stretch>
        </p:blipFill>
        <p:spPr>
          <a:xfrm>
            <a:off x="1462024" y="1847088"/>
            <a:ext cx="9420352" cy="1737360"/>
          </a:xfrm>
          <a:prstGeom prst="rect">
            <a:avLst/>
          </a:prstGeom>
        </p:spPr>
      </p:pic>
      <p:sp>
        <p:nvSpPr>
          <p:cNvPr id="6" name="cl-t2"/>
          <p:cNvSpPr txBox="1"/>
          <p:nvPr/>
        </p:nvSpPr>
        <p:spPr>
          <a:xfrm>
            <a:off x="731520" y="3611880"/>
            <a:ext cx="10881360" cy="256032"/>
          </a:xfrm>
          <a:prstGeom prst="rect">
            <a:avLst/>
          </a:prstGeom>
          <a:noFill/>
          <a:ln/>
        </p:spPr>
        <p:txBody>
          <a:bodyPr wrap="square" lIns="0" tIns="0" rIns="0" bIns="0" rtlCol="0" anchor="ctr"/>
          <a:lstStyle/>
          <a:p>
            <a:pPr indent="0" marL="0">
              <a:buNone/>
            </a:pPr>
            <a:r>
              <a:rPr lang="en-US" sz="1300" b="1" dirty="0">
                <a:solidFill>
                  <a:srgbClr val="C2551C"/>
                </a:solidFill>
              </a:rPr>
              <a:t>Age-gained  </a:t>
            </a:r>
            <a:pPr indent="0" marL="0">
              <a:buNone/>
            </a:pPr>
            <a:r>
              <a:rPr lang="en-US" sz="1200" dirty="0">
                <a:solidFill>
                  <a:srgbClr val="111111"/>
                </a:solidFill>
              </a:rPr>
              <a:t>chr13:35,395,938 — the two worst windows sit on a cluster of neighbouring AP-1 sites, and the called motif is only third</a:t>
            </a:r>
            <a:endParaRPr lang="en-US" sz="1300" dirty="0"/>
          </a:p>
        </p:txBody>
      </p:sp>
      <p:pic>
        <p:nvPicPr>
          <p:cNvPr id="7" name="Image 1" descr="/Users/z5162865/WongLab/AlphaGenome_Ap1/Analysis/slide_figures/panels/s11_cluster_dynamic.png">    </p:cNvPr>
          <p:cNvPicPr>
            <a:picLocks noChangeAspect="1"/>
          </p:cNvPicPr>
          <p:nvPr/>
        </p:nvPicPr>
        <p:blipFill>
          <a:blip r:embed="rId2"/>
          <a:stretch>
            <a:fillRect/>
          </a:stretch>
        </p:blipFill>
        <p:spPr>
          <a:xfrm>
            <a:off x="1462024" y="3886200"/>
            <a:ext cx="9420352" cy="1737360"/>
          </a:xfrm>
          <a:prstGeom prst="rect">
            <a:avLst/>
          </a:prstGeom>
        </p:spPr>
      </p:pic>
      <p:sp>
        <p:nvSpPr>
          <p:cNvPr id="8" name="cl-key"/>
          <p:cNvSpPr txBox="1"/>
          <p:nvPr/>
        </p:nvSpPr>
        <p:spPr>
          <a:xfrm>
            <a:off x="731520" y="5614416"/>
            <a:ext cx="10881360" cy="274320"/>
          </a:xfrm>
          <a:prstGeom prst="rect">
            <a:avLst/>
          </a:prstGeom>
          <a:noFill/>
          <a:ln/>
        </p:spPr>
        <p:txBody>
          <a:bodyPr wrap="square" lIns="0" tIns="0" rIns="0" bIns="0" rtlCol="0" anchor="ctr"/>
          <a:lstStyle/>
          <a:p>
            <a:pPr indent="0" marL="0">
              <a:buNone/>
            </a:pPr>
            <a:r>
              <a:rPr lang="en-US" sz="950" dirty="0">
                <a:solidFill>
                  <a:srgbClr val="595959"/>
                </a:solidFill>
              </a:rPr>
              <a:t>own motif −1.90 against strongest neighbour −1.18 at the Stable site; −1.56 against −2.05 at the age-gained one. 8 and 10 neighbouring AP-1 footprints respectively.</a:t>
            </a:r>
            <a:endParaRPr lang="en-US" sz="950" dirty="0"/>
          </a:p>
        </p:txBody>
      </p:sp>
      <p:sp>
        <p:nvSpPr>
          <p:cNvPr id="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locus showing the 1.45× result: when a responsive element has a second AP-1 site, that is what the model leans on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panels/d_profile.png">    </p:cNvPr>
          <p:cNvPicPr>
            <a:picLocks noChangeAspect="1"/>
          </p:cNvPicPr>
          <p:nvPr/>
        </p:nvPicPr>
        <p:blipFill>
          <a:blip r:embed="rId1"/>
          <a:stretch>
            <a:fillRect/>
          </a:stretch>
        </p:blipFill>
        <p:spPr>
          <a:xfrm>
            <a:off x="502920" y="1373869"/>
            <a:ext cx="2286000" cy="1915702"/>
          </a:xfrm>
          <a:prstGeom prst="rect">
            <a:avLst/>
          </a:prstGeom>
        </p:spPr>
      </p:pic>
      <p:sp>
        <p:nvSpPr>
          <p:cNvPr id="4" name="profile-caption"/>
          <p:cNvSpPr txBox="1"/>
          <p:nvPr/>
        </p:nvSpPr>
        <p:spPr>
          <a:xfrm>
            <a:off x="502920" y="3337560"/>
            <a:ext cx="2286000" cy="822960"/>
          </a:xfrm>
          <a:prstGeom prst="rect">
            <a:avLst/>
          </a:prstGeom>
          <a:noFill/>
          <a:ln/>
        </p:spPr>
        <p:txBody>
          <a:bodyPr wrap="square" lIns="0" tIns="0" rIns="0" bIns="0" rtlCol="0" anchor="ctr"/>
          <a:lstStyle/>
          <a:p>
            <a:pPr indent="0" marL="0">
              <a:buNone/>
            </a:pPr>
            <a:r>
              <a:rPr lang="en-US" sz="950" dirty="0">
                <a:solidFill>
                  <a:srgbClr val="595959"/>
                </a:solidFill>
              </a:rPr>
              <a:t>one site’s sliding-window profile: each bar is a 10 bp window replaced, shaded band = within ±85 bp of the motif</a:t>
            </a:r>
            <a:endParaRPr lang="en-US" sz="950" dirty="0"/>
          </a:p>
        </p:txBody>
      </p:sp>
      <p:sp>
        <p:nvSpPr>
          <p:cNvPr id="5" name="s3_dependence-title-0"/>
          <p:cNvSpPr txBox="1"/>
          <p:nvPr/>
        </p:nvSpPr>
        <p:spPr>
          <a:xfrm>
            <a:off x="3401568"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6" name="s3_dependence-sub-0"/>
          <p:cNvSpPr txBox="1"/>
          <p:nvPr/>
        </p:nvSpPr>
        <p:spPr>
          <a:xfrm>
            <a:off x="3401568"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7" name="Image 1" descr="/Users/z5162865/WongLab/AlphaGenome_Ap1/Analysis/slide_figures/panels/s3_dependence_c0_r0.png">    </p:cNvPr>
          <p:cNvPicPr>
            <a:picLocks noChangeAspect="1"/>
          </p:cNvPicPr>
          <p:nvPr/>
        </p:nvPicPr>
        <p:blipFill>
          <a:blip r:embed="rId2"/>
          <a:stretch>
            <a:fillRect/>
          </a:stretch>
        </p:blipFill>
        <p:spPr>
          <a:xfrm>
            <a:off x="3401568" y="2395936"/>
            <a:ext cx="1991106" cy="1810096"/>
          </a:xfrm>
          <a:prstGeom prst="rect">
            <a:avLst/>
          </a:prstGeom>
        </p:spPr>
      </p:pic>
      <p:sp>
        <p:nvSpPr>
          <p:cNvPr id="8" name="s3_dependence-title-1"/>
          <p:cNvSpPr txBox="1"/>
          <p:nvPr/>
        </p:nvSpPr>
        <p:spPr>
          <a:xfrm>
            <a:off x="5465826"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9" name="s3_dependence-sub-1"/>
          <p:cNvSpPr txBox="1"/>
          <p:nvPr/>
        </p:nvSpPr>
        <p:spPr>
          <a:xfrm>
            <a:off x="5465826"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0" name="Image 2" descr="/Users/z5162865/WongLab/AlphaGenome_Ap1/Analysis/slide_figures/panels/s3_dependence_c1_r0.png">    </p:cNvPr>
          <p:cNvPicPr>
            <a:picLocks noChangeAspect="1"/>
          </p:cNvPicPr>
          <p:nvPr/>
        </p:nvPicPr>
        <p:blipFill>
          <a:blip r:embed="rId3"/>
          <a:stretch>
            <a:fillRect/>
          </a:stretch>
        </p:blipFill>
        <p:spPr>
          <a:xfrm>
            <a:off x="5465826" y="2395936"/>
            <a:ext cx="1991106" cy="1810096"/>
          </a:xfrm>
          <a:prstGeom prst="rect">
            <a:avLst/>
          </a:prstGeom>
        </p:spPr>
      </p:pic>
      <p:sp>
        <p:nvSpPr>
          <p:cNvPr id="11" name="s3_dependence-title-2"/>
          <p:cNvSpPr txBox="1"/>
          <p:nvPr/>
        </p:nvSpPr>
        <p:spPr>
          <a:xfrm>
            <a:off x="7530084"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2" name="s3_dependence-sub-2"/>
          <p:cNvSpPr txBox="1"/>
          <p:nvPr/>
        </p:nvSpPr>
        <p:spPr>
          <a:xfrm>
            <a:off x="7530084"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3" name="Image 3" descr="/Users/z5162865/WongLab/AlphaGenome_Ap1/Analysis/slide_figures/panels/s3_dependence_c2_r0.png">    </p:cNvPr>
          <p:cNvPicPr>
            <a:picLocks noChangeAspect="1"/>
          </p:cNvPicPr>
          <p:nvPr/>
        </p:nvPicPr>
        <p:blipFill>
          <a:blip r:embed="rId4"/>
          <a:stretch>
            <a:fillRect/>
          </a:stretch>
        </p:blipFill>
        <p:spPr>
          <a:xfrm>
            <a:off x="7530084" y="2395936"/>
            <a:ext cx="1991106" cy="1810096"/>
          </a:xfrm>
          <a:prstGeom prst="rect">
            <a:avLst/>
          </a:prstGeom>
        </p:spPr>
      </p:pic>
      <p:sp>
        <p:nvSpPr>
          <p:cNvPr id="14" name="s3_dependence-title-3"/>
          <p:cNvSpPr txBox="1"/>
          <p:nvPr/>
        </p:nvSpPr>
        <p:spPr>
          <a:xfrm>
            <a:off x="9594342"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5" name="s3_dependence-sub-3"/>
          <p:cNvSpPr txBox="1"/>
          <p:nvPr/>
        </p:nvSpPr>
        <p:spPr>
          <a:xfrm>
            <a:off x="9594342"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6" name="Image 4" descr="/Users/z5162865/WongLab/AlphaGenome_Ap1/Analysis/slide_figures/panels/s3_dependence_c3_r0.png">    </p:cNvPr>
          <p:cNvPicPr>
            <a:picLocks noChangeAspect="1"/>
          </p:cNvPicPr>
          <p:nvPr/>
        </p:nvPicPr>
        <p:blipFill>
          <a:blip r:embed="rId5"/>
          <a:stretch>
            <a:fillRect/>
          </a:stretch>
        </p:blipFill>
        <p:spPr>
          <a:xfrm>
            <a:off x="9594342" y="2395936"/>
            <a:ext cx="1991106" cy="1810096"/>
          </a:xfrm>
          <a:prstGeom prst="rect">
            <a:avLst/>
          </a:prstGeom>
        </p:spPr>
      </p:pic>
      <p:sp>
        <p:nvSpPr>
          <p:cNvPr id="17" name="s3_dependence-dot-0"/>
          <p:cNvSpPr/>
          <p:nvPr/>
        </p:nvSpPr>
        <p:spPr>
          <a:xfrm>
            <a:off x="3291840" y="4914900"/>
            <a:ext cx="109728" cy="109728"/>
          </a:xfrm>
          <a:prstGeom prst="ellipse">
            <a:avLst/>
          </a:prstGeom>
          <a:solidFill>
            <a:srgbClr val="4F4F4F"/>
          </a:solidFill>
          <a:ln w="12700">
            <a:solidFill>
              <a:srgbClr val="4F4F4F"/>
            </a:solidFill>
            <a:prstDash val="solid"/>
          </a:ln>
        </p:spPr>
      </p:sp>
      <p:sp>
        <p:nvSpPr>
          <p:cNvPr id="18" name="s3_dependence-leg-0"/>
          <p:cNvSpPr txBox="1"/>
          <p:nvPr/>
        </p:nvSpPr>
        <p:spPr>
          <a:xfrm>
            <a:off x="34472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3_dependence-dot-1"/>
          <p:cNvSpPr/>
          <p:nvPr/>
        </p:nvSpPr>
        <p:spPr>
          <a:xfrm>
            <a:off x="4614062" y="4914900"/>
            <a:ext cx="109728" cy="109728"/>
          </a:xfrm>
          <a:prstGeom prst="ellipse">
            <a:avLst/>
          </a:prstGeom>
          <a:solidFill>
            <a:srgbClr val="C2551C"/>
          </a:solidFill>
          <a:ln w="12700">
            <a:solidFill>
              <a:srgbClr val="C2551C"/>
            </a:solidFill>
            <a:prstDash val="solid"/>
          </a:ln>
        </p:spPr>
      </p:sp>
      <p:sp>
        <p:nvSpPr>
          <p:cNvPr id="20" name="s3_dependence-leg-1"/>
          <p:cNvSpPr txBox="1"/>
          <p:nvPr/>
        </p:nvSpPr>
        <p:spPr>
          <a:xfrm>
            <a:off x="47695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3_dependence-dot-2"/>
          <p:cNvSpPr/>
          <p:nvPr/>
        </p:nvSpPr>
        <p:spPr>
          <a:xfrm>
            <a:off x="5475427" y="4914900"/>
            <a:ext cx="109728" cy="109728"/>
          </a:xfrm>
          <a:prstGeom prst="ellipse">
            <a:avLst/>
          </a:prstGeom>
          <a:solidFill>
            <a:srgbClr val="1F6FB2"/>
          </a:solidFill>
          <a:ln w="12700">
            <a:solidFill>
              <a:srgbClr val="1F6FB2"/>
            </a:solidFill>
            <a:prstDash val="solid"/>
          </a:ln>
        </p:spPr>
      </p:sp>
      <p:sp>
        <p:nvSpPr>
          <p:cNvPr id="22" name="s3_dependence-leg-2"/>
          <p:cNvSpPr txBox="1"/>
          <p:nvPr/>
        </p:nvSpPr>
        <p:spPr>
          <a:xfrm>
            <a:off x="56308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3_dependence-dot-3"/>
          <p:cNvSpPr/>
          <p:nvPr/>
        </p:nvSpPr>
        <p:spPr>
          <a:xfrm>
            <a:off x="6468466" y="4914900"/>
            <a:ext cx="109728" cy="109728"/>
          </a:xfrm>
          <a:prstGeom prst="ellipse">
            <a:avLst/>
          </a:prstGeom>
          <a:solidFill>
            <a:srgbClr val="2E7D32"/>
          </a:solidFill>
          <a:ln w="12700">
            <a:solidFill>
              <a:srgbClr val="2E7D32"/>
            </a:solidFill>
            <a:prstDash val="solid"/>
          </a:ln>
        </p:spPr>
      </p:sp>
      <p:sp>
        <p:nvSpPr>
          <p:cNvPr id="24" name="s3_dependence-leg-3"/>
          <p:cNvSpPr txBox="1"/>
          <p:nvPr/>
        </p:nvSpPr>
        <p:spPr>
          <a:xfrm>
            <a:off x="66239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3_dependence-dot-4"/>
          <p:cNvSpPr/>
          <p:nvPr/>
        </p:nvSpPr>
        <p:spPr>
          <a:xfrm>
            <a:off x="7659014" y="4914900"/>
            <a:ext cx="109728" cy="109728"/>
          </a:xfrm>
          <a:prstGeom prst="ellipse">
            <a:avLst/>
          </a:prstGeom>
          <a:solidFill>
            <a:srgbClr val="7B3FA0"/>
          </a:solidFill>
          <a:ln w="12700">
            <a:solidFill>
              <a:srgbClr val="7B3FA0"/>
            </a:solidFill>
            <a:prstDash val="solid"/>
          </a:ln>
        </p:spPr>
      </p:sp>
      <p:sp>
        <p:nvSpPr>
          <p:cNvPr id="26" name="s3_dependence-leg-4"/>
          <p:cNvSpPr txBox="1"/>
          <p:nvPr/>
        </p:nvSpPr>
        <p:spPr>
          <a:xfrm>
            <a:off x="78144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3_dependence-dot-5"/>
          <p:cNvSpPr/>
          <p:nvPr/>
        </p:nvSpPr>
        <p:spPr>
          <a:xfrm>
            <a:off x="8981237" y="4914900"/>
            <a:ext cx="109728" cy="109728"/>
          </a:xfrm>
          <a:prstGeom prst="ellipse">
            <a:avLst/>
          </a:prstGeom>
          <a:solidFill>
            <a:srgbClr val="B3B2AE"/>
          </a:solidFill>
          <a:ln w="12700">
            <a:solidFill>
              <a:srgbClr val="B3B2AE"/>
            </a:solidFill>
            <a:prstDash val="solid"/>
          </a:ln>
        </p:spPr>
      </p:sp>
      <p:sp>
        <p:nvSpPr>
          <p:cNvPr id="28" name="s3_dependence-leg-5"/>
          <p:cNvSpPr txBox="1"/>
          <p:nvPr/>
        </p:nvSpPr>
        <p:spPr>
          <a:xfrm>
            <a:off x="91366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3_dependence-key"/>
          <p:cNvSpPr txBox="1"/>
          <p:nvPr/>
        </p:nvSpPr>
        <p:spPr>
          <a:xfrm>
            <a:off x="3291840" y="5148072"/>
            <a:ext cx="83667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2026-10-23T01:17:08Z</dcterms:created>
  <dcterms:modified xsi:type="dcterms:W3CDTF">2026-10-23T01:17:08Z</dcterms:modified>
</cp:coreProperties>
</file>