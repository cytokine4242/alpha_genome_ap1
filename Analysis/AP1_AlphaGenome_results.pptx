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c34cc70-9536-c6db-ee69-3c55e578d846}">
          <p14:sldIdLst>
            <p14:sldId id="256"/>
          </p14:sldIdLst>
        </p14:section>
        <p14:section name="Design" id="{0f33ed6b-15a6-188f-503d-c2c5ea1bb9b8}">
          <p14:sldIdLst>
            <p14:sldId id="257"/>
            <p14:sldId id="258"/>
            <p14:sldId id="259"/>
          </p14:sldIdLst>
        </p14:section>
        <p14:section name="Findings" id="{183478aa-37fa-84be-a3ea-145a21d41cb9}">
          <p14:sldIdLst>
            <p14:sldId id="260"/>
            <p14:sldId id="261"/>
            <p14:sldId id="262"/>
            <p14:sldId id="263"/>
            <p14:sldId id="264"/>
            <p14:sldId id="265"/>
            <p14:sldId id="266"/>
            <p14:sldId id="267"/>
            <p14:sldId id="268"/>
            <p14:sldId id="269"/>
          </p14:sldIdLst>
        </p14:section>
        <p14:section name="Conclusion" id="{3cce498f-95e6-e4ce-f676-94798d9ed3a8}">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Mouse cardiomyocytes, young sedentary / aged sedentary / aged exercise. Sites defined by TOBIAS footprints of Fos motifs.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definitions pick out largely different sites. Report every result labelled by which definition it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131 kb window is what AlphaGenome takes as input; we only ever edit the middle 600 bp. Each tile is 3 replicate random replacements, averaged. Effects are log2(edited / native).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demonstration, not a result, but chosen to be typical rather than striking: the motif window, the total dependence and the deepest-neighbour pattern all sit near the median. An earlier version used a site in the top 8% for motif depth, which made the motif look far more dominant than it is. The footprint lane is every named family TOBIAS calls here, with overlapping calls of one family merged and counted; only the two catch-all bins (Other, Zinc finger other) are dropped. The same scan is also read over the 11 bp motif and over the whole peak, and the titration and single-base experiments run on the same 3,678 sites.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is the uncontrolled comparison: if the accessibility difference is itself biology, it lives there. Bottom row matches each class to its own Stable controls on predicted and measured accessibility, peak width and TSS distance. The 300 bp control is the thing to check: Age Up differs slightly even there (-0.152 vs -0.111 matched), but that offset is 0.04 against a 0.26 effect at 170 bp and runs the opposite way, so it does not explain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2.49 million footprinted cardiomyocyte TFBS mapped onto the scan. Dynamic is split into its four directional classes because a gain and a loss could cancel in the pooled comparison. Tests run over all 88 matched class-by-family comparisons, not just the six families drawn. CTCF was reported as a lead earlier and is now retracted twice over: the original tile-level significance was pseudo-replication, and with the full scan and measured-accessibility matching the point estimate itself is zero (Dynamic -0.551 vs matched Stable -0.548, p = 0.98). The nearest thing to a real signal is MEF2 in Age Up, -0.53 against -0.84 in matched controls, p = 0.03 uncorrected, and in Exercise Down, p = 0.06 - the same two classes that are short of a close MEF2 on the previous slide. Neither survives correction on its own; they are worth quoting only because the proximity test points the same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panel counts every MEF2 footprint, important or not: it is occurrence, not importance. Middle panel is importance, measured against footprint-free tiles at the same distance, so the general fall-off with distance is removed. Right panel: 5.6% of Age Up sites carry a MEF2 footprint within 25 bp against 13.7% of their matched Stable controls (Fisher p 0.004, FDR 0.03); Exercise Down is similar but weaker. No 10-11 bp repeat survives correction, so no fixed protein-protein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Matched tests are exact McNemar on the paired sites, raw tests are Fisher, BH across all 20. Surviving: Age Up on both definitions (FDR 0.021 leaned-on, 0.045 footprint-present) and Exercise Down on the leaned-on definition (FDR 0.026); Exercise Down footprint-present does not (FDR 0.12). Age Down and Exercise Up show nothing either way. An earlier quote of p = 0.003 and p = 0.0005 for these came from Fisher applied to the matched groups as if unpaired; McNemar is the right test and gives p = 0.0021 and p = 0.0013.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Presence vs rank is the point. MEF2, does the element have one: Dynamic OR 0.58, Age Up 0.45, Exercise Down 0.56, all surviving BH. Given a MEF2 is present, every class ranks it in the top three about equally often (0.87-2.03, nothing significant). AP-1 given present: Dynamic 1.45x, FDR 0.036, with the direction repeating in all four directional classes (1.43-1.62). CTCF is the reason to keep the matched analysis in the report even though it is off the slides: OR 3.0-6.5 here with FDR &lt; 0.001, and exactly 1.0 once accessibility is matched.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are promoters a few hundred bp from a TSS, matched on predicted accessibility (0.96 vs 1.12) and peak width (1359 vs 1329 bp). At the Sqstm1 promoter AP-1 is bound in all three conditions, the motif window is worth -1.00 and 81% of the loss sits within 85 bp. At the Psmd11 promoter AP-1 is absent in young and gained in both aged states, the motif is still the strongest window but only -0.58, and the loss is smeared over 114 bp against 83. Psmd11 rises with age, matching the AP-1 gain; the exercise direction does not match, so do not claim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profiles are means, not medians, so the area under a curve equals the per-site totals in the panels on the right; with medians the two panels are different functions and do not correspond. Note where the difference lives: at the single deepest window Stable and Age Up are almost identical (0.68 vs 0.63 mean), and the 18% gap in loss within 85 bp comes from the shoulders, not the peak. Spread is the standard deviation of window position when each of the 60 windows is weighted by its share of that site's total loss, measured about the centre of mass of the loss rather than about the motif. For scale: all the loss in one window gives 0 bp, confined to the central 90 bp gives 26, to the central 170 bp gives 49, and spread evenly over the whole 600 bp gives 173. Observed values run 29 to 216 with a median of 87, so a typical element draws on a window well over 100 bp wide.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1-base and 7-base core results are not repeated here: they say the same thing as the motif shuffle on the earlier slide. One wrong base costs -0.45 of the -0.56 total, the dose slope tracks core quality read from the genome at rho 0.30, and orientation is irrelevant as expected for a near-palindrome.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titration experiment was designed before this hypothesis existed, so this is a prediction rather than a fit. Caveat: the motif-sensitivity result does not survive matching on measured accessibility; the core-quality result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comparable quantity is a ratio within each element, so assay scale cancels. The class direction disagrees: in the MPRA responsive elements depend MORE on their sequence, which separates intrinsic potential from what sets accessibility in the genome.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mutation-response profile is a null and a well-controlled one: given the same chromatin, the two classes lose the same amount to the same kind of edit. What is not null is the scale at which that is true and the one missing partner.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open: whether the MEF2 deficit at Dynamic sites is detection or genuine differential occupancy of equally-present motifs.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103120"/>
            <a:ext cx="10515600" cy="137160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r>
              <a:rPr lang="en-US" sz="4000" b="1" dirty="0">
                <a:solidFill>
                  <a:schemeClr val="tx1"/>
                </a:solidFill>
              </a:rPr>
              <a:t> </a:t>
            </a:r>
            <a:endParaRPr lang="en-US" sz="4000" dirty="0"/>
          </a:p>
        </p:txBody>
      </p:sp>
      <p:sp>
        <p:nvSpPr>
          <p:cNvPr id="3" name="Text 0"/>
          <p:cNvSpPr/>
          <p:nvPr>
            <p:ph idx="101" type="body" hasCustomPrompt="1"/>
          </p:nvPr>
        </p:nvSpPr>
        <p:spPr>
          <a:xfrm>
            <a:off x="822960" y="3703320"/>
            <a:ext cx="10515600" cy="1371600"/>
          </a:xfrm>
          <a:prstGeom prst="rect">
            <a:avLst/>
          </a:prstGeom>
          <a:noFill/>
          <a:ln/>
        </p:spPr>
        <p:txBody>
          <a:bodyPr wrap="square" rtlCol="0"/>
          <a:lstStyle>
            <a:lvl1pPr algn="l" indent="0" marL="0">
              <a:buNone/>
              <a:defRPr lang="en-US" sz="1700" dirty="0">
                <a:solidFill>
                  <a:schemeClr val="tx2"/>
                </a:solidFill>
              </a:defRPr>
            </a:lvl1pPr>
          </a:lstStyle>
          <a:p>
            <a:pPr algn="l" indent="0" marL="0">
              <a:buNone/>
            </a:pPr>
            <a:r>
              <a:rPr lang="en-US" sz="1700" dirty="0">
                <a:solidFill>
                  <a:schemeClr val="tx2"/>
                </a:solidFill>
              </a:rPr>
              <a:t> </a:t>
            </a:r>
            <a:endParaRPr lang="en-US" sz="17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_FIGURE">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02920" y="301752"/>
            <a:ext cx="11155680" cy="68580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r>
              <a:rPr lang="en-US" sz="2800" b="1" dirty="0">
                <a:solidFill>
                  <a:schemeClr val="tx1"/>
                </a:solidFill>
              </a:rPr>
              <a:t> </a:t>
            </a:r>
            <a:endParaRPr lang="en-US" sz="2800" dirty="0"/>
          </a:p>
        </p:txBody>
      </p:sp>
      <p:sp>
        <p:nvSpPr>
          <p:cNvPr id="3" name="Text 0"/>
          <p:cNvSpPr/>
          <p:nvPr>
            <p:ph idx="101" type="body" hasCustomPrompt="1"/>
          </p:nvPr>
        </p:nvSpPr>
        <p:spPr>
          <a:xfrm>
            <a:off x="502920" y="5943600"/>
            <a:ext cx="11155680" cy="658368"/>
          </a:xfrm>
          <a:prstGeom prst="rect">
            <a:avLst/>
          </a:prstGeom>
          <a:noFill/>
          <a:ln/>
        </p:spPr>
        <p:txBody>
          <a:bodyPr wrap="square" rtlCol="0"/>
          <a:lstStyle>
            <a:lvl1pPr algn="l" indent="0" marL="0">
              <a:buNone/>
              <a:defRPr lang="en-US" sz="1500" dirty="0">
                <a:solidFill>
                  <a:schemeClr val="tx1"/>
                </a:solidFill>
              </a:defRPr>
            </a:lvl1pPr>
          </a:lstStyle>
          <a:p>
            <a:pPr algn="l" indent="0" marL="0">
              <a:buNone/>
            </a:pPr>
            <a:r>
              <a:rPr lang="en-US" sz="1500" dirty="0">
                <a:solidFill>
                  <a:schemeClr val="tx1"/>
                </a:solidFill>
              </a:rPr>
              <a:t> </a:t>
            </a:r>
            <a:endParaRPr lang="en-US" sz="1500" dirty="0"/>
          </a:p>
        </p:txBody>
      </p:sp>
      <p:sp>
        <p:nvSpPr>
          <p:cNvPr id="25" name="Slide Number Placeholder 0"/>
          <p:cNvSpPr>
            <a:spLocks noGrp="1"/>
          </p:cNvSpPr>
          <p:nvPr>
            <p:ph type="sldNum" sz="quarter" idx="4294967295"/>
          </p:nvPr>
        </p:nvSpPr>
        <p:spPr>
          <a:xfrm>
            <a:off x="116586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A6A6A6"/>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_BODY">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02920" y="301752"/>
            <a:ext cx="11155680" cy="68580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r>
              <a:rPr lang="en-US" sz="2800" b="1" dirty="0">
                <a:solidFill>
                  <a:schemeClr val="tx1"/>
                </a:solidFill>
              </a:rPr>
              <a:t> </a:t>
            </a:r>
            <a:endParaRPr lang="en-US" sz="2800" dirty="0"/>
          </a:p>
        </p:txBody>
      </p:sp>
      <p:sp>
        <p:nvSpPr>
          <p:cNvPr id="3" name="Text 0"/>
          <p:cNvSpPr/>
          <p:nvPr>
            <p:ph idx="101" type="body" hasCustomPrompt="1"/>
          </p:nvPr>
        </p:nvSpPr>
        <p:spPr>
          <a:xfrm>
            <a:off x="502920" y="1234440"/>
            <a:ext cx="11155680" cy="5120640"/>
          </a:xfrm>
          <a:prstGeom prst="rect">
            <a:avLst/>
          </a:prstGeom>
          <a:noFill/>
          <a:ln/>
        </p:spPr>
        <p:txBody>
          <a:bodyPr wrap="square" rtlCol="0"/>
          <a:lstStyle>
            <a:lvl1pPr algn="l" indent="0" marL="0">
              <a:buNone/>
              <a:defRPr lang="en-US" sz="1700" dirty="0">
                <a:solidFill>
                  <a:schemeClr val="tx1"/>
                </a:solidFill>
              </a:defRPr>
            </a:lvl1pPr>
          </a:lstStyle>
          <a:p>
            <a:pPr algn="l" indent="0" marL="0">
              <a:buNone/>
            </a:pPr>
            <a:r>
              <a:rPr lang="en-US" sz="1700" dirty="0">
                <a:solidFill>
                  <a:schemeClr val="tx1"/>
                </a:solidFill>
              </a:rPr>
              <a:t> </a:t>
            </a:r>
            <a:endParaRPr lang="en-US" sz="1700" dirty="0"/>
          </a:p>
        </p:txBody>
      </p:sp>
      <p:sp>
        <p:nvSpPr>
          <p:cNvPr id="25" name="Slide Number Placeholder 0"/>
          <p:cNvSpPr>
            <a:spLocks noGrp="1"/>
          </p:cNvSpPr>
          <p:nvPr>
            <p:ph type="sldNum" sz="quarter" idx="4294967295"/>
          </p:nvPr>
        </p:nvSpPr>
        <p:spPr>
          <a:xfrm>
            <a:off x="116586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A6A6A6"/>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586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A6A6A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3.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822960" y="2103120"/>
            <a:ext cx="10515600" cy="1371600"/>
          </a:xfrm>
          <a:prstGeom prst="rect">
            <a:avLst/>
          </a:prstGeom>
          <a:noFill/>
          <a:ln/>
        </p:spPr>
        <p:txBody>
          <a:bodyPr wrap="square" rtlCol="0" anchor="b"/>
          <a:lstStyle/>
          <a:p>
            <a:pPr algn="l" indent="0" marL="0">
              <a:buNone/>
            </a:pPr>
            <a:r>
              <a:rPr lang="en-US" sz="4000" b="1" dirty="0">
                <a:solidFill>
                  <a:schemeClr val="tx1"/>
                </a:solidFill>
              </a:rPr>
              <a:t>What makes an AP-1 site respond to ageing?</a:t>
            </a:r>
            <a:endParaRPr lang="en-US" sz="4000" dirty="0"/>
          </a:p>
        </p:txBody>
      </p:sp>
      <p:sp>
        <p:nvSpPr>
          <p:cNvPr id="3" name="Text 0"/>
          <p:cNvSpPr/>
          <p:nvPr>
            <p:ph idx="101" type="body" hasCustomPrompt="1"/>
          </p:nvPr>
        </p:nvSpPr>
        <p:spPr>
          <a:xfrm>
            <a:off x="822960" y="3703320"/>
            <a:ext cx="10515600" cy="1371600"/>
          </a:xfrm>
          <a:prstGeom prst="rect">
            <a:avLst/>
          </a:prstGeom>
          <a:noFill/>
          <a:ln/>
        </p:spPr>
        <p:txBody>
          <a:bodyPr wrap="square" rtlCol="0" anchor="t"/>
          <a:lstStyle/>
          <a:p>
            <a:pPr algn="l" indent="0" marL="0">
              <a:buNone/>
            </a:pPr>
            <a:r>
              <a:rPr lang="en-US" sz="1700" dirty="0">
                <a:solidFill>
                  <a:schemeClr val="tx2"/>
                </a:solidFill>
              </a:rPr>
              <a:t>In-silico mutagenesis of every cardiomyocyte AP-1 element with AlphaGenome</a:t>
            </a:r>
            <a:endParaRPr lang="en-US" sz="1700" dirty="0"/>
          </a:p>
          <a:p>
            <a:pPr algn="l" indent="0" marL="0">
              <a:buNone/>
            </a:pPr>
            <a:r>
              <a:rPr lang="en-US" sz="1500" dirty="0">
                <a:solidFill>
                  <a:srgbClr val="595959"/>
                </a:solidFill>
              </a:rPr>
              <a:t>3,678 sites · 364 mutations each · validated against snATAC, RNA and a fibroblast MPRA</a:t>
            </a:r>
            <a:endParaRPr lang="en-US" sz="1700" dirty="0"/>
          </a:p>
        </p:txBody>
      </p:sp>
      <p:sp>
        <p:nvSpPr>
          <p:cNvPr id="4" name="rule"/>
          <p:cNvSpPr/>
          <p:nvPr/>
        </p:nvSpPr>
        <p:spPr>
          <a:xfrm>
            <a:off x="896112" y="3493008"/>
            <a:ext cx="2011680" cy="0"/>
          </a:xfrm>
          <a:prstGeom prst="line">
            <a:avLst/>
          </a:prstGeom>
          <a:noFill/>
          <a:ln w="31750">
            <a:solidFill>
              <a:srgbClr val="111111"/>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02920" y="301752"/>
            <a:ext cx="11155680" cy="685800"/>
          </a:xfrm>
          <a:prstGeom prst="rect">
            <a:avLst/>
          </a:prstGeom>
          <a:noFill/>
          <a:ln/>
        </p:spPr>
        <p:txBody>
          <a:bodyPr wrap="square" rtlCol="0" anchor="ctr"/>
          <a:lstStyle/>
          <a:p>
            <a:pPr algn="l" indent="0" marL="0">
              <a:buNone/>
            </a:pPr>
            <a:r>
              <a:rPr lang="en-US" sz="2800" b="1" dirty="0">
                <a:solidFill>
                  <a:schemeClr val="tx1"/>
                </a:solidFill>
              </a:rPr>
              <a:t>Two ways to call a site responsive, and they disagree</a:t>
            </a:r>
            <a:endParaRPr lang="en-US" sz="2800" dirty="0"/>
          </a:p>
        </p:txBody>
      </p:sp>
      <p:sp>
        <p:nvSpPr>
          <p:cNvPr id="3" name="Text 1"/>
          <p:cNvSpPr txBox="1"/>
          <p:nvPr/>
        </p:nvSpPr>
        <p:spPr>
          <a:xfrm>
            <a:off x="502920" y="1234440"/>
            <a:ext cx="5760720" cy="3657600"/>
          </a:xfrm>
          <a:prstGeom prst="rect">
            <a:avLst/>
          </a:prstGeom>
          <a:noFill/>
          <a:ln/>
        </p:spPr>
        <p:txBody>
          <a:bodyPr wrap="square" lIns="0" tIns="0" rIns="0" bIns="0" rtlCol="0" anchor="ctr"/>
          <a:lstStyle/>
          <a:p>
            <a:pPr indent="0" marL="0">
              <a:buNone/>
            </a:pPr>
            <a:r>
              <a:rPr lang="en-US" sz="1900" b="1" dirty="0">
                <a:solidFill>
                  <a:srgbClr val="111111"/>
                </a:solidFill>
              </a:rPr>
              <a:t>Threshold (binary call)</a:t>
            </a:r>
            <a:endParaRPr lang="en-US" sz="1700" dirty="0"/>
          </a:p>
          <a:p>
            <a:pPr indent="0" marL="0">
              <a:spcAft>
                <a:spcPts val="1400"/>
              </a:spcAft>
              <a:buNone/>
            </a:pPr>
            <a:r>
              <a:rPr lang="en-US" sz="1700" dirty="0">
                <a:solidFill>
                  <a:srgbClr val="111111"/>
                </a:solidFill>
              </a:rPr>
              <a:t>The TOBIAS footprint crosses the calling threshold between conditions. Age Up 396, Age Down 179, Exercise Up 186, Exercise Down 276. Stable = called in all three conditions, 2,907 sites.</a:t>
            </a:r>
            <a:endParaRPr lang="en-US" sz="1700" dirty="0"/>
          </a:p>
          <a:p>
            <a:pPr indent="0" marL="0">
              <a:buNone/>
            </a:pPr>
            <a:r>
              <a:rPr lang="en-US" sz="1900" b="1" dirty="0">
                <a:solidFill>
                  <a:srgbClr val="111111"/>
                </a:solidFill>
              </a:rPr>
              <a:t>Δscore (graded)</a:t>
            </a:r>
            <a:endParaRPr lang="en-US" sz="1700" dirty="0"/>
          </a:p>
          <a:p>
            <a:pPr indent="0" marL="0">
              <a:spcAft>
                <a:spcPts val="1400"/>
              </a:spcAft>
              <a:buNone/>
            </a:pPr>
            <a:r>
              <a:rPr lang="en-US" sz="1700" dirty="0">
                <a:solidFill>
                  <a:srgbClr val="111111"/>
                </a:solidFill>
              </a:rPr>
              <a:t>The top fifth of the change in binding score, whether or not the call ever crossed the line. 736 sites each way.</a:t>
            </a:r>
            <a:endParaRPr lang="en-US" sz="1700" dirty="0"/>
          </a:p>
          <a:p>
            <a:pPr indent="0" marL="0">
              <a:buNone/>
            </a:pPr>
            <a:r>
              <a:rPr lang="en-US" sz="1700" dirty="0">
                <a:solidFill>
                  <a:srgbClr val="595959"/>
                </a:solidFill>
              </a:rPr>
              <a:t>Only 22% of Δscore-Up sites ever cross the threshold, and 40% of threshold-Stable sites show a large score change.</a:t>
            </a:r>
            <a:endParaRPr lang="en-US" sz="1700" dirty="0"/>
          </a:p>
        </p:txBody>
      </p:sp>
      <p:sp>
        <p:nvSpPr>
          <p:cNvPr id="4" name="stat-0"/>
          <p:cNvSpPr/>
          <p:nvPr/>
        </p:nvSpPr>
        <p:spPr>
          <a:xfrm>
            <a:off x="502920" y="5074920"/>
            <a:ext cx="5440680" cy="1234440"/>
          </a:xfrm>
          <a:prstGeom prst="roundRect">
            <a:avLst>
              <a:gd name="adj" fmla="val 4444"/>
            </a:avLst>
          </a:prstGeom>
          <a:solidFill>
            <a:srgbClr val="F2F2F2"/>
          </a:solidFill>
          <a:ln w="12700">
            <a:solidFill>
              <a:srgbClr val="E2E2E2"/>
            </a:solidFill>
            <a:prstDash val="solid"/>
          </a:ln>
        </p:spPr>
      </p:sp>
      <p:sp>
        <p:nvSpPr>
          <p:cNvPr id="5" name="Text 3"/>
          <p:cNvSpPr txBox="1"/>
          <p:nvPr/>
        </p:nvSpPr>
        <p:spPr>
          <a:xfrm>
            <a:off x="612648" y="5166360"/>
            <a:ext cx="5221224" cy="548640"/>
          </a:xfrm>
          <a:prstGeom prst="rect">
            <a:avLst/>
          </a:prstGeom>
          <a:noFill/>
          <a:ln/>
        </p:spPr>
        <p:txBody>
          <a:bodyPr wrap="square" lIns="0" tIns="0" rIns="0" bIns="0" rtlCol="0" anchor="ctr"/>
          <a:lstStyle/>
          <a:p>
            <a:pPr algn="ctr" indent="0" marL="0">
              <a:buNone/>
            </a:pPr>
            <a:r>
              <a:rPr lang="en-US" sz="3000" b="1" dirty="0">
                <a:solidFill>
                  <a:srgbClr val="C2551C"/>
                </a:solidFill>
              </a:rPr>
              <a:t>ρ 0.57</a:t>
            </a:r>
            <a:endParaRPr lang="en-US" sz="3000" dirty="0"/>
          </a:p>
        </p:txBody>
      </p:sp>
      <p:sp>
        <p:nvSpPr>
          <p:cNvPr id="6" name="Text 4"/>
          <p:cNvSpPr txBox="1"/>
          <p:nvPr/>
        </p:nvSpPr>
        <p:spPr>
          <a:xfrm>
            <a:off x="612648" y="5733288"/>
            <a:ext cx="5221224" cy="502920"/>
          </a:xfrm>
          <a:prstGeom prst="rect">
            <a:avLst/>
          </a:prstGeom>
          <a:noFill/>
          <a:ln/>
        </p:spPr>
        <p:txBody>
          <a:bodyPr wrap="square" lIns="0" tIns="0" rIns="0" bIns="0" rtlCol="0" anchor="ctr"/>
          <a:lstStyle/>
          <a:p>
            <a:pPr algn="ctr" indent="0" marL="0">
              <a:buNone/>
            </a:pPr>
            <a:r>
              <a:rPr lang="en-US" sz="1200" dirty="0">
                <a:solidFill>
                  <a:srgbClr val="595959"/>
                </a:solidFill>
              </a:rPr>
              <a:t>Δscore vs the measured snATAC change with age</a:t>
            </a:r>
            <a:endParaRPr lang="en-US" sz="1200" dirty="0"/>
          </a:p>
        </p:txBody>
      </p:sp>
      <p:sp>
        <p:nvSpPr>
          <p:cNvPr id="7" name="stat-1"/>
          <p:cNvSpPr/>
          <p:nvPr/>
        </p:nvSpPr>
        <p:spPr>
          <a:xfrm>
            <a:off x="6217920" y="5074920"/>
            <a:ext cx="5440680" cy="1234440"/>
          </a:xfrm>
          <a:prstGeom prst="roundRect">
            <a:avLst>
              <a:gd name="adj" fmla="val 4444"/>
            </a:avLst>
          </a:prstGeom>
          <a:solidFill>
            <a:srgbClr val="F2F2F2"/>
          </a:solidFill>
          <a:ln w="12700">
            <a:solidFill>
              <a:srgbClr val="E2E2E2"/>
            </a:solidFill>
            <a:prstDash val="solid"/>
          </a:ln>
        </p:spPr>
      </p:sp>
      <p:sp>
        <p:nvSpPr>
          <p:cNvPr id="8" name="Text 6"/>
          <p:cNvSpPr txBox="1"/>
          <p:nvPr/>
        </p:nvSpPr>
        <p:spPr>
          <a:xfrm>
            <a:off x="6327648" y="5166360"/>
            <a:ext cx="5221224" cy="548640"/>
          </a:xfrm>
          <a:prstGeom prst="rect">
            <a:avLst/>
          </a:prstGeom>
          <a:noFill/>
          <a:ln/>
        </p:spPr>
        <p:txBody>
          <a:bodyPr wrap="square" lIns="0" tIns="0" rIns="0" bIns="0" rtlCol="0" anchor="ctr"/>
          <a:lstStyle/>
          <a:p>
            <a:pPr algn="ctr" indent="0" marL="0">
              <a:buNone/>
            </a:pPr>
            <a:r>
              <a:rPr lang="en-US" sz="3000" b="1" dirty="0">
                <a:solidFill>
                  <a:srgbClr val="1F6FB2"/>
                </a:solidFill>
              </a:rPr>
              <a:t>ρ 0.31</a:t>
            </a:r>
            <a:endParaRPr lang="en-US" sz="3000" dirty="0"/>
          </a:p>
        </p:txBody>
      </p:sp>
      <p:sp>
        <p:nvSpPr>
          <p:cNvPr id="9" name="Text 7"/>
          <p:cNvSpPr txBox="1"/>
          <p:nvPr/>
        </p:nvSpPr>
        <p:spPr>
          <a:xfrm>
            <a:off x="6327648" y="5733288"/>
            <a:ext cx="5221224" cy="502920"/>
          </a:xfrm>
          <a:prstGeom prst="rect">
            <a:avLst/>
          </a:prstGeom>
          <a:noFill/>
          <a:ln/>
        </p:spPr>
        <p:txBody>
          <a:bodyPr wrap="square" lIns="0" tIns="0" rIns="0" bIns="0" rtlCol="0" anchor="ctr"/>
          <a:lstStyle/>
          <a:p>
            <a:pPr algn="ctr" indent="0" marL="0">
              <a:buNone/>
            </a:pPr>
            <a:r>
              <a:rPr lang="en-US" sz="1200" dirty="0">
                <a:solidFill>
                  <a:srgbClr val="595959"/>
                </a:solidFill>
              </a:rPr>
              <a:t>threshold class vs the same measured change</a:t>
            </a:r>
            <a:endParaRPr lang="en-US" sz="1200" dirty="0"/>
          </a:p>
        </p:txBody>
      </p:sp>
      <p:sp>
        <p:nvSpPr>
          <p:cNvPr id="10" name="matching-note"/>
          <p:cNvSpPr txBox="1"/>
          <p:nvPr/>
        </p:nvSpPr>
        <p:spPr>
          <a:xfrm>
            <a:off x="6492240" y="1371600"/>
            <a:ext cx="5166360" cy="1371600"/>
          </a:xfrm>
          <a:prstGeom prst="rect">
            <a:avLst/>
          </a:prstGeom>
          <a:solidFill>
            <a:srgbClr val="F2F2F2"/>
          </a:solidFill>
          <a:ln/>
        </p:spPr>
        <p:txBody>
          <a:bodyPr wrap="square" lIns="152400" tIns="152400" rIns="152400" bIns="152400" rtlCol="0" anchor="ctr"/>
          <a:lstStyle/>
          <a:p>
            <a:pPr indent="0" marL="0">
              <a:buNone/>
            </a:pPr>
            <a:r>
              <a:rPr lang="en-US" sz="1500" dirty="0">
                <a:solidFill>
                  <a:srgbClr val="111111"/>
                </a:solidFill>
              </a:rPr>
              <a:t>Every comparison below matches each responsive site to a Stable site on predicted accessibility, peak width, TSS distance and measured accessibility.</a:t>
            </a:r>
            <a:endParaRPr lang="en-US" sz="1500" dirty="0"/>
          </a:p>
        </p:txBody>
      </p:sp>
      <p:sp>
        <p:nvSpPr>
          <p:cNvPr id="11" name="Text 9"/>
          <p:cNvSpPr txBox="1"/>
          <p:nvPr/>
        </p:nvSpPr>
        <p:spPr>
          <a:xfrm>
            <a:off x="6492240" y="2971800"/>
            <a:ext cx="5166360" cy="1920240"/>
          </a:xfrm>
          <a:prstGeom prst="rect">
            <a:avLst/>
          </a:prstGeom>
          <a:noFill/>
          <a:ln/>
        </p:spPr>
        <p:txBody>
          <a:bodyPr wrap="square" lIns="0" tIns="0" rIns="0" bIns="0" rtlCol="0" anchor="ctr"/>
          <a:lstStyle/>
          <a:p>
            <a:pPr indent="0" marL="0">
              <a:buNone/>
            </a:pPr>
            <a:r>
              <a:rPr lang="en-US" sz="1700" b="1" dirty="0">
                <a:solidFill>
                  <a:srgbClr val="000000"/>
                </a:solidFill>
              </a:rPr>
              <a:t>Which to believe?</a:t>
            </a:r>
            <a:endParaRPr lang="en-US" sz="1700" dirty="0"/>
          </a:p>
          <a:p>
            <a:pPr indent="0" marL="0">
              <a:buNone/>
            </a:pPr>
            <a:r>
              <a:rPr lang="en-US" sz="1500" dirty="0">
                <a:solidFill>
                  <a:srgbClr val="595959"/>
                </a:solidFill>
              </a:rPr>
              <a:t>Δscore tracks the measured snATAC change about twice as well, so it is the better description of what actually changed. The threshold call is what the field reports, so both are carried through and every result below is labelled with the one it comes from.</a:t>
            </a:r>
            <a:endParaRPr lang="en-US" sz="1700" dirty="0"/>
          </a:p>
        </p:txBody>
      </p:sp>
      <p:sp>
        <p:nvSpPr>
          <p:cNvPr id="13" name="Text 0"/>
          <p:cNvSpPr/>
          <p:nvPr>
            <p:ph idx="101" type="body" hasCustomPrompt="1"/>
          </p:nvPr>
        </p:nvSpPr>
        <p:spPr>
          <a:xfrm>
            <a:off x="502920" y="1234440"/>
            <a:ext cx="11155680" cy="5120640"/>
          </a:xfrm>
          <a:prstGeom prst="rect">
            <a:avLst/>
          </a:prstGeom>
          <a:noFill/>
          <a:ln/>
        </p:spPr>
        <p:txBody>
          <a:bodyPr wrap="square" rtlCol="0" anchor="t"/>
          <a:lstStyle/>
          <a:p>
            <a:pPr algn="l" indent="0" marL="0">
              <a:buNone/>
            </a:pPr>
            <a:endParaRPr lang="en-US" sz="1700" dirty="0"/>
          </a:p>
        </p:txBody>
      </p:sp>
      <p:sp>
        <p:nvSpPr>
          <p:cNvPr id="25" name="Slide Number Placeholder 0"/>
          <p:cNvSpPr>
            <a:spLocks noGrp="1"/>
          </p:cNvSpPr>
          <p:nvPr>
            <p:ph type="sldNum" sz="quarter" idx="4294967295"/>
          </p:nvPr>
        </p:nvSpPr>
        <p:spPr>
          <a:xfrm>
            <a:off x="116586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A6A6A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02920" y="301752"/>
            <a:ext cx="11155680" cy="685800"/>
          </a:xfrm>
          <a:prstGeom prst="rect">
            <a:avLst/>
          </a:prstGeom>
          <a:noFill/>
          <a:ln/>
        </p:spPr>
        <p:txBody>
          <a:bodyPr wrap="square" rtlCol="0" anchor="ctr"/>
          <a:lstStyle/>
          <a:p>
            <a:pPr algn="l" indent="0" marL="0">
              <a:buNone/>
            </a:pPr>
            <a:r>
              <a:rPr lang="en-US" sz="2800" b="1" dirty="0">
                <a:solidFill>
                  <a:schemeClr val="tx1"/>
                </a:solidFill>
              </a:rPr>
              <a:t>What one site looks like</a:t>
            </a:r>
            <a:endParaRPr lang="en-US" sz="2800" dirty="0"/>
          </a:p>
        </p:txBody>
      </p:sp>
      <p:pic>
        <p:nvPicPr>
          <p:cNvPr id="3" name="Image 0" descr="/Users/z5162865/WongLab/AlphaGenome_Ap1/Analysis/slide_figures/s0_element.png">    </p:cNvPr>
          <p:cNvPicPr>
            <a:picLocks noChangeAspect="1"/>
          </p:cNvPicPr>
          <p:nvPr/>
        </p:nvPicPr>
        <p:blipFill>
          <a:blip r:embed="rId1"/>
          <a:stretch>
            <a:fillRect/>
          </a:stretch>
        </p:blipFill>
        <p:spPr>
          <a:xfrm>
            <a:off x="897451" y="1143000"/>
            <a:ext cx="10366617" cy="3520440"/>
          </a:xfrm>
          <a:prstGeom prst="rect">
            <a:avLst/>
          </a:prstGeom>
        </p:spPr>
      </p:pic>
      <p:sp>
        <p:nvSpPr>
          <p:cNvPr id="4" name="stat-0"/>
          <p:cNvSpPr/>
          <p:nvPr/>
        </p:nvSpPr>
        <p:spPr>
          <a:xfrm>
            <a:off x="502920" y="4846320"/>
            <a:ext cx="3535680" cy="868680"/>
          </a:xfrm>
          <a:prstGeom prst="roundRect">
            <a:avLst>
              <a:gd name="adj" fmla="val 6316"/>
            </a:avLst>
          </a:prstGeom>
          <a:solidFill>
            <a:srgbClr val="F2F2F2"/>
          </a:solidFill>
          <a:ln w="12700">
            <a:solidFill>
              <a:srgbClr val="E2E2E2"/>
            </a:solidFill>
            <a:prstDash val="solid"/>
          </a:ln>
        </p:spPr>
      </p:sp>
      <p:sp>
        <p:nvSpPr>
          <p:cNvPr id="5" name="Text 2"/>
          <p:cNvSpPr txBox="1"/>
          <p:nvPr/>
        </p:nvSpPr>
        <p:spPr>
          <a:xfrm>
            <a:off x="612648" y="4937760"/>
            <a:ext cx="3316224" cy="548640"/>
          </a:xfrm>
          <a:prstGeom prst="rect">
            <a:avLst/>
          </a:prstGeom>
          <a:noFill/>
          <a:ln/>
        </p:spPr>
        <p:txBody>
          <a:bodyPr wrap="square" lIns="0" tIns="0" rIns="0" bIns="0" rtlCol="0" anchor="ctr"/>
          <a:lstStyle/>
          <a:p>
            <a:pPr algn="ctr" indent="0" marL="0">
              <a:buNone/>
            </a:pPr>
            <a:r>
              <a:rPr lang="en-US" sz="3000" b="1" dirty="0">
                <a:solidFill>
                  <a:srgbClr val="111111"/>
                </a:solidFill>
              </a:rPr>
              <a:t>3,678</a:t>
            </a:r>
            <a:endParaRPr lang="en-US" sz="3000" dirty="0"/>
          </a:p>
        </p:txBody>
      </p:sp>
      <p:sp>
        <p:nvSpPr>
          <p:cNvPr id="6" name="Text 3"/>
          <p:cNvSpPr txBox="1"/>
          <p:nvPr/>
        </p:nvSpPr>
        <p:spPr>
          <a:xfrm>
            <a:off x="612648" y="5504688"/>
            <a:ext cx="3316224" cy="137160"/>
          </a:xfrm>
          <a:prstGeom prst="rect">
            <a:avLst/>
          </a:prstGeom>
          <a:noFill/>
          <a:ln/>
        </p:spPr>
        <p:txBody>
          <a:bodyPr wrap="square" lIns="0" tIns="0" rIns="0" bIns="0" rtlCol="0" anchor="ctr"/>
          <a:lstStyle/>
          <a:p>
            <a:pPr algn="ctr" indent="0" marL="0">
              <a:buNone/>
            </a:pPr>
            <a:r>
              <a:rPr lang="en-US" sz="1200" dirty="0">
                <a:solidFill>
                  <a:srgbClr val="595959"/>
                </a:solidFill>
              </a:rPr>
              <a:t>cardiomyocyte AP-1 sites</a:t>
            </a:r>
            <a:endParaRPr lang="en-US" sz="1200" dirty="0"/>
          </a:p>
        </p:txBody>
      </p:sp>
      <p:sp>
        <p:nvSpPr>
          <p:cNvPr id="7" name="stat-1"/>
          <p:cNvSpPr/>
          <p:nvPr/>
        </p:nvSpPr>
        <p:spPr>
          <a:xfrm>
            <a:off x="4312920" y="4846320"/>
            <a:ext cx="3535680" cy="868680"/>
          </a:xfrm>
          <a:prstGeom prst="roundRect">
            <a:avLst>
              <a:gd name="adj" fmla="val 6316"/>
            </a:avLst>
          </a:prstGeom>
          <a:solidFill>
            <a:srgbClr val="F2F2F2"/>
          </a:solidFill>
          <a:ln w="12700">
            <a:solidFill>
              <a:srgbClr val="E2E2E2"/>
            </a:solidFill>
            <a:prstDash val="solid"/>
          </a:ln>
        </p:spPr>
      </p:sp>
      <p:sp>
        <p:nvSpPr>
          <p:cNvPr id="8" name="Text 5"/>
          <p:cNvSpPr txBox="1"/>
          <p:nvPr/>
        </p:nvSpPr>
        <p:spPr>
          <a:xfrm>
            <a:off x="4422648" y="4937760"/>
            <a:ext cx="3316224" cy="548640"/>
          </a:xfrm>
          <a:prstGeom prst="rect">
            <a:avLst/>
          </a:prstGeom>
          <a:noFill/>
          <a:ln/>
        </p:spPr>
        <p:txBody>
          <a:bodyPr wrap="square" lIns="0" tIns="0" rIns="0" bIns="0" rtlCol="0" anchor="ctr"/>
          <a:lstStyle/>
          <a:p>
            <a:pPr algn="ctr" indent="0" marL="0">
              <a:buNone/>
            </a:pPr>
            <a:r>
              <a:rPr lang="en-US" sz="3000" b="1" dirty="0">
                <a:solidFill>
                  <a:srgbClr val="111111"/>
                </a:solidFill>
              </a:rPr>
              <a:t>364</a:t>
            </a:r>
            <a:endParaRPr lang="en-US" sz="3000" dirty="0"/>
          </a:p>
        </p:txBody>
      </p:sp>
      <p:sp>
        <p:nvSpPr>
          <p:cNvPr id="9" name="Text 6"/>
          <p:cNvSpPr txBox="1"/>
          <p:nvPr/>
        </p:nvSpPr>
        <p:spPr>
          <a:xfrm>
            <a:off x="4422648" y="5504688"/>
            <a:ext cx="3316224" cy="137160"/>
          </a:xfrm>
          <a:prstGeom prst="rect">
            <a:avLst/>
          </a:prstGeom>
          <a:noFill/>
          <a:ln/>
        </p:spPr>
        <p:txBody>
          <a:bodyPr wrap="square" lIns="0" tIns="0" rIns="0" bIns="0" rtlCol="0" anchor="ctr"/>
          <a:lstStyle/>
          <a:p>
            <a:pPr algn="ctr" indent="0" marL="0">
              <a:buNone/>
            </a:pPr>
            <a:r>
              <a:rPr lang="en-US" sz="1200" dirty="0">
                <a:solidFill>
                  <a:srgbClr val="595959"/>
                </a:solidFill>
              </a:rPr>
              <a:t>edits of each one</a:t>
            </a:r>
            <a:endParaRPr lang="en-US" sz="1200" dirty="0"/>
          </a:p>
        </p:txBody>
      </p:sp>
      <p:sp>
        <p:nvSpPr>
          <p:cNvPr id="10" name="stat-2"/>
          <p:cNvSpPr/>
          <p:nvPr/>
        </p:nvSpPr>
        <p:spPr>
          <a:xfrm>
            <a:off x="8122920" y="4846320"/>
            <a:ext cx="3535680" cy="868680"/>
          </a:xfrm>
          <a:prstGeom prst="roundRect">
            <a:avLst>
              <a:gd name="adj" fmla="val 6316"/>
            </a:avLst>
          </a:prstGeom>
          <a:solidFill>
            <a:srgbClr val="F2F2F2"/>
          </a:solidFill>
          <a:ln w="12700">
            <a:solidFill>
              <a:srgbClr val="E2E2E2"/>
            </a:solidFill>
            <a:prstDash val="solid"/>
          </a:ln>
        </p:spPr>
      </p:sp>
      <p:sp>
        <p:nvSpPr>
          <p:cNvPr id="11" name="Text 8"/>
          <p:cNvSpPr txBox="1"/>
          <p:nvPr/>
        </p:nvSpPr>
        <p:spPr>
          <a:xfrm>
            <a:off x="8232648" y="4937760"/>
            <a:ext cx="3316224" cy="548640"/>
          </a:xfrm>
          <a:prstGeom prst="rect">
            <a:avLst/>
          </a:prstGeom>
          <a:noFill/>
          <a:ln/>
        </p:spPr>
        <p:txBody>
          <a:bodyPr wrap="square" lIns="0" tIns="0" rIns="0" bIns="0" rtlCol="0" anchor="ctr"/>
          <a:lstStyle/>
          <a:p>
            <a:pPr algn="ctr" indent="0" marL="0">
              <a:buNone/>
            </a:pPr>
            <a:r>
              <a:rPr lang="en-US" sz="3000" b="1" dirty="0">
                <a:solidFill>
                  <a:srgbClr val="C2551C"/>
                </a:solidFill>
              </a:rPr>
              <a:t>772 / 2,907</a:t>
            </a:r>
            <a:endParaRPr lang="en-US" sz="3000" dirty="0"/>
          </a:p>
        </p:txBody>
      </p:sp>
      <p:sp>
        <p:nvSpPr>
          <p:cNvPr id="12" name="Text 9"/>
          <p:cNvSpPr txBox="1"/>
          <p:nvPr/>
        </p:nvSpPr>
        <p:spPr>
          <a:xfrm>
            <a:off x="8232648" y="5504688"/>
            <a:ext cx="3316224" cy="137160"/>
          </a:xfrm>
          <a:prstGeom prst="rect">
            <a:avLst/>
          </a:prstGeom>
          <a:noFill/>
          <a:ln/>
        </p:spPr>
        <p:txBody>
          <a:bodyPr wrap="square" lIns="0" tIns="0" rIns="0" bIns="0" rtlCol="0" anchor="ctr"/>
          <a:lstStyle/>
          <a:p>
            <a:pPr algn="ctr" indent="0" marL="0">
              <a:buNone/>
            </a:pPr>
            <a:r>
              <a:rPr lang="en-US" sz="1200" dirty="0">
                <a:solidFill>
                  <a:srgbClr val="595959"/>
                </a:solidFill>
              </a:rPr>
              <a:t>Dynamic against Stable sites</a:t>
            </a:r>
            <a:endParaRPr lang="en-US" sz="1200" dirty="0"/>
          </a:p>
        </p:txBody>
      </p:sp>
      <p:sp>
        <p:nvSpPr>
          <p:cNvPr id="13" name="Text 0"/>
          <p:cNvSpPr/>
          <p:nvPr>
            <p:ph idx="101" type="body" hasCustomPrompt="1"/>
          </p:nvPr>
        </p:nvSpPr>
        <p:spPr>
          <a:xfrm>
            <a:off x="502920" y="5943600"/>
            <a:ext cx="11155680" cy="658368"/>
          </a:xfrm>
          <a:prstGeom prst="rect">
            <a:avLst/>
          </a:prstGeom>
          <a:noFill/>
          <a:ln/>
        </p:spPr>
        <p:txBody>
          <a:bodyPr wrap="square" rtlCol="0" anchor="t"/>
          <a:lstStyle/>
          <a:p>
            <a:pPr algn="l" indent="0" marL="0">
              <a:buNone/>
            </a:pPr>
            <a:r>
              <a:rPr lang="en-US" sz="1500" b="1" dirty="0">
                <a:solidFill>
                  <a:srgbClr val="C2551C"/>
                </a:solidFill>
              </a:rPr>
              <a:t>Takeaway   </a:t>
            </a:r>
            <a:pPr algn="l" indent="0" marL="0">
              <a:buNone/>
            </a:pPr>
            <a:r>
              <a:rPr lang="en-US" sz="1500" dirty="0">
                <a:solidFill>
                  <a:srgbClr val="111111"/>
                </a:solidFill>
              </a:rPr>
              <a:t>every edit is read as the change in predicted accessibility over the surrounding 170 bp</a:t>
            </a:r>
            <a:endParaRPr lang="en-US" sz="1500" dirty="0"/>
          </a:p>
        </p:txBody>
      </p:sp>
      <p:sp>
        <p:nvSpPr>
          <p:cNvPr id="25" name="Slide Number Placeholder 0"/>
          <p:cNvSpPr>
            <a:spLocks noGrp="1"/>
          </p:cNvSpPr>
          <p:nvPr>
            <p:ph type="sldNum" sz="quarter" idx="4294967295"/>
          </p:nvPr>
        </p:nvSpPr>
        <p:spPr>
          <a:xfrm>
            <a:off x="116586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A6A6A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02920" y="301752"/>
            <a:ext cx="11155680" cy="685800"/>
          </a:xfrm>
          <a:prstGeom prst="rect">
            <a:avLst/>
          </a:prstGeom>
          <a:noFill/>
          <a:ln/>
        </p:spPr>
        <p:txBody>
          <a:bodyPr wrap="square" rtlCol="0" anchor="ctr"/>
          <a:lstStyle/>
          <a:p>
            <a:pPr algn="l" indent="0" marL="0">
              <a:buNone/>
            </a:pPr>
            <a:r>
              <a:rPr lang="en-US" sz="2800" b="1" dirty="0">
                <a:solidFill>
                  <a:schemeClr val="tx1"/>
                </a:solidFill>
              </a:rPr>
              <a:t>The same thing at one real element</a:t>
            </a:r>
            <a:endParaRPr lang="en-US" sz="2800" dirty="0"/>
          </a:p>
        </p:txBody>
      </p:sp>
      <p:sp>
        <p:nvSpPr>
          <p:cNvPr id="3" name="ml-intro"/>
          <p:cNvSpPr txBox="1"/>
          <p:nvPr/>
        </p:nvSpPr>
        <p:spPr>
          <a:xfrm>
            <a:off x="731520" y="1024128"/>
            <a:ext cx="10881360" cy="475488"/>
          </a:xfrm>
          <a:prstGeom prst="rect">
            <a:avLst/>
          </a:prstGeom>
          <a:noFill/>
          <a:ln/>
        </p:spPr>
        <p:txBody>
          <a:bodyPr wrap="square" lIns="0" tIns="0" rIns="0" bIns="0" rtlCol="0" anchor="ctr"/>
          <a:lstStyle/>
          <a:p>
            <a:pPr indent="0" marL="0">
              <a:buNone/>
            </a:pPr>
            <a:r>
              <a:rPr lang="en-US" sz="1150" dirty="0">
                <a:solidFill>
                  <a:srgbClr val="595959"/>
                </a:solidFill>
              </a:rPr>
              <a:t>Every 10 bp window from −300 to +300 bp is replaced by random bases in turn, three times, and the bar is what the prediction loses over the surrounding 170 bp. Gold is the called AP-1 motif. The lane below is every other footprinted motif TOBIAS calls in this element, which is what the windows are read against.</a:t>
            </a:r>
            <a:endParaRPr lang="en-US" sz="1150" dirty="0"/>
          </a:p>
        </p:txBody>
      </p:sp>
      <p:pic>
        <p:nvPicPr>
          <p:cNvPr id="4" name="Image 0" descr="/Users/z5162865/WongLab/AlphaGenome_Ap1/Analysis/slide_figures/panels/s11_method_locus.png">    </p:cNvPr>
          <p:cNvPicPr>
            <a:picLocks noChangeAspect="1"/>
          </p:cNvPicPr>
          <p:nvPr/>
        </p:nvPicPr>
        <p:blipFill>
          <a:blip r:embed="rId1"/>
          <a:stretch>
            <a:fillRect/>
          </a:stretch>
        </p:blipFill>
        <p:spPr>
          <a:xfrm>
            <a:off x="594360" y="1737360"/>
            <a:ext cx="10972800" cy="3200400"/>
          </a:xfrm>
          <a:prstGeom prst="rect">
            <a:avLst/>
          </a:prstGeom>
        </p:spPr>
      </p:pic>
      <p:sp>
        <p:nvSpPr>
          <p:cNvPr id="5" name="ml-cap"/>
          <p:cNvSpPr txBox="1"/>
          <p:nvPr/>
        </p:nvSpPr>
        <p:spPr>
          <a:xfrm>
            <a:off x="731520" y="5074920"/>
            <a:ext cx="10881360" cy="274320"/>
          </a:xfrm>
          <a:prstGeom prst="rect">
            <a:avLst/>
          </a:prstGeom>
          <a:noFill/>
          <a:ln/>
        </p:spPr>
        <p:txBody>
          <a:bodyPr wrap="square" lIns="0" tIns="0" rIns="0" bIns="0" rtlCol="0" anchor="ctr"/>
          <a:lstStyle/>
          <a:p>
            <a:pPr indent="0" marL="0">
              <a:buNone/>
            </a:pPr>
            <a:r>
              <a:rPr lang="en-US" sz="1050" dirty="0">
                <a:solidFill>
                  <a:srgbClr val="111111"/>
                </a:solidFill>
              </a:rPr>
              <a:t>chr2:167,698,004 · the motif window costs −0.56 against a median of −0.66 across all 3,678 sites, and the deepest window is a neighbour — as it is at 69% of sites</a:t>
            </a:r>
            <a:endParaRPr lang="en-US" sz="1050" dirty="0"/>
          </a:p>
        </p:txBody>
      </p:sp>
      <p:sp>
        <p:nvSpPr>
          <p:cNvPr id="6" name="Text 0"/>
          <p:cNvSpPr/>
          <p:nvPr>
            <p:ph idx="101" type="body" hasCustomPrompt="1"/>
          </p:nvPr>
        </p:nvSpPr>
        <p:spPr>
          <a:xfrm>
            <a:off x="502920" y="5943600"/>
            <a:ext cx="11155680" cy="658368"/>
          </a:xfrm>
          <a:prstGeom prst="rect">
            <a:avLst/>
          </a:prstGeom>
          <a:noFill/>
          <a:ln/>
        </p:spPr>
        <p:txBody>
          <a:bodyPr wrap="square" rtlCol="0" anchor="t"/>
          <a:lstStyle/>
          <a:p>
            <a:pPr algn="l" indent="0" marL="0">
              <a:buNone/>
            </a:pPr>
            <a:r>
              <a:rPr lang="en-US" sz="1500" b="1" dirty="0">
                <a:solidFill>
                  <a:srgbClr val="C2551C"/>
                </a:solidFill>
              </a:rPr>
              <a:t>Takeaway   </a:t>
            </a:r>
            <a:pPr algn="l" indent="0" marL="0">
              <a:buNone/>
            </a:pPr>
            <a:r>
              <a:rPr lang="en-US" sz="1500" dirty="0">
                <a:solidFill>
                  <a:srgbClr val="111111"/>
                </a:solidFill>
              </a:rPr>
              <a:t>the motif is one window among sixty, and usually not the deepest — everything that follows is this, repeated over 3,678 sites</a:t>
            </a:r>
            <a:endParaRPr lang="en-US" sz="1500" dirty="0"/>
          </a:p>
        </p:txBody>
      </p:sp>
      <p:sp>
        <p:nvSpPr>
          <p:cNvPr id="25" name="Slide Number Placeholder 0"/>
          <p:cNvSpPr>
            <a:spLocks noGrp="1"/>
          </p:cNvSpPr>
          <p:nvPr>
            <p:ph type="sldNum" sz="quarter" idx="4294967295"/>
          </p:nvPr>
        </p:nvSpPr>
        <p:spPr>
          <a:xfrm>
            <a:off x="116586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A6A6A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02920" y="301752"/>
            <a:ext cx="11155680" cy="685800"/>
          </a:xfrm>
          <a:prstGeom prst="rect">
            <a:avLst/>
          </a:prstGeom>
          <a:noFill/>
          <a:ln/>
        </p:spPr>
        <p:txBody>
          <a:bodyPr wrap="square" rtlCol="0" anchor="ctr"/>
          <a:lstStyle/>
          <a:p>
            <a:pPr algn="l" indent="0" marL="0">
              <a:buNone/>
            </a:pPr>
            <a:r>
              <a:rPr lang="en-US" sz="2800" b="1" dirty="0">
                <a:solidFill>
                  <a:schemeClr val="tx1"/>
                </a:solidFill>
              </a:rPr>
              <a:t>Responsive sites lose less to every edit of their element</a:t>
            </a:r>
            <a:endParaRPr lang="en-US" sz="2800" dirty="0"/>
          </a:p>
        </p:txBody>
      </p:sp>
      <p:sp>
        <p:nvSpPr>
          <p:cNvPr id="3" name="ed-t"/>
          <p:cNvSpPr txBox="1"/>
          <p:nvPr/>
        </p:nvSpPr>
        <p:spPr>
          <a:xfrm>
            <a:off x="502920" y="987552"/>
            <a:ext cx="4937760" cy="256032"/>
          </a:xfrm>
          <a:prstGeom prst="rect">
            <a:avLst/>
          </a:prstGeom>
          <a:noFill/>
          <a:ln/>
        </p:spPr>
        <p:txBody>
          <a:bodyPr wrap="square" lIns="0" tIns="0" rIns="0" bIns="0" rtlCol="0" anchor="ctr"/>
          <a:lstStyle/>
          <a:p>
            <a:pPr indent="0" marL="0">
              <a:buNone/>
            </a:pPr>
            <a:r>
              <a:rPr lang="en-US" sz="1250" b="1" dirty="0">
                <a:solidFill>
                  <a:srgbClr val="111111"/>
                </a:solidFill>
              </a:rPr>
              <a:t>The three edits, and the control</a:t>
            </a:r>
            <a:endParaRPr lang="en-US" sz="1250" dirty="0"/>
          </a:p>
        </p:txBody>
      </p:sp>
      <p:pic>
        <p:nvPicPr>
          <p:cNvPr id="4" name="Image 0" descr="/Users/z5162865/WongLab/AlphaGenome_Ap1/Analysis/slide_figures/panels/d_edits.png">    </p:cNvPr>
          <p:cNvPicPr>
            <a:picLocks noChangeAspect="1"/>
          </p:cNvPicPr>
          <p:nvPr/>
        </p:nvPicPr>
        <p:blipFill>
          <a:blip r:embed="rId1"/>
          <a:stretch>
            <a:fillRect/>
          </a:stretch>
        </p:blipFill>
        <p:spPr>
          <a:xfrm>
            <a:off x="1008944" y="1261872"/>
            <a:ext cx="3925711" cy="1188720"/>
          </a:xfrm>
          <a:prstGeom prst="rect">
            <a:avLst/>
          </a:prstGeom>
        </p:spPr>
      </p:pic>
      <p:sp>
        <p:nvSpPr>
          <p:cNvPr id="5" name="s2_matched_null-title-0"/>
          <p:cNvSpPr txBox="1"/>
          <p:nvPr/>
        </p:nvSpPr>
        <p:spPr>
          <a:xfrm>
            <a:off x="612648" y="2578608"/>
            <a:ext cx="2688336" cy="438912"/>
          </a:xfrm>
          <a:prstGeom prst="rect">
            <a:avLst/>
          </a:prstGeom>
          <a:noFill/>
          <a:ln/>
        </p:spPr>
        <p:txBody>
          <a:bodyPr wrap="square" lIns="0" tIns="0" rIns="0" bIns="0" rtlCol="0" anchor="t"/>
          <a:lstStyle/>
          <a:p>
            <a:pPr indent="0" marL="0">
              <a:buNone/>
            </a:pPr>
            <a:r>
              <a:rPr lang="en-US" sz="1250" b="1" dirty="0">
                <a:solidFill>
                  <a:srgbClr val="111111"/>
                </a:solidFill>
              </a:rPr>
              <a:t>Replace the 11 bp motif</a:t>
            </a:r>
            <a:endParaRPr lang="en-US" sz="1250" dirty="0"/>
          </a:p>
        </p:txBody>
      </p:sp>
      <p:sp>
        <p:nvSpPr>
          <p:cNvPr id="6" name="s2_matched_null-sub-0"/>
          <p:cNvSpPr txBox="1"/>
          <p:nvPr/>
        </p:nvSpPr>
        <p:spPr>
          <a:xfrm>
            <a:off x="612648" y="3008376"/>
            <a:ext cx="2688336" cy="310896"/>
          </a:xfrm>
          <a:prstGeom prst="rect">
            <a:avLst/>
          </a:prstGeom>
          <a:noFill/>
          <a:ln/>
        </p:spPr>
        <p:txBody>
          <a:bodyPr wrap="square" lIns="0" tIns="0" rIns="0" bIns="0" rtlCol="0" anchor="t"/>
          <a:lstStyle/>
          <a:p>
            <a:pPr indent="0" marL="0">
              <a:buNone/>
            </a:pPr>
            <a:r>
              <a:rPr lang="en-US" sz="950" dirty="0">
                <a:solidFill>
                  <a:srgbClr val="595959"/>
                </a:solidFill>
              </a:rPr>
              <a:t>the motif alone</a:t>
            </a:r>
            <a:endParaRPr lang="en-US" sz="950" dirty="0"/>
          </a:p>
        </p:txBody>
      </p:sp>
      <p:pic>
        <p:nvPicPr>
          <p:cNvPr id="7" name="Image 1" descr="/Users/z5162865/WongLab/AlphaGenome_Ap1/Analysis/slide_figures/panels/s2_matched_null_c0_r0.png">    </p:cNvPr>
          <p:cNvPicPr>
            <a:picLocks noChangeAspect="1"/>
          </p:cNvPicPr>
          <p:nvPr/>
        </p:nvPicPr>
        <p:blipFill>
          <a:blip r:embed="rId2"/>
          <a:stretch>
            <a:fillRect/>
          </a:stretch>
        </p:blipFill>
        <p:spPr>
          <a:xfrm>
            <a:off x="1222553" y="3328416"/>
            <a:ext cx="1468526" cy="1335024"/>
          </a:xfrm>
          <a:prstGeom prst="rect">
            <a:avLst/>
          </a:prstGeom>
        </p:spPr>
      </p:pic>
      <p:sp>
        <p:nvSpPr>
          <p:cNvPr id="8" name="s2_matched_null-title-1"/>
          <p:cNvSpPr txBox="1"/>
          <p:nvPr/>
        </p:nvSpPr>
        <p:spPr>
          <a:xfrm>
            <a:off x="3374136" y="2578608"/>
            <a:ext cx="2688336" cy="438912"/>
          </a:xfrm>
          <a:prstGeom prst="rect">
            <a:avLst/>
          </a:prstGeom>
          <a:noFill/>
          <a:ln/>
        </p:spPr>
        <p:txBody>
          <a:bodyPr wrap="square" lIns="0" tIns="0" rIns="0" bIns="0" rtlCol="0" anchor="t"/>
          <a:lstStyle/>
          <a:p>
            <a:pPr indent="0" marL="0">
              <a:buNone/>
            </a:pPr>
            <a:r>
              <a:rPr lang="en-US" sz="1250" b="1" dirty="0">
                <a:solidFill>
                  <a:srgbClr val="111111"/>
                </a:solidFill>
              </a:rPr>
              <a:t>Replace the 170 bp element</a:t>
            </a:r>
            <a:endParaRPr lang="en-US" sz="1250" dirty="0"/>
          </a:p>
        </p:txBody>
      </p:sp>
      <p:sp>
        <p:nvSpPr>
          <p:cNvPr id="9" name="s2_matched_null-sub-1"/>
          <p:cNvSpPr txBox="1"/>
          <p:nvPr/>
        </p:nvSpPr>
        <p:spPr>
          <a:xfrm>
            <a:off x="3374136" y="3008376"/>
            <a:ext cx="2688336" cy="310896"/>
          </a:xfrm>
          <a:prstGeom prst="rect">
            <a:avLst/>
          </a:prstGeom>
          <a:noFill/>
          <a:ln/>
        </p:spPr>
        <p:txBody>
          <a:bodyPr wrap="square" lIns="0" tIns="0" rIns="0" bIns="0" rtlCol="0" anchor="t"/>
          <a:lstStyle/>
          <a:p>
            <a:pPr indent="0" marL="0">
              <a:buNone/>
            </a:pPr>
            <a:r>
              <a:rPr lang="en-US" sz="950" dirty="0">
                <a:solidFill>
                  <a:srgbClr val="595959"/>
                </a:solidFill>
              </a:rPr>
              <a:t>the element around it</a:t>
            </a:r>
            <a:endParaRPr lang="en-US" sz="950" dirty="0"/>
          </a:p>
        </p:txBody>
      </p:sp>
      <p:pic>
        <p:nvPicPr>
          <p:cNvPr id="10" name="Image 2" descr="/Users/z5162865/WongLab/AlphaGenome_Ap1/Analysis/slide_figures/panels/s2_matched_null_c1_r0.png">    </p:cNvPr>
          <p:cNvPicPr>
            <a:picLocks noChangeAspect="1"/>
          </p:cNvPicPr>
          <p:nvPr/>
        </p:nvPicPr>
        <p:blipFill>
          <a:blip r:embed="rId3"/>
          <a:stretch>
            <a:fillRect/>
          </a:stretch>
        </p:blipFill>
        <p:spPr>
          <a:xfrm>
            <a:off x="3984041" y="3328416"/>
            <a:ext cx="1468526" cy="1335024"/>
          </a:xfrm>
          <a:prstGeom prst="rect">
            <a:avLst/>
          </a:prstGeom>
        </p:spPr>
      </p:pic>
      <p:sp>
        <p:nvSpPr>
          <p:cNvPr id="11" name="s2_matched_null-title-2"/>
          <p:cNvSpPr txBox="1"/>
          <p:nvPr/>
        </p:nvSpPr>
        <p:spPr>
          <a:xfrm>
            <a:off x="6135624" y="2578608"/>
            <a:ext cx="2688336" cy="438912"/>
          </a:xfrm>
          <a:prstGeom prst="rect">
            <a:avLst/>
          </a:prstGeom>
          <a:noFill/>
          <a:ln/>
        </p:spPr>
        <p:txBody>
          <a:bodyPr wrap="square" lIns="0" tIns="0" rIns="0" bIns="0" rtlCol="0" anchor="t"/>
          <a:lstStyle/>
          <a:p>
            <a:pPr indent="0" marL="0">
              <a:buNone/>
            </a:pPr>
            <a:r>
              <a:rPr lang="en-US" sz="1250" b="1" dirty="0">
                <a:solidFill>
                  <a:srgbClr val="111111"/>
                </a:solidFill>
              </a:rPr>
              <a:t>Replace the whole peak</a:t>
            </a:r>
            <a:endParaRPr lang="en-US" sz="1250" dirty="0"/>
          </a:p>
        </p:txBody>
      </p:sp>
      <p:sp>
        <p:nvSpPr>
          <p:cNvPr id="12" name="s2_matched_null-sub-2"/>
          <p:cNvSpPr txBox="1"/>
          <p:nvPr/>
        </p:nvSpPr>
        <p:spPr>
          <a:xfrm>
            <a:off x="6135624" y="3008376"/>
            <a:ext cx="2688336" cy="310896"/>
          </a:xfrm>
          <a:prstGeom prst="rect">
            <a:avLst/>
          </a:prstGeom>
          <a:noFill/>
          <a:ln/>
        </p:spPr>
        <p:txBody>
          <a:bodyPr wrap="square" lIns="0" tIns="0" rIns="0" bIns="0" rtlCol="0" anchor="t"/>
          <a:lstStyle/>
          <a:p>
            <a:pPr indent="0" marL="0">
              <a:buNone/>
            </a:pPr>
            <a:r>
              <a:rPr lang="en-US" sz="950" dirty="0">
                <a:solidFill>
                  <a:srgbClr val="595959"/>
                </a:solidFill>
              </a:rPr>
              <a:t>everything, read over the peak</a:t>
            </a:r>
            <a:endParaRPr lang="en-US" sz="950" dirty="0"/>
          </a:p>
        </p:txBody>
      </p:sp>
      <p:pic>
        <p:nvPicPr>
          <p:cNvPr id="13" name="Image 3" descr="/Users/z5162865/WongLab/AlphaGenome_Ap1/Analysis/slide_figures/panels/s2_matched_null_c2_r0.png">    </p:cNvPr>
          <p:cNvPicPr>
            <a:picLocks noChangeAspect="1"/>
          </p:cNvPicPr>
          <p:nvPr/>
        </p:nvPicPr>
        <p:blipFill>
          <a:blip r:embed="rId4"/>
          <a:stretch>
            <a:fillRect/>
          </a:stretch>
        </p:blipFill>
        <p:spPr>
          <a:xfrm>
            <a:off x="6745529" y="3328416"/>
            <a:ext cx="1468526" cy="1335024"/>
          </a:xfrm>
          <a:prstGeom prst="rect">
            <a:avLst/>
          </a:prstGeom>
        </p:spPr>
      </p:pic>
      <p:sp>
        <p:nvSpPr>
          <p:cNvPr id="14" name="s2_matched_null-title-3"/>
          <p:cNvSpPr txBox="1"/>
          <p:nvPr/>
        </p:nvSpPr>
        <p:spPr>
          <a:xfrm>
            <a:off x="8897112" y="2578608"/>
            <a:ext cx="2688336" cy="438912"/>
          </a:xfrm>
          <a:prstGeom prst="rect">
            <a:avLst/>
          </a:prstGeom>
          <a:noFill/>
          <a:ln/>
        </p:spPr>
        <p:txBody>
          <a:bodyPr wrap="square" lIns="0" tIns="0" rIns="0" bIns="0" rtlCol="0" anchor="t"/>
          <a:lstStyle/>
          <a:p>
            <a:pPr indent="0" marL="0">
              <a:buNone/>
            </a:pPr>
            <a:r>
              <a:rPr lang="en-US" sz="1250" b="1" dirty="0">
                <a:solidFill>
                  <a:srgbClr val="111111"/>
                </a:solidFill>
              </a:rPr>
              <a:t>Edit 300 bp away</a:t>
            </a:r>
            <a:endParaRPr lang="en-US" sz="1250" dirty="0"/>
          </a:p>
        </p:txBody>
      </p:sp>
      <p:sp>
        <p:nvSpPr>
          <p:cNvPr id="15" name="s2_matched_null-sub-3"/>
          <p:cNvSpPr txBox="1"/>
          <p:nvPr/>
        </p:nvSpPr>
        <p:spPr>
          <a:xfrm>
            <a:off x="8897112" y="3008376"/>
            <a:ext cx="2688336" cy="310896"/>
          </a:xfrm>
          <a:prstGeom prst="rect">
            <a:avLst/>
          </a:prstGeom>
          <a:noFill/>
          <a:ln/>
        </p:spPr>
        <p:txBody>
          <a:bodyPr wrap="square" lIns="0" tIns="0" rIns="0" bIns="0" rtlCol="0" anchor="t"/>
          <a:lstStyle/>
          <a:p>
            <a:pPr indent="0" marL="0">
              <a:buNone/>
            </a:pPr>
            <a:r>
              <a:rPr lang="en-US" sz="950" dirty="0">
                <a:solidFill>
                  <a:srgbClr val="595959"/>
                </a:solidFill>
              </a:rPr>
              <a:t>the control: nothing at stake</a:t>
            </a:r>
            <a:endParaRPr lang="en-US" sz="950" dirty="0"/>
          </a:p>
        </p:txBody>
      </p:sp>
      <p:pic>
        <p:nvPicPr>
          <p:cNvPr id="16" name="Image 4" descr="/Users/z5162865/WongLab/AlphaGenome_Ap1/Analysis/slide_figures/panels/s2_matched_null_c3_r0.png">    </p:cNvPr>
          <p:cNvPicPr>
            <a:picLocks noChangeAspect="1"/>
          </p:cNvPicPr>
          <p:nvPr/>
        </p:nvPicPr>
        <p:blipFill>
          <a:blip r:embed="rId5"/>
          <a:stretch>
            <a:fillRect/>
          </a:stretch>
        </p:blipFill>
        <p:spPr>
          <a:xfrm>
            <a:off x="9507017" y="3328416"/>
            <a:ext cx="1468526" cy="1335024"/>
          </a:xfrm>
          <a:prstGeom prst="rect">
            <a:avLst/>
          </a:prstGeom>
        </p:spPr>
      </p:pic>
      <p:sp>
        <p:nvSpPr>
          <p:cNvPr id="17" name="s2_matched_null-dot-0"/>
          <p:cNvSpPr/>
          <p:nvPr/>
        </p:nvSpPr>
        <p:spPr>
          <a:xfrm>
            <a:off x="502920" y="4869180"/>
            <a:ext cx="109728" cy="109728"/>
          </a:xfrm>
          <a:prstGeom prst="ellipse">
            <a:avLst/>
          </a:prstGeom>
          <a:solidFill>
            <a:srgbClr val="4F4F4F"/>
          </a:solidFill>
          <a:ln w="12700">
            <a:solidFill>
              <a:srgbClr val="4F4F4F"/>
            </a:solidFill>
            <a:prstDash val="solid"/>
          </a:ln>
        </p:spPr>
      </p:sp>
      <p:sp>
        <p:nvSpPr>
          <p:cNvPr id="18" name="s2_matched_null-leg-0"/>
          <p:cNvSpPr txBox="1"/>
          <p:nvPr/>
        </p:nvSpPr>
        <p:spPr>
          <a:xfrm>
            <a:off x="658368" y="4828032"/>
            <a:ext cx="1057046" cy="201168"/>
          </a:xfrm>
          <a:prstGeom prst="rect">
            <a:avLst/>
          </a:prstGeom>
          <a:noFill/>
          <a:ln/>
        </p:spPr>
        <p:txBody>
          <a:bodyPr wrap="square" lIns="0" tIns="0" rIns="0" bIns="0" rtlCol="0" anchor="ctr"/>
          <a:lstStyle/>
          <a:p>
            <a:pPr indent="0" marL="0">
              <a:buNone/>
            </a:pPr>
            <a:r>
              <a:rPr lang="en-US" sz="1050" dirty="0">
                <a:solidFill>
                  <a:srgbClr val="111111"/>
                </a:solidFill>
              </a:rPr>
              <a:t>Dynamic (all)</a:t>
            </a:r>
            <a:endParaRPr lang="en-US" sz="1050" dirty="0"/>
          </a:p>
        </p:txBody>
      </p:sp>
      <p:sp>
        <p:nvSpPr>
          <p:cNvPr id="19" name="s2_matched_null-dot-1"/>
          <p:cNvSpPr/>
          <p:nvPr/>
        </p:nvSpPr>
        <p:spPr>
          <a:xfrm>
            <a:off x="1825142" y="4869180"/>
            <a:ext cx="109728" cy="109728"/>
          </a:xfrm>
          <a:prstGeom prst="ellipse">
            <a:avLst/>
          </a:prstGeom>
          <a:solidFill>
            <a:srgbClr val="C2551C"/>
          </a:solidFill>
          <a:ln w="12700">
            <a:solidFill>
              <a:srgbClr val="C2551C"/>
            </a:solidFill>
            <a:prstDash val="solid"/>
          </a:ln>
        </p:spPr>
      </p:sp>
      <p:sp>
        <p:nvSpPr>
          <p:cNvPr id="20" name="s2_matched_null-leg-1"/>
          <p:cNvSpPr txBox="1"/>
          <p:nvPr/>
        </p:nvSpPr>
        <p:spPr>
          <a:xfrm>
            <a:off x="1980590" y="4828032"/>
            <a:ext cx="596189" cy="201168"/>
          </a:xfrm>
          <a:prstGeom prst="rect">
            <a:avLst/>
          </a:prstGeom>
          <a:noFill/>
          <a:ln/>
        </p:spPr>
        <p:txBody>
          <a:bodyPr wrap="square" lIns="0" tIns="0" rIns="0" bIns="0" rtlCol="0" anchor="ctr"/>
          <a:lstStyle/>
          <a:p>
            <a:pPr indent="0" marL="0">
              <a:buNone/>
            </a:pPr>
            <a:r>
              <a:rPr lang="en-US" sz="1050" dirty="0">
                <a:solidFill>
                  <a:srgbClr val="111111"/>
                </a:solidFill>
              </a:rPr>
              <a:t>Age Up</a:t>
            </a:r>
            <a:endParaRPr lang="en-US" sz="1050" dirty="0"/>
          </a:p>
        </p:txBody>
      </p:sp>
      <p:sp>
        <p:nvSpPr>
          <p:cNvPr id="21" name="s2_matched_null-dot-2"/>
          <p:cNvSpPr/>
          <p:nvPr/>
        </p:nvSpPr>
        <p:spPr>
          <a:xfrm>
            <a:off x="2686507" y="4869180"/>
            <a:ext cx="109728" cy="109728"/>
          </a:xfrm>
          <a:prstGeom prst="ellipse">
            <a:avLst/>
          </a:prstGeom>
          <a:solidFill>
            <a:srgbClr val="1F6FB2"/>
          </a:solidFill>
          <a:ln w="12700">
            <a:solidFill>
              <a:srgbClr val="1F6FB2"/>
            </a:solidFill>
            <a:prstDash val="solid"/>
          </a:ln>
        </p:spPr>
      </p:sp>
      <p:sp>
        <p:nvSpPr>
          <p:cNvPr id="22" name="s2_matched_null-leg-2"/>
          <p:cNvSpPr txBox="1"/>
          <p:nvPr/>
        </p:nvSpPr>
        <p:spPr>
          <a:xfrm>
            <a:off x="2841955" y="4828032"/>
            <a:ext cx="727862" cy="201168"/>
          </a:xfrm>
          <a:prstGeom prst="rect">
            <a:avLst/>
          </a:prstGeom>
          <a:noFill/>
          <a:ln/>
        </p:spPr>
        <p:txBody>
          <a:bodyPr wrap="square" lIns="0" tIns="0" rIns="0" bIns="0" rtlCol="0" anchor="ctr"/>
          <a:lstStyle/>
          <a:p>
            <a:pPr indent="0" marL="0">
              <a:buNone/>
            </a:pPr>
            <a:r>
              <a:rPr lang="en-US" sz="1050" dirty="0">
                <a:solidFill>
                  <a:srgbClr val="111111"/>
                </a:solidFill>
              </a:rPr>
              <a:t>Age Down</a:t>
            </a:r>
            <a:endParaRPr lang="en-US" sz="1050" dirty="0"/>
          </a:p>
        </p:txBody>
      </p:sp>
      <p:sp>
        <p:nvSpPr>
          <p:cNvPr id="23" name="s2_matched_null-dot-3"/>
          <p:cNvSpPr/>
          <p:nvPr/>
        </p:nvSpPr>
        <p:spPr>
          <a:xfrm>
            <a:off x="3679546" y="4869180"/>
            <a:ext cx="109728" cy="109728"/>
          </a:xfrm>
          <a:prstGeom prst="ellipse">
            <a:avLst/>
          </a:prstGeom>
          <a:solidFill>
            <a:srgbClr val="2E7D32"/>
          </a:solidFill>
          <a:ln w="12700">
            <a:solidFill>
              <a:srgbClr val="2E7D32"/>
            </a:solidFill>
            <a:prstDash val="solid"/>
          </a:ln>
        </p:spPr>
      </p:sp>
      <p:sp>
        <p:nvSpPr>
          <p:cNvPr id="24" name="s2_matched_null-leg-3"/>
          <p:cNvSpPr txBox="1"/>
          <p:nvPr/>
        </p:nvSpPr>
        <p:spPr>
          <a:xfrm>
            <a:off x="3834994" y="4828032"/>
            <a:ext cx="925373" cy="201168"/>
          </a:xfrm>
          <a:prstGeom prst="rect">
            <a:avLst/>
          </a:prstGeom>
          <a:noFill/>
          <a:ln/>
        </p:spPr>
        <p:txBody>
          <a:bodyPr wrap="square" lIns="0" tIns="0" rIns="0" bIns="0" rtlCol="0" anchor="ctr"/>
          <a:lstStyle/>
          <a:p>
            <a:pPr indent="0" marL="0">
              <a:buNone/>
            </a:pPr>
            <a:r>
              <a:rPr lang="en-US" sz="1050" dirty="0">
                <a:solidFill>
                  <a:srgbClr val="111111"/>
                </a:solidFill>
              </a:rPr>
              <a:t>Exercise Up</a:t>
            </a:r>
            <a:endParaRPr lang="en-US" sz="1050" dirty="0"/>
          </a:p>
        </p:txBody>
      </p:sp>
      <p:sp>
        <p:nvSpPr>
          <p:cNvPr id="25" name="s2_matched_null-dot-4"/>
          <p:cNvSpPr/>
          <p:nvPr/>
        </p:nvSpPr>
        <p:spPr>
          <a:xfrm>
            <a:off x="4870094" y="4869180"/>
            <a:ext cx="109728" cy="109728"/>
          </a:xfrm>
          <a:prstGeom prst="ellipse">
            <a:avLst/>
          </a:prstGeom>
          <a:solidFill>
            <a:srgbClr val="7B3FA0"/>
          </a:solidFill>
          <a:ln w="12700">
            <a:solidFill>
              <a:srgbClr val="7B3FA0"/>
            </a:solidFill>
            <a:prstDash val="solid"/>
          </a:ln>
        </p:spPr>
      </p:sp>
      <p:sp>
        <p:nvSpPr>
          <p:cNvPr id="26" name="s2_matched_null-leg-4"/>
          <p:cNvSpPr txBox="1"/>
          <p:nvPr/>
        </p:nvSpPr>
        <p:spPr>
          <a:xfrm>
            <a:off x="5025542" y="4828032"/>
            <a:ext cx="1057046" cy="201168"/>
          </a:xfrm>
          <a:prstGeom prst="rect">
            <a:avLst/>
          </a:prstGeom>
          <a:noFill/>
          <a:ln/>
        </p:spPr>
        <p:txBody>
          <a:bodyPr wrap="square" lIns="0" tIns="0" rIns="0" bIns="0" rtlCol="0" anchor="ctr"/>
          <a:lstStyle/>
          <a:p>
            <a:pPr indent="0" marL="0">
              <a:buNone/>
            </a:pPr>
            <a:r>
              <a:rPr lang="en-US" sz="1050" dirty="0">
                <a:solidFill>
                  <a:srgbClr val="111111"/>
                </a:solidFill>
              </a:rPr>
              <a:t>Exercise Down</a:t>
            </a:r>
            <a:endParaRPr lang="en-US" sz="1050" dirty="0"/>
          </a:p>
        </p:txBody>
      </p:sp>
      <p:sp>
        <p:nvSpPr>
          <p:cNvPr id="27" name="s2_matched_null-dot-5"/>
          <p:cNvSpPr/>
          <p:nvPr/>
        </p:nvSpPr>
        <p:spPr>
          <a:xfrm>
            <a:off x="6192317" y="4869180"/>
            <a:ext cx="109728" cy="109728"/>
          </a:xfrm>
          <a:prstGeom prst="ellipse">
            <a:avLst/>
          </a:prstGeom>
          <a:solidFill>
            <a:srgbClr val="B3B2AE"/>
          </a:solidFill>
          <a:ln w="12700">
            <a:solidFill>
              <a:srgbClr val="B3B2AE"/>
            </a:solidFill>
            <a:prstDash val="solid"/>
          </a:ln>
        </p:spPr>
      </p:sp>
      <p:sp>
        <p:nvSpPr>
          <p:cNvPr id="28" name="s2_matched_null-leg-5"/>
          <p:cNvSpPr txBox="1"/>
          <p:nvPr/>
        </p:nvSpPr>
        <p:spPr>
          <a:xfrm>
            <a:off x="6347765" y="4828032"/>
            <a:ext cx="1781251" cy="201168"/>
          </a:xfrm>
          <a:prstGeom prst="rect">
            <a:avLst/>
          </a:prstGeom>
          <a:noFill/>
          <a:ln/>
        </p:spPr>
        <p:txBody>
          <a:bodyPr wrap="square" lIns="0" tIns="0" rIns="0" bIns="0" rtlCol="0" anchor="ctr"/>
          <a:lstStyle/>
          <a:p>
            <a:pPr indent="0" marL="0">
              <a:buNone/>
            </a:pPr>
            <a:r>
              <a:rPr lang="en-US" sz="1050" dirty="0">
                <a:solidFill>
                  <a:srgbClr val="111111"/>
                </a:solidFill>
              </a:rPr>
              <a:t>Stable (all 2,907 sites)</a:t>
            </a:r>
            <a:endParaRPr lang="en-US" sz="1050" dirty="0"/>
          </a:p>
        </p:txBody>
      </p:sp>
      <p:sp>
        <p:nvSpPr>
          <p:cNvPr id="29" name="s2_matched_null-key"/>
          <p:cNvSpPr txBox="1"/>
          <p:nvPr/>
        </p:nvSpPr>
        <p:spPr>
          <a:xfrm>
            <a:off x="502920" y="5102352"/>
            <a:ext cx="11155680" cy="502920"/>
          </a:xfrm>
          <a:prstGeom prst="rect">
            <a:avLst/>
          </a:prstGeom>
          <a:noFill/>
          <a:ln/>
        </p:spPr>
        <p:txBody>
          <a:bodyPr wrap="square" lIns="0" tIns="0" rIns="0" bIns="0" rtlCol="0" anchor="ctr"/>
          <a:lstStyle/>
          <a:p>
            <a:pPr indent="0" marL="0">
              <a:buNone/>
            </a:pPr>
            <a:r>
              <a:rPr lang="en-US" sz="900" dirty="0">
                <a:solidFill>
                  <a:srgbClr val="595959"/>
                </a:solidFill>
              </a:rPr>
              <a:t>grey line and band: all 2,907 Stable sites, median with a 95% bootstrap CI.   Each class is every site carrying that call, tested against that reference by Mann–Whitney, BH across all 20 tests on this figure.   *** p&lt;0.001   ** p&lt;0.01   * p&lt;0.05   ns ≥ 0.05</a:t>
            </a:r>
            <a:endParaRPr lang="en-US" sz="900" dirty="0"/>
          </a:p>
        </p:txBody>
      </p:sp>
      <p:sp>
        <p:nvSpPr>
          <p:cNvPr id="30" name="Text 0"/>
          <p:cNvSpPr/>
          <p:nvPr>
            <p:ph idx="101" type="body" hasCustomPrompt="1"/>
          </p:nvPr>
        </p:nvSpPr>
        <p:spPr>
          <a:xfrm>
            <a:off x="502920" y="5943600"/>
            <a:ext cx="11155680" cy="658368"/>
          </a:xfrm>
          <a:prstGeom prst="rect">
            <a:avLst/>
          </a:prstGeom>
          <a:noFill/>
          <a:ln/>
        </p:spPr>
        <p:txBody>
          <a:bodyPr wrap="square" rtlCol="0" anchor="t"/>
          <a:lstStyle/>
          <a:p>
            <a:pPr algn="l" indent="0" marL="0">
              <a:buNone/>
            </a:pPr>
            <a:r>
              <a:rPr lang="en-US" sz="1500" b="1" dirty="0">
                <a:solidFill>
                  <a:srgbClr val="C2551C"/>
                </a:solidFill>
              </a:rPr>
              <a:t>Takeaway   </a:t>
            </a:r>
            <a:pPr algn="l" indent="0" marL="0">
              <a:buNone/>
            </a:pPr>
            <a:r>
              <a:rPr lang="en-US" sz="1500" dirty="0">
                <a:solidFill>
                  <a:srgbClr val="111111"/>
                </a:solidFill>
              </a:rPr>
              <a:t>every class loses less than Stable sites do at every scale, and the 300 bp control shows it is not a global offset</a:t>
            </a:r>
            <a:endParaRPr lang="en-US" sz="1500" dirty="0"/>
          </a:p>
        </p:txBody>
      </p:sp>
      <p:sp>
        <p:nvSpPr>
          <p:cNvPr id="25" name="Slide Number Placeholder 0"/>
          <p:cNvSpPr>
            <a:spLocks noGrp="1"/>
          </p:cNvSpPr>
          <p:nvPr>
            <p:ph type="sldNum" sz="quarter" idx="4294967295"/>
          </p:nvPr>
        </p:nvSpPr>
        <p:spPr>
          <a:xfrm>
            <a:off x="116586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A6A6A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02920" y="301752"/>
            <a:ext cx="11155680" cy="685800"/>
          </a:xfrm>
          <a:prstGeom prst="rect">
            <a:avLst/>
          </a:prstGeom>
          <a:noFill/>
          <a:ln/>
        </p:spPr>
        <p:txBody>
          <a:bodyPr wrap="square" rtlCol="0" anchor="ctr"/>
          <a:lstStyle/>
          <a:p>
            <a:pPr algn="l" indent="0" marL="0">
              <a:buNone/>
            </a:pPr>
            <a:r>
              <a:rPr lang="en-US" sz="2800" b="1" dirty="0">
                <a:solidFill>
                  <a:schemeClr val="tx1"/>
                </a:solidFill>
              </a:rPr>
              <a:t>Both classes lean on the same partners</a:t>
            </a:r>
            <a:endParaRPr lang="en-US" sz="2800" dirty="0"/>
          </a:p>
        </p:txBody>
      </p:sp>
      <p:pic>
        <p:nvPicPr>
          <p:cNvPr id="3" name="Image 0" descr="/Users/z5162865/WongLab/AlphaGenome_Ap1/Analysis/slide_figures/d_tile.png">    </p:cNvPr>
          <p:cNvPicPr>
            <a:picLocks noChangeAspect="1"/>
          </p:cNvPicPr>
          <p:nvPr/>
        </p:nvPicPr>
        <p:blipFill>
          <a:blip r:embed="rId1"/>
          <a:stretch>
            <a:fillRect/>
          </a:stretch>
        </p:blipFill>
        <p:spPr>
          <a:xfrm>
            <a:off x="565042" y="960120"/>
            <a:ext cx="7099516" cy="1005840"/>
          </a:xfrm>
          <a:prstGeom prst="rect">
            <a:avLst/>
          </a:prstGeom>
        </p:spPr>
      </p:pic>
      <p:pic>
        <p:nvPicPr>
          <p:cNvPr id="4" name="Image 1" descr="/Users/z5162865/WongLab/AlphaGenome_Ap1/Analysis/slide_figures/panels/s8_partners_all.png">    </p:cNvPr>
          <p:cNvPicPr>
            <a:picLocks noChangeAspect="1"/>
          </p:cNvPicPr>
          <p:nvPr/>
        </p:nvPicPr>
        <p:blipFill>
          <a:blip r:embed="rId2"/>
          <a:stretch>
            <a:fillRect/>
          </a:stretch>
        </p:blipFill>
        <p:spPr>
          <a:xfrm>
            <a:off x="3953510" y="2103120"/>
            <a:ext cx="4254500" cy="3063240"/>
          </a:xfrm>
          <a:prstGeom prst="rect">
            <a:avLst/>
          </a:prstGeom>
        </p:spPr>
      </p:pic>
      <p:sp>
        <p:nvSpPr>
          <p:cNvPr id="5" name="lg-dot-5.72-0"/>
          <p:cNvSpPr/>
          <p:nvPr/>
        </p:nvSpPr>
        <p:spPr>
          <a:xfrm>
            <a:off x="1280160" y="5271516"/>
            <a:ext cx="109728" cy="109728"/>
          </a:xfrm>
          <a:prstGeom prst="ellipse">
            <a:avLst/>
          </a:prstGeom>
          <a:solidFill>
            <a:srgbClr val="B3B2AE"/>
          </a:solidFill>
          <a:ln w="12700">
            <a:solidFill>
              <a:srgbClr val="B3B2AE"/>
            </a:solidFill>
            <a:prstDash val="solid"/>
          </a:ln>
        </p:spPr>
      </p:sp>
      <p:sp>
        <p:nvSpPr>
          <p:cNvPr id="6" name="lg-txt-5.72-0"/>
          <p:cNvSpPr txBox="1"/>
          <p:nvPr/>
        </p:nvSpPr>
        <p:spPr>
          <a:xfrm>
            <a:off x="1435608" y="5230368"/>
            <a:ext cx="596189" cy="201168"/>
          </a:xfrm>
          <a:prstGeom prst="rect">
            <a:avLst/>
          </a:prstGeom>
          <a:noFill/>
          <a:ln/>
        </p:spPr>
        <p:txBody>
          <a:bodyPr wrap="square" lIns="0" tIns="0" rIns="0" bIns="0" rtlCol="0" anchor="ctr"/>
          <a:lstStyle/>
          <a:p>
            <a:pPr indent="0" marL="0">
              <a:buNone/>
            </a:pPr>
            <a:r>
              <a:rPr lang="en-US" sz="1050" dirty="0">
                <a:solidFill>
                  <a:srgbClr val="111111"/>
                </a:solidFill>
              </a:rPr>
              <a:t>Stable</a:t>
            </a:r>
            <a:endParaRPr lang="en-US" sz="1050" dirty="0"/>
          </a:p>
        </p:txBody>
      </p:sp>
      <p:sp>
        <p:nvSpPr>
          <p:cNvPr id="7" name="lg-dot-5.72-1"/>
          <p:cNvSpPr/>
          <p:nvPr/>
        </p:nvSpPr>
        <p:spPr>
          <a:xfrm>
            <a:off x="2141525" y="5271516"/>
            <a:ext cx="109728" cy="109728"/>
          </a:xfrm>
          <a:prstGeom prst="ellipse">
            <a:avLst/>
          </a:prstGeom>
          <a:solidFill>
            <a:srgbClr val="C2551C"/>
          </a:solidFill>
          <a:ln w="12700">
            <a:solidFill>
              <a:srgbClr val="C2551C"/>
            </a:solidFill>
            <a:prstDash val="solid"/>
          </a:ln>
        </p:spPr>
      </p:sp>
      <p:sp>
        <p:nvSpPr>
          <p:cNvPr id="8" name="lg-txt-5.72-1"/>
          <p:cNvSpPr txBox="1"/>
          <p:nvPr/>
        </p:nvSpPr>
        <p:spPr>
          <a:xfrm>
            <a:off x="2296973" y="5230368"/>
            <a:ext cx="596189" cy="201168"/>
          </a:xfrm>
          <a:prstGeom prst="rect">
            <a:avLst/>
          </a:prstGeom>
          <a:noFill/>
          <a:ln/>
        </p:spPr>
        <p:txBody>
          <a:bodyPr wrap="square" lIns="0" tIns="0" rIns="0" bIns="0" rtlCol="0" anchor="ctr"/>
          <a:lstStyle/>
          <a:p>
            <a:pPr indent="0" marL="0">
              <a:buNone/>
            </a:pPr>
            <a:r>
              <a:rPr lang="en-US" sz="1050" dirty="0">
                <a:solidFill>
                  <a:srgbClr val="111111"/>
                </a:solidFill>
              </a:rPr>
              <a:t>Age Up</a:t>
            </a:r>
            <a:endParaRPr lang="en-US" sz="1050" dirty="0"/>
          </a:p>
        </p:txBody>
      </p:sp>
      <p:sp>
        <p:nvSpPr>
          <p:cNvPr id="9" name="lg-dot-5.72-2"/>
          <p:cNvSpPr/>
          <p:nvPr/>
        </p:nvSpPr>
        <p:spPr>
          <a:xfrm>
            <a:off x="3002890" y="5271516"/>
            <a:ext cx="109728" cy="109728"/>
          </a:xfrm>
          <a:prstGeom prst="ellipse">
            <a:avLst/>
          </a:prstGeom>
          <a:solidFill>
            <a:srgbClr val="1F6FB2"/>
          </a:solidFill>
          <a:ln w="12700">
            <a:solidFill>
              <a:srgbClr val="1F6FB2"/>
            </a:solidFill>
            <a:prstDash val="solid"/>
          </a:ln>
        </p:spPr>
      </p:sp>
      <p:sp>
        <p:nvSpPr>
          <p:cNvPr id="10" name="lg-txt-5.72-2"/>
          <p:cNvSpPr txBox="1"/>
          <p:nvPr/>
        </p:nvSpPr>
        <p:spPr>
          <a:xfrm>
            <a:off x="3158338" y="5230368"/>
            <a:ext cx="727862" cy="201168"/>
          </a:xfrm>
          <a:prstGeom prst="rect">
            <a:avLst/>
          </a:prstGeom>
          <a:noFill/>
          <a:ln/>
        </p:spPr>
        <p:txBody>
          <a:bodyPr wrap="square" lIns="0" tIns="0" rIns="0" bIns="0" rtlCol="0" anchor="ctr"/>
          <a:lstStyle/>
          <a:p>
            <a:pPr indent="0" marL="0">
              <a:buNone/>
            </a:pPr>
            <a:r>
              <a:rPr lang="en-US" sz="1050" dirty="0">
                <a:solidFill>
                  <a:srgbClr val="111111"/>
                </a:solidFill>
              </a:rPr>
              <a:t>Age Down</a:t>
            </a:r>
            <a:endParaRPr lang="en-US" sz="1050" dirty="0"/>
          </a:p>
        </p:txBody>
      </p:sp>
      <p:sp>
        <p:nvSpPr>
          <p:cNvPr id="11" name="lg-dot-5.72-3"/>
          <p:cNvSpPr/>
          <p:nvPr/>
        </p:nvSpPr>
        <p:spPr>
          <a:xfrm>
            <a:off x="3995928" y="5271516"/>
            <a:ext cx="109728" cy="109728"/>
          </a:xfrm>
          <a:prstGeom prst="ellipse">
            <a:avLst/>
          </a:prstGeom>
          <a:solidFill>
            <a:srgbClr val="2E7D32"/>
          </a:solidFill>
          <a:ln w="12700">
            <a:solidFill>
              <a:srgbClr val="2E7D32"/>
            </a:solidFill>
            <a:prstDash val="solid"/>
          </a:ln>
        </p:spPr>
      </p:sp>
      <p:sp>
        <p:nvSpPr>
          <p:cNvPr id="12" name="lg-txt-5.72-3"/>
          <p:cNvSpPr txBox="1"/>
          <p:nvPr/>
        </p:nvSpPr>
        <p:spPr>
          <a:xfrm>
            <a:off x="4151376" y="5230368"/>
            <a:ext cx="925373" cy="201168"/>
          </a:xfrm>
          <a:prstGeom prst="rect">
            <a:avLst/>
          </a:prstGeom>
          <a:noFill/>
          <a:ln/>
        </p:spPr>
        <p:txBody>
          <a:bodyPr wrap="square" lIns="0" tIns="0" rIns="0" bIns="0" rtlCol="0" anchor="ctr"/>
          <a:lstStyle/>
          <a:p>
            <a:pPr indent="0" marL="0">
              <a:buNone/>
            </a:pPr>
            <a:r>
              <a:rPr lang="en-US" sz="1050" dirty="0">
                <a:solidFill>
                  <a:srgbClr val="111111"/>
                </a:solidFill>
              </a:rPr>
              <a:t>Exercise Up</a:t>
            </a:r>
            <a:endParaRPr lang="en-US" sz="1050" dirty="0"/>
          </a:p>
        </p:txBody>
      </p:sp>
      <p:sp>
        <p:nvSpPr>
          <p:cNvPr id="13" name="lg-dot-5.72-4"/>
          <p:cNvSpPr/>
          <p:nvPr/>
        </p:nvSpPr>
        <p:spPr>
          <a:xfrm>
            <a:off x="5186477" y="5271516"/>
            <a:ext cx="109728" cy="109728"/>
          </a:xfrm>
          <a:prstGeom prst="ellipse">
            <a:avLst/>
          </a:prstGeom>
          <a:solidFill>
            <a:srgbClr val="7B3FA0"/>
          </a:solidFill>
          <a:ln w="12700">
            <a:solidFill>
              <a:srgbClr val="7B3FA0"/>
            </a:solidFill>
            <a:prstDash val="solid"/>
          </a:ln>
        </p:spPr>
      </p:sp>
      <p:sp>
        <p:nvSpPr>
          <p:cNvPr id="14" name="lg-txt-5.72-4"/>
          <p:cNvSpPr txBox="1"/>
          <p:nvPr/>
        </p:nvSpPr>
        <p:spPr>
          <a:xfrm>
            <a:off x="5341925" y="5230368"/>
            <a:ext cx="1057046" cy="201168"/>
          </a:xfrm>
          <a:prstGeom prst="rect">
            <a:avLst/>
          </a:prstGeom>
          <a:noFill/>
          <a:ln/>
        </p:spPr>
        <p:txBody>
          <a:bodyPr wrap="square" lIns="0" tIns="0" rIns="0" bIns="0" rtlCol="0" anchor="ctr"/>
          <a:lstStyle/>
          <a:p>
            <a:pPr indent="0" marL="0">
              <a:buNone/>
            </a:pPr>
            <a:r>
              <a:rPr lang="en-US" sz="1050" dirty="0">
                <a:solidFill>
                  <a:srgbClr val="111111"/>
                </a:solidFill>
              </a:rPr>
              <a:t>Exercise Down</a:t>
            </a:r>
            <a:endParaRPr lang="en-US" sz="1050" dirty="0"/>
          </a:p>
        </p:txBody>
      </p:sp>
      <p:sp>
        <p:nvSpPr>
          <p:cNvPr id="15" name="pa-key"/>
          <p:cNvSpPr txBox="1"/>
          <p:nvPr/>
        </p:nvSpPr>
        <p:spPr>
          <a:xfrm>
            <a:off x="1280160" y="5504688"/>
            <a:ext cx="10149840" cy="274320"/>
          </a:xfrm>
          <a:prstGeom prst="rect">
            <a:avLst/>
          </a:prstGeom>
          <a:noFill/>
          <a:ln/>
        </p:spPr>
        <p:txBody>
          <a:bodyPr wrap="square" lIns="0" tIns="0" rIns="0" bIns="0" rtlCol="0" anchor="ctr"/>
          <a:lstStyle/>
          <a:p>
            <a:pPr indent="0" marL="0">
              <a:buNone/>
            </a:pPr>
            <a:r>
              <a:rPr lang="en-US" sz="950" dirty="0">
                <a:solidFill>
                  <a:srgbClr val="595959"/>
                </a:solidFill>
              </a:rPr>
              <a:t>six families shown; tests run over all 20 class-by-family comparisons, smallest FDR 0.02</a:t>
            </a:r>
            <a:endParaRPr lang="en-US" sz="950" dirty="0"/>
          </a:p>
        </p:txBody>
      </p:sp>
      <p:sp>
        <p:nvSpPr>
          <p:cNvPr id="16" name="Text 0"/>
          <p:cNvSpPr/>
          <p:nvPr>
            <p:ph idx="101" type="body" hasCustomPrompt="1"/>
          </p:nvPr>
        </p:nvSpPr>
        <p:spPr>
          <a:xfrm>
            <a:off x="502920" y="5943600"/>
            <a:ext cx="11155680" cy="658368"/>
          </a:xfrm>
          <a:prstGeom prst="rect">
            <a:avLst/>
          </a:prstGeom>
          <a:noFill/>
          <a:ln/>
        </p:spPr>
        <p:txBody>
          <a:bodyPr wrap="square" rtlCol="0" anchor="t"/>
          <a:lstStyle/>
          <a:p>
            <a:pPr algn="l" indent="0" marL="0">
              <a:buNone/>
            </a:pPr>
            <a:r>
              <a:rPr lang="en-US" sz="1500" b="1" dirty="0">
                <a:solidFill>
                  <a:srgbClr val="C2551C"/>
                </a:solidFill>
              </a:rPr>
              <a:t>Takeaway   </a:t>
            </a:r>
            <a:pPr algn="l" indent="0" marL="0">
              <a:buNone/>
            </a:pPr>
            <a:r>
              <a:rPr lang="en-US" sz="1500" dirty="0">
                <a:solidFill>
                  <a:srgbClr val="111111"/>
                </a:solidFill>
              </a:rPr>
              <a:t>the ranking is the validation — MEF2, GATA, NFI, TEAD, none of it told to the model; the class split is the question, and no class leans on a different partner</a:t>
            </a:r>
            <a:endParaRPr lang="en-US" sz="1500" dirty="0"/>
          </a:p>
        </p:txBody>
      </p:sp>
      <p:sp>
        <p:nvSpPr>
          <p:cNvPr id="25" name="Slide Number Placeholder 0"/>
          <p:cNvSpPr>
            <a:spLocks noGrp="1"/>
          </p:cNvSpPr>
          <p:nvPr>
            <p:ph type="sldNum" sz="quarter" idx="4294967295"/>
          </p:nvPr>
        </p:nvSpPr>
        <p:spPr>
          <a:xfrm>
            <a:off x="116586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A6A6A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02920" y="301752"/>
            <a:ext cx="11155680" cy="685800"/>
          </a:xfrm>
          <a:prstGeom prst="rect">
            <a:avLst/>
          </a:prstGeom>
          <a:noFill/>
          <a:ln/>
        </p:spPr>
        <p:txBody>
          <a:bodyPr wrap="square" rtlCol="0" anchor="ctr"/>
          <a:lstStyle/>
          <a:p>
            <a:pPr algn="l" indent="0" marL="0">
              <a:buNone/>
            </a:pPr>
            <a:r>
              <a:rPr lang="en-US" sz="2800" b="1" dirty="0">
                <a:solidFill>
                  <a:schemeClr val="tx1"/>
                </a:solidFill>
              </a:rPr>
              <a:t>MEF2 sits right beside the AP-1 motif, and it matters</a:t>
            </a:r>
            <a:endParaRPr lang="en-US" sz="2800" dirty="0"/>
          </a:p>
        </p:txBody>
      </p:sp>
      <p:sp>
        <p:nvSpPr>
          <p:cNvPr id="3" name="sp-t1"/>
          <p:cNvSpPr txBox="1"/>
          <p:nvPr/>
        </p:nvSpPr>
        <p:spPr>
          <a:xfrm>
            <a:off x="731520" y="1051560"/>
            <a:ext cx="4937760" cy="274320"/>
          </a:xfrm>
          <a:prstGeom prst="rect">
            <a:avLst/>
          </a:prstGeom>
          <a:noFill/>
          <a:ln/>
        </p:spPr>
        <p:txBody>
          <a:bodyPr wrap="square" lIns="0" tIns="0" rIns="0" bIns="0" rtlCol="0" anchor="ctr"/>
          <a:lstStyle/>
          <a:p>
            <a:pPr indent="0" marL="0">
              <a:buNone/>
            </a:pPr>
            <a:r>
              <a:rPr lang="en-US" sz="1350" b="1" dirty="0">
                <a:solidFill>
                  <a:srgbClr val="111111"/>
                </a:solidFill>
              </a:rPr>
              <a:t>How often a partner sits there</a:t>
            </a:r>
            <a:endParaRPr lang="en-US" sz="1350" dirty="0"/>
          </a:p>
        </p:txBody>
      </p:sp>
      <p:sp>
        <p:nvSpPr>
          <p:cNvPr id="4" name="sp-s1"/>
          <p:cNvSpPr txBox="1"/>
          <p:nvPr/>
        </p:nvSpPr>
        <p:spPr>
          <a:xfrm>
            <a:off x="731520" y="1335024"/>
            <a:ext cx="4937760" cy="274320"/>
          </a:xfrm>
          <a:prstGeom prst="rect">
            <a:avLst/>
          </a:prstGeom>
          <a:noFill/>
          <a:ln/>
        </p:spPr>
        <p:txBody>
          <a:bodyPr wrap="square" lIns="0" tIns="0" rIns="0" bIns="0" rtlCol="0" anchor="ctr"/>
          <a:lstStyle/>
          <a:p>
            <a:pPr indent="0" marL="0">
              <a:buNone/>
            </a:pPr>
            <a:r>
              <a:rPr lang="en-US" sz="1050" dirty="0">
                <a:solidFill>
                  <a:srgbClr val="595959"/>
                </a:solidFill>
              </a:rPr>
              <a:t>every footprint of that family, important or not</a:t>
            </a:r>
            <a:endParaRPr lang="en-US" sz="1050" dirty="0"/>
          </a:p>
        </p:txBody>
      </p:sp>
      <p:pic>
        <p:nvPicPr>
          <p:cNvPr id="5" name="Image 0" descr="/Users/z5162865/WongLab/AlphaGenome_Ap1/Analysis/slide_figures/panels/s7_occurrence.png">    </p:cNvPr>
          <p:cNvPicPr>
            <a:picLocks noChangeAspect="1"/>
          </p:cNvPicPr>
          <p:nvPr/>
        </p:nvPicPr>
        <p:blipFill>
          <a:blip r:embed="rId1"/>
          <a:stretch>
            <a:fillRect/>
          </a:stretch>
        </p:blipFill>
        <p:spPr>
          <a:xfrm>
            <a:off x="757624" y="1691640"/>
            <a:ext cx="4885551" cy="3200400"/>
          </a:xfrm>
          <a:prstGeom prst="rect">
            <a:avLst/>
          </a:prstGeom>
        </p:spPr>
      </p:pic>
      <p:sp>
        <p:nvSpPr>
          <p:cNvPr id="6" name="sp-t2"/>
          <p:cNvSpPr txBox="1"/>
          <p:nvPr/>
        </p:nvSpPr>
        <p:spPr>
          <a:xfrm>
            <a:off x="6309360" y="1051560"/>
            <a:ext cx="5120640" cy="274320"/>
          </a:xfrm>
          <a:prstGeom prst="rect">
            <a:avLst/>
          </a:prstGeom>
          <a:noFill/>
          <a:ln/>
        </p:spPr>
        <p:txBody>
          <a:bodyPr wrap="square" lIns="0" tIns="0" rIns="0" bIns="0" rtlCol="0" anchor="ctr"/>
          <a:lstStyle/>
          <a:p>
            <a:pPr indent="0" marL="0">
              <a:buNone/>
            </a:pPr>
            <a:r>
              <a:rPr lang="en-US" sz="1350" b="1" dirty="0">
                <a:solidFill>
                  <a:srgbClr val="111111"/>
                </a:solidFill>
              </a:rPr>
              <a:t>How much it matters there</a:t>
            </a:r>
            <a:endParaRPr lang="en-US" sz="1350" dirty="0"/>
          </a:p>
        </p:txBody>
      </p:sp>
      <p:sp>
        <p:nvSpPr>
          <p:cNvPr id="7" name="sp-s2"/>
          <p:cNvSpPr txBox="1"/>
          <p:nvPr/>
        </p:nvSpPr>
        <p:spPr>
          <a:xfrm>
            <a:off x="6309360" y="1335024"/>
            <a:ext cx="5120640" cy="274320"/>
          </a:xfrm>
          <a:prstGeom prst="rect">
            <a:avLst/>
          </a:prstGeom>
          <a:noFill/>
          <a:ln/>
        </p:spPr>
        <p:txBody>
          <a:bodyPr wrap="square" lIns="0" tIns="0" rIns="0" bIns="0" rtlCol="0" anchor="ctr"/>
          <a:lstStyle/>
          <a:p>
            <a:pPr indent="0" marL="0">
              <a:buNone/>
            </a:pPr>
            <a:r>
              <a:rPr lang="en-US" sz="1050" dirty="0">
                <a:solidFill>
                  <a:srgbClr val="595959"/>
                </a:solidFill>
              </a:rPr>
              <a:t>against footprint-free tiles the same distance away</a:t>
            </a:r>
            <a:endParaRPr lang="en-US" sz="1050" dirty="0"/>
          </a:p>
        </p:txBody>
      </p:sp>
      <p:pic>
        <p:nvPicPr>
          <p:cNvPr id="8" name="Image 1" descr="/Users/z5162865/WongLab/AlphaGenome_Ap1/Analysis/slide_figures/panels/s7_importance.png">    </p:cNvPr>
          <p:cNvPicPr>
            <a:picLocks noChangeAspect="1"/>
          </p:cNvPicPr>
          <p:nvPr/>
        </p:nvPicPr>
        <p:blipFill>
          <a:blip r:embed="rId2"/>
          <a:stretch>
            <a:fillRect/>
          </a:stretch>
        </p:blipFill>
        <p:spPr>
          <a:xfrm>
            <a:off x="6409568" y="1691640"/>
            <a:ext cx="4920225" cy="3200400"/>
          </a:xfrm>
          <a:prstGeom prst="rect">
            <a:avLst/>
          </a:prstGeom>
        </p:spPr>
      </p:pic>
      <p:sp>
        <p:nvSpPr>
          <p:cNvPr id="9" name="lg-dot-5.45-0"/>
          <p:cNvSpPr/>
          <p:nvPr/>
        </p:nvSpPr>
        <p:spPr>
          <a:xfrm>
            <a:off x="731520" y="5024628"/>
            <a:ext cx="109728" cy="109728"/>
          </a:xfrm>
          <a:prstGeom prst="ellipse">
            <a:avLst/>
          </a:prstGeom>
          <a:solidFill>
            <a:srgbClr val="C2551C"/>
          </a:solidFill>
          <a:ln w="12700">
            <a:solidFill>
              <a:srgbClr val="C2551C"/>
            </a:solidFill>
            <a:prstDash val="solid"/>
          </a:ln>
        </p:spPr>
      </p:sp>
      <p:sp>
        <p:nvSpPr>
          <p:cNvPr id="10" name="lg-txt-5.45-0"/>
          <p:cNvSpPr txBox="1"/>
          <p:nvPr/>
        </p:nvSpPr>
        <p:spPr>
          <a:xfrm>
            <a:off x="886968" y="4983480"/>
            <a:ext cx="464515" cy="201168"/>
          </a:xfrm>
          <a:prstGeom prst="rect">
            <a:avLst/>
          </a:prstGeom>
          <a:noFill/>
          <a:ln/>
        </p:spPr>
        <p:txBody>
          <a:bodyPr wrap="square" lIns="0" tIns="0" rIns="0" bIns="0" rtlCol="0" anchor="ctr"/>
          <a:lstStyle/>
          <a:p>
            <a:pPr indent="0" marL="0">
              <a:buNone/>
            </a:pPr>
            <a:r>
              <a:rPr lang="en-US" sz="1050" dirty="0">
                <a:solidFill>
                  <a:srgbClr val="111111"/>
                </a:solidFill>
              </a:rPr>
              <a:t>MEF2</a:t>
            </a:r>
            <a:endParaRPr lang="en-US" sz="1050" dirty="0"/>
          </a:p>
        </p:txBody>
      </p:sp>
      <p:sp>
        <p:nvSpPr>
          <p:cNvPr id="11" name="lg-dot-5.45-1"/>
          <p:cNvSpPr/>
          <p:nvPr/>
        </p:nvSpPr>
        <p:spPr>
          <a:xfrm>
            <a:off x="1461211" y="5024628"/>
            <a:ext cx="109728" cy="109728"/>
          </a:xfrm>
          <a:prstGeom prst="ellipse">
            <a:avLst/>
          </a:prstGeom>
          <a:solidFill>
            <a:srgbClr val="9A9993"/>
          </a:solidFill>
          <a:ln w="12700">
            <a:solidFill>
              <a:srgbClr val="9A9993"/>
            </a:solidFill>
            <a:prstDash val="solid"/>
          </a:ln>
        </p:spPr>
      </p:sp>
      <p:sp>
        <p:nvSpPr>
          <p:cNvPr id="12" name="lg-txt-5.45-1"/>
          <p:cNvSpPr txBox="1"/>
          <p:nvPr/>
        </p:nvSpPr>
        <p:spPr>
          <a:xfrm>
            <a:off x="1616659" y="4983480"/>
            <a:ext cx="727862" cy="201168"/>
          </a:xfrm>
          <a:prstGeom prst="rect">
            <a:avLst/>
          </a:prstGeom>
          <a:noFill/>
          <a:ln/>
        </p:spPr>
        <p:txBody>
          <a:bodyPr wrap="square" lIns="0" tIns="0" rIns="0" bIns="0" rtlCol="0" anchor="ctr"/>
          <a:lstStyle/>
          <a:p>
            <a:pPr indent="0" marL="0">
              <a:buNone/>
            </a:pPr>
            <a:r>
              <a:rPr lang="en-US" sz="1050" dirty="0">
                <a:solidFill>
                  <a:srgbClr val="111111"/>
                </a:solidFill>
              </a:rPr>
              <a:t>KLF / SP</a:t>
            </a:r>
            <a:endParaRPr lang="en-US" sz="1050" dirty="0"/>
          </a:p>
        </p:txBody>
      </p:sp>
      <p:sp>
        <p:nvSpPr>
          <p:cNvPr id="13" name="sp-key"/>
          <p:cNvSpPr txBox="1"/>
          <p:nvPr/>
        </p:nvSpPr>
        <p:spPr>
          <a:xfrm>
            <a:off x="731520" y="5285232"/>
            <a:ext cx="10698480" cy="365760"/>
          </a:xfrm>
          <a:prstGeom prst="rect">
            <a:avLst/>
          </a:prstGeom>
          <a:noFill/>
          <a:ln/>
        </p:spPr>
        <p:txBody>
          <a:bodyPr wrap="square" lIns="0" tIns="0" rIns="0" bIns="0" rtlCol="0" anchor="ctr"/>
          <a:lstStyle/>
          <a:p>
            <a:pPr indent="0" marL="0">
              <a:buNone/>
            </a:pPr>
            <a:r>
              <a:rPr lang="en-US" sz="950" dirty="0">
                <a:solidFill>
                  <a:srgbClr val="595959"/>
                </a:solidFill>
              </a:rPr>
              <a:t>shaded band on the left: 11–25 bp, where a neighbour abuts the motif.   MEF2 is 2.67× enriched there against 1.47× for KLF/SP (FDR 0.004).</a:t>
            </a:r>
            <a:endParaRPr lang="en-US" sz="950" dirty="0"/>
          </a:p>
        </p:txBody>
      </p:sp>
      <p:sp>
        <p:nvSpPr>
          <p:cNvPr id="14" name="Text 0"/>
          <p:cNvSpPr/>
          <p:nvPr>
            <p:ph idx="101" type="body" hasCustomPrompt="1"/>
          </p:nvPr>
        </p:nvSpPr>
        <p:spPr>
          <a:xfrm>
            <a:off x="502920" y="5943600"/>
            <a:ext cx="11155680" cy="658368"/>
          </a:xfrm>
          <a:prstGeom prst="rect">
            <a:avLst/>
          </a:prstGeom>
          <a:noFill/>
          <a:ln/>
        </p:spPr>
        <p:txBody>
          <a:bodyPr wrap="square" rtlCol="0" anchor="t"/>
          <a:lstStyle/>
          <a:p>
            <a:pPr algn="l" indent="0" marL="0">
              <a:buNone/>
            </a:pPr>
            <a:r>
              <a:rPr lang="en-US" sz="1500" b="1" dirty="0">
                <a:solidFill>
                  <a:srgbClr val="C2551C"/>
                </a:solidFill>
              </a:rPr>
              <a:t>Takeaway   </a:t>
            </a:r>
            <a:pPr algn="l" indent="0" marL="0">
              <a:buNone/>
            </a:pPr>
            <a:r>
              <a:rPr lang="en-US" sz="1500" dirty="0">
                <a:solidFill>
                  <a:srgbClr val="111111"/>
                </a:solidFill>
              </a:rPr>
              <a:t>MEF2 is 2.67× enriched at 11–25 bp and is worth −0.9 log2 there; KLF/SP is the commonest neighbour and is worth nothing anywhere</a:t>
            </a:r>
            <a:endParaRPr lang="en-US" sz="1500" dirty="0"/>
          </a:p>
        </p:txBody>
      </p:sp>
      <p:sp>
        <p:nvSpPr>
          <p:cNvPr id="25" name="Slide Number Placeholder 0"/>
          <p:cNvSpPr>
            <a:spLocks noGrp="1"/>
          </p:cNvSpPr>
          <p:nvPr>
            <p:ph type="sldNum" sz="quarter" idx="4294967295"/>
          </p:nvPr>
        </p:nvSpPr>
        <p:spPr>
          <a:xfrm>
            <a:off x="116586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A6A6A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02920" y="301752"/>
            <a:ext cx="11155680" cy="685800"/>
          </a:xfrm>
          <a:prstGeom prst="rect">
            <a:avLst/>
          </a:prstGeom>
          <a:noFill/>
          <a:ln/>
        </p:spPr>
        <p:txBody>
          <a:bodyPr wrap="square" rtlCol="0" anchor="ctr"/>
          <a:lstStyle/>
          <a:p>
            <a:pPr algn="l" indent="0" marL="0">
              <a:buNone/>
            </a:pPr>
            <a:r>
              <a:rPr lang="en-US" sz="2800" b="1" dirty="0">
                <a:solidFill>
                  <a:schemeClr val="tx1"/>
                </a:solidFill>
              </a:rPr>
              <a:t>Age-gained sites are short of that MEF2</a:t>
            </a:r>
            <a:endParaRPr lang="en-US" sz="2800" dirty="0"/>
          </a:p>
        </p:txBody>
      </p:sp>
      <p:sp>
        <p:nvSpPr>
          <p:cNvPr id="3" name="s9_mef2_by_class-title-0"/>
          <p:cNvSpPr txBox="1"/>
          <p:nvPr/>
        </p:nvSpPr>
        <p:spPr>
          <a:xfrm>
            <a:off x="2487168" y="1143000"/>
            <a:ext cx="3666744" cy="438912"/>
          </a:xfrm>
          <a:prstGeom prst="rect">
            <a:avLst/>
          </a:prstGeom>
          <a:noFill/>
          <a:ln/>
        </p:spPr>
        <p:txBody>
          <a:bodyPr wrap="square" lIns="0" tIns="0" rIns="0" bIns="0" rtlCol="0" anchor="t"/>
          <a:lstStyle/>
          <a:p>
            <a:pPr indent="0" marL="0">
              <a:buNone/>
            </a:pPr>
            <a:r>
              <a:rPr lang="en-US" sz="1250" b="1" dirty="0">
                <a:solidFill>
                  <a:srgbClr val="111111"/>
                </a:solidFill>
              </a:rPr>
              <a:t>A MEF2 footprint within 25 bp</a:t>
            </a:r>
            <a:endParaRPr lang="en-US" sz="1250" dirty="0"/>
          </a:p>
        </p:txBody>
      </p:sp>
      <p:sp>
        <p:nvSpPr>
          <p:cNvPr id="4" name="s9_mef2_by_class-sub-0"/>
          <p:cNvSpPr txBox="1"/>
          <p:nvPr/>
        </p:nvSpPr>
        <p:spPr>
          <a:xfrm>
            <a:off x="2487168" y="1572768"/>
            <a:ext cx="3666744" cy="310896"/>
          </a:xfrm>
          <a:prstGeom prst="rect">
            <a:avLst/>
          </a:prstGeom>
          <a:noFill/>
          <a:ln/>
        </p:spPr>
        <p:txBody>
          <a:bodyPr wrap="square" lIns="0" tIns="0" rIns="0" bIns="0" rtlCol="0" anchor="t"/>
          <a:lstStyle/>
          <a:p>
            <a:pPr indent="0" marL="0">
              <a:buNone/>
            </a:pPr>
            <a:r>
              <a:rPr lang="en-US" sz="950" dirty="0">
                <a:solidFill>
                  <a:srgbClr val="595959"/>
                </a:solidFill>
              </a:rPr>
              <a:t>counting footprints, used by the model or not</a:t>
            </a:r>
            <a:endParaRPr lang="en-US" sz="950" dirty="0"/>
          </a:p>
        </p:txBody>
      </p:sp>
      <p:pic>
        <p:nvPicPr>
          <p:cNvPr id="5" name="Image 0" descr="/Users/z5162865/WongLab/AlphaGenome_Ap1/Analysis/slide_figures/panels/s9_mef2_by_class_c0_r0.png">    </p:cNvPr>
          <p:cNvPicPr>
            <a:picLocks noChangeAspect="1"/>
          </p:cNvPicPr>
          <p:nvPr/>
        </p:nvPicPr>
        <p:blipFill>
          <a:blip r:embed="rId1"/>
          <a:stretch>
            <a:fillRect/>
          </a:stretch>
        </p:blipFill>
        <p:spPr>
          <a:xfrm>
            <a:off x="2771546" y="1892808"/>
            <a:ext cx="3097987" cy="2816352"/>
          </a:xfrm>
          <a:prstGeom prst="rect">
            <a:avLst/>
          </a:prstGeom>
        </p:spPr>
      </p:pic>
      <p:sp>
        <p:nvSpPr>
          <p:cNvPr id="6" name="s9_mef2_by_class-title-1"/>
          <p:cNvSpPr txBox="1"/>
          <p:nvPr/>
        </p:nvSpPr>
        <p:spPr>
          <a:xfrm>
            <a:off x="6227064" y="1143000"/>
            <a:ext cx="3666744" cy="438912"/>
          </a:xfrm>
          <a:prstGeom prst="rect">
            <a:avLst/>
          </a:prstGeom>
          <a:noFill/>
          <a:ln/>
        </p:spPr>
        <p:txBody>
          <a:bodyPr wrap="square" lIns="0" tIns="0" rIns="0" bIns="0" rtlCol="0" anchor="t"/>
          <a:lstStyle/>
          <a:p>
            <a:pPr indent="0" marL="0">
              <a:buNone/>
            </a:pPr>
            <a:r>
              <a:rPr lang="en-US" sz="1250" b="1" dirty="0">
                <a:solidFill>
                  <a:srgbClr val="111111"/>
                </a:solidFill>
              </a:rPr>
              <a:t>...one the model actually leans on</a:t>
            </a:r>
            <a:endParaRPr lang="en-US" sz="1250" dirty="0"/>
          </a:p>
        </p:txBody>
      </p:sp>
      <p:sp>
        <p:nvSpPr>
          <p:cNvPr id="7" name="s9_mef2_by_class-sub-1"/>
          <p:cNvSpPr txBox="1"/>
          <p:nvPr/>
        </p:nvSpPr>
        <p:spPr>
          <a:xfrm>
            <a:off x="6227064" y="1572768"/>
            <a:ext cx="3666744" cy="310896"/>
          </a:xfrm>
          <a:prstGeom prst="rect">
            <a:avLst/>
          </a:prstGeom>
          <a:noFill/>
          <a:ln/>
        </p:spPr>
        <p:txBody>
          <a:bodyPr wrap="square" lIns="0" tIns="0" rIns="0" bIns="0" rtlCol="0" anchor="t"/>
          <a:lstStyle/>
          <a:p>
            <a:pPr indent="0" marL="0">
              <a:buNone/>
            </a:pPr>
            <a:r>
              <a:rPr lang="en-US" sz="950" dirty="0">
                <a:solidFill>
                  <a:srgbClr val="595959"/>
                </a:solidFill>
              </a:rPr>
              <a:t>restricted to tiles worth more than 0.2 log2</a:t>
            </a:r>
            <a:endParaRPr lang="en-US" sz="950" dirty="0"/>
          </a:p>
        </p:txBody>
      </p:sp>
      <p:pic>
        <p:nvPicPr>
          <p:cNvPr id="8" name="Image 1" descr="/Users/z5162865/WongLab/AlphaGenome_Ap1/Analysis/slide_figures/panels/s9_mef2_by_class_c1_r0.png">    </p:cNvPr>
          <p:cNvPicPr>
            <a:picLocks noChangeAspect="1"/>
          </p:cNvPicPr>
          <p:nvPr/>
        </p:nvPicPr>
        <p:blipFill>
          <a:blip r:embed="rId2"/>
          <a:stretch>
            <a:fillRect/>
          </a:stretch>
        </p:blipFill>
        <p:spPr>
          <a:xfrm>
            <a:off x="6511442" y="1892808"/>
            <a:ext cx="3097987" cy="2816352"/>
          </a:xfrm>
          <a:prstGeom prst="rect">
            <a:avLst/>
          </a:prstGeom>
        </p:spPr>
      </p:pic>
      <p:sp>
        <p:nvSpPr>
          <p:cNvPr id="9" name="s9_mef2_by_class-dot-0"/>
          <p:cNvSpPr/>
          <p:nvPr/>
        </p:nvSpPr>
        <p:spPr>
          <a:xfrm>
            <a:off x="2377440" y="4914900"/>
            <a:ext cx="109728" cy="109728"/>
          </a:xfrm>
          <a:prstGeom prst="ellipse">
            <a:avLst/>
          </a:prstGeom>
          <a:solidFill>
            <a:srgbClr val="4F4F4F"/>
          </a:solidFill>
          <a:ln w="12700">
            <a:solidFill>
              <a:srgbClr val="4F4F4F"/>
            </a:solidFill>
            <a:prstDash val="solid"/>
          </a:ln>
        </p:spPr>
      </p:sp>
      <p:sp>
        <p:nvSpPr>
          <p:cNvPr id="10" name="s9_mef2_by_class-leg-0"/>
          <p:cNvSpPr txBox="1"/>
          <p:nvPr/>
        </p:nvSpPr>
        <p:spPr>
          <a:xfrm>
            <a:off x="2532888" y="4873752"/>
            <a:ext cx="1057046" cy="201168"/>
          </a:xfrm>
          <a:prstGeom prst="rect">
            <a:avLst/>
          </a:prstGeom>
          <a:noFill/>
          <a:ln/>
        </p:spPr>
        <p:txBody>
          <a:bodyPr wrap="square" lIns="0" tIns="0" rIns="0" bIns="0" rtlCol="0" anchor="ctr"/>
          <a:lstStyle/>
          <a:p>
            <a:pPr indent="0" marL="0">
              <a:buNone/>
            </a:pPr>
            <a:r>
              <a:rPr lang="en-US" sz="1050" dirty="0">
                <a:solidFill>
                  <a:srgbClr val="111111"/>
                </a:solidFill>
              </a:rPr>
              <a:t>Dynamic (all)</a:t>
            </a:r>
            <a:endParaRPr lang="en-US" sz="1050" dirty="0"/>
          </a:p>
        </p:txBody>
      </p:sp>
      <p:sp>
        <p:nvSpPr>
          <p:cNvPr id="11" name="s9_mef2_by_class-dot-1"/>
          <p:cNvSpPr/>
          <p:nvPr/>
        </p:nvSpPr>
        <p:spPr>
          <a:xfrm>
            <a:off x="3699662" y="4914900"/>
            <a:ext cx="109728" cy="109728"/>
          </a:xfrm>
          <a:prstGeom prst="ellipse">
            <a:avLst/>
          </a:prstGeom>
          <a:solidFill>
            <a:srgbClr val="C2551C"/>
          </a:solidFill>
          <a:ln w="12700">
            <a:solidFill>
              <a:srgbClr val="C2551C"/>
            </a:solidFill>
            <a:prstDash val="solid"/>
          </a:ln>
        </p:spPr>
      </p:sp>
      <p:sp>
        <p:nvSpPr>
          <p:cNvPr id="12" name="s9_mef2_by_class-leg-1"/>
          <p:cNvSpPr txBox="1"/>
          <p:nvPr/>
        </p:nvSpPr>
        <p:spPr>
          <a:xfrm>
            <a:off x="3855110" y="4873752"/>
            <a:ext cx="596189" cy="201168"/>
          </a:xfrm>
          <a:prstGeom prst="rect">
            <a:avLst/>
          </a:prstGeom>
          <a:noFill/>
          <a:ln/>
        </p:spPr>
        <p:txBody>
          <a:bodyPr wrap="square" lIns="0" tIns="0" rIns="0" bIns="0" rtlCol="0" anchor="ctr"/>
          <a:lstStyle/>
          <a:p>
            <a:pPr indent="0" marL="0">
              <a:buNone/>
            </a:pPr>
            <a:r>
              <a:rPr lang="en-US" sz="1050" dirty="0">
                <a:solidFill>
                  <a:srgbClr val="111111"/>
                </a:solidFill>
              </a:rPr>
              <a:t>Age Up</a:t>
            </a:r>
            <a:endParaRPr lang="en-US" sz="1050" dirty="0"/>
          </a:p>
        </p:txBody>
      </p:sp>
      <p:sp>
        <p:nvSpPr>
          <p:cNvPr id="13" name="s9_mef2_by_class-dot-2"/>
          <p:cNvSpPr/>
          <p:nvPr/>
        </p:nvSpPr>
        <p:spPr>
          <a:xfrm>
            <a:off x="4561027" y="4914900"/>
            <a:ext cx="109728" cy="109728"/>
          </a:xfrm>
          <a:prstGeom prst="ellipse">
            <a:avLst/>
          </a:prstGeom>
          <a:solidFill>
            <a:srgbClr val="1F6FB2"/>
          </a:solidFill>
          <a:ln w="12700">
            <a:solidFill>
              <a:srgbClr val="1F6FB2"/>
            </a:solidFill>
            <a:prstDash val="solid"/>
          </a:ln>
        </p:spPr>
      </p:sp>
      <p:sp>
        <p:nvSpPr>
          <p:cNvPr id="14" name="s9_mef2_by_class-leg-2"/>
          <p:cNvSpPr txBox="1"/>
          <p:nvPr/>
        </p:nvSpPr>
        <p:spPr>
          <a:xfrm>
            <a:off x="4716475" y="4873752"/>
            <a:ext cx="727862" cy="201168"/>
          </a:xfrm>
          <a:prstGeom prst="rect">
            <a:avLst/>
          </a:prstGeom>
          <a:noFill/>
          <a:ln/>
        </p:spPr>
        <p:txBody>
          <a:bodyPr wrap="square" lIns="0" tIns="0" rIns="0" bIns="0" rtlCol="0" anchor="ctr"/>
          <a:lstStyle/>
          <a:p>
            <a:pPr indent="0" marL="0">
              <a:buNone/>
            </a:pPr>
            <a:r>
              <a:rPr lang="en-US" sz="1050" dirty="0">
                <a:solidFill>
                  <a:srgbClr val="111111"/>
                </a:solidFill>
              </a:rPr>
              <a:t>Age Down</a:t>
            </a:r>
            <a:endParaRPr lang="en-US" sz="1050" dirty="0"/>
          </a:p>
        </p:txBody>
      </p:sp>
      <p:sp>
        <p:nvSpPr>
          <p:cNvPr id="15" name="s9_mef2_by_class-dot-3"/>
          <p:cNvSpPr/>
          <p:nvPr/>
        </p:nvSpPr>
        <p:spPr>
          <a:xfrm>
            <a:off x="5554066" y="4914900"/>
            <a:ext cx="109728" cy="109728"/>
          </a:xfrm>
          <a:prstGeom prst="ellipse">
            <a:avLst/>
          </a:prstGeom>
          <a:solidFill>
            <a:srgbClr val="2E7D32"/>
          </a:solidFill>
          <a:ln w="12700">
            <a:solidFill>
              <a:srgbClr val="2E7D32"/>
            </a:solidFill>
            <a:prstDash val="solid"/>
          </a:ln>
        </p:spPr>
      </p:sp>
      <p:sp>
        <p:nvSpPr>
          <p:cNvPr id="16" name="s9_mef2_by_class-leg-3"/>
          <p:cNvSpPr txBox="1"/>
          <p:nvPr/>
        </p:nvSpPr>
        <p:spPr>
          <a:xfrm>
            <a:off x="5709514" y="4873752"/>
            <a:ext cx="925373" cy="201168"/>
          </a:xfrm>
          <a:prstGeom prst="rect">
            <a:avLst/>
          </a:prstGeom>
          <a:noFill/>
          <a:ln/>
        </p:spPr>
        <p:txBody>
          <a:bodyPr wrap="square" lIns="0" tIns="0" rIns="0" bIns="0" rtlCol="0" anchor="ctr"/>
          <a:lstStyle/>
          <a:p>
            <a:pPr indent="0" marL="0">
              <a:buNone/>
            </a:pPr>
            <a:r>
              <a:rPr lang="en-US" sz="1050" dirty="0">
                <a:solidFill>
                  <a:srgbClr val="111111"/>
                </a:solidFill>
              </a:rPr>
              <a:t>Exercise Up</a:t>
            </a:r>
            <a:endParaRPr lang="en-US" sz="1050" dirty="0"/>
          </a:p>
        </p:txBody>
      </p:sp>
      <p:sp>
        <p:nvSpPr>
          <p:cNvPr id="17" name="s9_mef2_by_class-dot-4"/>
          <p:cNvSpPr/>
          <p:nvPr/>
        </p:nvSpPr>
        <p:spPr>
          <a:xfrm>
            <a:off x="6744614" y="4914900"/>
            <a:ext cx="109728" cy="109728"/>
          </a:xfrm>
          <a:prstGeom prst="ellipse">
            <a:avLst/>
          </a:prstGeom>
          <a:solidFill>
            <a:srgbClr val="7B3FA0"/>
          </a:solidFill>
          <a:ln w="12700">
            <a:solidFill>
              <a:srgbClr val="7B3FA0"/>
            </a:solidFill>
            <a:prstDash val="solid"/>
          </a:ln>
        </p:spPr>
      </p:sp>
      <p:sp>
        <p:nvSpPr>
          <p:cNvPr id="18" name="s9_mef2_by_class-leg-4"/>
          <p:cNvSpPr txBox="1"/>
          <p:nvPr/>
        </p:nvSpPr>
        <p:spPr>
          <a:xfrm>
            <a:off x="6900062" y="4873752"/>
            <a:ext cx="1057046" cy="201168"/>
          </a:xfrm>
          <a:prstGeom prst="rect">
            <a:avLst/>
          </a:prstGeom>
          <a:noFill/>
          <a:ln/>
        </p:spPr>
        <p:txBody>
          <a:bodyPr wrap="square" lIns="0" tIns="0" rIns="0" bIns="0" rtlCol="0" anchor="ctr"/>
          <a:lstStyle/>
          <a:p>
            <a:pPr indent="0" marL="0">
              <a:buNone/>
            </a:pPr>
            <a:r>
              <a:rPr lang="en-US" sz="1050" dirty="0">
                <a:solidFill>
                  <a:srgbClr val="111111"/>
                </a:solidFill>
              </a:rPr>
              <a:t>Exercise Down</a:t>
            </a:r>
            <a:endParaRPr lang="en-US" sz="1050" dirty="0"/>
          </a:p>
        </p:txBody>
      </p:sp>
      <p:sp>
        <p:nvSpPr>
          <p:cNvPr id="19" name="s9_mef2_by_class-dot-5"/>
          <p:cNvSpPr/>
          <p:nvPr/>
        </p:nvSpPr>
        <p:spPr>
          <a:xfrm>
            <a:off x="8066837" y="4914900"/>
            <a:ext cx="109728" cy="109728"/>
          </a:xfrm>
          <a:prstGeom prst="ellipse">
            <a:avLst/>
          </a:prstGeom>
          <a:solidFill>
            <a:srgbClr val="B3B2AE"/>
          </a:solidFill>
          <a:ln w="12700">
            <a:solidFill>
              <a:srgbClr val="B3B2AE"/>
            </a:solidFill>
            <a:prstDash val="solid"/>
          </a:ln>
        </p:spPr>
      </p:sp>
      <p:sp>
        <p:nvSpPr>
          <p:cNvPr id="20" name="s9_mef2_by_class-leg-5"/>
          <p:cNvSpPr txBox="1"/>
          <p:nvPr/>
        </p:nvSpPr>
        <p:spPr>
          <a:xfrm>
            <a:off x="8222285" y="4873752"/>
            <a:ext cx="1781251" cy="201168"/>
          </a:xfrm>
          <a:prstGeom prst="rect">
            <a:avLst/>
          </a:prstGeom>
          <a:noFill/>
          <a:ln/>
        </p:spPr>
        <p:txBody>
          <a:bodyPr wrap="square" lIns="0" tIns="0" rIns="0" bIns="0" rtlCol="0" anchor="ctr"/>
          <a:lstStyle/>
          <a:p>
            <a:pPr indent="0" marL="0">
              <a:buNone/>
            </a:pPr>
            <a:r>
              <a:rPr lang="en-US" sz="1050" dirty="0">
                <a:solidFill>
                  <a:srgbClr val="111111"/>
                </a:solidFill>
              </a:rPr>
              <a:t>Stable (all 2,907 sites)</a:t>
            </a:r>
            <a:endParaRPr lang="en-US" sz="1050" dirty="0"/>
          </a:p>
        </p:txBody>
      </p:sp>
      <p:sp>
        <p:nvSpPr>
          <p:cNvPr id="21" name="s9_mef2_by_class-key"/>
          <p:cNvSpPr txBox="1"/>
          <p:nvPr/>
        </p:nvSpPr>
        <p:spPr>
          <a:xfrm>
            <a:off x="2377440" y="5148072"/>
            <a:ext cx="7589520" cy="502920"/>
          </a:xfrm>
          <a:prstGeom prst="rect">
            <a:avLst/>
          </a:prstGeom>
          <a:noFill/>
          <a:ln/>
        </p:spPr>
        <p:txBody>
          <a:bodyPr wrap="square" lIns="0" tIns="0" rIns="0" bIns="0" rtlCol="0" anchor="ctr"/>
          <a:lstStyle/>
          <a:p>
            <a:pPr indent="0" marL="0">
              <a:buNone/>
            </a:pPr>
            <a:r>
              <a:rPr lang="en-US" sz="900" dirty="0">
                <a:solidFill>
                  <a:srgbClr val="595959"/>
                </a:solidFill>
              </a:rPr>
              <a:t>grey line and band: all 2,907 Stable sites with a 95% bootstrap CI.   Fisher's exact test against that reference, BH across all 10 tests on this figure.   *** p&lt;0.001   ** p&lt;0.01   * p&lt;0.05   ns ≥ 0.05</a:t>
            </a:r>
            <a:endParaRPr lang="en-US" sz="900" dirty="0"/>
          </a:p>
        </p:txBody>
      </p:sp>
      <p:sp>
        <p:nvSpPr>
          <p:cNvPr id="22" name="Text 0"/>
          <p:cNvSpPr/>
          <p:nvPr>
            <p:ph idx="101" type="body" hasCustomPrompt="1"/>
          </p:nvPr>
        </p:nvSpPr>
        <p:spPr>
          <a:xfrm>
            <a:off x="502920" y="5943600"/>
            <a:ext cx="11155680" cy="658368"/>
          </a:xfrm>
          <a:prstGeom prst="rect">
            <a:avLst/>
          </a:prstGeom>
          <a:noFill/>
          <a:ln/>
        </p:spPr>
        <p:txBody>
          <a:bodyPr wrap="square" rtlCol="0" anchor="t"/>
          <a:lstStyle/>
          <a:p>
            <a:pPr algn="l" indent="0" marL="0">
              <a:buNone/>
            </a:pPr>
            <a:r>
              <a:rPr lang="en-US" sz="1500" b="1" dirty="0">
                <a:solidFill>
                  <a:srgbClr val="C2551C"/>
                </a:solidFill>
              </a:rPr>
              <a:t>Takeaway   </a:t>
            </a:r>
            <a:pPr algn="l" indent="0" marL="0">
              <a:buNone/>
            </a:pPr>
            <a:r>
              <a:rPr lang="en-US" sz="1500" dirty="0">
                <a:solidFill>
                  <a:srgbClr val="111111"/>
                </a:solidFill>
              </a:rPr>
              <a:t>Age Up 5.8% and Exercise Down 5.4% carry a close MEF2, against 8.5% of Stable sites — and the gap is sharper when only the MEF2 the model uses is counted</a:t>
            </a:r>
            <a:endParaRPr lang="en-US" sz="1500" dirty="0"/>
          </a:p>
        </p:txBody>
      </p:sp>
      <p:sp>
        <p:nvSpPr>
          <p:cNvPr id="25" name="Slide Number Placeholder 0"/>
          <p:cNvSpPr>
            <a:spLocks noGrp="1"/>
          </p:cNvSpPr>
          <p:nvPr>
            <p:ph type="sldNum" sz="quarter" idx="4294967295"/>
          </p:nvPr>
        </p:nvSpPr>
        <p:spPr>
          <a:xfrm>
            <a:off x="116586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A6A6A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02920" y="301752"/>
            <a:ext cx="11155680" cy="685800"/>
          </a:xfrm>
          <a:prstGeom prst="rect">
            <a:avLst/>
          </a:prstGeom>
          <a:noFill/>
          <a:ln/>
        </p:spPr>
        <p:txBody>
          <a:bodyPr wrap="square" rtlCol="0" anchor="ctr"/>
          <a:lstStyle/>
          <a:p>
            <a:pPr algn="l" indent="0" marL="0">
              <a:buNone/>
            </a:pPr>
            <a:r>
              <a:rPr lang="en-US" sz="2800" b="1" dirty="0">
                <a:solidFill>
                  <a:schemeClr val="tx1"/>
                </a:solidFill>
              </a:rPr>
              <a:t>Is the partner missing, or just worth less?</a:t>
            </a:r>
            <a:endParaRPr lang="en-US" sz="2800" dirty="0"/>
          </a:p>
        </p:txBody>
      </p:sp>
      <p:sp>
        <p:nvSpPr>
          <p:cNvPr id="3" name="or-intro"/>
          <p:cNvSpPr txBox="1"/>
          <p:nvPr/>
        </p:nvSpPr>
        <p:spPr>
          <a:xfrm>
            <a:off x="731520" y="1005840"/>
            <a:ext cx="10881360" cy="420624"/>
          </a:xfrm>
          <a:prstGeom prst="rect">
            <a:avLst/>
          </a:prstGeom>
          <a:noFill/>
          <a:ln/>
        </p:spPr>
        <p:txBody>
          <a:bodyPr wrap="square" lIns="0" tIns="0" rIns="0" bIns="0" rtlCol="0" anchor="ctr"/>
          <a:lstStyle/>
          <a:p>
            <a:pPr indent="0" marL="0">
              <a:buNone/>
            </a:pPr>
            <a:r>
              <a:rPr lang="en-US" sz="1150" dirty="0">
                <a:solidFill>
                  <a:srgbClr val="595959"/>
                </a:solidFill>
              </a:rPr>
              <a:t>Rank the 60 windows within each element, take the three most damaging, and ask whether any covers that family’s footprint. A within-element question, so a class with less total dependence is not penalised for it.</a:t>
            </a:r>
            <a:endParaRPr lang="en-US" sz="1150" dirty="0"/>
          </a:p>
        </p:txBody>
      </p:sp>
      <p:sp>
        <p:nvSpPr>
          <p:cNvPr id="4" name="or-t1"/>
          <p:cNvSpPr txBox="1"/>
          <p:nvPr/>
        </p:nvSpPr>
        <p:spPr>
          <a:xfrm>
            <a:off x="1371600" y="1572768"/>
            <a:ext cx="4572000" cy="256032"/>
          </a:xfrm>
          <a:prstGeom prst="rect">
            <a:avLst/>
          </a:prstGeom>
          <a:noFill/>
          <a:ln/>
        </p:spPr>
        <p:txBody>
          <a:bodyPr wrap="square" lIns="0" tIns="0" rIns="0" bIns="0" rtlCol="0" anchor="ctr"/>
          <a:lstStyle/>
          <a:p>
            <a:pPr indent="0" marL="0">
              <a:buNone/>
            </a:pPr>
            <a:r>
              <a:rPr lang="en-US" sz="1350" b="1" dirty="0">
                <a:solidFill>
                  <a:srgbClr val="111111"/>
                </a:solidFill>
              </a:rPr>
              <a:t>MEF2</a:t>
            </a:r>
            <a:endParaRPr lang="en-US" sz="1350" dirty="0"/>
          </a:p>
        </p:txBody>
      </p:sp>
      <p:pic>
        <p:nvPicPr>
          <p:cNvPr id="5" name="Image 0" descr="/Users/z5162865/WongLab/AlphaGenome_Ap1/Analysis/slide_figures/panels/s10_mef2_all.png">    </p:cNvPr>
          <p:cNvPicPr>
            <a:picLocks noChangeAspect="1"/>
          </p:cNvPicPr>
          <p:nvPr/>
        </p:nvPicPr>
        <p:blipFill>
          <a:blip r:embed="rId1"/>
          <a:stretch>
            <a:fillRect/>
          </a:stretch>
        </p:blipFill>
        <p:spPr>
          <a:xfrm>
            <a:off x="1730862" y="1883664"/>
            <a:ext cx="3853476" cy="3017520"/>
          </a:xfrm>
          <a:prstGeom prst="rect">
            <a:avLst/>
          </a:prstGeom>
        </p:spPr>
      </p:pic>
      <p:sp>
        <p:nvSpPr>
          <p:cNvPr id="6" name="or-t2"/>
          <p:cNvSpPr txBox="1"/>
          <p:nvPr/>
        </p:nvSpPr>
        <p:spPr>
          <a:xfrm>
            <a:off x="6400800" y="1572768"/>
            <a:ext cx="4572000" cy="256032"/>
          </a:xfrm>
          <a:prstGeom prst="rect">
            <a:avLst/>
          </a:prstGeom>
          <a:noFill/>
          <a:ln/>
        </p:spPr>
        <p:txBody>
          <a:bodyPr wrap="square" lIns="0" tIns="0" rIns="0" bIns="0" rtlCol="0" anchor="ctr"/>
          <a:lstStyle/>
          <a:p>
            <a:pPr indent="0" marL="0">
              <a:buNone/>
            </a:pPr>
            <a:r>
              <a:rPr lang="en-US" sz="1350" b="1" dirty="0">
                <a:solidFill>
                  <a:srgbClr val="111111"/>
                </a:solidFill>
              </a:rPr>
              <a:t>A second AP-1 footprint</a:t>
            </a:r>
            <a:endParaRPr lang="en-US" sz="1350" dirty="0"/>
          </a:p>
        </p:txBody>
      </p:sp>
      <p:pic>
        <p:nvPicPr>
          <p:cNvPr id="7" name="Image 1" descr="/Users/z5162865/WongLab/AlphaGenome_Ap1/Analysis/slide_figures/panels/s10_ap1.png">    </p:cNvPr>
          <p:cNvPicPr>
            <a:picLocks noChangeAspect="1"/>
          </p:cNvPicPr>
          <p:nvPr/>
        </p:nvPicPr>
        <p:blipFill>
          <a:blip r:embed="rId2"/>
          <a:stretch>
            <a:fillRect/>
          </a:stretch>
        </p:blipFill>
        <p:spPr>
          <a:xfrm>
            <a:off x="6760062" y="1883664"/>
            <a:ext cx="3853476" cy="3017520"/>
          </a:xfrm>
          <a:prstGeom prst="rect">
            <a:avLst/>
          </a:prstGeom>
        </p:spPr>
      </p:pic>
      <p:sp>
        <p:nvSpPr>
          <p:cNvPr id="8" name="lg-dot-5.5-0"/>
          <p:cNvSpPr/>
          <p:nvPr/>
        </p:nvSpPr>
        <p:spPr>
          <a:xfrm>
            <a:off x="1371600" y="5070348"/>
            <a:ext cx="109728" cy="109728"/>
          </a:xfrm>
          <a:prstGeom prst="ellipse">
            <a:avLst/>
          </a:prstGeom>
          <a:solidFill>
            <a:srgbClr val="C2551C"/>
          </a:solidFill>
          <a:ln w="12700">
            <a:solidFill>
              <a:srgbClr val="C2551C"/>
            </a:solidFill>
            <a:prstDash val="solid"/>
          </a:ln>
        </p:spPr>
      </p:sp>
      <p:sp>
        <p:nvSpPr>
          <p:cNvPr id="9" name="lg-txt-5.5-0"/>
          <p:cNvSpPr txBox="1"/>
          <p:nvPr/>
        </p:nvSpPr>
        <p:spPr>
          <a:xfrm>
            <a:off x="1527048" y="5029200"/>
            <a:ext cx="2307946" cy="201168"/>
          </a:xfrm>
          <a:prstGeom prst="rect">
            <a:avLst/>
          </a:prstGeom>
          <a:noFill/>
          <a:ln/>
        </p:spPr>
        <p:txBody>
          <a:bodyPr wrap="square" lIns="0" tIns="0" rIns="0" bIns="0" rtlCol="0" anchor="ctr"/>
          <a:lstStyle/>
          <a:p>
            <a:pPr indent="0" marL="0">
              <a:buNone/>
            </a:pPr>
            <a:r>
              <a:rPr lang="en-US" sz="1050" dirty="0">
                <a:solidFill>
                  <a:srgbClr val="111111"/>
                </a:solidFill>
              </a:rPr>
              <a:t>does the element have one at all</a:t>
            </a:r>
            <a:endParaRPr lang="en-US" sz="1050" dirty="0"/>
          </a:p>
        </p:txBody>
      </p:sp>
      <p:sp>
        <p:nvSpPr>
          <p:cNvPr id="10" name="lg-dot-5.5-1"/>
          <p:cNvSpPr/>
          <p:nvPr/>
        </p:nvSpPr>
        <p:spPr>
          <a:xfrm>
            <a:off x="3944722" y="5070348"/>
            <a:ext cx="109728" cy="109728"/>
          </a:xfrm>
          <a:prstGeom prst="ellipse">
            <a:avLst/>
          </a:prstGeom>
          <a:solidFill>
            <a:srgbClr val="4F4F4F"/>
          </a:solidFill>
          <a:ln w="12700">
            <a:solidFill>
              <a:srgbClr val="4F4F4F"/>
            </a:solidFill>
            <a:prstDash val="solid"/>
          </a:ln>
        </p:spPr>
      </p:sp>
      <p:sp>
        <p:nvSpPr>
          <p:cNvPr id="11" name="lg-txt-5.5-1"/>
          <p:cNvSpPr txBox="1"/>
          <p:nvPr/>
        </p:nvSpPr>
        <p:spPr>
          <a:xfrm>
            <a:off x="4100170" y="5029200"/>
            <a:ext cx="2373782" cy="201168"/>
          </a:xfrm>
          <a:prstGeom prst="rect">
            <a:avLst/>
          </a:prstGeom>
          <a:noFill/>
          <a:ln/>
        </p:spPr>
        <p:txBody>
          <a:bodyPr wrap="square" lIns="0" tIns="0" rIns="0" bIns="0" rtlCol="0" anchor="ctr"/>
          <a:lstStyle/>
          <a:p>
            <a:pPr indent="0" marL="0">
              <a:buNone/>
            </a:pPr>
            <a:r>
              <a:rPr lang="en-US" sz="1050" dirty="0">
                <a:solidFill>
                  <a:srgbClr val="111111"/>
                </a:solidFill>
              </a:rPr>
              <a:t>when it has one, is it ranked top</a:t>
            </a:r>
            <a:endParaRPr lang="en-US" sz="1050" dirty="0"/>
          </a:p>
        </p:txBody>
      </p:sp>
      <p:sp>
        <p:nvSpPr>
          <p:cNvPr id="12" name="or-key"/>
          <p:cNvSpPr txBox="1"/>
          <p:nvPr/>
        </p:nvSpPr>
        <p:spPr>
          <a:xfrm>
            <a:off x="731520" y="5376672"/>
            <a:ext cx="10881360" cy="457200"/>
          </a:xfrm>
          <a:prstGeom prst="rect">
            <a:avLst/>
          </a:prstGeom>
          <a:noFill/>
          <a:ln/>
        </p:spPr>
        <p:txBody>
          <a:bodyPr wrap="square" lIns="0" tIns="0" rIns="0" bIns="0" rtlCol="0" anchor="ctr"/>
          <a:lstStyle/>
          <a:p>
            <a:pPr indent="0" marL="0">
              <a:buNone/>
            </a:pPr>
            <a:r>
              <a:rPr lang="en-US" sz="950" dirty="0">
                <a:solidFill>
                  <a:srgbClr val="595959"/>
                </a:solidFill>
              </a:rPr>
              <a:t>log2 odds ratio against all Stable sites with a 95% CI; dotted line = no difference, so −1 is half the odds and +1 is double.   MEF2, does it have one: Age Up OR 0.45, Exercise Down 0.56, Dynamic 0.58, all FDR ≤ 0.005.   AP-1, when it has one: Dynamic OR 1.45, FDR 0.036.</a:t>
            </a:r>
            <a:endParaRPr lang="en-US" sz="950" dirty="0"/>
          </a:p>
        </p:txBody>
      </p:sp>
      <p:sp>
        <p:nvSpPr>
          <p:cNvPr id="13" name="Text 0"/>
          <p:cNvSpPr/>
          <p:nvPr>
            <p:ph idx="101" type="body" hasCustomPrompt="1"/>
          </p:nvPr>
        </p:nvSpPr>
        <p:spPr>
          <a:xfrm>
            <a:off x="502920" y="5943600"/>
            <a:ext cx="11155680" cy="658368"/>
          </a:xfrm>
          <a:prstGeom prst="rect">
            <a:avLst/>
          </a:prstGeom>
          <a:noFill/>
          <a:ln/>
        </p:spPr>
        <p:txBody>
          <a:bodyPr wrap="square" rtlCol="0" anchor="t"/>
          <a:lstStyle/>
          <a:p>
            <a:pPr algn="l" indent="0" marL="0">
              <a:buNone/>
            </a:pPr>
            <a:r>
              <a:rPr lang="en-US" sz="1500" b="1" dirty="0">
                <a:solidFill>
                  <a:srgbClr val="C2551C"/>
                </a:solidFill>
              </a:rPr>
              <a:t>Takeaway   </a:t>
            </a:r>
            <a:pPr algn="l" indent="0" marL="0">
              <a:buNone/>
            </a:pPr>
            <a:r>
              <a:rPr lang="en-US" sz="1500" dirty="0">
                <a:solidFill>
                  <a:srgbClr val="111111"/>
                </a:solidFill>
              </a:rPr>
              <a:t>the MEF2 deficit is about having one, not about how it is ranked — and responsive elements lean more on a second AP-1 site when they have one</a:t>
            </a:r>
            <a:endParaRPr lang="en-US" sz="1500" dirty="0"/>
          </a:p>
        </p:txBody>
      </p:sp>
      <p:sp>
        <p:nvSpPr>
          <p:cNvPr id="25" name="Slide Number Placeholder 0"/>
          <p:cNvSpPr>
            <a:spLocks noGrp="1"/>
          </p:cNvSpPr>
          <p:nvPr>
            <p:ph type="sldNum" sz="quarter" idx="4294967295"/>
          </p:nvPr>
        </p:nvSpPr>
        <p:spPr>
          <a:xfrm>
            <a:off x="116586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A6A6A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02920" y="301752"/>
            <a:ext cx="11155680" cy="685800"/>
          </a:xfrm>
          <a:prstGeom prst="rect">
            <a:avLst/>
          </a:prstGeom>
          <a:noFill/>
          <a:ln/>
        </p:spPr>
        <p:txBody>
          <a:bodyPr wrap="square" rtlCol="0" anchor="ctr"/>
          <a:lstStyle/>
          <a:p>
            <a:pPr algn="l" indent="0" marL="0">
              <a:buNone/>
            </a:pPr>
            <a:r>
              <a:rPr lang="en-US" sz="2800" b="1" dirty="0">
                <a:solidFill>
                  <a:schemeClr val="tx1"/>
                </a:solidFill>
              </a:rPr>
              <a:t>The same contrast at one pair of promoters</a:t>
            </a:r>
            <a:endParaRPr lang="en-US" sz="2800" dirty="0"/>
          </a:p>
        </p:txBody>
      </p:sp>
      <p:pic>
        <p:nvPicPr>
          <p:cNvPr id="3" name="Image 0" descr="/Users/z5162865/WongLab/AlphaGenome_Ap1/Analysis/example_track/example_scan_track.png">    </p:cNvPr>
          <p:cNvPicPr>
            <a:picLocks noChangeAspect="1"/>
          </p:cNvPicPr>
          <p:nvPr/>
        </p:nvPicPr>
        <p:blipFill>
          <a:blip r:embed="rId1"/>
          <a:stretch>
            <a:fillRect/>
          </a:stretch>
        </p:blipFill>
        <p:spPr>
          <a:xfrm>
            <a:off x="1202961" y="1051560"/>
            <a:ext cx="9755599" cy="4754880"/>
          </a:xfrm>
          <a:prstGeom prst="rect">
            <a:avLst/>
          </a:prstGeom>
        </p:spPr>
      </p:pic>
      <p:sp>
        <p:nvSpPr>
          <p:cNvPr id="4" name="Text 0"/>
          <p:cNvSpPr/>
          <p:nvPr>
            <p:ph idx="101" type="body" hasCustomPrompt="1"/>
          </p:nvPr>
        </p:nvSpPr>
        <p:spPr>
          <a:xfrm>
            <a:off x="502920" y="5943600"/>
            <a:ext cx="11155680" cy="658368"/>
          </a:xfrm>
          <a:prstGeom prst="rect">
            <a:avLst/>
          </a:prstGeom>
          <a:noFill/>
          <a:ln/>
        </p:spPr>
        <p:txBody>
          <a:bodyPr wrap="square" rtlCol="0" anchor="t"/>
          <a:lstStyle/>
          <a:p>
            <a:pPr algn="l" indent="0" marL="0">
              <a:buNone/>
            </a:pPr>
            <a:r>
              <a:rPr lang="en-US" sz="1500" b="1" dirty="0">
                <a:solidFill>
                  <a:srgbClr val="C2551C"/>
                </a:solidFill>
              </a:rPr>
              <a:t>Takeaway   </a:t>
            </a:r>
            <a:pPr algn="l" indent="0" marL="0">
              <a:buNone/>
            </a:pPr>
            <a:r>
              <a:rPr lang="en-US" sz="1500" dirty="0">
                <a:solidFill>
                  <a:srgbClr val="111111"/>
                </a:solidFill>
              </a:rPr>
              <a:t>the stable site has MEF2 abutting its AP-1 motif at 19 bp; the age-gained site has no MEF2 anywhere in the element</a:t>
            </a:r>
            <a:endParaRPr lang="en-US" sz="1500" dirty="0"/>
          </a:p>
        </p:txBody>
      </p:sp>
      <p:sp>
        <p:nvSpPr>
          <p:cNvPr id="25" name="Slide Number Placeholder 0"/>
          <p:cNvSpPr>
            <a:spLocks noGrp="1"/>
          </p:cNvSpPr>
          <p:nvPr>
            <p:ph type="sldNum" sz="quarter" idx="4294967295"/>
          </p:nvPr>
        </p:nvSpPr>
        <p:spPr>
          <a:xfrm>
            <a:off x="116586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A6A6A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02920" y="301752"/>
            <a:ext cx="11155680" cy="685800"/>
          </a:xfrm>
          <a:prstGeom prst="rect">
            <a:avLst/>
          </a:prstGeom>
          <a:noFill/>
          <a:ln/>
        </p:spPr>
        <p:txBody>
          <a:bodyPr wrap="square" rtlCol="0" anchor="ctr"/>
          <a:lstStyle/>
          <a:p>
            <a:pPr algn="l" indent="0" marL="0">
              <a:buNone/>
            </a:pPr>
            <a:r>
              <a:rPr lang="en-US" sz="2800" b="1" dirty="0">
                <a:solidFill>
                  <a:schemeClr val="tx1"/>
                </a:solidFill>
              </a:rPr>
              <a:t>Responsive sites spread their dependence out</a:t>
            </a:r>
            <a:endParaRPr lang="en-US" sz="2800" dirty="0"/>
          </a:p>
        </p:txBody>
      </p:sp>
      <p:sp>
        <p:nvSpPr>
          <p:cNvPr id="3" name="prof-t1"/>
          <p:cNvSpPr txBox="1"/>
          <p:nvPr/>
        </p:nvSpPr>
        <p:spPr>
          <a:xfrm>
            <a:off x="502920" y="1042416"/>
            <a:ext cx="6949440" cy="274320"/>
          </a:xfrm>
          <a:prstGeom prst="rect">
            <a:avLst/>
          </a:prstGeom>
          <a:noFill/>
          <a:ln/>
        </p:spPr>
        <p:txBody>
          <a:bodyPr wrap="square" lIns="0" tIns="0" rIns="0" bIns="0" rtlCol="0" anchor="ctr"/>
          <a:lstStyle/>
          <a:p>
            <a:pPr indent="0" marL="0">
              <a:buNone/>
            </a:pPr>
            <a:r>
              <a:rPr lang="en-US" sz="1350" b="1" dirty="0">
                <a:solidFill>
                  <a:srgbClr val="111111"/>
                </a:solidFill>
              </a:rPr>
              <a:t>Where the dependence sits across the element</a:t>
            </a:r>
            <a:endParaRPr lang="en-US" sz="1350" dirty="0"/>
          </a:p>
        </p:txBody>
      </p:sp>
      <p:sp>
        <p:nvSpPr>
          <p:cNvPr id="4" name="prof-s1"/>
          <p:cNvSpPr txBox="1"/>
          <p:nvPr/>
        </p:nvSpPr>
        <p:spPr>
          <a:xfrm>
            <a:off x="502920" y="1325880"/>
            <a:ext cx="6949440" cy="274320"/>
          </a:xfrm>
          <a:prstGeom prst="rect">
            <a:avLst/>
          </a:prstGeom>
          <a:noFill/>
          <a:ln/>
        </p:spPr>
        <p:txBody>
          <a:bodyPr wrap="square" lIns="0" tIns="0" rIns="0" bIns="0" rtlCol="0" anchor="ctr"/>
          <a:lstStyle/>
          <a:p>
            <a:pPr indent="0" marL="0">
              <a:buNone/>
            </a:pPr>
            <a:r>
              <a:rPr lang="en-US" sz="1050" dirty="0">
                <a:solidFill>
                  <a:srgbClr val="595959"/>
                </a:solidFill>
              </a:rPr>
              <a:t>mean loss at each of the 60 windows, smoothed over 3 — summed across windows, exactly the quantity on the right. Gold = the ±15 bp core.</a:t>
            </a:r>
            <a:endParaRPr lang="en-US" sz="1050" dirty="0"/>
          </a:p>
        </p:txBody>
      </p:sp>
      <p:pic>
        <p:nvPicPr>
          <p:cNvPr id="5" name="Image 0" descr="/Users/z5162865/WongLab/AlphaGenome_Ap1/Analysis/slide_figures/panels/s12_profile_absolute.png">    </p:cNvPr>
          <p:cNvPicPr>
            <a:picLocks noChangeAspect="1"/>
          </p:cNvPicPr>
          <p:nvPr/>
        </p:nvPicPr>
        <p:blipFill>
          <a:blip r:embed="rId1"/>
          <a:stretch>
            <a:fillRect/>
          </a:stretch>
        </p:blipFill>
        <p:spPr>
          <a:xfrm>
            <a:off x="1385461" y="1609344"/>
            <a:ext cx="5184358" cy="1783080"/>
          </a:xfrm>
          <a:prstGeom prst="rect">
            <a:avLst/>
          </a:prstGeom>
        </p:spPr>
      </p:pic>
      <p:sp>
        <p:nvSpPr>
          <p:cNvPr id="6" name="prof-t2"/>
          <p:cNvSpPr txBox="1"/>
          <p:nvPr/>
        </p:nvSpPr>
        <p:spPr>
          <a:xfrm>
            <a:off x="502920" y="3456432"/>
            <a:ext cx="6949440" cy="274320"/>
          </a:xfrm>
          <a:prstGeom prst="rect">
            <a:avLst/>
          </a:prstGeom>
          <a:noFill/>
          <a:ln/>
        </p:spPr>
        <p:txBody>
          <a:bodyPr wrap="square" lIns="0" tIns="0" rIns="0" bIns="0" rtlCol="0" anchor="ctr"/>
          <a:lstStyle/>
          <a:p>
            <a:pPr indent="0" marL="0">
              <a:buNone/>
            </a:pPr>
            <a:r>
              <a:rPr lang="en-US" sz="1350" b="1" dirty="0">
                <a:solidFill>
                  <a:srgbClr val="111111"/>
                </a:solidFill>
              </a:rPr>
              <a:t>...and the same as a share of each site’s own total</a:t>
            </a:r>
            <a:endParaRPr lang="en-US" sz="1350" dirty="0"/>
          </a:p>
        </p:txBody>
      </p:sp>
      <p:sp>
        <p:nvSpPr>
          <p:cNvPr id="7" name="prof-s2"/>
          <p:cNvSpPr txBox="1"/>
          <p:nvPr/>
        </p:nvSpPr>
        <p:spPr>
          <a:xfrm>
            <a:off x="502920" y="3721608"/>
            <a:ext cx="6949440" cy="274320"/>
          </a:xfrm>
          <a:prstGeom prst="rect">
            <a:avLst/>
          </a:prstGeom>
          <a:noFill/>
          <a:ln/>
        </p:spPr>
        <p:txBody>
          <a:bodyPr wrap="square" lIns="0" tIns="0" rIns="0" bIns="0" rtlCol="0" anchor="ctr"/>
          <a:lstStyle/>
          <a:p>
            <a:pPr indent="0" marL="0">
              <a:buNone/>
            </a:pPr>
            <a:r>
              <a:rPr lang="en-US" sz="1050" dirty="0">
                <a:solidFill>
                  <a:srgbClr val="595959"/>
                </a:solidFill>
              </a:rPr>
              <a:t>depth divided out, so only the shape is compared</a:t>
            </a:r>
            <a:endParaRPr lang="en-US" sz="1050" dirty="0"/>
          </a:p>
        </p:txBody>
      </p:sp>
      <p:pic>
        <p:nvPicPr>
          <p:cNvPr id="8" name="Image 1" descr="/Users/z5162865/WongLab/AlphaGenome_Ap1/Analysis/slide_figures/panels/s12_profile_shape.png">    </p:cNvPr>
          <p:cNvPicPr>
            <a:picLocks noChangeAspect="1"/>
          </p:cNvPicPr>
          <p:nvPr/>
        </p:nvPicPr>
        <p:blipFill>
          <a:blip r:embed="rId2"/>
          <a:stretch>
            <a:fillRect/>
          </a:stretch>
        </p:blipFill>
        <p:spPr>
          <a:xfrm>
            <a:off x="1489343" y="3950208"/>
            <a:ext cx="4976595" cy="1691640"/>
          </a:xfrm>
          <a:prstGeom prst="rect">
            <a:avLst/>
          </a:prstGeom>
        </p:spPr>
      </p:pic>
      <p:sp>
        <p:nvSpPr>
          <p:cNvPr id="9" name="s3_dependence-title-0"/>
          <p:cNvSpPr txBox="1"/>
          <p:nvPr/>
        </p:nvSpPr>
        <p:spPr>
          <a:xfrm>
            <a:off x="7653528" y="1042416"/>
            <a:ext cx="4005072" cy="237744"/>
          </a:xfrm>
          <a:prstGeom prst="rect">
            <a:avLst/>
          </a:prstGeom>
          <a:noFill/>
          <a:ln/>
        </p:spPr>
        <p:txBody>
          <a:bodyPr wrap="square" lIns="0" tIns="0" rIns="0" bIns="0" rtlCol="0" anchor="ctr"/>
          <a:lstStyle/>
          <a:p>
            <a:pPr indent="0" marL="0">
              <a:buNone/>
            </a:pPr>
            <a:r>
              <a:rPr lang="en-US" sz="1150" b="1" dirty="0">
                <a:solidFill>
                  <a:srgbClr val="111111"/>
                </a:solidFill>
              </a:rPr>
              <a:t>Dependence near the motif</a:t>
            </a:r>
            <a:endParaRPr lang="en-US" sz="1150" dirty="0"/>
          </a:p>
        </p:txBody>
      </p:sp>
      <p:pic>
        <p:nvPicPr>
          <p:cNvPr id="10" name="Image 2" descr="/Users/z5162865/WongLab/AlphaGenome_Ap1/Analysis/slide_figures/panels/s3_dependence_c0_r0.png">    </p:cNvPr>
          <p:cNvPicPr>
            <a:picLocks noChangeAspect="1"/>
          </p:cNvPicPr>
          <p:nvPr/>
        </p:nvPicPr>
        <p:blipFill>
          <a:blip r:embed="rId3"/>
          <a:stretch>
            <a:fillRect/>
          </a:stretch>
        </p:blipFill>
        <p:spPr>
          <a:xfrm>
            <a:off x="7653963" y="1298448"/>
            <a:ext cx="4004201" cy="1274064"/>
          </a:xfrm>
          <a:prstGeom prst="rect">
            <a:avLst/>
          </a:prstGeom>
        </p:spPr>
      </p:pic>
      <p:sp>
        <p:nvSpPr>
          <p:cNvPr id="11" name="s3_dependence-title-1"/>
          <p:cNvSpPr txBox="1"/>
          <p:nvPr/>
        </p:nvSpPr>
        <p:spPr>
          <a:xfrm>
            <a:off x="7653528" y="2627376"/>
            <a:ext cx="4005072" cy="237744"/>
          </a:xfrm>
          <a:prstGeom prst="rect">
            <a:avLst/>
          </a:prstGeom>
          <a:noFill/>
          <a:ln/>
        </p:spPr>
        <p:txBody>
          <a:bodyPr wrap="square" lIns="0" tIns="0" rIns="0" bIns="0" rtlCol="0" anchor="ctr"/>
          <a:lstStyle/>
          <a:p>
            <a:pPr indent="0" marL="0">
              <a:buNone/>
            </a:pPr>
            <a:r>
              <a:rPr lang="en-US" sz="1150" b="1" dirty="0">
                <a:solidFill>
                  <a:srgbClr val="111111"/>
                </a:solidFill>
              </a:rPr>
              <a:t>Dependence out in the context</a:t>
            </a:r>
            <a:endParaRPr lang="en-US" sz="1150" dirty="0"/>
          </a:p>
        </p:txBody>
      </p:sp>
      <p:pic>
        <p:nvPicPr>
          <p:cNvPr id="12" name="Image 3" descr="/Users/z5162865/WongLab/AlphaGenome_Ap1/Analysis/slide_figures/panels/s3_dependence_c1_r0.png">    </p:cNvPr>
          <p:cNvPicPr>
            <a:picLocks noChangeAspect="1"/>
          </p:cNvPicPr>
          <p:nvPr/>
        </p:nvPicPr>
        <p:blipFill>
          <a:blip r:embed="rId4"/>
          <a:stretch>
            <a:fillRect/>
          </a:stretch>
        </p:blipFill>
        <p:spPr>
          <a:xfrm>
            <a:off x="7653963" y="2883408"/>
            <a:ext cx="4004201" cy="1274064"/>
          </a:xfrm>
          <a:prstGeom prst="rect">
            <a:avLst/>
          </a:prstGeom>
        </p:spPr>
      </p:pic>
      <p:sp>
        <p:nvSpPr>
          <p:cNvPr id="13" name="s3_dependence-title-2"/>
          <p:cNvSpPr txBox="1"/>
          <p:nvPr/>
        </p:nvSpPr>
        <p:spPr>
          <a:xfrm>
            <a:off x="7653528" y="4212336"/>
            <a:ext cx="4005072" cy="237744"/>
          </a:xfrm>
          <a:prstGeom prst="rect">
            <a:avLst/>
          </a:prstGeom>
          <a:noFill/>
          <a:ln/>
        </p:spPr>
        <p:txBody>
          <a:bodyPr wrap="square" lIns="0" tIns="0" rIns="0" bIns="0" rtlCol="0" anchor="ctr"/>
          <a:lstStyle/>
          <a:p>
            <a:pPr indent="0" marL="0">
              <a:buNone/>
            </a:pPr>
            <a:r>
              <a:rPr lang="en-US" sz="1150" b="1" dirty="0">
                <a:solidFill>
                  <a:srgbClr val="111111"/>
                </a:solidFill>
              </a:rPr>
              <a:t>Spread along the element</a:t>
            </a:r>
            <a:endParaRPr lang="en-US" sz="1150" dirty="0"/>
          </a:p>
        </p:txBody>
      </p:sp>
      <p:pic>
        <p:nvPicPr>
          <p:cNvPr id="14" name="Image 4" descr="/Users/z5162865/WongLab/AlphaGenome_Ap1/Analysis/slide_figures/panels/s3_dependence_c2_r0.png">    </p:cNvPr>
          <p:cNvPicPr>
            <a:picLocks noChangeAspect="1"/>
          </p:cNvPicPr>
          <p:nvPr/>
        </p:nvPicPr>
        <p:blipFill>
          <a:blip r:embed="rId5"/>
          <a:stretch>
            <a:fillRect/>
          </a:stretch>
        </p:blipFill>
        <p:spPr>
          <a:xfrm>
            <a:off x="7653963" y="4468368"/>
            <a:ext cx="4004201" cy="1274064"/>
          </a:xfrm>
          <a:prstGeom prst="rect">
            <a:avLst/>
          </a:prstGeom>
        </p:spPr>
      </p:pic>
      <p:sp>
        <p:nvSpPr>
          <p:cNvPr id="15" name="s3_dependence-dot-0"/>
          <p:cNvSpPr/>
          <p:nvPr/>
        </p:nvSpPr>
        <p:spPr>
          <a:xfrm>
            <a:off x="502920" y="5765292"/>
            <a:ext cx="109728" cy="109728"/>
          </a:xfrm>
          <a:prstGeom prst="ellipse">
            <a:avLst/>
          </a:prstGeom>
          <a:solidFill>
            <a:srgbClr val="4F4F4F"/>
          </a:solidFill>
          <a:ln w="12700">
            <a:solidFill>
              <a:srgbClr val="4F4F4F"/>
            </a:solidFill>
            <a:prstDash val="solid"/>
          </a:ln>
        </p:spPr>
      </p:sp>
      <p:sp>
        <p:nvSpPr>
          <p:cNvPr id="16" name="s3_dependence-leg-0"/>
          <p:cNvSpPr txBox="1"/>
          <p:nvPr/>
        </p:nvSpPr>
        <p:spPr>
          <a:xfrm>
            <a:off x="658368" y="5724144"/>
            <a:ext cx="1057046" cy="201168"/>
          </a:xfrm>
          <a:prstGeom prst="rect">
            <a:avLst/>
          </a:prstGeom>
          <a:noFill/>
          <a:ln/>
        </p:spPr>
        <p:txBody>
          <a:bodyPr wrap="square" lIns="0" tIns="0" rIns="0" bIns="0" rtlCol="0" anchor="ctr"/>
          <a:lstStyle/>
          <a:p>
            <a:pPr indent="0" marL="0">
              <a:buNone/>
            </a:pPr>
            <a:r>
              <a:rPr lang="en-US" sz="1050" dirty="0">
                <a:solidFill>
                  <a:srgbClr val="111111"/>
                </a:solidFill>
              </a:rPr>
              <a:t>Dynamic (all)</a:t>
            </a:r>
            <a:endParaRPr lang="en-US" sz="1050" dirty="0"/>
          </a:p>
        </p:txBody>
      </p:sp>
      <p:sp>
        <p:nvSpPr>
          <p:cNvPr id="17" name="s3_dependence-dot-1"/>
          <p:cNvSpPr/>
          <p:nvPr/>
        </p:nvSpPr>
        <p:spPr>
          <a:xfrm>
            <a:off x="1825142" y="5765292"/>
            <a:ext cx="109728" cy="109728"/>
          </a:xfrm>
          <a:prstGeom prst="ellipse">
            <a:avLst/>
          </a:prstGeom>
          <a:solidFill>
            <a:srgbClr val="C2551C"/>
          </a:solidFill>
          <a:ln w="12700">
            <a:solidFill>
              <a:srgbClr val="C2551C"/>
            </a:solidFill>
            <a:prstDash val="solid"/>
          </a:ln>
        </p:spPr>
      </p:sp>
      <p:sp>
        <p:nvSpPr>
          <p:cNvPr id="18" name="s3_dependence-leg-1"/>
          <p:cNvSpPr txBox="1"/>
          <p:nvPr/>
        </p:nvSpPr>
        <p:spPr>
          <a:xfrm>
            <a:off x="1980590" y="5724144"/>
            <a:ext cx="596189" cy="201168"/>
          </a:xfrm>
          <a:prstGeom prst="rect">
            <a:avLst/>
          </a:prstGeom>
          <a:noFill/>
          <a:ln/>
        </p:spPr>
        <p:txBody>
          <a:bodyPr wrap="square" lIns="0" tIns="0" rIns="0" bIns="0" rtlCol="0" anchor="ctr"/>
          <a:lstStyle/>
          <a:p>
            <a:pPr indent="0" marL="0">
              <a:buNone/>
            </a:pPr>
            <a:r>
              <a:rPr lang="en-US" sz="1050" dirty="0">
                <a:solidFill>
                  <a:srgbClr val="111111"/>
                </a:solidFill>
              </a:rPr>
              <a:t>Age Up</a:t>
            </a:r>
            <a:endParaRPr lang="en-US" sz="1050" dirty="0"/>
          </a:p>
        </p:txBody>
      </p:sp>
      <p:sp>
        <p:nvSpPr>
          <p:cNvPr id="19" name="s3_dependence-dot-2"/>
          <p:cNvSpPr/>
          <p:nvPr/>
        </p:nvSpPr>
        <p:spPr>
          <a:xfrm>
            <a:off x="2686507" y="5765292"/>
            <a:ext cx="109728" cy="109728"/>
          </a:xfrm>
          <a:prstGeom prst="ellipse">
            <a:avLst/>
          </a:prstGeom>
          <a:solidFill>
            <a:srgbClr val="1F6FB2"/>
          </a:solidFill>
          <a:ln w="12700">
            <a:solidFill>
              <a:srgbClr val="1F6FB2"/>
            </a:solidFill>
            <a:prstDash val="solid"/>
          </a:ln>
        </p:spPr>
      </p:sp>
      <p:sp>
        <p:nvSpPr>
          <p:cNvPr id="20" name="s3_dependence-leg-2"/>
          <p:cNvSpPr txBox="1"/>
          <p:nvPr/>
        </p:nvSpPr>
        <p:spPr>
          <a:xfrm>
            <a:off x="2841955" y="5724144"/>
            <a:ext cx="727862" cy="201168"/>
          </a:xfrm>
          <a:prstGeom prst="rect">
            <a:avLst/>
          </a:prstGeom>
          <a:noFill/>
          <a:ln/>
        </p:spPr>
        <p:txBody>
          <a:bodyPr wrap="square" lIns="0" tIns="0" rIns="0" bIns="0" rtlCol="0" anchor="ctr"/>
          <a:lstStyle/>
          <a:p>
            <a:pPr indent="0" marL="0">
              <a:buNone/>
            </a:pPr>
            <a:r>
              <a:rPr lang="en-US" sz="1050" dirty="0">
                <a:solidFill>
                  <a:srgbClr val="111111"/>
                </a:solidFill>
              </a:rPr>
              <a:t>Age Down</a:t>
            </a:r>
            <a:endParaRPr lang="en-US" sz="1050" dirty="0"/>
          </a:p>
        </p:txBody>
      </p:sp>
      <p:sp>
        <p:nvSpPr>
          <p:cNvPr id="21" name="s3_dependence-dot-3"/>
          <p:cNvSpPr/>
          <p:nvPr/>
        </p:nvSpPr>
        <p:spPr>
          <a:xfrm>
            <a:off x="3679546" y="5765292"/>
            <a:ext cx="109728" cy="109728"/>
          </a:xfrm>
          <a:prstGeom prst="ellipse">
            <a:avLst/>
          </a:prstGeom>
          <a:solidFill>
            <a:srgbClr val="2E7D32"/>
          </a:solidFill>
          <a:ln w="12700">
            <a:solidFill>
              <a:srgbClr val="2E7D32"/>
            </a:solidFill>
            <a:prstDash val="solid"/>
          </a:ln>
        </p:spPr>
      </p:sp>
      <p:sp>
        <p:nvSpPr>
          <p:cNvPr id="22" name="s3_dependence-leg-3"/>
          <p:cNvSpPr txBox="1"/>
          <p:nvPr/>
        </p:nvSpPr>
        <p:spPr>
          <a:xfrm>
            <a:off x="3834994" y="5724144"/>
            <a:ext cx="925373" cy="201168"/>
          </a:xfrm>
          <a:prstGeom prst="rect">
            <a:avLst/>
          </a:prstGeom>
          <a:noFill/>
          <a:ln/>
        </p:spPr>
        <p:txBody>
          <a:bodyPr wrap="square" lIns="0" tIns="0" rIns="0" bIns="0" rtlCol="0" anchor="ctr"/>
          <a:lstStyle/>
          <a:p>
            <a:pPr indent="0" marL="0">
              <a:buNone/>
            </a:pPr>
            <a:r>
              <a:rPr lang="en-US" sz="1050" dirty="0">
                <a:solidFill>
                  <a:srgbClr val="111111"/>
                </a:solidFill>
              </a:rPr>
              <a:t>Exercise Up</a:t>
            </a:r>
            <a:endParaRPr lang="en-US" sz="1050" dirty="0"/>
          </a:p>
        </p:txBody>
      </p:sp>
      <p:sp>
        <p:nvSpPr>
          <p:cNvPr id="23" name="s3_dependence-dot-4"/>
          <p:cNvSpPr/>
          <p:nvPr/>
        </p:nvSpPr>
        <p:spPr>
          <a:xfrm>
            <a:off x="4870094" y="5765292"/>
            <a:ext cx="109728" cy="109728"/>
          </a:xfrm>
          <a:prstGeom prst="ellipse">
            <a:avLst/>
          </a:prstGeom>
          <a:solidFill>
            <a:srgbClr val="7B3FA0"/>
          </a:solidFill>
          <a:ln w="12700">
            <a:solidFill>
              <a:srgbClr val="7B3FA0"/>
            </a:solidFill>
            <a:prstDash val="solid"/>
          </a:ln>
        </p:spPr>
      </p:sp>
      <p:sp>
        <p:nvSpPr>
          <p:cNvPr id="24" name="s3_dependence-leg-4"/>
          <p:cNvSpPr txBox="1"/>
          <p:nvPr/>
        </p:nvSpPr>
        <p:spPr>
          <a:xfrm>
            <a:off x="5025542" y="5724144"/>
            <a:ext cx="1057046" cy="201168"/>
          </a:xfrm>
          <a:prstGeom prst="rect">
            <a:avLst/>
          </a:prstGeom>
          <a:noFill/>
          <a:ln/>
        </p:spPr>
        <p:txBody>
          <a:bodyPr wrap="square" lIns="0" tIns="0" rIns="0" bIns="0" rtlCol="0" anchor="ctr"/>
          <a:lstStyle/>
          <a:p>
            <a:pPr indent="0" marL="0">
              <a:buNone/>
            </a:pPr>
            <a:r>
              <a:rPr lang="en-US" sz="1050" dirty="0">
                <a:solidFill>
                  <a:srgbClr val="111111"/>
                </a:solidFill>
              </a:rPr>
              <a:t>Exercise Down</a:t>
            </a:r>
            <a:endParaRPr lang="en-US" sz="1050" dirty="0"/>
          </a:p>
        </p:txBody>
      </p:sp>
      <p:sp>
        <p:nvSpPr>
          <p:cNvPr id="25" name="s3_dependence-dot-5"/>
          <p:cNvSpPr/>
          <p:nvPr/>
        </p:nvSpPr>
        <p:spPr>
          <a:xfrm>
            <a:off x="6192317" y="5765292"/>
            <a:ext cx="109728" cy="109728"/>
          </a:xfrm>
          <a:prstGeom prst="ellipse">
            <a:avLst/>
          </a:prstGeom>
          <a:solidFill>
            <a:srgbClr val="B3B2AE"/>
          </a:solidFill>
          <a:ln w="12700">
            <a:solidFill>
              <a:srgbClr val="B3B2AE"/>
            </a:solidFill>
            <a:prstDash val="solid"/>
          </a:ln>
        </p:spPr>
      </p:sp>
      <p:sp>
        <p:nvSpPr>
          <p:cNvPr id="26" name="s3_dependence-leg-5"/>
          <p:cNvSpPr txBox="1"/>
          <p:nvPr/>
        </p:nvSpPr>
        <p:spPr>
          <a:xfrm>
            <a:off x="6347765" y="5724144"/>
            <a:ext cx="1781251" cy="201168"/>
          </a:xfrm>
          <a:prstGeom prst="rect">
            <a:avLst/>
          </a:prstGeom>
          <a:noFill/>
          <a:ln/>
        </p:spPr>
        <p:txBody>
          <a:bodyPr wrap="square" lIns="0" tIns="0" rIns="0" bIns="0" rtlCol="0" anchor="ctr"/>
          <a:lstStyle/>
          <a:p>
            <a:pPr indent="0" marL="0">
              <a:buNone/>
            </a:pPr>
            <a:r>
              <a:rPr lang="en-US" sz="1050" dirty="0">
                <a:solidFill>
                  <a:srgbClr val="111111"/>
                </a:solidFill>
              </a:rPr>
              <a:t>Stable (all 2,907 sites)</a:t>
            </a:r>
            <a:endParaRPr lang="en-US" sz="1050" dirty="0"/>
          </a:p>
        </p:txBody>
      </p:sp>
      <p:sp>
        <p:nvSpPr>
          <p:cNvPr id="27" name="Text 0"/>
          <p:cNvSpPr/>
          <p:nvPr>
            <p:ph idx="101" type="body" hasCustomPrompt="1"/>
          </p:nvPr>
        </p:nvSpPr>
        <p:spPr>
          <a:xfrm>
            <a:off x="502920" y="5943600"/>
            <a:ext cx="11155680" cy="658368"/>
          </a:xfrm>
          <a:prstGeom prst="rect">
            <a:avLst/>
          </a:prstGeom>
          <a:noFill/>
          <a:ln/>
        </p:spPr>
        <p:txBody>
          <a:bodyPr wrap="square" rtlCol="0" anchor="t"/>
          <a:lstStyle/>
          <a:p>
            <a:pPr algn="l" indent="0" marL="0">
              <a:buNone/>
            </a:pPr>
            <a:r>
              <a:rPr lang="en-US" sz="1500" b="1" dirty="0">
                <a:solidFill>
                  <a:srgbClr val="C2551C"/>
                </a:solidFill>
              </a:rPr>
              <a:t>Takeaway   </a:t>
            </a:r>
            <a:pPr algn="l" indent="0" marL="0">
              <a:buNone/>
            </a:pPr>
            <a:r>
              <a:rPr lang="en-US" sz="1500" dirty="0">
                <a:solidFill>
                  <a:srgbClr val="111111"/>
                </a:solidFill>
              </a:rPr>
              <a:t>Stable sites peak highest at the core; Age Up, Exercise Down and Dynamic carry more of their dependence out in the flanks — Age Down simply has less of everything</a:t>
            </a:r>
            <a:endParaRPr lang="en-US" sz="1500" dirty="0"/>
          </a:p>
        </p:txBody>
      </p:sp>
      <p:sp>
        <p:nvSpPr>
          <p:cNvPr id="25" name="Slide Number Placeholder 0"/>
          <p:cNvSpPr>
            <a:spLocks noGrp="1"/>
          </p:cNvSpPr>
          <p:nvPr>
            <p:ph type="sldNum" sz="quarter" idx="4294967295"/>
          </p:nvPr>
        </p:nvSpPr>
        <p:spPr>
          <a:xfrm>
            <a:off x="116586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A6A6A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02920" y="301752"/>
            <a:ext cx="11155680" cy="685800"/>
          </a:xfrm>
          <a:prstGeom prst="rect">
            <a:avLst/>
          </a:prstGeom>
          <a:noFill/>
          <a:ln/>
        </p:spPr>
        <p:txBody>
          <a:bodyPr wrap="square" rtlCol="0" anchor="ctr"/>
          <a:lstStyle/>
          <a:p>
            <a:pPr algn="l" indent="0" marL="0">
              <a:buNone/>
            </a:pPr>
            <a:r>
              <a:rPr lang="en-US" sz="2800" b="1" dirty="0">
                <a:solidFill>
                  <a:schemeClr val="tx1"/>
                </a:solidFill>
              </a:rPr>
              <a:t>Position is a dial, and a moved motif never replaces the original</a:t>
            </a:r>
            <a:endParaRPr lang="en-US" sz="2800" dirty="0"/>
          </a:p>
        </p:txBody>
      </p:sp>
      <p:sp>
        <p:nvSpPr>
          <p:cNvPr id="3" name="copy-title"/>
          <p:cNvSpPr txBox="1"/>
          <p:nvPr/>
        </p:nvSpPr>
        <p:spPr>
          <a:xfrm>
            <a:off x="502920" y="1024128"/>
            <a:ext cx="2834640" cy="274320"/>
          </a:xfrm>
          <a:prstGeom prst="rect">
            <a:avLst/>
          </a:prstGeom>
          <a:noFill/>
          <a:ln/>
        </p:spPr>
        <p:txBody>
          <a:bodyPr wrap="square" lIns="0" tIns="0" rIns="0" bIns="0" rtlCol="0" anchor="ctr"/>
          <a:lstStyle/>
          <a:p>
            <a:pPr indent="0" marL="0">
              <a:buNone/>
            </a:pPr>
            <a:r>
              <a:rPr lang="en-US" sz="1250" b="1" dirty="0">
                <a:solidFill>
                  <a:srgbClr val="111111"/>
                </a:solidFill>
              </a:rPr>
              <a:t>Where the added copy works best</a:t>
            </a:r>
            <a:endParaRPr lang="en-US" sz="1250" dirty="0"/>
          </a:p>
        </p:txBody>
      </p:sp>
      <p:pic>
        <p:nvPicPr>
          <p:cNvPr id="4" name="Image 0" descr="/Users/z5162865/WongLab/AlphaGenome_Ap1/Analysis/slide_figures/panels/d_addcopy.png">    </p:cNvPr>
          <p:cNvPicPr>
            <a:picLocks noChangeAspect="1"/>
          </p:cNvPicPr>
          <p:nvPr/>
        </p:nvPicPr>
        <p:blipFill>
          <a:blip r:embed="rId1"/>
          <a:stretch>
            <a:fillRect/>
          </a:stretch>
        </p:blipFill>
        <p:spPr>
          <a:xfrm>
            <a:off x="709758" y="1325880"/>
            <a:ext cx="2420965" cy="1783080"/>
          </a:xfrm>
          <a:prstGeom prst="rect">
            <a:avLst/>
          </a:prstGeom>
        </p:spPr>
      </p:pic>
      <p:sp>
        <p:nvSpPr>
          <p:cNvPr id="5" name="move-title"/>
          <p:cNvSpPr txBox="1"/>
          <p:nvPr/>
        </p:nvSpPr>
        <p:spPr>
          <a:xfrm>
            <a:off x="502920" y="3218688"/>
            <a:ext cx="2834640" cy="274320"/>
          </a:xfrm>
          <a:prstGeom prst="rect">
            <a:avLst/>
          </a:prstGeom>
          <a:noFill/>
          <a:ln/>
        </p:spPr>
        <p:txBody>
          <a:bodyPr wrap="square" lIns="0" tIns="0" rIns="0" bIns="0" rtlCol="0" anchor="ctr"/>
          <a:lstStyle/>
          <a:p>
            <a:pPr indent="0" marL="0">
              <a:buNone/>
            </a:pPr>
            <a:r>
              <a:rPr lang="en-US" sz="1250" b="1" dirty="0">
                <a:solidFill>
                  <a:srgbClr val="111111"/>
                </a:solidFill>
              </a:rPr>
              <a:t>...and where it lands when moved</a:t>
            </a:r>
            <a:endParaRPr lang="en-US" sz="1250" dirty="0"/>
          </a:p>
        </p:txBody>
      </p:sp>
      <p:pic>
        <p:nvPicPr>
          <p:cNvPr id="6" name="Image 1" descr="/Users/z5162865/WongLab/AlphaGenome_Ap1/Analysis/slide_figures/panels/d_relocate.png">    </p:cNvPr>
          <p:cNvPicPr>
            <a:picLocks noChangeAspect="1"/>
          </p:cNvPicPr>
          <p:nvPr/>
        </p:nvPicPr>
        <p:blipFill>
          <a:blip r:embed="rId2"/>
          <a:stretch>
            <a:fillRect/>
          </a:stretch>
        </p:blipFill>
        <p:spPr>
          <a:xfrm>
            <a:off x="662666" y="3520440"/>
            <a:ext cx="2515149" cy="1783080"/>
          </a:xfrm>
          <a:prstGeom prst="rect">
            <a:avLst/>
          </a:prstGeom>
        </p:spPr>
      </p:pic>
      <p:sp>
        <p:nvSpPr>
          <p:cNvPr id="7" name="curve-caption"/>
          <p:cNvSpPr txBox="1"/>
          <p:nvPr/>
        </p:nvSpPr>
        <p:spPr>
          <a:xfrm>
            <a:off x="502920" y="5349240"/>
            <a:ext cx="2926080" cy="457200"/>
          </a:xfrm>
          <a:prstGeom prst="rect">
            <a:avLst/>
          </a:prstGeom>
          <a:noFill/>
          <a:ln/>
        </p:spPr>
        <p:txBody>
          <a:bodyPr wrap="square" lIns="0" tIns="0" rIns="0" bIns="0" rtlCol="0" anchor="ctr"/>
          <a:lstStyle/>
          <a:p>
            <a:pPr indent="0" marL="0">
              <a:buNone/>
            </a:pPr>
            <a:r>
              <a:rPr lang="en-US" sz="950" dirty="0">
                <a:solidFill>
                  <a:srgbClr val="595959"/>
                </a:solidFill>
              </a:rPr>
              <a:t>both curves drawn once per class; colours as in the legend</a:t>
            </a:r>
            <a:endParaRPr lang="en-US" sz="950" dirty="0"/>
          </a:p>
        </p:txBody>
      </p:sp>
      <p:sp>
        <p:nvSpPr>
          <p:cNvPr id="8" name="s4_titration-title-0"/>
          <p:cNvSpPr txBox="1"/>
          <p:nvPr/>
        </p:nvSpPr>
        <p:spPr>
          <a:xfrm>
            <a:off x="4041648" y="1143000"/>
            <a:ext cx="3735324" cy="438912"/>
          </a:xfrm>
          <a:prstGeom prst="rect">
            <a:avLst/>
          </a:prstGeom>
          <a:noFill/>
          <a:ln/>
        </p:spPr>
        <p:txBody>
          <a:bodyPr wrap="square" lIns="0" tIns="0" rIns="0" bIns="0" rtlCol="0" anchor="t"/>
          <a:lstStyle/>
          <a:p>
            <a:pPr indent="0" marL="0">
              <a:buNone/>
            </a:pPr>
            <a:r>
              <a:rPr lang="en-US" sz="1250" b="1" dirty="0">
                <a:solidFill>
                  <a:srgbClr val="111111"/>
                </a:solidFill>
              </a:rPr>
              <a:t>A second copy added</a:t>
            </a:r>
            <a:endParaRPr lang="en-US" sz="1250" dirty="0"/>
          </a:p>
        </p:txBody>
      </p:sp>
      <p:sp>
        <p:nvSpPr>
          <p:cNvPr id="9" name="s4_titration-sub-0"/>
          <p:cNvSpPr txBox="1"/>
          <p:nvPr/>
        </p:nvSpPr>
        <p:spPr>
          <a:xfrm>
            <a:off x="4041648" y="1572768"/>
            <a:ext cx="3735324" cy="310896"/>
          </a:xfrm>
          <a:prstGeom prst="rect">
            <a:avLst/>
          </a:prstGeom>
          <a:noFill/>
          <a:ln/>
        </p:spPr>
        <p:txBody>
          <a:bodyPr wrap="square" lIns="0" tIns="0" rIns="0" bIns="0" rtlCol="0" anchor="t"/>
          <a:lstStyle/>
          <a:p>
            <a:pPr indent="0" marL="0">
              <a:buNone/>
            </a:pPr>
            <a:r>
              <a:rPr lang="en-US" sz="950" dirty="0">
                <a:solidFill>
                  <a:srgbClr val="595959"/>
                </a:solidFill>
              </a:rPr>
              <a:t>net of a shuffled-sequence control</a:t>
            </a:r>
            <a:endParaRPr lang="en-US" sz="950" dirty="0"/>
          </a:p>
        </p:txBody>
      </p:sp>
      <p:pic>
        <p:nvPicPr>
          <p:cNvPr id="10" name="Image 2" descr="/Users/z5162865/WongLab/AlphaGenome_Ap1/Analysis/slide_figures/panels/s4_titration_c0_r0.png">    </p:cNvPr>
          <p:cNvPicPr>
            <a:picLocks noChangeAspect="1"/>
          </p:cNvPicPr>
          <p:nvPr/>
        </p:nvPicPr>
        <p:blipFill>
          <a:blip r:embed="rId3"/>
          <a:stretch>
            <a:fillRect/>
          </a:stretch>
        </p:blipFill>
        <p:spPr>
          <a:xfrm>
            <a:off x="4360316" y="1892808"/>
            <a:ext cx="3097987" cy="2816352"/>
          </a:xfrm>
          <a:prstGeom prst="rect">
            <a:avLst/>
          </a:prstGeom>
        </p:spPr>
      </p:pic>
      <p:sp>
        <p:nvSpPr>
          <p:cNvPr id="11" name="s4_titration-title-1"/>
          <p:cNvSpPr txBox="1"/>
          <p:nvPr/>
        </p:nvSpPr>
        <p:spPr>
          <a:xfrm>
            <a:off x="7850124" y="1143000"/>
            <a:ext cx="3735324" cy="438912"/>
          </a:xfrm>
          <a:prstGeom prst="rect">
            <a:avLst/>
          </a:prstGeom>
          <a:noFill/>
          <a:ln/>
        </p:spPr>
        <p:txBody>
          <a:bodyPr wrap="square" lIns="0" tIns="0" rIns="0" bIns="0" rtlCol="0" anchor="t"/>
          <a:lstStyle/>
          <a:p>
            <a:pPr indent="0" marL="0">
              <a:buNone/>
            </a:pPr>
            <a:r>
              <a:rPr lang="en-US" sz="1250" b="1" dirty="0">
                <a:solidFill>
                  <a:srgbClr val="111111"/>
                </a:solidFill>
              </a:rPr>
              <a:t>The motif moved elsewhere</a:t>
            </a:r>
            <a:endParaRPr lang="en-US" sz="1250" dirty="0"/>
          </a:p>
        </p:txBody>
      </p:sp>
      <p:sp>
        <p:nvSpPr>
          <p:cNvPr id="12" name="s4_titration-sub-1"/>
          <p:cNvSpPr txBox="1"/>
          <p:nvPr/>
        </p:nvSpPr>
        <p:spPr>
          <a:xfrm>
            <a:off x="7850124" y="1572768"/>
            <a:ext cx="3735324" cy="310896"/>
          </a:xfrm>
          <a:prstGeom prst="rect">
            <a:avLst/>
          </a:prstGeom>
          <a:noFill/>
          <a:ln/>
        </p:spPr>
        <p:txBody>
          <a:bodyPr wrap="square" lIns="0" tIns="0" rIns="0" bIns="0" rtlCol="0" anchor="t"/>
          <a:lstStyle/>
          <a:p>
            <a:pPr indent="0" marL="0">
              <a:buNone/>
            </a:pPr>
            <a:r>
              <a:rPr lang="en-US" sz="950" dirty="0">
                <a:solidFill>
                  <a:srgbClr val="595959"/>
                </a:solidFill>
              </a:rPr>
              <a:t>the motif destroyed and re-inserted, net of the same control</a:t>
            </a:r>
            <a:endParaRPr lang="en-US" sz="950" dirty="0"/>
          </a:p>
        </p:txBody>
      </p:sp>
      <p:pic>
        <p:nvPicPr>
          <p:cNvPr id="13" name="Image 3" descr="/Users/z5162865/WongLab/AlphaGenome_Ap1/Analysis/slide_figures/panels/s4_titration_c1_r0.png">    </p:cNvPr>
          <p:cNvPicPr>
            <a:picLocks noChangeAspect="1"/>
          </p:cNvPicPr>
          <p:nvPr/>
        </p:nvPicPr>
        <p:blipFill>
          <a:blip r:embed="rId4"/>
          <a:stretch>
            <a:fillRect/>
          </a:stretch>
        </p:blipFill>
        <p:spPr>
          <a:xfrm>
            <a:off x="8168792" y="1892808"/>
            <a:ext cx="3097987" cy="2816352"/>
          </a:xfrm>
          <a:prstGeom prst="rect">
            <a:avLst/>
          </a:prstGeom>
        </p:spPr>
      </p:pic>
      <p:sp>
        <p:nvSpPr>
          <p:cNvPr id="14" name="s4_titration-dot-0"/>
          <p:cNvSpPr/>
          <p:nvPr/>
        </p:nvSpPr>
        <p:spPr>
          <a:xfrm>
            <a:off x="3931920" y="4914900"/>
            <a:ext cx="109728" cy="109728"/>
          </a:xfrm>
          <a:prstGeom prst="ellipse">
            <a:avLst/>
          </a:prstGeom>
          <a:solidFill>
            <a:srgbClr val="4F4F4F"/>
          </a:solidFill>
          <a:ln w="12700">
            <a:solidFill>
              <a:srgbClr val="4F4F4F"/>
            </a:solidFill>
            <a:prstDash val="solid"/>
          </a:ln>
        </p:spPr>
      </p:sp>
      <p:sp>
        <p:nvSpPr>
          <p:cNvPr id="15" name="s4_titration-leg-0"/>
          <p:cNvSpPr txBox="1"/>
          <p:nvPr/>
        </p:nvSpPr>
        <p:spPr>
          <a:xfrm>
            <a:off x="4087368" y="4873752"/>
            <a:ext cx="1057046" cy="201168"/>
          </a:xfrm>
          <a:prstGeom prst="rect">
            <a:avLst/>
          </a:prstGeom>
          <a:noFill/>
          <a:ln/>
        </p:spPr>
        <p:txBody>
          <a:bodyPr wrap="square" lIns="0" tIns="0" rIns="0" bIns="0" rtlCol="0" anchor="ctr"/>
          <a:lstStyle/>
          <a:p>
            <a:pPr indent="0" marL="0">
              <a:buNone/>
            </a:pPr>
            <a:r>
              <a:rPr lang="en-US" sz="1050" dirty="0">
                <a:solidFill>
                  <a:srgbClr val="111111"/>
                </a:solidFill>
              </a:rPr>
              <a:t>Dynamic (all)</a:t>
            </a:r>
            <a:endParaRPr lang="en-US" sz="1050" dirty="0"/>
          </a:p>
        </p:txBody>
      </p:sp>
      <p:sp>
        <p:nvSpPr>
          <p:cNvPr id="16" name="s4_titration-dot-1"/>
          <p:cNvSpPr/>
          <p:nvPr/>
        </p:nvSpPr>
        <p:spPr>
          <a:xfrm>
            <a:off x="5254142" y="4914900"/>
            <a:ext cx="109728" cy="109728"/>
          </a:xfrm>
          <a:prstGeom prst="ellipse">
            <a:avLst/>
          </a:prstGeom>
          <a:solidFill>
            <a:srgbClr val="C2551C"/>
          </a:solidFill>
          <a:ln w="12700">
            <a:solidFill>
              <a:srgbClr val="C2551C"/>
            </a:solidFill>
            <a:prstDash val="solid"/>
          </a:ln>
        </p:spPr>
      </p:sp>
      <p:sp>
        <p:nvSpPr>
          <p:cNvPr id="17" name="s4_titration-leg-1"/>
          <p:cNvSpPr txBox="1"/>
          <p:nvPr/>
        </p:nvSpPr>
        <p:spPr>
          <a:xfrm>
            <a:off x="5409590" y="4873752"/>
            <a:ext cx="596189" cy="201168"/>
          </a:xfrm>
          <a:prstGeom prst="rect">
            <a:avLst/>
          </a:prstGeom>
          <a:noFill/>
          <a:ln/>
        </p:spPr>
        <p:txBody>
          <a:bodyPr wrap="square" lIns="0" tIns="0" rIns="0" bIns="0" rtlCol="0" anchor="ctr"/>
          <a:lstStyle/>
          <a:p>
            <a:pPr indent="0" marL="0">
              <a:buNone/>
            </a:pPr>
            <a:r>
              <a:rPr lang="en-US" sz="1050" dirty="0">
                <a:solidFill>
                  <a:srgbClr val="111111"/>
                </a:solidFill>
              </a:rPr>
              <a:t>Age Up</a:t>
            </a:r>
            <a:endParaRPr lang="en-US" sz="1050" dirty="0"/>
          </a:p>
        </p:txBody>
      </p:sp>
      <p:sp>
        <p:nvSpPr>
          <p:cNvPr id="18" name="s4_titration-dot-2"/>
          <p:cNvSpPr/>
          <p:nvPr/>
        </p:nvSpPr>
        <p:spPr>
          <a:xfrm>
            <a:off x="6115507" y="4914900"/>
            <a:ext cx="109728" cy="109728"/>
          </a:xfrm>
          <a:prstGeom prst="ellipse">
            <a:avLst/>
          </a:prstGeom>
          <a:solidFill>
            <a:srgbClr val="1F6FB2"/>
          </a:solidFill>
          <a:ln w="12700">
            <a:solidFill>
              <a:srgbClr val="1F6FB2"/>
            </a:solidFill>
            <a:prstDash val="solid"/>
          </a:ln>
        </p:spPr>
      </p:sp>
      <p:sp>
        <p:nvSpPr>
          <p:cNvPr id="19" name="s4_titration-leg-2"/>
          <p:cNvSpPr txBox="1"/>
          <p:nvPr/>
        </p:nvSpPr>
        <p:spPr>
          <a:xfrm>
            <a:off x="6270955" y="4873752"/>
            <a:ext cx="727862" cy="201168"/>
          </a:xfrm>
          <a:prstGeom prst="rect">
            <a:avLst/>
          </a:prstGeom>
          <a:noFill/>
          <a:ln/>
        </p:spPr>
        <p:txBody>
          <a:bodyPr wrap="square" lIns="0" tIns="0" rIns="0" bIns="0" rtlCol="0" anchor="ctr"/>
          <a:lstStyle/>
          <a:p>
            <a:pPr indent="0" marL="0">
              <a:buNone/>
            </a:pPr>
            <a:r>
              <a:rPr lang="en-US" sz="1050" dirty="0">
                <a:solidFill>
                  <a:srgbClr val="111111"/>
                </a:solidFill>
              </a:rPr>
              <a:t>Age Down</a:t>
            </a:r>
            <a:endParaRPr lang="en-US" sz="1050" dirty="0"/>
          </a:p>
        </p:txBody>
      </p:sp>
      <p:sp>
        <p:nvSpPr>
          <p:cNvPr id="20" name="s4_titration-dot-3"/>
          <p:cNvSpPr/>
          <p:nvPr/>
        </p:nvSpPr>
        <p:spPr>
          <a:xfrm>
            <a:off x="7108546" y="4914900"/>
            <a:ext cx="109728" cy="109728"/>
          </a:xfrm>
          <a:prstGeom prst="ellipse">
            <a:avLst/>
          </a:prstGeom>
          <a:solidFill>
            <a:srgbClr val="2E7D32"/>
          </a:solidFill>
          <a:ln w="12700">
            <a:solidFill>
              <a:srgbClr val="2E7D32"/>
            </a:solidFill>
            <a:prstDash val="solid"/>
          </a:ln>
        </p:spPr>
      </p:sp>
      <p:sp>
        <p:nvSpPr>
          <p:cNvPr id="21" name="s4_titration-leg-3"/>
          <p:cNvSpPr txBox="1"/>
          <p:nvPr/>
        </p:nvSpPr>
        <p:spPr>
          <a:xfrm>
            <a:off x="7263994" y="4873752"/>
            <a:ext cx="925373" cy="201168"/>
          </a:xfrm>
          <a:prstGeom prst="rect">
            <a:avLst/>
          </a:prstGeom>
          <a:noFill/>
          <a:ln/>
        </p:spPr>
        <p:txBody>
          <a:bodyPr wrap="square" lIns="0" tIns="0" rIns="0" bIns="0" rtlCol="0" anchor="ctr"/>
          <a:lstStyle/>
          <a:p>
            <a:pPr indent="0" marL="0">
              <a:buNone/>
            </a:pPr>
            <a:r>
              <a:rPr lang="en-US" sz="1050" dirty="0">
                <a:solidFill>
                  <a:srgbClr val="111111"/>
                </a:solidFill>
              </a:rPr>
              <a:t>Exercise Up</a:t>
            </a:r>
            <a:endParaRPr lang="en-US" sz="1050" dirty="0"/>
          </a:p>
        </p:txBody>
      </p:sp>
      <p:sp>
        <p:nvSpPr>
          <p:cNvPr id="22" name="s4_titration-dot-4"/>
          <p:cNvSpPr/>
          <p:nvPr/>
        </p:nvSpPr>
        <p:spPr>
          <a:xfrm>
            <a:off x="8299094" y="4914900"/>
            <a:ext cx="109728" cy="109728"/>
          </a:xfrm>
          <a:prstGeom prst="ellipse">
            <a:avLst/>
          </a:prstGeom>
          <a:solidFill>
            <a:srgbClr val="7B3FA0"/>
          </a:solidFill>
          <a:ln w="12700">
            <a:solidFill>
              <a:srgbClr val="7B3FA0"/>
            </a:solidFill>
            <a:prstDash val="solid"/>
          </a:ln>
        </p:spPr>
      </p:sp>
      <p:sp>
        <p:nvSpPr>
          <p:cNvPr id="23" name="s4_titration-leg-4"/>
          <p:cNvSpPr txBox="1"/>
          <p:nvPr/>
        </p:nvSpPr>
        <p:spPr>
          <a:xfrm>
            <a:off x="8454542" y="4873752"/>
            <a:ext cx="1057046" cy="201168"/>
          </a:xfrm>
          <a:prstGeom prst="rect">
            <a:avLst/>
          </a:prstGeom>
          <a:noFill/>
          <a:ln/>
        </p:spPr>
        <p:txBody>
          <a:bodyPr wrap="square" lIns="0" tIns="0" rIns="0" bIns="0" rtlCol="0" anchor="ctr"/>
          <a:lstStyle/>
          <a:p>
            <a:pPr indent="0" marL="0">
              <a:buNone/>
            </a:pPr>
            <a:r>
              <a:rPr lang="en-US" sz="1050" dirty="0">
                <a:solidFill>
                  <a:srgbClr val="111111"/>
                </a:solidFill>
              </a:rPr>
              <a:t>Exercise Down</a:t>
            </a:r>
            <a:endParaRPr lang="en-US" sz="1050" dirty="0"/>
          </a:p>
        </p:txBody>
      </p:sp>
      <p:sp>
        <p:nvSpPr>
          <p:cNvPr id="24" name="s4_titration-dot-5"/>
          <p:cNvSpPr/>
          <p:nvPr/>
        </p:nvSpPr>
        <p:spPr>
          <a:xfrm>
            <a:off x="9621317" y="4914900"/>
            <a:ext cx="109728" cy="109728"/>
          </a:xfrm>
          <a:prstGeom prst="ellipse">
            <a:avLst/>
          </a:prstGeom>
          <a:solidFill>
            <a:srgbClr val="B3B2AE"/>
          </a:solidFill>
          <a:ln w="12700">
            <a:solidFill>
              <a:srgbClr val="B3B2AE"/>
            </a:solidFill>
            <a:prstDash val="solid"/>
          </a:ln>
        </p:spPr>
      </p:sp>
      <p:sp>
        <p:nvSpPr>
          <p:cNvPr id="25" name="s4_titration-leg-5"/>
          <p:cNvSpPr txBox="1"/>
          <p:nvPr/>
        </p:nvSpPr>
        <p:spPr>
          <a:xfrm>
            <a:off x="9776765" y="4873752"/>
            <a:ext cx="1781251" cy="201168"/>
          </a:xfrm>
          <a:prstGeom prst="rect">
            <a:avLst/>
          </a:prstGeom>
          <a:noFill/>
          <a:ln/>
        </p:spPr>
        <p:txBody>
          <a:bodyPr wrap="square" lIns="0" tIns="0" rIns="0" bIns="0" rtlCol="0" anchor="ctr"/>
          <a:lstStyle/>
          <a:p>
            <a:pPr indent="0" marL="0">
              <a:buNone/>
            </a:pPr>
            <a:r>
              <a:rPr lang="en-US" sz="1050" dirty="0">
                <a:solidFill>
                  <a:srgbClr val="111111"/>
                </a:solidFill>
              </a:rPr>
              <a:t>Stable (all 2,907 sites)</a:t>
            </a:r>
            <a:endParaRPr lang="en-US" sz="1050" dirty="0"/>
          </a:p>
        </p:txBody>
      </p:sp>
      <p:sp>
        <p:nvSpPr>
          <p:cNvPr id="26" name="s4_titration-key"/>
          <p:cNvSpPr txBox="1"/>
          <p:nvPr/>
        </p:nvSpPr>
        <p:spPr>
          <a:xfrm>
            <a:off x="3931920" y="5148072"/>
            <a:ext cx="7726680" cy="502920"/>
          </a:xfrm>
          <a:prstGeom prst="rect">
            <a:avLst/>
          </a:prstGeom>
          <a:noFill/>
          <a:ln/>
        </p:spPr>
        <p:txBody>
          <a:bodyPr wrap="square" lIns="0" tIns="0" rIns="0" bIns="0" rtlCol="0" anchor="ctr"/>
          <a:lstStyle/>
          <a:p>
            <a:pPr indent="0" marL="0">
              <a:buNone/>
            </a:pPr>
            <a:r>
              <a:rPr lang="en-US" sz="900" dirty="0">
                <a:solidFill>
                  <a:srgbClr val="595959"/>
                </a:solidFill>
              </a:rPr>
              <a:t>grey line and band: all 2,907 Stable sites, median with a 95% bootstrap CI.   Each class is every site carrying that call, tested against that reference by Mann–Whitney, BH across all 10 tests on this figure.   *** p&lt;0.001   ** p&lt;0.01   * p&lt;0.05   ns ≥ 0.05</a:t>
            </a:r>
            <a:endParaRPr lang="en-US" sz="900" dirty="0"/>
          </a:p>
        </p:txBody>
      </p:sp>
      <p:sp>
        <p:nvSpPr>
          <p:cNvPr id="27" name="Text 0"/>
          <p:cNvSpPr/>
          <p:nvPr>
            <p:ph idx="101" type="body" hasCustomPrompt="1"/>
          </p:nvPr>
        </p:nvSpPr>
        <p:spPr>
          <a:xfrm>
            <a:off x="502920" y="5943600"/>
            <a:ext cx="11155680" cy="658368"/>
          </a:xfrm>
          <a:prstGeom prst="rect">
            <a:avLst/>
          </a:prstGeom>
          <a:noFill/>
          <a:ln/>
        </p:spPr>
        <p:txBody>
          <a:bodyPr wrap="square" rtlCol="0" anchor="t"/>
          <a:lstStyle/>
          <a:p>
            <a:pPr algn="l" indent="0" marL="0">
              <a:buNone/>
            </a:pPr>
            <a:r>
              <a:rPr lang="en-US" sz="1500" b="1" dirty="0">
                <a:solidFill>
                  <a:srgbClr val="C2551C"/>
                </a:solidFill>
              </a:rPr>
              <a:t>Takeaway   </a:t>
            </a:r>
            <a:pPr algn="l" indent="0" marL="0">
              <a:buNone/>
            </a:pPr>
            <a:r>
              <a:rPr lang="en-US" sz="1500" dirty="0">
                <a:solidFill>
                  <a:srgbClr val="111111"/>
                </a:solidFill>
              </a:rPr>
              <a:t>a second copy is worth most at ±20–40 bp and a moved motif recovers only a third of what destroying it cost</a:t>
            </a:r>
            <a:endParaRPr lang="en-US" sz="1500" dirty="0"/>
          </a:p>
        </p:txBody>
      </p:sp>
      <p:sp>
        <p:nvSpPr>
          <p:cNvPr id="25" name="Slide Number Placeholder 0"/>
          <p:cNvSpPr>
            <a:spLocks noGrp="1"/>
          </p:cNvSpPr>
          <p:nvPr>
            <p:ph type="sldNum" sz="quarter" idx="4294967295"/>
          </p:nvPr>
        </p:nvSpPr>
        <p:spPr>
          <a:xfrm>
            <a:off x="116586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A6A6A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02920" y="301752"/>
            <a:ext cx="11155680" cy="685800"/>
          </a:xfrm>
          <a:prstGeom prst="rect">
            <a:avLst/>
          </a:prstGeom>
          <a:noFill/>
          <a:ln/>
        </p:spPr>
        <p:txBody>
          <a:bodyPr wrap="square" rtlCol="0" anchor="ctr"/>
          <a:lstStyle/>
          <a:p>
            <a:pPr algn="l" indent="0" marL="0">
              <a:buNone/>
            </a:pPr>
            <a:r>
              <a:rPr lang="en-US" sz="2800" b="1" dirty="0">
                <a:solidFill>
                  <a:schemeClr val="tx1"/>
                </a:solidFill>
              </a:rPr>
              <a:t>Age-gained sites read AP-1 dosage more sharply</a:t>
            </a:r>
            <a:endParaRPr lang="en-US" sz="2800" dirty="0"/>
          </a:p>
        </p:txBody>
      </p:sp>
      <p:sp>
        <p:nvSpPr>
          <p:cNvPr id="3" name="ag-t1"/>
          <p:cNvSpPr txBox="1"/>
          <p:nvPr/>
        </p:nvSpPr>
        <p:spPr>
          <a:xfrm>
            <a:off x="731520" y="1051560"/>
            <a:ext cx="7315200" cy="292608"/>
          </a:xfrm>
          <a:prstGeom prst="rect">
            <a:avLst/>
          </a:prstGeom>
          <a:noFill/>
          <a:ln/>
        </p:spPr>
        <p:txBody>
          <a:bodyPr wrap="square" lIns="0" tIns="0" rIns="0" bIns="0" rtlCol="0" anchor="ctr"/>
          <a:lstStyle/>
          <a:p>
            <a:pPr indent="0" marL="0">
              <a:buNone/>
            </a:pPr>
            <a:r>
              <a:rPr lang="en-US" sz="1350" b="1" dirty="0">
                <a:solidFill>
                  <a:srgbClr val="111111"/>
                </a:solidFill>
              </a:rPr>
              <a:t>Age-gained sites respond more to AP-1 dosage, both ways</a:t>
            </a:r>
            <a:endParaRPr lang="en-US" sz="1350" dirty="0"/>
          </a:p>
        </p:txBody>
      </p:sp>
      <p:sp>
        <p:nvSpPr>
          <p:cNvPr id="4" name="ag-s1"/>
          <p:cNvSpPr txBox="1"/>
          <p:nvPr/>
        </p:nvSpPr>
        <p:spPr>
          <a:xfrm>
            <a:off x="731520" y="1344168"/>
            <a:ext cx="7315200" cy="292608"/>
          </a:xfrm>
          <a:prstGeom prst="rect">
            <a:avLst/>
          </a:prstGeom>
          <a:noFill/>
          <a:ln/>
        </p:spPr>
        <p:txBody>
          <a:bodyPr wrap="square" lIns="0" tIns="0" rIns="0" bIns="0" rtlCol="0" anchor="ctr"/>
          <a:lstStyle/>
          <a:p>
            <a:pPr indent="0" marL="0">
              <a:buNone/>
            </a:pPr>
            <a:r>
              <a:rPr lang="en-US" sz="1050" dirty="0">
                <a:solidFill>
                  <a:srgbClr val="595959"/>
                </a:solidFill>
              </a:rPr>
              <a:t>Δscore definition: the top fifth of the change in TOBIAS binding score with age, against matched Unchanged sites</a:t>
            </a:r>
            <a:endParaRPr lang="en-US" sz="1050" dirty="0"/>
          </a:p>
        </p:txBody>
      </p:sp>
      <p:pic>
        <p:nvPicPr>
          <p:cNvPr id="5" name="Image 0" descr="/Users/z5162865/WongLab/AlphaGenome_Ap1/Analysis/slide_figures/panels/s5_age_gained.png">    </p:cNvPr>
          <p:cNvPicPr>
            <a:picLocks noChangeAspect="1"/>
          </p:cNvPicPr>
          <p:nvPr/>
        </p:nvPicPr>
        <p:blipFill>
          <a:blip r:embed="rId1"/>
          <a:stretch>
            <a:fillRect/>
          </a:stretch>
        </p:blipFill>
        <p:spPr>
          <a:xfrm>
            <a:off x="1429175" y="1737360"/>
            <a:ext cx="5919890" cy="3017520"/>
          </a:xfrm>
          <a:prstGeom prst="rect">
            <a:avLst/>
          </a:prstGeom>
        </p:spPr>
      </p:pic>
      <p:sp>
        <p:nvSpPr>
          <p:cNvPr id="6" name="lg-dot-5.3-0"/>
          <p:cNvSpPr/>
          <p:nvPr/>
        </p:nvSpPr>
        <p:spPr>
          <a:xfrm>
            <a:off x="731520" y="4887468"/>
            <a:ext cx="109728" cy="109728"/>
          </a:xfrm>
          <a:prstGeom prst="ellipse">
            <a:avLst/>
          </a:prstGeom>
          <a:solidFill>
            <a:srgbClr val="B3B2AE"/>
          </a:solidFill>
          <a:ln w="12700">
            <a:solidFill>
              <a:srgbClr val="B3B2AE"/>
            </a:solidFill>
            <a:prstDash val="solid"/>
          </a:ln>
        </p:spPr>
      </p:sp>
      <p:sp>
        <p:nvSpPr>
          <p:cNvPr id="7" name="lg-txt-5.3-0"/>
          <p:cNvSpPr txBox="1"/>
          <p:nvPr/>
        </p:nvSpPr>
        <p:spPr>
          <a:xfrm>
            <a:off x="886968" y="4846320"/>
            <a:ext cx="1320394" cy="201168"/>
          </a:xfrm>
          <a:prstGeom prst="rect">
            <a:avLst/>
          </a:prstGeom>
          <a:noFill/>
          <a:ln/>
        </p:spPr>
        <p:txBody>
          <a:bodyPr wrap="square" lIns="0" tIns="0" rIns="0" bIns="0" rtlCol="0" anchor="ctr"/>
          <a:lstStyle/>
          <a:p>
            <a:pPr indent="0" marL="0">
              <a:buNone/>
            </a:pPr>
            <a:r>
              <a:rPr lang="en-US" sz="1050" dirty="0">
                <a:solidFill>
                  <a:srgbClr val="111111"/>
                </a:solidFill>
              </a:rPr>
              <a:t>Matched Unchanged</a:t>
            </a:r>
            <a:endParaRPr lang="en-US" sz="1050" dirty="0"/>
          </a:p>
        </p:txBody>
      </p:sp>
      <p:sp>
        <p:nvSpPr>
          <p:cNvPr id="8" name="lg-dot-5.3-1"/>
          <p:cNvSpPr/>
          <p:nvPr/>
        </p:nvSpPr>
        <p:spPr>
          <a:xfrm>
            <a:off x="2317090" y="4887468"/>
            <a:ext cx="109728" cy="109728"/>
          </a:xfrm>
          <a:prstGeom prst="ellipse">
            <a:avLst/>
          </a:prstGeom>
          <a:solidFill>
            <a:srgbClr val="C2551C"/>
          </a:solidFill>
          <a:ln w="12700">
            <a:solidFill>
              <a:srgbClr val="C2551C"/>
            </a:solidFill>
            <a:prstDash val="solid"/>
          </a:ln>
        </p:spPr>
      </p:sp>
      <p:sp>
        <p:nvSpPr>
          <p:cNvPr id="9" name="lg-txt-5.3-1"/>
          <p:cNvSpPr txBox="1"/>
          <p:nvPr/>
        </p:nvSpPr>
        <p:spPr>
          <a:xfrm>
            <a:off x="2472538" y="4846320"/>
            <a:ext cx="1452067" cy="201168"/>
          </a:xfrm>
          <a:prstGeom prst="rect">
            <a:avLst/>
          </a:prstGeom>
          <a:noFill/>
          <a:ln/>
        </p:spPr>
        <p:txBody>
          <a:bodyPr wrap="square" lIns="0" tIns="0" rIns="0" bIns="0" rtlCol="0" anchor="ctr"/>
          <a:lstStyle/>
          <a:p>
            <a:pPr indent="0" marL="0">
              <a:buNone/>
            </a:pPr>
            <a:r>
              <a:rPr lang="en-US" sz="1050" dirty="0">
                <a:solidFill>
                  <a:srgbClr val="111111"/>
                </a:solidFill>
              </a:rPr>
              <a:t>Age-gained (Δscore)</a:t>
            </a:r>
            <a:endParaRPr lang="en-US" sz="1050" dirty="0"/>
          </a:p>
        </p:txBody>
      </p:sp>
      <p:sp>
        <p:nvSpPr>
          <p:cNvPr id="10" name="massaction"/>
          <p:cNvSpPr txBox="1"/>
          <p:nvPr/>
        </p:nvSpPr>
        <p:spPr>
          <a:xfrm>
            <a:off x="502920" y="5029200"/>
            <a:ext cx="11155680" cy="914400"/>
          </a:xfrm>
          <a:prstGeom prst="rect">
            <a:avLst/>
          </a:prstGeom>
          <a:solidFill>
            <a:srgbClr val="F2F2F2"/>
          </a:solidFill>
          <a:ln/>
        </p:spPr>
        <p:txBody>
          <a:bodyPr wrap="square" lIns="152400" tIns="152400" rIns="152400" bIns="152400" rtlCol="0" anchor="ctr"/>
          <a:lstStyle/>
          <a:p>
            <a:pPr indent="0" marL="0">
              <a:buNone/>
            </a:pPr>
            <a:r>
              <a:rPr lang="en-US" sz="1700" b="1" dirty="0">
                <a:solidFill>
                  <a:srgbClr val="C2551C"/>
                </a:solidFill>
              </a:rPr>
              <a:t>Mass action   </a:t>
            </a:r>
            <a:pPr indent="0" marL="0">
              <a:buNone/>
            </a:pPr>
            <a:r>
              <a:rPr lang="en-US" sz="1500" dirty="0">
                <a:solidFill>
                  <a:srgbClr val="000000"/>
                </a:solidFill>
              </a:rPr>
              <a:t>if ageing raises AP-1 activity, occupancy rises first at the highest-affinity motifs — exactly the sites that gain. Losing binding is not the reverse: age-lost sites show no sequence signature at all.</a:t>
            </a:r>
            <a:endParaRPr lang="en-US" sz="1700" dirty="0"/>
          </a:p>
        </p:txBody>
      </p:sp>
      <p:sp>
        <p:nvSpPr>
          <p:cNvPr id="12" name="Text 0"/>
          <p:cNvSpPr/>
          <p:nvPr>
            <p:ph idx="101" type="body" hasCustomPrompt="1"/>
          </p:nvPr>
        </p:nvSpPr>
        <p:spPr>
          <a:xfrm>
            <a:off x="502920" y="5943600"/>
            <a:ext cx="11155680" cy="658368"/>
          </a:xfrm>
          <a:prstGeom prst="rect">
            <a:avLst/>
          </a:prstGeom>
          <a:noFill/>
          <a:ln/>
        </p:spPr>
        <p:txBody>
          <a:bodyPr wrap="square" rtlCol="0" anchor="t"/>
          <a:lstStyle/>
          <a:p>
            <a:pPr algn="l" indent="0" marL="0">
              <a:buNone/>
            </a:pPr>
            <a:endParaRPr lang="en-US" sz="1500" dirty="0"/>
          </a:p>
        </p:txBody>
      </p:sp>
      <p:sp>
        <p:nvSpPr>
          <p:cNvPr id="25" name="Slide Number Placeholder 0"/>
          <p:cNvSpPr>
            <a:spLocks noGrp="1"/>
          </p:cNvSpPr>
          <p:nvPr>
            <p:ph type="sldNum" sz="quarter" idx="4294967295"/>
          </p:nvPr>
        </p:nvSpPr>
        <p:spPr>
          <a:xfrm>
            <a:off x="116586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A6A6A6"/>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02920" y="301752"/>
            <a:ext cx="11155680" cy="685800"/>
          </a:xfrm>
          <a:prstGeom prst="rect">
            <a:avLst/>
          </a:prstGeom>
          <a:noFill/>
          <a:ln/>
        </p:spPr>
        <p:txBody>
          <a:bodyPr wrap="square" rtlCol="0" anchor="ctr"/>
          <a:lstStyle/>
          <a:p>
            <a:pPr algn="l" indent="0" marL="0">
              <a:buNone/>
            </a:pPr>
            <a:r>
              <a:rPr lang="en-US" sz="2800" b="1" dirty="0">
                <a:solidFill>
                  <a:schemeClr val="tx1"/>
                </a:solidFill>
              </a:rPr>
              <a:t>An independent reporter assay agrees</a:t>
            </a:r>
            <a:endParaRPr lang="en-US" sz="2800" dirty="0"/>
          </a:p>
        </p:txBody>
      </p:sp>
      <p:sp>
        <p:nvSpPr>
          <p:cNvPr id="3" name="mp-t1"/>
          <p:cNvSpPr txBox="1"/>
          <p:nvPr/>
        </p:nvSpPr>
        <p:spPr>
          <a:xfrm>
            <a:off x="731520" y="2331720"/>
            <a:ext cx="4937760" cy="274320"/>
          </a:xfrm>
          <a:prstGeom prst="rect">
            <a:avLst/>
          </a:prstGeom>
          <a:noFill/>
          <a:ln/>
        </p:spPr>
        <p:txBody>
          <a:bodyPr wrap="square" lIns="0" tIns="0" rIns="0" bIns="0" rtlCol="0" anchor="ctr"/>
          <a:lstStyle/>
          <a:p>
            <a:pPr indent="0" marL="0">
              <a:buNone/>
            </a:pPr>
            <a:r>
              <a:rPr lang="en-US" sz="1300" b="1" dirty="0">
                <a:solidFill>
                  <a:srgbClr val="111111"/>
                </a:solidFill>
              </a:rPr>
              <a:t>Same answer: the motif is a small part</a:t>
            </a:r>
            <a:endParaRPr lang="en-US" sz="1300" dirty="0"/>
          </a:p>
        </p:txBody>
      </p:sp>
      <p:pic>
        <p:nvPicPr>
          <p:cNvPr id="4" name="Image 0" descr="/Users/z5162865/WongLab/AlphaGenome_Ap1/Analysis/slide_figures/panels/s6_share.png">    </p:cNvPr>
          <p:cNvPicPr>
            <a:picLocks noChangeAspect="1"/>
          </p:cNvPicPr>
          <p:nvPr/>
        </p:nvPicPr>
        <p:blipFill>
          <a:blip r:embed="rId1"/>
          <a:stretch>
            <a:fillRect/>
          </a:stretch>
        </p:blipFill>
        <p:spPr>
          <a:xfrm>
            <a:off x="1352676" y="2651760"/>
            <a:ext cx="3695447" cy="2651760"/>
          </a:xfrm>
          <a:prstGeom prst="rect">
            <a:avLst/>
          </a:prstGeom>
        </p:spPr>
      </p:pic>
      <p:sp>
        <p:nvSpPr>
          <p:cNvPr id="5" name="mp-t2"/>
          <p:cNvSpPr txBox="1"/>
          <p:nvPr/>
        </p:nvSpPr>
        <p:spPr>
          <a:xfrm>
            <a:off x="6309360" y="2331720"/>
            <a:ext cx="5120640" cy="274320"/>
          </a:xfrm>
          <a:prstGeom prst="rect">
            <a:avLst/>
          </a:prstGeom>
          <a:noFill/>
          <a:ln/>
        </p:spPr>
        <p:txBody>
          <a:bodyPr wrap="square" lIns="0" tIns="0" rIns="0" bIns="0" rtlCol="0" anchor="ctr"/>
          <a:lstStyle/>
          <a:p>
            <a:pPr indent="0" marL="0">
              <a:buNone/>
            </a:pPr>
            <a:r>
              <a:rPr lang="en-US" sz="1300" b="1" dirty="0">
                <a:solidFill>
                  <a:srgbClr val="111111"/>
                </a:solidFill>
              </a:rPr>
              <a:t>But they disagree on which elements depend more</a:t>
            </a:r>
            <a:endParaRPr lang="en-US" sz="1300" dirty="0"/>
          </a:p>
        </p:txBody>
      </p:sp>
      <p:pic>
        <p:nvPicPr>
          <p:cNvPr id="6" name="Image 1" descr="/Users/z5162865/WongLab/AlphaGenome_Ap1/Analysis/slide_figures/panels/s6_direction.png">    </p:cNvPr>
          <p:cNvPicPr>
            <a:picLocks noChangeAspect="1"/>
          </p:cNvPicPr>
          <p:nvPr/>
        </p:nvPicPr>
        <p:blipFill>
          <a:blip r:embed="rId2"/>
          <a:stretch>
            <a:fillRect/>
          </a:stretch>
        </p:blipFill>
        <p:spPr>
          <a:xfrm>
            <a:off x="7044645" y="2651760"/>
            <a:ext cx="3650070" cy="2651760"/>
          </a:xfrm>
          <a:prstGeom prst="rect">
            <a:avLst/>
          </a:prstGeom>
        </p:spPr>
      </p:pic>
      <p:sp>
        <p:nvSpPr>
          <p:cNvPr id="7" name="mp-key"/>
          <p:cNvSpPr txBox="1"/>
          <p:nvPr/>
        </p:nvSpPr>
        <p:spPr>
          <a:xfrm>
            <a:off x="731520" y="5349240"/>
            <a:ext cx="10698480" cy="274320"/>
          </a:xfrm>
          <a:prstGeom prst="rect">
            <a:avLst/>
          </a:prstGeom>
          <a:noFill/>
          <a:ln/>
        </p:spPr>
        <p:txBody>
          <a:bodyPr wrap="square" lIns="0" tIns="0" rIns="0" bIns="0" rtlCol="0" anchor="ctr"/>
          <a:lstStyle/>
          <a:p>
            <a:pPr indent="0" marL="0">
              <a:buNone/>
            </a:pPr>
            <a:r>
              <a:rPr lang="en-US" sz="950" dirty="0">
                <a:solidFill>
                  <a:srgbClr val="595959"/>
                </a:solidFill>
              </a:rPr>
              <a:t>below 1×: responsive elements lose less than Stable ones   ·   above 1×: they lose more   ·   both p &lt; 0.001</a:t>
            </a:r>
            <a:endParaRPr lang="en-US" sz="950" dirty="0"/>
          </a:p>
        </p:txBody>
      </p:sp>
      <p:sp>
        <p:nvSpPr>
          <p:cNvPr id="8" name="stat-0"/>
          <p:cNvSpPr/>
          <p:nvPr/>
        </p:nvSpPr>
        <p:spPr>
          <a:xfrm>
            <a:off x="502920" y="1097280"/>
            <a:ext cx="5440680" cy="1051560"/>
          </a:xfrm>
          <a:prstGeom prst="roundRect">
            <a:avLst>
              <a:gd name="adj" fmla="val 5217"/>
            </a:avLst>
          </a:prstGeom>
          <a:solidFill>
            <a:srgbClr val="F2F2F2"/>
          </a:solidFill>
          <a:ln w="12700">
            <a:solidFill>
              <a:srgbClr val="E2E2E2"/>
            </a:solidFill>
            <a:prstDash val="solid"/>
          </a:ln>
        </p:spPr>
      </p:sp>
      <p:sp>
        <p:nvSpPr>
          <p:cNvPr id="9" name="Text 5"/>
          <p:cNvSpPr txBox="1"/>
          <p:nvPr/>
        </p:nvSpPr>
        <p:spPr>
          <a:xfrm>
            <a:off x="612648" y="1188720"/>
            <a:ext cx="5221224" cy="548640"/>
          </a:xfrm>
          <a:prstGeom prst="rect">
            <a:avLst/>
          </a:prstGeom>
          <a:noFill/>
          <a:ln/>
        </p:spPr>
        <p:txBody>
          <a:bodyPr wrap="square" lIns="0" tIns="0" rIns="0" bIns="0" rtlCol="0" anchor="ctr"/>
          <a:lstStyle/>
          <a:p>
            <a:pPr algn="ctr" indent="0" marL="0">
              <a:buNone/>
            </a:pPr>
            <a:r>
              <a:rPr lang="en-US" sz="3000" b="1" dirty="0">
                <a:solidFill>
                  <a:srgbClr val="1F6FB2"/>
                </a:solidFill>
              </a:rPr>
              <a:t>7.5%</a:t>
            </a:r>
            <a:endParaRPr lang="en-US" sz="3000" dirty="0"/>
          </a:p>
        </p:txBody>
      </p:sp>
      <p:sp>
        <p:nvSpPr>
          <p:cNvPr id="10" name="Text 6"/>
          <p:cNvSpPr txBox="1"/>
          <p:nvPr/>
        </p:nvSpPr>
        <p:spPr>
          <a:xfrm>
            <a:off x="612648" y="1755648"/>
            <a:ext cx="5221224" cy="320040"/>
          </a:xfrm>
          <a:prstGeom prst="rect">
            <a:avLst/>
          </a:prstGeom>
          <a:noFill/>
          <a:ln/>
        </p:spPr>
        <p:txBody>
          <a:bodyPr wrap="square" lIns="0" tIns="0" rIns="0" bIns="0" rtlCol="0" anchor="ctr"/>
          <a:lstStyle/>
          <a:p>
            <a:pPr algn="ctr" indent="0" marL="0">
              <a:buNone/>
            </a:pPr>
            <a:r>
              <a:rPr lang="en-US" sz="1200" dirty="0">
                <a:solidFill>
                  <a:srgbClr val="595959"/>
                </a:solidFill>
              </a:rPr>
              <a:t>AlphaGenome: the motif's share of local dependence</a:t>
            </a:r>
            <a:endParaRPr lang="en-US" sz="1200" dirty="0"/>
          </a:p>
        </p:txBody>
      </p:sp>
      <p:sp>
        <p:nvSpPr>
          <p:cNvPr id="11" name="stat-1"/>
          <p:cNvSpPr/>
          <p:nvPr/>
        </p:nvSpPr>
        <p:spPr>
          <a:xfrm>
            <a:off x="6217920" y="1097280"/>
            <a:ext cx="5440680" cy="1051560"/>
          </a:xfrm>
          <a:prstGeom prst="roundRect">
            <a:avLst>
              <a:gd name="adj" fmla="val 5217"/>
            </a:avLst>
          </a:prstGeom>
          <a:solidFill>
            <a:srgbClr val="F2F2F2"/>
          </a:solidFill>
          <a:ln w="12700">
            <a:solidFill>
              <a:srgbClr val="E2E2E2"/>
            </a:solidFill>
            <a:prstDash val="solid"/>
          </a:ln>
        </p:spPr>
      </p:sp>
      <p:sp>
        <p:nvSpPr>
          <p:cNvPr id="12" name="Text 8"/>
          <p:cNvSpPr txBox="1"/>
          <p:nvPr/>
        </p:nvSpPr>
        <p:spPr>
          <a:xfrm>
            <a:off x="6327648" y="1188720"/>
            <a:ext cx="5221224" cy="548640"/>
          </a:xfrm>
          <a:prstGeom prst="rect">
            <a:avLst/>
          </a:prstGeom>
          <a:noFill/>
          <a:ln/>
        </p:spPr>
        <p:txBody>
          <a:bodyPr wrap="square" lIns="0" tIns="0" rIns="0" bIns="0" rtlCol="0" anchor="ctr"/>
          <a:lstStyle/>
          <a:p>
            <a:pPr algn="ctr" indent="0" marL="0">
              <a:buNone/>
            </a:pPr>
            <a:r>
              <a:rPr lang="en-US" sz="3000" b="1" dirty="0">
                <a:solidFill>
                  <a:srgbClr val="C2551C"/>
                </a:solidFill>
              </a:rPr>
              <a:t>9.3%</a:t>
            </a:r>
            <a:endParaRPr lang="en-US" sz="3000" dirty="0"/>
          </a:p>
        </p:txBody>
      </p:sp>
      <p:sp>
        <p:nvSpPr>
          <p:cNvPr id="13" name="Text 9"/>
          <p:cNvSpPr txBox="1"/>
          <p:nvPr/>
        </p:nvSpPr>
        <p:spPr>
          <a:xfrm>
            <a:off x="6327648" y="1755648"/>
            <a:ext cx="5221224" cy="320040"/>
          </a:xfrm>
          <a:prstGeom prst="rect">
            <a:avLst/>
          </a:prstGeom>
          <a:noFill/>
          <a:ln/>
        </p:spPr>
        <p:txBody>
          <a:bodyPr wrap="square" lIns="0" tIns="0" rIns="0" bIns="0" rtlCol="0" anchor="ctr"/>
          <a:lstStyle/>
          <a:p>
            <a:pPr algn="ctr" indent="0" marL="0">
              <a:buNone/>
            </a:pPr>
            <a:r>
              <a:rPr lang="en-US" sz="1200" dirty="0">
                <a:solidFill>
                  <a:srgbClr val="595959"/>
                </a:solidFill>
              </a:rPr>
              <a:t>fibroblast MPRA: the same quantity, measured in the lab</a:t>
            </a:r>
            <a:endParaRPr lang="en-US" sz="1200" dirty="0"/>
          </a:p>
        </p:txBody>
      </p:sp>
      <p:sp>
        <p:nvSpPr>
          <p:cNvPr id="14" name="Text 0"/>
          <p:cNvSpPr/>
          <p:nvPr>
            <p:ph idx="101" type="body" hasCustomPrompt="1"/>
          </p:nvPr>
        </p:nvSpPr>
        <p:spPr>
          <a:xfrm>
            <a:off x="502920" y="5943600"/>
            <a:ext cx="11155680" cy="658368"/>
          </a:xfrm>
          <a:prstGeom prst="rect">
            <a:avLst/>
          </a:prstGeom>
          <a:noFill/>
          <a:ln/>
        </p:spPr>
        <p:txBody>
          <a:bodyPr wrap="square" rtlCol="0" anchor="t"/>
          <a:lstStyle/>
          <a:p>
            <a:pPr algn="l" indent="0" marL="0">
              <a:buNone/>
            </a:pPr>
            <a:r>
              <a:rPr lang="en-US" sz="1500" b="1" dirty="0">
                <a:solidFill>
                  <a:srgbClr val="C2551C"/>
                </a:solidFill>
              </a:rPr>
              <a:t>Takeaway   </a:t>
            </a:r>
            <a:pPr algn="l" indent="0" marL="0">
              <a:buNone/>
            </a:pPr>
            <a:r>
              <a:rPr lang="en-US" sz="1500" dirty="0">
                <a:solidFill>
                  <a:srgbClr val="111111"/>
                </a:solidFill>
              </a:rPr>
              <a:t>two assays, different cell types and readouts, both put the AP-1 motif under a tenth of its 170 bp surroundings</a:t>
            </a:r>
            <a:endParaRPr lang="en-US" sz="1500" dirty="0"/>
          </a:p>
        </p:txBody>
      </p:sp>
      <p:sp>
        <p:nvSpPr>
          <p:cNvPr id="25" name="Slide Number Placeholder 0"/>
          <p:cNvSpPr>
            <a:spLocks noGrp="1"/>
          </p:cNvSpPr>
          <p:nvPr>
            <p:ph type="sldNum" sz="quarter" idx="4294967295"/>
          </p:nvPr>
        </p:nvSpPr>
        <p:spPr>
          <a:xfrm>
            <a:off x="116586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A6A6A6"/>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02920" y="301752"/>
            <a:ext cx="11155680" cy="685800"/>
          </a:xfrm>
          <a:prstGeom prst="rect">
            <a:avLst/>
          </a:prstGeom>
          <a:noFill/>
          <a:ln/>
        </p:spPr>
        <p:txBody>
          <a:bodyPr wrap="square" rtlCol="0" anchor="ctr"/>
          <a:lstStyle/>
          <a:p>
            <a:pPr algn="l" indent="0" marL="0">
              <a:buNone/>
            </a:pPr>
            <a:r>
              <a:rPr lang="en-US" sz="2800" b="1" dirty="0">
                <a:solidFill>
                  <a:schemeClr val="tx1"/>
                </a:solidFill>
              </a:rPr>
              <a:t>What this changes</a:t>
            </a:r>
            <a:endParaRPr lang="en-US" sz="2800" dirty="0"/>
          </a:p>
        </p:txBody>
      </p:sp>
      <p:sp>
        <p:nvSpPr>
          <p:cNvPr id="3" name="Text 0"/>
          <p:cNvSpPr/>
          <p:nvPr>
            <p:ph idx="101" type="body" hasCustomPrompt="1"/>
          </p:nvPr>
        </p:nvSpPr>
        <p:spPr>
          <a:xfrm>
            <a:off x="502920" y="1234440"/>
            <a:ext cx="11155680" cy="5120640"/>
          </a:xfrm>
          <a:prstGeom prst="rect">
            <a:avLst/>
          </a:prstGeom>
          <a:noFill/>
          <a:ln/>
        </p:spPr>
        <p:txBody>
          <a:bodyPr wrap="square" rtlCol="0" anchor="t"/>
          <a:lstStyle/>
          <a:p>
            <a:pPr algn="l" indent="0" marL="0">
              <a:buNone/>
            </a:pPr>
            <a:r>
              <a:rPr lang="en-US" sz="1900" b="1" dirty="0">
                <a:solidFill>
                  <a:schemeClr val="tx1"/>
                </a:solidFill>
              </a:rPr>
              <a:t>A responsive AP-1 site is a marginal one, not a differently-built one</a:t>
            </a:r>
            <a:endParaRPr lang="en-US" sz="1700" dirty="0"/>
          </a:p>
          <a:p>
            <a:pPr algn="l" indent="0" marL="0">
              <a:spcAft>
                <a:spcPts val="1500"/>
              </a:spcAft>
              <a:buNone/>
            </a:pPr>
            <a:r>
              <a:rPr lang="en-US" sz="1700" dirty="0">
                <a:solidFill>
                  <a:schemeClr val="tx1"/>
                </a:solidFill>
              </a:rPr>
              <a:t>Weaker AP-1 motif, fewer AP-1 motifs around it, and its dependence spread thinly across the element instead of anchored on the motif. The same partners matter, in the same order, in every class.</a:t>
            </a:r>
            <a:endParaRPr lang="en-US" sz="1700" dirty="0"/>
          </a:p>
          <a:p>
            <a:pPr algn="l" indent="0" marL="0">
              <a:buNone/>
            </a:pPr>
            <a:r>
              <a:rPr lang="en-US" sz="1900" b="1" dirty="0">
                <a:solidFill>
                  <a:schemeClr val="tx1"/>
                </a:solidFill>
              </a:rPr>
              <a:t>Two things survive matching, and only two</a:t>
            </a:r>
            <a:endParaRPr lang="en-US" sz="1700" dirty="0"/>
          </a:p>
          <a:p>
            <a:pPr algn="l" indent="0" marL="0">
              <a:spcAft>
                <a:spcPts val="1500"/>
              </a:spcAft>
              <a:buNone/>
            </a:pPr>
            <a:r>
              <a:rPr lang="en-US" sz="1700" dirty="0">
                <a:solidFill>
                  <a:schemeClr val="tx1"/>
                </a:solidFill>
              </a:rPr>
              <a:t>Scale: the 11 bp motif and the whole peak are worth the same to both classes, but replacing the 170 bp element costs a Dynamic site 0.24 less — what you expect when the dependence is spread wider. Partner: age-gained sites lack a MEF2 abutting the motif, 5.6% against 13.7% of matched controls.</a:t>
            </a:r>
            <a:endParaRPr lang="en-US" sz="1700" dirty="0"/>
          </a:p>
          <a:p>
            <a:pPr algn="l" indent="0" marL="0">
              <a:buNone/>
            </a:pPr>
            <a:r>
              <a:rPr lang="en-US" sz="1900" b="1" dirty="0">
                <a:solidFill>
                  <a:schemeClr val="tx1"/>
                </a:solidFill>
              </a:rPr>
              <a:t>That is why it fluctuates</a:t>
            </a:r>
            <a:endParaRPr lang="en-US" sz="1700" dirty="0"/>
          </a:p>
          <a:p>
            <a:pPr algn="l" indent="0" marL="0">
              <a:spcAft>
                <a:spcPts val="1500"/>
              </a:spcAft>
              <a:buNone/>
            </a:pPr>
            <a:r>
              <a:rPr lang="en-US" sz="1700" dirty="0">
                <a:solidFill>
                  <a:schemeClr val="tx1"/>
                </a:solidFill>
              </a:rPr>
              <a:t>A weak motif with no close MEF2 to hold it sits near the occupancy threshold, so its binding tracks how much AP-1 protein is available — which is what ageing changes.</a:t>
            </a:r>
            <a:endParaRPr lang="en-US" sz="1700" dirty="0"/>
          </a:p>
          <a:p>
            <a:pPr algn="l" indent="0" marL="0">
              <a:buNone/>
            </a:pPr>
            <a:r>
              <a:rPr lang="en-US" sz="1900" b="1" dirty="0">
                <a:solidFill>
                  <a:schemeClr val="tx1"/>
                </a:solidFill>
              </a:rPr>
              <a:t>Gain and loss are different events</a:t>
            </a:r>
            <a:endParaRPr lang="en-US" sz="1700" dirty="0"/>
          </a:p>
          <a:p>
            <a:pPr algn="l" indent="0" marL="0">
              <a:buNone/>
            </a:pPr>
            <a:r>
              <a:rPr lang="en-US" sz="1700" dirty="0">
                <a:solidFill>
                  <a:schemeClr val="tx1"/>
                </a:solidFill>
              </a:rPr>
              <a:t>Age-gained sites have better cores and read AP-1 dosage more sharply. Age-lost sites show no sequence signature of their own.</a:t>
            </a:r>
            <a:endParaRPr lang="en-US" sz="1700" dirty="0"/>
          </a:p>
        </p:txBody>
      </p:sp>
      <p:sp>
        <p:nvSpPr>
          <p:cNvPr id="25" name="Slide Number Placeholder 0"/>
          <p:cNvSpPr>
            <a:spLocks noGrp="1"/>
          </p:cNvSpPr>
          <p:nvPr>
            <p:ph type="sldNum" sz="quarter" idx="4294967295"/>
          </p:nvPr>
        </p:nvSpPr>
        <p:spPr>
          <a:xfrm>
            <a:off x="116586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A6A6A6"/>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02920" y="301752"/>
            <a:ext cx="11155680" cy="685800"/>
          </a:xfrm>
          <a:prstGeom prst="rect">
            <a:avLst/>
          </a:prstGeom>
          <a:noFill/>
          <a:ln/>
        </p:spPr>
        <p:txBody>
          <a:bodyPr wrap="square" rtlCol="0" anchor="ctr"/>
          <a:lstStyle/>
          <a:p>
            <a:pPr algn="l" indent="0" marL="0">
              <a:buNone/>
            </a:pPr>
            <a:r>
              <a:rPr lang="en-US" sz="2800" b="1" dirty="0">
                <a:solidFill>
                  <a:schemeClr val="tx1"/>
                </a:solidFill>
              </a:rPr>
              <a:t>Where this goes next</a:t>
            </a:r>
            <a:endParaRPr lang="en-US" sz="2800" dirty="0"/>
          </a:p>
        </p:txBody>
      </p:sp>
      <p:sp>
        <p:nvSpPr>
          <p:cNvPr id="3" name="Text 0"/>
          <p:cNvSpPr/>
          <p:nvPr>
            <p:ph idx="101" type="body" hasCustomPrompt="1"/>
          </p:nvPr>
        </p:nvSpPr>
        <p:spPr>
          <a:xfrm>
            <a:off x="502920" y="1234440"/>
            <a:ext cx="11155680" cy="5120640"/>
          </a:xfrm>
          <a:prstGeom prst="rect">
            <a:avLst/>
          </a:prstGeom>
          <a:noFill/>
          <a:ln/>
        </p:spPr>
        <p:txBody>
          <a:bodyPr wrap="square" rtlCol="0" anchor="t"/>
          <a:lstStyle/>
          <a:p>
            <a:pPr algn="l" indent="0" marL="0">
              <a:buNone/>
            </a:pPr>
            <a:r>
              <a:rPr lang="en-US" sz="1900" b="1" dirty="0">
                <a:solidFill>
                  <a:schemeClr val="tx1"/>
                </a:solidFill>
              </a:rPr>
              <a:t>Fine-tuned condition-aware head</a:t>
            </a:r>
            <a:endParaRPr lang="en-US" sz="1700" dirty="0"/>
          </a:p>
          <a:p>
            <a:pPr algn="l" indent="0" marL="0">
              <a:spcAft>
                <a:spcPts val="1400"/>
              </a:spcAft>
              <a:buNone/>
            </a:pPr>
            <a:r>
              <a:rPr lang="en-US" sz="1700" dirty="0">
                <a:solidFill>
                  <a:schemeClr val="tx1"/>
                </a:solidFill>
              </a:rPr>
              <a:t>A frozen-trunk probe on our own cardiomyocyte and fibroblast ATAC already reaches profile r = 0.65 against 0.59 for the built-in heart head, training 0.01% of the model. Next: 1 bp insertion targets, then LoRA.</a:t>
            </a:r>
            <a:endParaRPr lang="en-US" sz="1700" dirty="0"/>
          </a:p>
          <a:p>
            <a:pPr algn="l" indent="0" marL="0">
              <a:buNone/>
            </a:pPr>
            <a:r>
              <a:rPr lang="en-US" sz="1900" b="1" dirty="0">
                <a:solidFill>
                  <a:schemeClr val="tx1"/>
                </a:solidFill>
              </a:rPr>
              <a:t>Does AP-1 activity actually rise with age?</a:t>
            </a:r>
            <a:endParaRPr lang="en-US" sz="1700" dirty="0"/>
          </a:p>
          <a:p>
            <a:pPr algn="l" indent="0" marL="0">
              <a:spcAft>
                <a:spcPts val="1400"/>
              </a:spcAft>
              <a:buNone/>
            </a:pPr>
            <a:r>
              <a:rPr lang="en-US" sz="1700" dirty="0">
                <a:solidFill>
                  <a:schemeClr val="tx1"/>
                </a:solidFill>
              </a:rPr>
              <a:t>The mass-action reading rests on it. One check against the RNA.</a:t>
            </a:r>
            <a:endParaRPr lang="en-US" sz="1700" dirty="0"/>
          </a:p>
          <a:p>
            <a:pPr algn="l" indent="0" marL="0">
              <a:buNone/>
            </a:pPr>
            <a:r>
              <a:rPr lang="en-US" sz="1900" b="1" dirty="0">
                <a:solidFill>
                  <a:schemeClr val="tx1"/>
                </a:solidFill>
              </a:rPr>
              <a:t>Fibroblast scan</a:t>
            </a:r>
            <a:endParaRPr lang="en-US" sz="1700" dirty="0"/>
          </a:p>
          <a:p>
            <a:pPr algn="l" indent="0" marL="0">
              <a:buNone/>
            </a:pPr>
            <a:r>
              <a:rPr lang="en-US" sz="1700" dirty="0">
                <a:solidFill>
                  <a:schemeClr val="tx1"/>
                </a:solidFill>
              </a:rPr>
              <a:t>If MEF2 also tops the partner ranking in fibroblasts, the ranking is a model artefact rather than cardiac biology. This is the sharpest available control.</a:t>
            </a:r>
            <a:endParaRPr lang="en-US" sz="1700" dirty="0"/>
          </a:p>
        </p:txBody>
      </p:sp>
      <p:sp>
        <p:nvSpPr>
          <p:cNvPr id="25" name="Slide Number Placeholder 0"/>
          <p:cNvSpPr>
            <a:spLocks noGrp="1"/>
          </p:cNvSpPr>
          <p:nvPr>
            <p:ph type="sldNum" sz="quarter" idx="4294967295"/>
          </p:nvPr>
        </p:nvSpPr>
        <p:spPr>
          <a:xfrm>
            <a:off x="116586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A6A6A6"/>
                </a:solidFill>
              </a:defRPr>
            </a:lvl1pPr>
          </a:lstStyle>
          <a:p>
            <a:pPr algn="l"/>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AP1 Mono">
  <a:themeElements>
    <a:clrScheme name="AP1 Mono">
      <a:dk1>
        <a:srgbClr val="111111"/>
      </a:dk1>
      <a:lt1>
        <a:srgbClr val="FFFFFF"/>
      </a:lt1>
      <a:dk2>
        <a:srgbClr val="595959"/>
      </a:dk2>
      <a:lt2>
        <a:srgbClr val="F2F2F2"/>
      </a:lt2>
      <a:accent1>
        <a:srgbClr val="C2551C"/>
      </a:accent1>
      <a:accent2>
        <a:srgbClr val="1F6FB2"/>
      </a:accent2>
      <a:accent3>
        <a:srgbClr val="111111"/>
      </a:accent3>
      <a:accent4>
        <a:srgbClr val="8C8C8C"/>
      </a:accent4>
      <a:accent5>
        <a:srgbClr val="D9D9D9"/>
      </a:accent5>
      <a:accent6>
        <a:srgbClr val="595959"/>
      </a:accent6>
      <a:hlink>
        <a:srgbClr val="1F6FB2"/>
      </a:hlink>
      <a:folHlink>
        <a:srgbClr val="595959"/>
      </a:folHlink>
    </a:clrScheme>
    <a:fontScheme name="AP1 Mon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AlphaGenome perturbation of AP-1 sites</dc:title>
  <dc:subject>PptxGenJS Presentation</dc:subject>
  <dc:creator>Jack</dc:creator>
  <cp:lastModifiedBy>Jack</cp:lastModifiedBy>
  <cp:revision>1</cp:revision>
  <dcterms:created xsi:type="dcterms:W3CDTF">2026-10-23T02:07:35Z</dcterms:created>
  <dcterms:modified xsi:type="dcterms:W3CDTF">2026-10-23T02:07:35Z</dcterms:modified>
</cp:coreProperties>
</file>