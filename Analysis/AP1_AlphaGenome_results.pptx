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cc0b3ca-395d-3bf2-640c-da17d9970e60}">
          <p14:sldIdLst>
            <p14:sldId id="256"/>
          </p14:sldIdLst>
        </p14:section>
        <p14:section name="Design" id="{fc169d28-4261-b0f0-47a9-2ca5e60800e4}">
          <p14:sldIdLst>
            <p14:sldId id="257"/>
            <p14:sldId id="258"/>
            <p14:sldId id="259"/>
          </p14:sldIdLst>
        </p14:section>
        <p14:section name="Findings" id="{99c6c798-7b3a-9644-98cf-a8bd13f61e9b}">
          <p14:sldIdLst>
            <p14:sldId id="260"/>
            <p14:sldId id="261"/>
            <p14:sldId id="262"/>
            <p14:sldId id="263"/>
            <p14:sldId id="264"/>
            <p14:sldId id="265"/>
            <p14:sldId id="266"/>
            <p14:sldId id="267"/>
            <p14:sldId id="268"/>
            <p14:sldId id="269"/>
          </p14:sldIdLst>
        </p14:section>
        <p14:section name="Conclusion" id="{ff6d1d2c-8807-6257-2a0d-b03946c72c73}">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demonstration, not a result, but chosen to be typical rather than striking: the motif window, the total dependence and the deepest-neighbour pattern all sit near the median. An earlier version used a site in the top 8% for motif depth, which made the motif look far more dominant than it is. The footprint lane is every named family TOBIAS calls here, with overlapping calls of one family merged and counted; only the two catch-all bins (Other, Zinc finger other) are dropped. The same scan is also read over the 11 bp motif and over the whole peak, and the titration and single-base experiments run on the same 3,678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uncontrolled comparison: if the accessibility difference is itself biology, it lives there. Bottom row matches each class to its own Stable controls on predicted and measured accessibility, peak width and TSS distance. The 300 bp control is the thing to check: Age Up differs slightly even there (-0.152 vs -0.111 matched), but that offset is 0.04 against a 0.26 effect at 170 bp and runs the opposite way, so it does not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Matched tests are exact McNemar on the paired sites, raw tests are Fisher, BH across all 20. Surviving: Age Up on both definitions (FDR 0.021 leaned-on, 0.045 footprint-present) and Exercise Down on the leaned-on definition (FDR 0.026); Exercise Down footprint-present does not (FDR 0.12). Age Down and Exercise Up show nothing either way. An earlier quote of p = 0.003 and p = 0.0005 for these came from Fisher applied to the matched groups as if unpaired; McNemar is the right test and gives p = 0.0021 and p = 0.0013.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Presence vs rank is the point. MEF2, does the element have one: Dynamic OR 0.58, Age Up 0.45, Exercise Down 0.56, all surviving BH. Given a MEF2 is present, every class ranks it in the top three about equally often (0.87-2.03, nothing significant). AP-1 given present: Dynamic 1.45x, FDR 0.036, with the direction repeating in all four directional classes (1.43-1.62). CTCF is the reason to keep the matched analysis in the report even though it is off the slides: OR 3.0-6.5 here with FDR &lt; 0.001, and exactly 1.0 once accessibility is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profiles on the left are what the four measures are read off. At the core (within 15 bp) every class loses less than Stable sites do: Age Down 0.73x, Exercise Up 0.76x, Exercise Down 0.78x, Dynamic 0.80x, Age Up 0.90x, all FDR &lt;= 0.016. Normalised to each site’s own total, the core share is barely different (0.93-1.00) but the flank share beyond 85 bp is higher in Age Up 1.31x, Exercise Down 1.29x and Dynamic 1.21x, all FDR &lt;= 0.0002, while Age Down is 0.99x. So Age Down is not a redistribution, it is a weaker element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1-base and 7-base core results are not repeated here: they say the same thing as the motif shuffle on the earlier slide. One wrong base costs -0.45 of the -0.56 total, the dose slope tracks core quality read from the genome at rho 0.30, and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thing at one real element</a:t>
            </a:r>
            <a:endParaRPr lang="en-US" sz="2800" dirty="0"/>
          </a:p>
        </p:txBody>
      </p:sp>
      <p:sp>
        <p:nvSpPr>
          <p:cNvPr id="3" name="ml-intro"/>
          <p:cNvSpPr txBox="1"/>
          <p:nvPr/>
        </p:nvSpPr>
        <p:spPr>
          <a:xfrm>
            <a:off x="731520" y="1024128"/>
            <a:ext cx="10881360" cy="475488"/>
          </a:xfrm>
          <a:prstGeom prst="rect">
            <a:avLst/>
          </a:prstGeom>
          <a:noFill/>
          <a:ln/>
        </p:spPr>
        <p:txBody>
          <a:bodyPr wrap="square" lIns="0" tIns="0" rIns="0" bIns="0" rtlCol="0" anchor="ctr"/>
          <a:lstStyle/>
          <a:p>
            <a:pPr indent="0" marL="0">
              <a:buNone/>
            </a:pPr>
            <a:r>
              <a:rPr lang="en-US" sz="1150" dirty="0">
                <a:solidFill>
                  <a:srgbClr val="595959"/>
                </a:solidFill>
              </a:rPr>
              <a:t>Every 10 bp window from −300 to +300 bp is replaced by random bases in turn, three times, and the bar is what the prediction loses over the surrounding 170 bp. Gold is the called AP-1 motif. The lane below is every other footprinted motif TOBIAS calls in this element, which is what the windows are read against.</a:t>
            </a:r>
            <a:endParaRPr lang="en-US" sz="1150" dirty="0"/>
          </a:p>
        </p:txBody>
      </p:sp>
      <p:pic>
        <p:nvPicPr>
          <p:cNvPr id="4" name="Image 0" descr="/Users/z5162865/WongLab/AlphaGenome_Ap1/Analysis/slide_figures/panels/s11_method_locus.png">    </p:cNvPr>
          <p:cNvPicPr>
            <a:picLocks noChangeAspect="1"/>
          </p:cNvPicPr>
          <p:nvPr/>
        </p:nvPicPr>
        <p:blipFill>
          <a:blip r:embed="rId1"/>
          <a:stretch>
            <a:fillRect/>
          </a:stretch>
        </p:blipFill>
        <p:spPr>
          <a:xfrm>
            <a:off x="594360" y="1737360"/>
            <a:ext cx="10972800" cy="3200400"/>
          </a:xfrm>
          <a:prstGeom prst="rect">
            <a:avLst/>
          </a:prstGeom>
        </p:spPr>
      </p:pic>
      <p:sp>
        <p:nvSpPr>
          <p:cNvPr id="5" name="ml-cap"/>
          <p:cNvSpPr txBox="1"/>
          <p:nvPr/>
        </p:nvSpPr>
        <p:spPr>
          <a:xfrm>
            <a:off x="731520" y="5074920"/>
            <a:ext cx="10881360" cy="274320"/>
          </a:xfrm>
          <a:prstGeom prst="rect">
            <a:avLst/>
          </a:prstGeom>
          <a:noFill/>
          <a:ln/>
        </p:spPr>
        <p:txBody>
          <a:bodyPr wrap="square" lIns="0" tIns="0" rIns="0" bIns="0" rtlCol="0" anchor="ctr"/>
          <a:lstStyle/>
          <a:p>
            <a:pPr indent="0" marL="0">
              <a:buNone/>
            </a:pPr>
            <a:r>
              <a:rPr lang="en-US" sz="1050" dirty="0">
                <a:solidFill>
                  <a:srgbClr val="111111"/>
                </a:solidFill>
              </a:rPr>
              <a:t>chr2:167,698,004 · the motif window costs −0.56 against a median of −0.66 across all 3,678 sites, and the deepest window is a neighbour — as it is at 69% of sites</a:t>
            </a:r>
            <a:endParaRPr lang="en-US" sz="1050" dirty="0"/>
          </a:p>
        </p:txBody>
      </p:sp>
      <p:sp>
        <p:nvSpPr>
          <p:cNvPr id="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motif is one window among sixty, and usually not the deepest — everything that follows is this, repeated over 3,678 sites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lose less to every edit of their element</a:t>
            </a:r>
            <a:endParaRPr lang="en-US" sz="2800" dirty="0"/>
          </a:p>
        </p:txBody>
      </p:sp>
      <p:sp>
        <p:nvSpPr>
          <p:cNvPr id="3" name="ed-t"/>
          <p:cNvSpPr txBox="1"/>
          <p:nvPr/>
        </p:nvSpPr>
        <p:spPr>
          <a:xfrm>
            <a:off x="502920" y="987552"/>
            <a:ext cx="4937760" cy="256032"/>
          </a:xfrm>
          <a:prstGeom prst="rect">
            <a:avLst/>
          </a:prstGeom>
          <a:noFill/>
          <a:ln/>
        </p:spPr>
        <p:txBody>
          <a:bodyPr wrap="square" lIns="0" tIns="0" rIns="0" bIns="0" rtlCol="0" anchor="ctr"/>
          <a:lstStyle/>
          <a:p>
            <a:pPr indent="0" marL="0">
              <a:buNone/>
            </a:pPr>
            <a:r>
              <a:rPr lang="en-US" sz="1250" b="1" dirty="0">
                <a:solidFill>
                  <a:srgbClr val="111111"/>
                </a:solidFill>
              </a:rPr>
              <a:t>The three edits, and the control</a:t>
            </a:r>
            <a:endParaRPr lang="en-US" sz="1250" dirty="0"/>
          </a:p>
        </p:txBody>
      </p:sp>
      <p:pic>
        <p:nvPicPr>
          <p:cNvPr id="4" name="Image 0" descr="/Users/z5162865/WongLab/AlphaGenome_Ap1/Analysis/slide_figures/panels/d_edits.png">    </p:cNvPr>
          <p:cNvPicPr>
            <a:picLocks noChangeAspect="1"/>
          </p:cNvPicPr>
          <p:nvPr/>
        </p:nvPicPr>
        <p:blipFill>
          <a:blip r:embed="rId1"/>
          <a:stretch>
            <a:fillRect/>
          </a:stretch>
        </p:blipFill>
        <p:spPr>
          <a:xfrm>
            <a:off x="1008944" y="1261872"/>
            <a:ext cx="3925711" cy="1188720"/>
          </a:xfrm>
          <a:prstGeom prst="rect">
            <a:avLst/>
          </a:prstGeom>
        </p:spPr>
      </p:pic>
      <p:sp>
        <p:nvSpPr>
          <p:cNvPr id="5" name="s2_matched_null-title-0"/>
          <p:cNvSpPr txBox="1"/>
          <p:nvPr/>
        </p:nvSpPr>
        <p:spPr>
          <a:xfrm>
            <a:off x="612648"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11 bp motif</a:t>
            </a:r>
            <a:endParaRPr lang="en-US" sz="1250" dirty="0"/>
          </a:p>
        </p:txBody>
      </p:sp>
      <p:sp>
        <p:nvSpPr>
          <p:cNvPr id="6" name="s2_matched_null-sub-0"/>
          <p:cNvSpPr txBox="1"/>
          <p:nvPr/>
        </p:nvSpPr>
        <p:spPr>
          <a:xfrm>
            <a:off x="612648"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the motif alone</a:t>
            </a:r>
            <a:endParaRPr lang="en-US" sz="950" dirty="0"/>
          </a:p>
        </p:txBody>
      </p:sp>
      <p:pic>
        <p:nvPicPr>
          <p:cNvPr id="7" name="Image 1" descr="/Users/z5162865/WongLab/AlphaGenome_Ap1/Analysis/slide_figures/panels/s2_matched_null_c0_r0.png">    </p:cNvPr>
          <p:cNvPicPr>
            <a:picLocks noChangeAspect="1"/>
          </p:cNvPicPr>
          <p:nvPr/>
        </p:nvPicPr>
        <p:blipFill>
          <a:blip r:embed="rId2"/>
          <a:stretch>
            <a:fillRect/>
          </a:stretch>
        </p:blipFill>
        <p:spPr>
          <a:xfrm>
            <a:off x="1222553" y="3328416"/>
            <a:ext cx="1468526" cy="1335024"/>
          </a:xfrm>
          <a:prstGeom prst="rect">
            <a:avLst/>
          </a:prstGeom>
        </p:spPr>
      </p:pic>
      <p:sp>
        <p:nvSpPr>
          <p:cNvPr id="8" name="s2_matched_null-title-1"/>
          <p:cNvSpPr txBox="1"/>
          <p:nvPr/>
        </p:nvSpPr>
        <p:spPr>
          <a:xfrm>
            <a:off x="3374136"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170 bp element</a:t>
            </a:r>
            <a:endParaRPr lang="en-US" sz="1250" dirty="0"/>
          </a:p>
        </p:txBody>
      </p:sp>
      <p:sp>
        <p:nvSpPr>
          <p:cNvPr id="9" name="s2_matched_null-sub-1"/>
          <p:cNvSpPr txBox="1"/>
          <p:nvPr/>
        </p:nvSpPr>
        <p:spPr>
          <a:xfrm>
            <a:off x="3374136"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the element around it</a:t>
            </a:r>
            <a:endParaRPr lang="en-US" sz="950" dirty="0"/>
          </a:p>
        </p:txBody>
      </p:sp>
      <p:pic>
        <p:nvPicPr>
          <p:cNvPr id="10" name="Image 2" descr="/Users/z5162865/WongLab/AlphaGenome_Ap1/Analysis/slide_figures/panels/s2_matched_null_c1_r0.png">    </p:cNvPr>
          <p:cNvPicPr>
            <a:picLocks noChangeAspect="1"/>
          </p:cNvPicPr>
          <p:nvPr/>
        </p:nvPicPr>
        <p:blipFill>
          <a:blip r:embed="rId3"/>
          <a:stretch>
            <a:fillRect/>
          </a:stretch>
        </p:blipFill>
        <p:spPr>
          <a:xfrm>
            <a:off x="3984041" y="3328416"/>
            <a:ext cx="1468526" cy="1335024"/>
          </a:xfrm>
          <a:prstGeom prst="rect">
            <a:avLst/>
          </a:prstGeom>
        </p:spPr>
      </p:pic>
      <p:sp>
        <p:nvSpPr>
          <p:cNvPr id="11" name="s2_matched_null-title-2"/>
          <p:cNvSpPr txBox="1"/>
          <p:nvPr/>
        </p:nvSpPr>
        <p:spPr>
          <a:xfrm>
            <a:off x="6135624"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whole peak</a:t>
            </a:r>
            <a:endParaRPr lang="en-US" sz="1250" dirty="0"/>
          </a:p>
        </p:txBody>
      </p:sp>
      <p:sp>
        <p:nvSpPr>
          <p:cNvPr id="12" name="s2_matched_null-sub-2"/>
          <p:cNvSpPr txBox="1"/>
          <p:nvPr/>
        </p:nvSpPr>
        <p:spPr>
          <a:xfrm>
            <a:off x="6135624"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everything, read over the peak</a:t>
            </a:r>
            <a:endParaRPr lang="en-US" sz="950" dirty="0"/>
          </a:p>
        </p:txBody>
      </p:sp>
      <p:pic>
        <p:nvPicPr>
          <p:cNvPr id="13" name="Image 3" descr="/Users/z5162865/WongLab/AlphaGenome_Ap1/Analysis/slide_figures/panels/s2_matched_null_c2_r0.png">    </p:cNvPr>
          <p:cNvPicPr>
            <a:picLocks noChangeAspect="1"/>
          </p:cNvPicPr>
          <p:nvPr/>
        </p:nvPicPr>
        <p:blipFill>
          <a:blip r:embed="rId4"/>
          <a:stretch>
            <a:fillRect/>
          </a:stretch>
        </p:blipFill>
        <p:spPr>
          <a:xfrm>
            <a:off x="6745529" y="3328416"/>
            <a:ext cx="1468526" cy="1335024"/>
          </a:xfrm>
          <a:prstGeom prst="rect">
            <a:avLst/>
          </a:prstGeom>
        </p:spPr>
      </p:pic>
      <p:sp>
        <p:nvSpPr>
          <p:cNvPr id="14" name="s2_matched_null-title-3"/>
          <p:cNvSpPr txBox="1"/>
          <p:nvPr/>
        </p:nvSpPr>
        <p:spPr>
          <a:xfrm>
            <a:off x="8897112"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Edit 300 bp away</a:t>
            </a:r>
            <a:endParaRPr lang="en-US" sz="1250" dirty="0"/>
          </a:p>
        </p:txBody>
      </p:sp>
      <p:sp>
        <p:nvSpPr>
          <p:cNvPr id="15" name="s2_matched_null-sub-3"/>
          <p:cNvSpPr txBox="1"/>
          <p:nvPr/>
        </p:nvSpPr>
        <p:spPr>
          <a:xfrm>
            <a:off x="8897112"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the control: nothing at stake</a:t>
            </a:r>
            <a:endParaRPr lang="en-US" sz="950" dirty="0"/>
          </a:p>
        </p:txBody>
      </p:sp>
      <p:pic>
        <p:nvPicPr>
          <p:cNvPr id="16" name="Image 4" descr="/Users/z5162865/WongLab/AlphaGenome_Ap1/Analysis/slide_figures/panels/s2_matched_null_c3_r0.png">    </p:cNvPr>
          <p:cNvPicPr>
            <a:picLocks noChangeAspect="1"/>
          </p:cNvPicPr>
          <p:nvPr/>
        </p:nvPicPr>
        <p:blipFill>
          <a:blip r:embed="rId5"/>
          <a:stretch>
            <a:fillRect/>
          </a:stretch>
        </p:blipFill>
        <p:spPr>
          <a:xfrm>
            <a:off x="9507017" y="3328416"/>
            <a:ext cx="1468526" cy="1335024"/>
          </a:xfrm>
          <a:prstGeom prst="rect">
            <a:avLst/>
          </a:prstGeom>
        </p:spPr>
      </p:pic>
      <p:sp>
        <p:nvSpPr>
          <p:cNvPr id="17" name="s2_matched_null-dot-0"/>
          <p:cNvSpPr/>
          <p:nvPr/>
        </p:nvSpPr>
        <p:spPr>
          <a:xfrm>
            <a:off x="502920" y="4869180"/>
            <a:ext cx="109728" cy="109728"/>
          </a:xfrm>
          <a:prstGeom prst="ellipse">
            <a:avLst/>
          </a:prstGeom>
          <a:solidFill>
            <a:srgbClr val="4F4F4F"/>
          </a:solidFill>
          <a:ln w="12700">
            <a:solidFill>
              <a:srgbClr val="4F4F4F"/>
            </a:solidFill>
            <a:prstDash val="solid"/>
          </a:ln>
        </p:spPr>
      </p:sp>
      <p:sp>
        <p:nvSpPr>
          <p:cNvPr id="18" name="s2_matched_null-leg-0"/>
          <p:cNvSpPr txBox="1"/>
          <p:nvPr/>
        </p:nvSpPr>
        <p:spPr>
          <a:xfrm>
            <a:off x="658368" y="482803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9" name="s2_matched_null-dot-1"/>
          <p:cNvSpPr/>
          <p:nvPr/>
        </p:nvSpPr>
        <p:spPr>
          <a:xfrm>
            <a:off x="1825142" y="4869180"/>
            <a:ext cx="109728" cy="109728"/>
          </a:xfrm>
          <a:prstGeom prst="ellipse">
            <a:avLst/>
          </a:prstGeom>
          <a:solidFill>
            <a:srgbClr val="C2551C"/>
          </a:solidFill>
          <a:ln w="12700">
            <a:solidFill>
              <a:srgbClr val="C2551C"/>
            </a:solidFill>
            <a:prstDash val="solid"/>
          </a:ln>
        </p:spPr>
      </p:sp>
      <p:sp>
        <p:nvSpPr>
          <p:cNvPr id="20" name="s2_matched_null-leg-1"/>
          <p:cNvSpPr txBox="1"/>
          <p:nvPr/>
        </p:nvSpPr>
        <p:spPr>
          <a:xfrm>
            <a:off x="1980590" y="482803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1" name="s2_matched_null-dot-2"/>
          <p:cNvSpPr/>
          <p:nvPr/>
        </p:nvSpPr>
        <p:spPr>
          <a:xfrm>
            <a:off x="2686507" y="4869180"/>
            <a:ext cx="109728" cy="109728"/>
          </a:xfrm>
          <a:prstGeom prst="ellipse">
            <a:avLst/>
          </a:prstGeom>
          <a:solidFill>
            <a:srgbClr val="1F6FB2"/>
          </a:solidFill>
          <a:ln w="12700">
            <a:solidFill>
              <a:srgbClr val="1F6FB2"/>
            </a:solidFill>
            <a:prstDash val="solid"/>
          </a:ln>
        </p:spPr>
      </p:sp>
      <p:sp>
        <p:nvSpPr>
          <p:cNvPr id="22" name="s2_matched_null-leg-2"/>
          <p:cNvSpPr txBox="1"/>
          <p:nvPr/>
        </p:nvSpPr>
        <p:spPr>
          <a:xfrm>
            <a:off x="2841955" y="482803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3" name="s2_matched_null-dot-3"/>
          <p:cNvSpPr/>
          <p:nvPr/>
        </p:nvSpPr>
        <p:spPr>
          <a:xfrm>
            <a:off x="3679546" y="4869180"/>
            <a:ext cx="109728" cy="109728"/>
          </a:xfrm>
          <a:prstGeom prst="ellipse">
            <a:avLst/>
          </a:prstGeom>
          <a:solidFill>
            <a:srgbClr val="2E7D32"/>
          </a:solidFill>
          <a:ln w="12700">
            <a:solidFill>
              <a:srgbClr val="2E7D32"/>
            </a:solidFill>
            <a:prstDash val="solid"/>
          </a:ln>
        </p:spPr>
      </p:sp>
      <p:sp>
        <p:nvSpPr>
          <p:cNvPr id="24" name="s2_matched_null-leg-3"/>
          <p:cNvSpPr txBox="1"/>
          <p:nvPr/>
        </p:nvSpPr>
        <p:spPr>
          <a:xfrm>
            <a:off x="3834994" y="482803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5" name="s2_matched_null-dot-4"/>
          <p:cNvSpPr/>
          <p:nvPr/>
        </p:nvSpPr>
        <p:spPr>
          <a:xfrm>
            <a:off x="4870094" y="4869180"/>
            <a:ext cx="109728" cy="109728"/>
          </a:xfrm>
          <a:prstGeom prst="ellipse">
            <a:avLst/>
          </a:prstGeom>
          <a:solidFill>
            <a:srgbClr val="7B3FA0"/>
          </a:solidFill>
          <a:ln w="12700">
            <a:solidFill>
              <a:srgbClr val="7B3FA0"/>
            </a:solidFill>
            <a:prstDash val="solid"/>
          </a:ln>
        </p:spPr>
      </p:sp>
      <p:sp>
        <p:nvSpPr>
          <p:cNvPr id="26" name="s2_matched_null-leg-4"/>
          <p:cNvSpPr txBox="1"/>
          <p:nvPr/>
        </p:nvSpPr>
        <p:spPr>
          <a:xfrm>
            <a:off x="5025542" y="482803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7" name="s2_matched_null-dot-5"/>
          <p:cNvSpPr/>
          <p:nvPr/>
        </p:nvSpPr>
        <p:spPr>
          <a:xfrm>
            <a:off x="6192317" y="4869180"/>
            <a:ext cx="109728" cy="109728"/>
          </a:xfrm>
          <a:prstGeom prst="ellipse">
            <a:avLst/>
          </a:prstGeom>
          <a:solidFill>
            <a:srgbClr val="B3B2AE"/>
          </a:solidFill>
          <a:ln w="12700">
            <a:solidFill>
              <a:srgbClr val="B3B2AE"/>
            </a:solidFill>
            <a:prstDash val="solid"/>
          </a:ln>
        </p:spPr>
      </p:sp>
      <p:sp>
        <p:nvSpPr>
          <p:cNvPr id="28" name="s2_matched_null-leg-5"/>
          <p:cNvSpPr txBox="1"/>
          <p:nvPr/>
        </p:nvSpPr>
        <p:spPr>
          <a:xfrm>
            <a:off x="6347765" y="482803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9" name="s2_matched_null-key"/>
          <p:cNvSpPr txBox="1"/>
          <p:nvPr/>
        </p:nvSpPr>
        <p:spPr>
          <a:xfrm>
            <a:off x="502920" y="5102352"/>
            <a:ext cx="11155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20 tests on this figure.   *** p&lt;0.001   ** p&lt;0.01   * p&lt;0.05   ns ≥ 0.05</a:t>
            </a:r>
            <a:endParaRPr lang="en-US" sz="900" dirty="0"/>
          </a:p>
        </p:txBody>
      </p:sp>
      <p:sp>
        <p:nvSpPr>
          <p:cNvPr id="30"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class loses less than Stable sites do at every scale, and the 300 bp control shows it is not a global offset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panels/s8_partners_all.png">    </p:cNvPr>
          <p:cNvPicPr>
            <a:picLocks noChangeAspect="1"/>
          </p:cNvPicPr>
          <p:nvPr/>
        </p:nvPicPr>
        <p:blipFill>
          <a:blip r:embed="rId2"/>
          <a:stretch>
            <a:fillRect/>
          </a:stretch>
        </p:blipFill>
        <p:spPr>
          <a:xfrm>
            <a:off x="3953510" y="2103120"/>
            <a:ext cx="4254500" cy="3063240"/>
          </a:xfrm>
          <a:prstGeom prst="rect">
            <a:avLst/>
          </a:prstGeom>
        </p:spPr>
      </p:pic>
      <p:sp>
        <p:nvSpPr>
          <p:cNvPr id="5" name="lg-dot-5.72-0"/>
          <p:cNvSpPr/>
          <p:nvPr/>
        </p:nvSpPr>
        <p:spPr>
          <a:xfrm>
            <a:off x="1280160" y="5271516"/>
            <a:ext cx="109728" cy="109728"/>
          </a:xfrm>
          <a:prstGeom prst="ellipse">
            <a:avLst/>
          </a:prstGeom>
          <a:solidFill>
            <a:srgbClr val="B3B2AE"/>
          </a:solidFill>
          <a:ln w="12700">
            <a:solidFill>
              <a:srgbClr val="B3B2AE"/>
            </a:solidFill>
            <a:prstDash val="solid"/>
          </a:ln>
        </p:spPr>
      </p:sp>
      <p:sp>
        <p:nvSpPr>
          <p:cNvPr id="6" name="lg-txt-5.72-0"/>
          <p:cNvSpPr txBox="1"/>
          <p:nvPr/>
        </p:nvSpPr>
        <p:spPr>
          <a:xfrm>
            <a:off x="1435608"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Stable</a:t>
            </a:r>
            <a:endParaRPr lang="en-US" sz="1050" dirty="0"/>
          </a:p>
        </p:txBody>
      </p:sp>
      <p:sp>
        <p:nvSpPr>
          <p:cNvPr id="7" name="lg-dot-5.72-1"/>
          <p:cNvSpPr/>
          <p:nvPr/>
        </p:nvSpPr>
        <p:spPr>
          <a:xfrm>
            <a:off x="2141525" y="5271516"/>
            <a:ext cx="109728" cy="109728"/>
          </a:xfrm>
          <a:prstGeom prst="ellipse">
            <a:avLst/>
          </a:prstGeom>
          <a:solidFill>
            <a:srgbClr val="C2551C"/>
          </a:solidFill>
          <a:ln w="12700">
            <a:solidFill>
              <a:srgbClr val="C2551C"/>
            </a:solidFill>
            <a:prstDash val="solid"/>
          </a:ln>
        </p:spPr>
      </p:sp>
      <p:sp>
        <p:nvSpPr>
          <p:cNvPr id="8" name="lg-txt-5.72-1"/>
          <p:cNvSpPr txBox="1"/>
          <p:nvPr/>
        </p:nvSpPr>
        <p:spPr>
          <a:xfrm>
            <a:off x="2296973"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9" name="lg-dot-5.72-2"/>
          <p:cNvSpPr/>
          <p:nvPr/>
        </p:nvSpPr>
        <p:spPr>
          <a:xfrm>
            <a:off x="3002890" y="5271516"/>
            <a:ext cx="109728" cy="109728"/>
          </a:xfrm>
          <a:prstGeom prst="ellipse">
            <a:avLst/>
          </a:prstGeom>
          <a:solidFill>
            <a:srgbClr val="1F6FB2"/>
          </a:solidFill>
          <a:ln w="12700">
            <a:solidFill>
              <a:srgbClr val="1F6FB2"/>
            </a:solidFill>
            <a:prstDash val="solid"/>
          </a:ln>
        </p:spPr>
      </p:sp>
      <p:sp>
        <p:nvSpPr>
          <p:cNvPr id="10" name="lg-txt-5.72-2"/>
          <p:cNvSpPr txBox="1"/>
          <p:nvPr/>
        </p:nvSpPr>
        <p:spPr>
          <a:xfrm>
            <a:off x="3158338" y="5230368"/>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1" name="lg-dot-5.72-3"/>
          <p:cNvSpPr/>
          <p:nvPr/>
        </p:nvSpPr>
        <p:spPr>
          <a:xfrm>
            <a:off x="3995928" y="5271516"/>
            <a:ext cx="109728" cy="109728"/>
          </a:xfrm>
          <a:prstGeom prst="ellipse">
            <a:avLst/>
          </a:prstGeom>
          <a:solidFill>
            <a:srgbClr val="2E7D32"/>
          </a:solidFill>
          <a:ln w="12700">
            <a:solidFill>
              <a:srgbClr val="2E7D32"/>
            </a:solidFill>
            <a:prstDash val="solid"/>
          </a:ln>
        </p:spPr>
      </p:sp>
      <p:sp>
        <p:nvSpPr>
          <p:cNvPr id="12" name="lg-txt-5.72-3"/>
          <p:cNvSpPr txBox="1"/>
          <p:nvPr/>
        </p:nvSpPr>
        <p:spPr>
          <a:xfrm>
            <a:off x="4151376" y="5230368"/>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3" name="lg-dot-5.72-4"/>
          <p:cNvSpPr/>
          <p:nvPr/>
        </p:nvSpPr>
        <p:spPr>
          <a:xfrm>
            <a:off x="5186477" y="5271516"/>
            <a:ext cx="109728" cy="109728"/>
          </a:xfrm>
          <a:prstGeom prst="ellipse">
            <a:avLst/>
          </a:prstGeom>
          <a:solidFill>
            <a:srgbClr val="7B3FA0"/>
          </a:solidFill>
          <a:ln w="12700">
            <a:solidFill>
              <a:srgbClr val="7B3FA0"/>
            </a:solidFill>
            <a:prstDash val="solid"/>
          </a:ln>
        </p:spPr>
      </p:sp>
      <p:sp>
        <p:nvSpPr>
          <p:cNvPr id="14" name="lg-txt-5.72-4"/>
          <p:cNvSpPr txBox="1"/>
          <p:nvPr/>
        </p:nvSpPr>
        <p:spPr>
          <a:xfrm>
            <a:off x="5341925" y="5230368"/>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5" name="pa-key"/>
          <p:cNvSpPr txBox="1"/>
          <p:nvPr/>
        </p:nvSpPr>
        <p:spPr>
          <a:xfrm>
            <a:off x="1280160" y="5504688"/>
            <a:ext cx="10149840" cy="274320"/>
          </a:xfrm>
          <a:prstGeom prst="rect">
            <a:avLst/>
          </a:prstGeom>
          <a:noFill/>
          <a:ln/>
        </p:spPr>
        <p:txBody>
          <a:bodyPr wrap="square" lIns="0" tIns="0" rIns="0" bIns="0" rtlCol="0" anchor="ctr"/>
          <a:lstStyle/>
          <a:p>
            <a:pPr indent="0" marL="0">
              <a:buNone/>
            </a:pPr>
            <a:r>
              <a:rPr lang="en-US" sz="950" dirty="0">
                <a:solidFill>
                  <a:srgbClr val="595959"/>
                </a:solidFill>
              </a:rPr>
              <a:t>six families shown; tests run over all 20 class-by-family comparisons, smallest FDR 0.02</a:t>
            </a:r>
            <a:endParaRPr lang="en-US" sz="950" dirty="0"/>
          </a:p>
        </p:txBody>
      </p:sp>
      <p:sp>
        <p:nvSpPr>
          <p:cNvPr id="1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MEF2 sits right beside the AP-1 motif, and it matters</a:t>
            </a:r>
            <a:endParaRPr lang="en-US" sz="2800" dirty="0"/>
          </a:p>
        </p:txBody>
      </p:sp>
      <p:sp>
        <p:nvSpPr>
          <p:cNvPr id="3" name="sp-t1"/>
          <p:cNvSpPr txBox="1"/>
          <p:nvPr/>
        </p:nvSpPr>
        <p:spPr>
          <a:xfrm>
            <a:off x="731520" y="1051560"/>
            <a:ext cx="4937760" cy="274320"/>
          </a:xfrm>
          <a:prstGeom prst="rect">
            <a:avLst/>
          </a:prstGeom>
          <a:noFill/>
          <a:ln/>
        </p:spPr>
        <p:txBody>
          <a:bodyPr wrap="square" lIns="0" tIns="0" rIns="0" bIns="0" rtlCol="0" anchor="ctr"/>
          <a:lstStyle/>
          <a:p>
            <a:pPr indent="0" marL="0">
              <a:buNone/>
            </a:pPr>
            <a:r>
              <a:rPr lang="en-US" sz="1350" b="1" dirty="0">
                <a:solidFill>
                  <a:srgbClr val="111111"/>
                </a:solidFill>
              </a:rPr>
              <a:t>How often a partner sits there</a:t>
            </a:r>
            <a:endParaRPr lang="en-US" sz="1350" dirty="0"/>
          </a:p>
        </p:txBody>
      </p:sp>
      <p:sp>
        <p:nvSpPr>
          <p:cNvPr id="4" name="sp-s1"/>
          <p:cNvSpPr txBox="1"/>
          <p:nvPr/>
        </p:nvSpPr>
        <p:spPr>
          <a:xfrm>
            <a:off x="731520" y="1335024"/>
            <a:ext cx="4937760" cy="274320"/>
          </a:xfrm>
          <a:prstGeom prst="rect">
            <a:avLst/>
          </a:prstGeom>
          <a:noFill/>
          <a:ln/>
        </p:spPr>
        <p:txBody>
          <a:bodyPr wrap="square" lIns="0" tIns="0" rIns="0" bIns="0" rtlCol="0" anchor="ctr"/>
          <a:lstStyle/>
          <a:p>
            <a:pPr indent="0" marL="0">
              <a:buNone/>
            </a:pPr>
            <a:r>
              <a:rPr lang="en-US" sz="1050" dirty="0">
                <a:solidFill>
                  <a:srgbClr val="595959"/>
                </a:solidFill>
              </a:rPr>
              <a:t>every footprint of that family, important or not</a:t>
            </a:r>
            <a:endParaRPr lang="en-US" sz="1050" dirty="0"/>
          </a:p>
        </p:txBody>
      </p:sp>
      <p:pic>
        <p:nvPicPr>
          <p:cNvPr id="5" name="Image 0" descr="/Users/z5162865/WongLab/AlphaGenome_Ap1/Analysis/slide_figures/panels/s7_occurrence.png">    </p:cNvPr>
          <p:cNvPicPr>
            <a:picLocks noChangeAspect="1"/>
          </p:cNvPicPr>
          <p:nvPr/>
        </p:nvPicPr>
        <p:blipFill>
          <a:blip r:embed="rId1"/>
          <a:stretch>
            <a:fillRect/>
          </a:stretch>
        </p:blipFill>
        <p:spPr>
          <a:xfrm>
            <a:off x="757624" y="1691640"/>
            <a:ext cx="4885551" cy="3200400"/>
          </a:xfrm>
          <a:prstGeom prst="rect">
            <a:avLst/>
          </a:prstGeom>
        </p:spPr>
      </p:pic>
      <p:sp>
        <p:nvSpPr>
          <p:cNvPr id="6" name="sp-t2"/>
          <p:cNvSpPr txBox="1"/>
          <p:nvPr/>
        </p:nvSpPr>
        <p:spPr>
          <a:xfrm>
            <a:off x="6309360" y="1051560"/>
            <a:ext cx="5120640" cy="274320"/>
          </a:xfrm>
          <a:prstGeom prst="rect">
            <a:avLst/>
          </a:prstGeom>
          <a:noFill/>
          <a:ln/>
        </p:spPr>
        <p:txBody>
          <a:bodyPr wrap="square" lIns="0" tIns="0" rIns="0" bIns="0" rtlCol="0" anchor="ctr"/>
          <a:lstStyle/>
          <a:p>
            <a:pPr indent="0" marL="0">
              <a:buNone/>
            </a:pPr>
            <a:r>
              <a:rPr lang="en-US" sz="1350" b="1" dirty="0">
                <a:solidFill>
                  <a:srgbClr val="111111"/>
                </a:solidFill>
              </a:rPr>
              <a:t>How much it matters there</a:t>
            </a:r>
            <a:endParaRPr lang="en-US" sz="1350" dirty="0"/>
          </a:p>
        </p:txBody>
      </p:sp>
      <p:sp>
        <p:nvSpPr>
          <p:cNvPr id="7" name="sp-s2"/>
          <p:cNvSpPr txBox="1"/>
          <p:nvPr/>
        </p:nvSpPr>
        <p:spPr>
          <a:xfrm>
            <a:off x="6309360" y="1335024"/>
            <a:ext cx="5120640" cy="274320"/>
          </a:xfrm>
          <a:prstGeom prst="rect">
            <a:avLst/>
          </a:prstGeom>
          <a:noFill/>
          <a:ln/>
        </p:spPr>
        <p:txBody>
          <a:bodyPr wrap="square" lIns="0" tIns="0" rIns="0" bIns="0" rtlCol="0" anchor="ctr"/>
          <a:lstStyle/>
          <a:p>
            <a:pPr indent="0" marL="0">
              <a:buNone/>
            </a:pPr>
            <a:r>
              <a:rPr lang="en-US" sz="1050" dirty="0">
                <a:solidFill>
                  <a:srgbClr val="595959"/>
                </a:solidFill>
              </a:rPr>
              <a:t>against footprint-free tiles the same distance away</a:t>
            </a:r>
            <a:endParaRPr lang="en-US" sz="1050" dirty="0"/>
          </a:p>
        </p:txBody>
      </p:sp>
      <p:pic>
        <p:nvPicPr>
          <p:cNvPr id="8" name="Image 1" descr="/Users/z5162865/WongLab/AlphaGenome_Ap1/Analysis/slide_figures/panels/s7_importance.png">    </p:cNvPr>
          <p:cNvPicPr>
            <a:picLocks noChangeAspect="1"/>
          </p:cNvPicPr>
          <p:nvPr/>
        </p:nvPicPr>
        <p:blipFill>
          <a:blip r:embed="rId2"/>
          <a:stretch>
            <a:fillRect/>
          </a:stretch>
        </p:blipFill>
        <p:spPr>
          <a:xfrm>
            <a:off x="6409568" y="1691640"/>
            <a:ext cx="4920225" cy="3200400"/>
          </a:xfrm>
          <a:prstGeom prst="rect">
            <a:avLst/>
          </a:prstGeom>
        </p:spPr>
      </p:pic>
      <p:sp>
        <p:nvSpPr>
          <p:cNvPr id="9" name="lg-dot-5.45-0"/>
          <p:cNvSpPr/>
          <p:nvPr/>
        </p:nvSpPr>
        <p:spPr>
          <a:xfrm>
            <a:off x="731520" y="5024628"/>
            <a:ext cx="109728" cy="109728"/>
          </a:xfrm>
          <a:prstGeom prst="ellipse">
            <a:avLst/>
          </a:prstGeom>
          <a:solidFill>
            <a:srgbClr val="C2551C"/>
          </a:solidFill>
          <a:ln w="12700">
            <a:solidFill>
              <a:srgbClr val="C2551C"/>
            </a:solidFill>
            <a:prstDash val="solid"/>
          </a:ln>
        </p:spPr>
      </p:sp>
      <p:sp>
        <p:nvSpPr>
          <p:cNvPr id="10" name="lg-txt-5.45-0"/>
          <p:cNvSpPr txBox="1"/>
          <p:nvPr/>
        </p:nvSpPr>
        <p:spPr>
          <a:xfrm>
            <a:off x="886968" y="4983480"/>
            <a:ext cx="464515" cy="201168"/>
          </a:xfrm>
          <a:prstGeom prst="rect">
            <a:avLst/>
          </a:prstGeom>
          <a:noFill/>
          <a:ln/>
        </p:spPr>
        <p:txBody>
          <a:bodyPr wrap="square" lIns="0" tIns="0" rIns="0" bIns="0" rtlCol="0" anchor="ctr"/>
          <a:lstStyle/>
          <a:p>
            <a:pPr indent="0" marL="0">
              <a:buNone/>
            </a:pPr>
            <a:r>
              <a:rPr lang="en-US" sz="1050" dirty="0">
                <a:solidFill>
                  <a:srgbClr val="111111"/>
                </a:solidFill>
              </a:rPr>
              <a:t>MEF2</a:t>
            </a:r>
            <a:endParaRPr lang="en-US" sz="1050" dirty="0"/>
          </a:p>
        </p:txBody>
      </p:sp>
      <p:sp>
        <p:nvSpPr>
          <p:cNvPr id="11" name="lg-dot-5.45-1"/>
          <p:cNvSpPr/>
          <p:nvPr/>
        </p:nvSpPr>
        <p:spPr>
          <a:xfrm>
            <a:off x="1461211" y="5024628"/>
            <a:ext cx="109728" cy="109728"/>
          </a:xfrm>
          <a:prstGeom prst="ellipse">
            <a:avLst/>
          </a:prstGeom>
          <a:solidFill>
            <a:srgbClr val="9A9993"/>
          </a:solidFill>
          <a:ln w="12700">
            <a:solidFill>
              <a:srgbClr val="9A9993"/>
            </a:solidFill>
            <a:prstDash val="solid"/>
          </a:ln>
        </p:spPr>
      </p:sp>
      <p:sp>
        <p:nvSpPr>
          <p:cNvPr id="12" name="lg-txt-5.45-1"/>
          <p:cNvSpPr txBox="1"/>
          <p:nvPr/>
        </p:nvSpPr>
        <p:spPr>
          <a:xfrm>
            <a:off x="1616659" y="4983480"/>
            <a:ext cx="727862" cy="201168"/>
          </a:xfrm>
          <a:prstGeom prst="rect">
            <a:avLst/>
          </a:prstGeom>
          <a:noFill/>
          <a:ln/>
        </p:spPr>
        <p:txBody>
          <a:bodyPr wrap="square" lIns="0" tIns="0" rIns="0" bIns="0" rtlCol="0" anchor="ctr"/>
          <a:lstStyle/>
          <a:p>
            <a:pPr indent="0" marL="0">
              <a:buNone/>
            </a:pPr>
            <a:r>
              <a:rPr lang="en-US" sz="1050" dirty="0">
                <a:solidFill>
                  <a:srgbClr val="111111"/>
                </a:solidFill>
              </a:rPr>
              <a:t>KLF / SP</a:t>
            </a:r>
            <a:endParaRPr lang="en-US" sz="1050" dirty="0"/>
          </a:p>
        </p:txBody>
      </p:sp>
      <p:sp>
        <p:nvSpPr>
          <p:cNvPr id="13" name="sp-key"/>
          <p:cNvSpPr txBox="1"/>
          <p:nvPr/>
        </p:nvSpPr>
        <p:spPr>
          <a:xfrm>
            <a:off x="731520" y="5285232"/>
            <a:ext cx="10698480" cy="365760"/>
          </a:xfrm>
          <a:prstGeom prst="rect">
            <a:avLst/>
          </a:prstGeom>
          <a:noFill/>
          <a:ln/>
        </p:spPr>
        <p:txBody>
          <a:bodyPr wrap="square" lIns="0" tIns="0" rIns="0" bIns="0" rtlCol="0" anchor="ctr"/>
          <a:lstStyle/>
          <a:p>
            <a:pPr indent="0" marL="0">
              <a:buNone/>
            </a:pPr>
            <a:r>
              <a:rPr lang="en-US" sz="950" dirty="0">
                <a:solidFill>
                  <a:srgbClr val="595959"/>
                </a:solidFill>
              </a:rPr>
              <a:t>shaded band on the left: 11–25 bp, where a neighbour abuts the motif.   MEF2 is 2.67× enriched there against 1.47× for KLF/SP (FDR 0.004).</a:t>
            </a:r>
            <a:endParaRPr lang="en-US" sz="95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is 2.67× enriched at 11–25 bp and is worth −0.9 log2 there; KLF/SP is the commonest neighbour and is worth nothing anywhere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are short of that MEF2</a:t>
            </a:r>
            <a:endParaRPr lang="en-US" sz="2800" dirty="0"/>
          </a:p>
        </p:txBody>
      </p:sp>
      <p:sp>
        <p:nvSpPr>
          <p:cNvPr id="3" name="s9_mef2_by_class-title-0"/>
          <p:cNvSpPr txBox="1"/>
          <p:nvPr/>
        </p:nvSpPr>
        <p:spPr>
          <a:xfrm>
            <a:off x="2487168"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A MEF2 footprint within 25 bp</a:t>
            </a:r>
            <a:endParaRPr lang="en-US" sz="1250" dirty="0"/>
          </a:p>
        </p:txBody>
      </p:sp>
      <p:sp>
        <p:nvSpPr>
          <p:cNvPr id="4" name="s9_mef2_by_class-sub-0"/>
          <p:cNvSpPr txBox="1"/>
          <p:nvPr/>
        </p:nvSpPr>
        <p:spPr>
          <a:xfrm>
            <a:off x="2487168"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counting footprints, used by the model or not</a:t>
            </a:r>
            <a:endParaRPr lang="en-US" sz="950" dirty="0"/>
          </a:p>
        </p:txBody>
      </p:sp>
      <p:pic>
        <p:nvPicPr>
          <p:cNvPr id="5" name="Image 0" descr="/Users/z5162865/WongLab/AlphaGenome_Ap1/Analysis/slide_figures/panels/s9_mef2_by_class_c0_r0.png">    </p:cNvPr>
          <p:cNvPicPr>
            <a:picLocks noChangeAspect="1"/>
          </p:cNvPicPr>
          <p:nvPr/>
        </p:nvPicPr>
        <p:blipFill>
          <a:blip r:embed="rId1"/>
          <a:stretch>
            <a:fillRect/>
          </a:stretch>
        </p:blipFill>
        <p:spPr>
          <a:xfrm>
            <a:off x="2771546" y="1892808"/>
            <a:ext cx="3097987" cy="2816352"/>
          </a:xfrm>
          <a:prstGeom prst="rect">
            <a:avLst/>
          </a:prstGeom>
        </p:spPr>
      </p:pic>
      <p:sp>
        <p:nvSpPr>
          <p:cNvPr id="6" name="s9_mef2_by_class-title-1"/>
          <p:cNvSpPr txBox="1"/>
          <p:nvPr/>
        </p:nvSpPr>
        <p:spPr>
          <a:xfrm>
            <a:off x="6227064"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...one the model actually leans on</a:t>
            </a:r>
            <a:endParaRPr lang="en-US" sz="1250" dirty="0"/>
          </a:p>
        </p:txBody>
      </p:sp>
      <p:sp>
        <p:nvSpPr>
          <p:cNvPr id="7" name="s9_mef2_by_class-sub-1"/>
          <p:cNvSpPr txBox="1"/>
          <p:nvPr/>
        </p:nvSpPr>
        <p:spPr>
          <a:xfrm>
            <a:off x="6227064"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restricted to tiles worth more than 0.2 log2</a:t>
            </a:r>
            <a:endParaRPr lang="en-US" sz="950" dirty="0"/>
          </a:p>
        </p:txBody>
      </p:sp>
      <p:pic>
        <p:nvPicPr>
          <p:cNvPr id="8" name="Image 1" descr="/Users/z5162865/WongLab/AlphaGenome_Ap1/Analysis/slide_figures/panels/s9_mef2_by_class_c1_r0.png">    </p:cNvPr>
          <p:cNvPicPr>
            <a:picLocks noChangeAspect="1"/>
          </p:cNvPicPr>
          <p:nvPr/>
        </p:nvPicPr>
        <p:blipFill>
          <a:blip r:embed="rId2"/>
          <a:stretch>
            <a:fillRect/>
          </a:stretch>
        </p:blipFill>
        <p:spPr>
          <a:xfrm>
            <a:off x="6511442" y="1892808"/>
            <a:ext cx="3097987" cy="2816352"/>
          </a:xfrm>
          <a:prstGeom prst="rect">
            <a:avLst/>
          </a:prstGeom>
        </p:spPr>
      </p:pic>
      <p:sp>
        <p:nvSpPr>
          <p:cNvPr id="9" name="s9_mef2_by_class-dot-0"/>
          <p:cNvSpPr/>
          <p:nvPr/>
        </p:nvSpPr>
        <p:spPr>
          <a:xfrm>
            <a:off x="2377440" y="4914900"/>
            <a:ext cx="109728" cy="109728"/>
          </a:xfrm>
          <a:prstGeom prst="ellipse">
            <a:avLst/>
          </a:prstGeom>
          <a:solidFill>
            <a:srgbClr val="4F4F4F"/>
          </a:solidFill>
          <a:ln w="12700">
            <a:solidFill>
              <a:srgbClr val="4F4F4F"/>
            </a:solidFill>
            <a:prstDash val="solid"/>
          </a:ln>
        </p:spPr>
      </p:sp>
      <p:sp>
        <p:nvSpPr>
          <p:cNvPr id="10" name="s9_mef2_by_class-leg-0"/>
          <p:cNvSpPr txBox="1"/>
          <p:nvPr/>
        </p:nvSpPr>
        <p:spPr>
          <a:xfrm>
            <a:off x="253288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1" name="s9_mef2_by_class-dot-1"/>
          <p:cNvSpPr/>
          <p:nvPr/>
        </p:nvSpPr>
        <p:spPr>
          <a:xfrm>
            <a:off x="3699662" y="4914900"/>
            <a:ext cx="109728" cy="109728"/>
          </a:xfrm>
          <a:prstGeom prst="ellipse">
            <a:avLst/>
          </a:prstGeom>
          <a:solidFill>
            <a:srgbClr val="C2551C"/>
          </a:solidFill>
          <a:ln w="12700">
            <a:solidFill>
              <a:srgbClr val="C2551C"/>
            </a:solidFill>
            <a:prstDash val="solid"/>
          </a:ln>
        </p:spPr>
      </p:sp>
      <p:sp>
        <p:nvSpPr>
          <p:cNvPr id="12" name="s9_mef2_by_class-leg-1"/>
          <p:cNvSpPr txBox="1"/>
          <p:nvPr/>
        </p:nvSpPr>
        <p:spPr>
          <a:xfrm>
            <a:off x="385511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3" name="s9_mef2_by_class-dot-2"/>
          <p:cNvSpPr/>
          <p:nvPr/>
        </p:nvSpPr>
        <p:spPr>
          <a:xfrm>
            <a:off x="4561027" y="4914900"/>
            <a:ext cx="109728" cy="109728"/>
          </a:xfrm>
          <a:prstGeom prst="ellipse">
            <a:avLst/>
          </a:prstGeom>
          <a:solidFill>
            <a:srgbClr val="1F6FB2"/>
          </a:solidFill>
          <a:ln w="12700">
            <a:solidFill>
              <a:srgbClr val="1F6FB2"/>
            </a:solidFill>
            <a:prstDash val="solid"/>
          </a:ln>
        </p:spPr>
      </p:sp>
      <p:sp>
        <p:nvSpPr>
          <p:cNvPr id="14" name="s9_mef2_by_class-leg-2"/>
          <p:cNvSpPr txBox="1"/>
          <p:nvPr/>
        </p:nvSpPr>
        <p:spPr>
          <a:xfrm>
            <a:off x="471647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5" name="s9_mef2_by_class-dot-3"/>
          <p:cNvSpPr/>
          <p:nvPr/>
        </p:nvSpPr>
        <p:spPr>
          <a:xfrm>
            <a:off x="5554066" y="4914900"/>
            <a:ext cx="109728" cy="109728"/>
          </a:xfrm>
          <a:prstGeom prst="ellipse">
            <a:avLst/>
          </a:prstGeom>
          <a:solidFill>
            <a:srgbClr val="2E7D32"/>
          </a:solidFill>
          <a:ln w="12700">
            <a:solidFill>
              <a:srgbClr val="2E7D32"/>
            </a:solidFill>
            <a:prstDash val="solid"/>
          </a:ln>
        </p:spPr>
      </p:sp>
      <p:sp>
        <p:nvSpPr>
          <p:cNvPr id="16" name="s9_mef2_by_class-leg-3"/>
          <p:cNvSpPr txBox="1"/>
          <p:nvPr/>
        </p:nvSpPr>
        <p:spPr>
          <a:xfrm>
            <a:off x="570951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7" name="s9_mef2_by_class-dot-4"/>
          <p:cNvSpPr/>
          <p:nvPr/>
        </p:nvSpPr>
        <p:spPr>
          <a:xfrm>
            <a:off x="6744614" y="4914900"/>
            <a:ext cx="109728" cy="109728"/>
          </a:xfrm>
          <a:prstGeom prst="ellipse">
            <a:avLst/>
          </a:prstGeom>
          <a:solidFill>
            <a:srgbClr val="7B3FA0"/>
          </a:solidFill>
          <a:ln w="12700">
            <a:solidFill>
              <a:srgbClr val="7B3FA0"/>
            </a:solidFill>
            <a:prstDash val="solid"/>
          </a:ln>
        </p:spPr>
      </p:sp>
      <p:sp>
        <p:nvSpPr>
          <p:cNvPr id="18" name="s9_mef2_by_class-leg-4"/>
          <p:cNvSpPr txBox="1"/>
          <p:nvPr/>
        </p:nvSpPr>
        <p:spPr>
          <a:xfrm>
            <a:off x="690006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9" name="s9_mef2_by_class-dot-5"/>
          <p:cNvSpPr/>
          <p:nvPr/>
        </p:nvSpPr>
        <p:spPr>
          <a:xfrm>
            <a:off x="8066837" y="4914900"/>
            <a:ext cx="109728" cy="109728"/>
          </a:xfrm>
          <a:prstGeom prst="ellipse">
            <a:avLst/>
          </a:prstGeom>
          <a:solidFill>
            <a:srgbClr val="B3B2AE"/>
          </a:solidFill>
          <a:ln w="12700">
            <a:solidFill>
              <a:srgbClr val="B3B2AE"/>
            </a:solidFill>
            <a:prstDash val="solid"/>
          </a:ln>
        </p:spPr>
      </p:sp>
      <p:sp>
        <p:nvSpPr>
          <p:cNvPr id="20" name="s9_mef2_by_class-leg-5"/>
          <p:cNvSpPr txBox="1"/>
          <p:nvPr/>
        </p:nvSpPr>
        <p:spPr>
          <a:xfrm>
            <a:off x="822228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1" name="s9_mef2_by_class-key"/>
          <p:cNvSpPr txBox="1"/>
          <p:nvPr/>
        </p:nvSpPr>
        <p:spPr>
          <a:xfrm>
            <a:off x="2377440" y="5148072"/>
            <a:ext cx="758952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with a 95% bootstrap CI.   Fisher's exact test against that reference, BH across all 10 tests on this figure.   *** p&lt;0.001   ** p&lt;0.01   * p&lt;0.05   ns ≥ 0.05</a:t>
            </a:r>
            <a:endParaRPr lang="en-US" sz="900" dirty="0"/>
          </a:p>
        </p:txBody>
      </p:sp>
      <p:sp>
        <p:nvSpPr>
          <p:cNvPr id="2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Age Up 5.8% and Exercise Down 5.4% carry a close MEF2, against 8.5% of Stable sites — and the gap is sharper when only the MEF2 the model uses is counted</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Is the partner missing, or just worth less?</a:t>
            </a:r>
            <a:endParaRPr lang="en-US" sz="2800" dirty="0"/>
          </a:p>
        </p:txBody>
      </p:sp>
      <p:sp>
        <p:nvSpPr>
          <p:cNvPr id="3" name="or-intro"/>
          <p:cNvSpPr txBox="1"/>
          <p:nvPr/>
        </p:nvSpPr>
        <p:spPr>
          <a:xfrm>
            <a:off x="731520" y="1005840"/>
            <a:ext cx="10881360" cy="420624"/>
          </a:xfrm>
          <a:prstGeom prst="rect">
            <a:avLst/>
          </a:prstGeom>
          <a:noFill/>
          <a:ln/>
        </p:spPr>
        <p:txBody>
          <a:bodyPr wrap="square" lIns="0" tIns="0" rIns="0" bIns="0" rtlCol="0" anchor="ctr"/>
          <a:lstStyle/>
          <a:p>
            <a:pPr indent="0" marL="0">
              <a:buNone/>
            </a:pPr>
            <a:r>
              <a:rPr lang="en-US" sz="1150" dirty="0">
                <a:solidFill>
                  <a:srgbClr val="595959"/>
                </a:solidFill>
              </a:rPr>
              <a:t>Rank the 60 windows within each element, take the three most damaging, and ask whether any covers that family’s footprint. A within-element question, so a class with less total dependence is not penalised for it.</a:t>
            </a:r>
            <a:endParaRPr lang="en-US" sz="1150" dirty="0"/>
          </a:p>
        </p:txBody>
      </p:sp>
      <p:sp>
        <p:nvSpPr>
          <p:cNvPr id="4" name="or-t1"/>
          <p:cNvSpPr txBox="1"/>
          <p:nvPr/>
        </p:nvSpPr>
        <p:spPr>
          <a:xfrm>
            <a:off x="13716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MEF2</a:t>
            </a:r>
            <a:endParaRPr lang="en-US" sz="1350" dirty="0"/>
          </a:p>
        </p:txBody>
      </p:sp>
      <p:pic>
        <p:nvPicPr>
          <p:cNvPr id="5" name="Image 0" descr="/Users/z5162865/WongLab/AlphaGenome_Ap1/Analysis/slide_figures/panels/s10_mef2_all.png">    </p:cNvPr>
          <p:cNvPicPr>
            <a:picLocks noChangeAspect="1"/>
          </p:cNvPicPr>
          <p:nvPr/>
        </p:nvPicPr>
        <p:blipFill>
          <a:blip r:embed="rId1"/>
          <a:stretch>
            <a:fillRect/>
          </a:stretch>
        </p:blipFill>
        <p:spPr>
          <a:xfrm>
            <a:off x="1730862" y="1883664"/>
            <a:ext cx="3853476" cy="3017520"/>
          </a:xfrm>
          <a:prstGeom prst="rect">
            <a:avLst/>
          </a:prstGeom>
        </p:spPr>
      </p:pic>
      <p:sp>
        <p:nvSpPr>
          <p:cNvPr id="6" name="or-t2"/>
          <p:cNvSpPr txBox="1"/>
          <p:nvPr/>
        </p:nvSpPr>
        <p:spPr>
          <a:xfrm>
            <a:off x="64008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A second AP-1 footprint</a:t>
            </a:r>
            <a:endParaRPr lang="en-US" sz="1350" dirty="0"/>
          </a:p>
        </p:txBody>
      </p:sp>
      <p:pic>
        <p:nvPicPr>
          <p:cNvPr id="7" name="Image 1" descr="/Users/z5162865/WongLab/AlphaGenome_Ap1/Analysis/slide_figures/panels/s10_ap1.png">    </p:cNvPr>
          <p:cNvPicPr>
            <a:picLocks noChangeAspect="1"/>
          </p:cNvPicPr>
          <p:nvPr/>
        </p:nvPicPr>
        <p:blipFill>
          <a:blip r:embed="rId2"/>
          <a:stretch>
            <a:fillRect/>
          </a:stretch>
        </p:blipFill>
        <p:spPr>
          <a:xfrm>
            <a:off x="6760062" y="1883664"/>
            <a:ext cx="3853476" cy="3017520"/>
          </a:xfrm>
          <a:prstGeom prst="rect">
            <a:avLst/>
          </a:prstGeom>
        </p:spPr>
      </p:pic>
      <p:sp>
        <p:nvSpPr>
          <p:cNvPr id="8" name="lg-dot-5.5-0"/>
          <p:cNvSpPr/>
          <p:nvPr/>
        </p:nvSpPr>
        <p:spPr>
          <a:xfrm>
            <a:off x="1371600" y="5070348"/>
            <a:ext cx="109728" cy="109728"/>
          </a:xfrm>
          <a:prstGeom prst="ellipse">
            <a:avLst/>
          </a:prstGeom>
          <a:solidFill>
            <a:srgbClr val="C2551C"/>
          </a:solidFill>
          <a:ln w="12700">
            <a:solidFill>
              <a:srgbClr val="C2551C"/>
            </a:solidFill>
            <a:prstDash val="solid"/>
          </a:ln>
        </p:spPr>
      </p:sp>
      <p:sp>
        <p:nvSpPr>
          <p:cNvPr id="9" name="lg-txt-5.5-0"/>
          <p:cNvSpPr txBox="1"/>
          <p:nvPr/>
        </p:nvSpPr>
        <p:spPr>
          <a:xfrm>
            <a:off x="1527048" y="5029200"/>
            <a:ext cx="2307946" cy="201168"/>
          </a:xfrm>
          <a:prstGeom prst="rect">
            <a:avLst/>
          </a:prstGeom>
          <a:noFill/>
          <a:ln/>
        </p:spPr>
        <p:txBody>
          <a:bodyPr wrap="square" lIns="0" tIns="0" rIns="0" bIns="0" rtlCol="0" anchor="ctr"/>
          <a:lstStyle/>
          <a:p>
            <a:pPr indent="0" marL="0">
              <a:buNone/>
            </a:pPr>
            <a:r>
              <a:rPr lang="en-US" sz="1050" dirty="0">
                <a:solidFill>
                  <a:srgbClr val="111111"/>
                </a:solidFill>
              </a:rPr>
              <a:t>does the element have one at all</a:t>
            </a:r>
            <a:endParaRPr lang="en-US" sz="1050" dirty="0"/>
          </a:p>
        </p:txBody>
      </p:sp>
      <p:sp>
        <p:nvSpPr>
          <p:cNvPr id="10" name="lg-dot-5.5-1"/>
          <p:cNvSpPr/>
          <p:nvPr/>
        </p:nvSpPr>
        <p:spPr>
          <a:xfrm>
            <a:off x="3944722" y="5070348"/>
            <a:ext cx="109728" cy="109728"/>
          </a:xfrm>
          <a:prstGeom prst="ellipse">
            <a:avLst/>
          </a:prstGeom>
          <a:solidFill>
            <a:srgbClr val="4F4F4F"/>
          </a:solidFill>
          <a:ln w="12700">
            <a:solidFill>
              <a:srgbClr val="4F4F4F"/>
            </a:solidFill>
            <a:prstDash val="solid"/>
          </a:ln>
        </p:spPr>
      </p:sp>
      <p:sp>
        <p:nvSpPr>
          <p:cNvPr id="11" name="lg-txt-5.5-1"/>
          <p:cNvSpPr txBox="1"/>
          <p:nvPr/>
        </p:nvSpPr>
        <p:spPr>
          <a:xfrm>
            <a:off x="4100170" y="5029200"/>
            <a:ext cx="2373782" cy="201168"/>
          </a:xfrm>
          <a:prstGeom prst="rect">
            <a:avLst/>
          </a:prstGeom>
          <a:noFill/>
          <a:ln/>
        </p:spPr>
        <p:txBody>
          <a:bodyPr wrap="square" lIns="0" tIns="0" rIns="0" bIns="0" rtlCol="0" anchor="ctr"/>
          <a:lstStyle/>
          <a:p>
            <a:pPr indent="0" marL="0">
              <a:buNone/>
            </a:pPr>
            <a:r>
              <a:rPr lang="en-US" sz="1050" dirty="0">
                <a:solidFill>
                  <a:srgbClr val="111111"/>
                </a:solidFill>
              </a:rPr>
              <a:t>when it has one, is it ranked top</a:t>
            </a:r>
            <a:endParaRPr lang="en-US" sz="1050" dirty="0"/>
          </a:p>
        </p:txBody>
      </p:sp>
      <p:sp>
        <p:nvSpPr>
          <p:cNvPr id="12" name="or-key"/>
          <p:cNvSpPr txBox="1"/>
          <p:nvPr/>
        </p:nvSpPr>
        <p:spPr>
          <a:xfrm>
            <a:off x="731520" y="5376672"/>
            <a:ext cx="10881360" cy="457200"/>
          </a:xfrm>
          <a:prstGeom prst="rect">
            <a:avLst/>
          </a:prstGeom>
          <a:noFill/>
          <a:ln/>
        </p:spPr>
        <p:txBody>
          <a:bodyPr wrap="square" lIns="0" tIns="0" rIns="0" bIns="0" rtlCol="0" anchor="ctr"/>
          <a:lstStyle/>
          <a:p>
            <a:pPr indent="0" marL="0">
              <a:buNone/>
            </a:pPr>
            <a:r>
              <a:rPr lang="en-US" sz="950" dirty="0">
                <a:solidFill>
                  <a:srgbClr val="595959"/>
                </a:solidFill>
              </a:rPr>
              <a:t>log2 odds ratio against all Stable sites with a 95% CI; dotted line = no difference, so −1 is half the odds and +1 is double.   MEF2, does it have one: Age Up OR 0.45, Exercise Down 0.56, Dynamic 0.58, all FDR ≤ 0.005.   AP-1, when it has one: Dynamic OR 1.45, FDR 0.036.</a:t>
            </a:r>
            <a:endParaRPr lang="en-US" sz="95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MEF2 deficit is about having one, not about how it is ranked — and responsive elements lean more on a second AP-1 site when they have one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sp>
        <p:nvSpPr>
          <p:cNvPr id="3" name="prof-t1"/>
          <p:cNvSpPr txBox="1"/>
          <p:nvPr/>
        </p:nvSpPr>
        <p:spPr>
          <a:xfrm>
            <a:off x="502920" y="1042416"/>
            <a:ext cx="6949440" cy="274320"/>
          </a:xfrm>
          <a:prstGeom prst="rect">
            <a:avLst/>
          </a:prstGeom>
          <a:noFill/>
          <a:ln/>
        </p:spPr>
        <p:txBody>
          <a:bodyPr wrap="square" lIns="0" tIns="0" rIns="0" bIns="0" rtlCol="0" anchor="ctr"/>
          <a:lstStyle/>
          <a:p>
            <a:pPr indent="0" marL="0">
              <a:buNone/>
            </a:pPr>
            <a:r>
              <a:rPr lang="en-US" sz="1350" b="1" dirty="0">
                <a:solidFill>
                  <a:srgbClr val="111111"/>
                </a:solidFill>
              </a:rPr>
              <a:t>Where the dependence sits across the element</a:t>
            </a:r>
            <a:endParaRPr lang="en-US" sz="1350" dirty="0"/>
          </a:p>
        </p:txBody>
      </p:sp>
      <p:sp>
        <p:nvSpPr>
          <p:cNvPr id="4" name="prof-s1"/>
          <p:cNvSpPr txBox="1"/>
          <p:nvPr/>
        </p:nvSpPr>
        <p:spPr>
          <a:xfrm>
            <a:off x="502920" y="1325880"/>
            <a:ext cx="6949440" cy="274320"/>
          </a:xfrm>
          <a:prstGeom prst="rect">
            <a:avLst/>
          </a:prstGeom>
          <a:noFill/>
          <a:ln/>
        </p:spPr>
        <p:txBody>
          <a:bodyPr wrap="square" lIns="0" tIns="0" rIns="0" bIns="0" rtlCol="0" anchor="ctr"/>
          <a:lstStyle/>
          <a:p>
            <a:pPr indent="0" marL="0">
              <a:buNone/>
            </a:pPr>
            <a:r>
              <a:rPr lang="en-US" sz="1050" dirty="0">
                <a:solidFill>
                  <a:srgbClr val="595959"/>
                </a:solidFill>
              </a:rPr>
              <a:t>median loss at each of the 60 windows, smoothed over 3; gold band = the ±15 bp core</a:t>
            </a:r>
            <a:endParaRPr lang="en-US" sz="1050" dirty="0"/>
          </a:p>
        </p:txBody>
      </p:sp>
      <p:pic>
        <p:nvPicPr>
          <p:cNvPr id="5" name="Image 0" descr="/Users/z5162865/WongLab/AlphaGenome_Ap1/Analysis/slide_figures/panels/s12_profile_absolute.png">    </p:cNvPr>
          <p:cNvPicPr>
            <a:picLocks noChangeAspect="1"/>
          </p:cNvPicPr>
          <p:nvPr/>
        </p:nvPicPr>
        <p:blipFill>
          <a:blip r:embed="rId1"/>
          <a:stretch>
            <a:fillRect/>
          </a:stretch>
        </p:blipFill>
        <p:spPr>
          <a:xfrm>
            <a:off x="1139268" y="1609344"/>
            <a:ext cx="5676744" cy="1783080"/>
          </a:xfrm>
          <a:prstGeom prst="rect">
            <a:avLst/>
          </a:prstGeom>
        </p:spPr>
      </p:pic>
      <p:sp>
        <p:nvSpPr>
          <p:cNvPr id="6" name="prof-t2"/>
          <p:cNvSpPr txBox="1"/>
          <p:nvPr/>
        </p:nvSpPr>
        <p:spPr>
          <a:xfrm>
            <a:off x="502920" y="3456432"/>
            <a:ext cx="6949440" cy="274320"/>
          </a:xfrm>
          <a:prstGeom prst="rect">
            <a:avLst/>
          </a:prstGeom>
          <a:noFill/>
          <a:ln/>
        </p:spPr>
        <p:txBody>
          <a:bodyPr wrap="square" lIns="0" tIns="0" rIns="0" bIns="0" rtlCol="0" anchor="ctr"/>
          <a:lstStyle/>
          <a:p>
            <a:pPr indent="0" marL="0">
              <a:buNone/>
            </a:pPr>
            <a:r>
              <a:rPr lang="en-US" sz="1350" b="1" dirty="0">
                <a:solidFill>
                  <a:srgbClr val="111111"/>
                </a:solidFill>
              </a:rPr>
              <a:t>...and the same as a share of each site’s own total</a:t>
            </a:r>
            <a:endParaRPr lang="en-US" sz="1350" dirty="0"/>
          </a:p>
        </p:txBody>
      </p:sp>
      <p:sp>
        <p:nvSpPr>
          <p:cNvPr id="7" name="prof-s2"/>
          <p:cNvSpPr txBox="1"/>
          <p:nvPr/>
        </p:nvSpPr>
        <p:spPr>
          <a:xfrm>
            <a:off x="502920" y="3721608"/>
            <a:ext cx="6949440" cy="274320"/>
          </a:xfrm>
          <a:prstGeom prst="rect">
            <a:avLst/>
          </a:prstGeom>
          <a:noFill/>
          <a:ln/>
        </p:spPr>
        <p:txBody>
          <a:bodyPr wrap="square" lIns="0" tIns="0" rIns="0" bIns="0" rtlCol="0" anchor="ctr"/>
          <a:lstStyle/>
          <a:p>
            <a:pPr indent="0" marL="0">
              <a:buNone/>
            </a:pPr>
            <a:r>
              <a:rPr lang="en-US" sz="1050" dirty="0">
                <a:solidFill>
                  <a:srgbClr val="595959"/>
                </a:solidFill>
              </a:rPr>
              <a:t>depth divided out, so only the shape is compared</a:t>
            </a:r>
            <a:endParaRPr lang="en-US" sz="1050" dirty="0"/>
          </a:p>
        </p:txBody>
      </p:sp>
      <p:pic>
        <p:nvPicPr>
          <p:cNvPr id="8" name="Image 1" descr="/Users/z5162865/WongLab/AlphaGenome_Ap1/Analysis/slide_figures/panels/s12_profile_shape.png">    </p:cNvPr>
          <p:cNvPicPr>
            <a:picLocks noChangeAspect="1"/>
          </p:cNvPicPr>
          <p:nvPr/>
        </p:nvPicPr>
        <p:blipFill>
          <a:blip r:embed="rId2"/>
          <a:stretch>
            <a:fillRect/>
          </a:stretch>
        </p:blipFill>
        <p:spPr>
          <a:xfrm>
            <a:off x="1284825" y="3950208"/>
            <a:ext cx="5385629" cy="1691640"/>
          </a:xfrm>
          <a:prstGeom prst="rect">
            <a:avLst/>
          </a:prstGeom>
        </p:spPr>
      </p:pic>
      <p:sp>
        <p:nvSpPr>
          <p:cNvPr id="9" name="s3_dependence-title-0"/>
          <p:cNvSpPr txBox="1"/>
          <p:nvPr/>
        </p:nvSpPr>
        <p:spPr>
          <a:xfrm>
            <a:off x="7653528" y="1042416"/>
            <a:ext cx="4005072" cy="237744"/>
          </a:xfrm>
          <a:prstGeom prst="rect">
            <a:avLst/>
          </a:prstGeom>
          <a:noFill/>
          <a:ln/>
        </p:spPr>
        <p:txBody>
          <a:bodyPr wrap="square" lIns="0" tIns="0" rIns="0" bIns="0" rtlCol="0" anchor="ctr"/>
          <a:lstStyle/>
          <a:p>
            <a:pPr indent="0" marL="0">
              <a:buNone/>
            </a:pPr>
            <a:r>
              <a:rPr lang="en-US" sz="1150" b="1" dirty="0">
                <a:solidFill>
                  <a:srgbClr val="111111"/>
                </a:solidFill>
              </a:rPr>
              <a:t>Dependence near the motif</a:t>
            </a:r>
            <a:endParaRPr lang="en-US" sz="1150" dirty="0"/>
          </a:p>
        </p:txBody>
      </p:sp>
      <p:pic>
        <p:nvPicPr>
          <p:cNvPr id="10" name="Image 2" descr="/Users/z5162865/WongLab/AlphaGenome_Ap1/Analysis/slide_figures/panels/s3_dependence_c0_r0.png">    </p:cNvPr>
          <p:cNvPicPr>
            <a:picLocks noChangeAspect="1"/>
          </p:cNvPicPr>
          <p:nvPr/>
        </p:nvPicPr>
        <p:blipFill>
          <a:blip r:embed="rId3"/>
          <a:stretch>
            <a:fillRect/>
          </a:stretch>
        </p:blipFill>
        <p:spPr>
          <a:xfrm>
            <a:off x="7653963" y="1298448"/>
            <a:ext cx="4004201" cy="1274064"/>
          </a:xfrm>
          <a:prstGeom prst="rect">
            <a:avLst/>
          </a:prstGeom>
        </p:spPr>
      </p:pic>
      <p:sp>
        <p:nvSpPr>
          <p:cNvPr id="11" name="s3_dependence-title-1"/>
          <p:cNvSpPr txBox="1"/>
          <p:nvPr/>
        </p:nvSpPr>
        <p:spPr>
          <a:xfrm>
            <a:off x="7653528" y="2627376"/>
            <a:ext cx="4005072" cy="237744"/>
          </a:xfrm>
          <a:prstGeom prst="rect">
            <a:avLst/>
          </a:prstGeom>
          <a:noFill/>
          <a:ln/>
        </p:spPr>
        <p:txBody>
          <a:bodyPr wrap="square" lIns="0" tIns="0" rIns="0" bIns="0" rtlCol="0" anchor="ctr"/>
          <a:lstStyle/>
          <a:p>
            <a:pPr indent="0" marL="0">
              <a:buNone/>
            </a:pPr>
            <a:r>
              <a:rPr lang="en-US" sz="1150" b="1" dirty="0">
                <a:solidFill>
                  <a:srgbClr val="111111"/>
                </a:solidFill>
              </a:rPr>
              <a:t>Dependence out in the context</a:t>
            </a:r>
            <a:endParaRPr lang="en-US" sz="1150" dirty="0"/>
          </a:p>
        </p:txBody>
      </p:sp>
      <p:pic>
        <p:nvPicPr>
          <p:cNvPr id="12" name="Image 3" descr="/Users/z5162865/WongLab/AlphaGenome_Ap1/Analysis/slide_figures/panels/s3_dependence_c1_r0.png">    </p:cNvPr>
          <p:cNvPicPr>
            <a:picLocks noChangeAspect="1"/>
          </p:cNvPicPr>
          <p:nvPr/>
        </p:nvPicPr>
        <p:blipFill>
          <a:blip r:embed="rId4"/>
          <a:stretch>
            <a:fillRect/>
          </a:stretch>
        </p:blipFill>
        <p:spPr>
          <a:xfrm>
            <a:off x="7653963" y="2883408"/>
            <a:ext cx="4004201" cy="1274064"/>
          </a:xfrm>
          <a:prstGeom prst="rect">
            <a:avLst/>
          </a:prstGeom>
        </p:spPr>
      </p:pic>
      <p:sp>
        <p:nvSpPr>
          <p:cNvPr id="13" name="s3_dependence-title-2"/>
          <p:cNvSpPr txBox="1"/>
          <p:nvPr/>
        </p:nvSpPr>
        <p:spPr>
          <a:xfrm>
            <a:off x="7653528" y="4212336"/>
            <a:ext cx="4005072" cy="237744"/>
          </a:xfrm>
          <a:prstGeom prst="rect">
            <a:avLst/>
          </a:prstGeom>
          <a:noFill/>
          <a:ln/>
        </p:spPr>
        <p:txBody>
          <a:bodyPr wrap="square" lIns="0" tIns="0" rIns="0" bIns="0" rtlCol="0" anchor="ctr"/>
          <a:lstStyle/>
          <a:p>
            <a:pPr indent="0" marL="0">
              <a:buNone/>
            </a:pPr>
            <a:r>
              <a:rPr lang="en-US" sz="1150" b="1" dirty="0">
                <a:solidFill>
                  <a:srgbClr val="111111"/>
                </a:solidFill>
              </a:rPr>
              <a:t>Spread along the element</a:t>
            </a:r>
            <a:endParaRPr lang="en-US" sz="1150" dirty="0"/>
          </a:p>
        </p:txBody>
      </p:sp>
      <p:pic>
        <p:nvPicPr>
          <p:cNvPr id="14" name="Image 4" descr="/Users/z5162865/WongLab/AlphaGenome_Ap1/Analysis/slide_figures/panels/s3_dependence_c2_r0.png">    </p:cNvPr>
          <p:cNvPicPr>
            <a:picLocks noChangeAspect="1"/>
          </p:cNvPicPr>
          <p:nvPr/>
        </p:nvPicPr>
        <p:blipFill>
          <a:blip r:embed="rId5"/>
          <a:stretch>
            <a:fillRect/>
          </a:stretch>
        </p:blipFill>
        <p:spPr>
          <a:xfrm>
            <a:off x="7653963" y="4468368"/>
            <a:ext cx="4004201" cy="1274064"/>
          </a:xfrm>
          <a:prstGeom prst="rect">
            <a:avLst/>
          </a:prstGeom>
        </p:spPr>
      </p:pic>
      <p:sp>
        <p:nvSpPr>
          <p:cNvPr id="15" name="s3_dependence-dot-0"/>
          <p:cNvSpPr/>
          <p:nvPr/>
        </p:nvSpPr>
        <p:spPr>
          <a:xfrm>
            <a:off x="502920" y="5765292"/>
            <a:ext cx="109728" cy="109728"/>
          </a:xfrm>
          <a:prstGeom prst="ellipse">
            <a:avLst/>
          </a:prstGeom>
          <a:solidFill>
            <a:srgbClr val="4F4F4F"/>
          </a:solidFill>
          <a:ln w="12700">
            <a:solidFill>
              <a:srgbClr val="4F4F4F"/>
            </a:solidFill>
            <a:prstDash val="solid"/>
          </a:ln>
        </p:spPr>
      </p:sp>
      <p:sp>
        <p:nvSpPr>
          <p:cNvPr id="16" name="s3_dependence-leg-0"/>
          <p:cNvSpPr txBox="1"/>
          <p:nvPr/>
        </p:nvSpPr>
        <p:spPr>
          <a:xfrm>
            <a:off x="658368" y="5724144"/>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7" name="s3_dependence-dot-1"/>
          <p:cNvSpPr/>
          <p:nvPr/>
        </p:nvSpPr>
        <p:spPr>
          <a:xfrm>
            <a:off x="1825142" y="5765292"/>
            <a:ext cx="109728" cy="109728"/>
          </a:xfrm>
          <a:prstGeom prst="ellipse">
            <a:avLst/>
          </a:prstGeom>
          <a:solidFill>
            <a:srgbClr val="C2551C"/>
          </a:solidFill>
          <a:ln w="12700">
            <a:solidFill>
              <a:srgbClr val="C2551C"/>
            </a:solidFill>
            <a:prstDash val="solid"/>
          </a:ln>
        </p:spPr>
      </p:sp>
      <p:sp>
        <p:nvSpPr>
          <p:cNvPr id="18" name="s3_dependence-leg-1"/>
          <p:cNvSpPr txBox="1"/>
          <p:nvPr/>
        </p:nvSpPr>
        <p:spPr>
          <a:xfrm>
            <a:off x="1980590" y="5724144"/>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9" name="s3_dependence-dot-2"/>
          <p:cNvSpPr/>
          <p:nvPr/>
        </p:nvSpPr>
        <p:spPr>
          <a:xfrm>
            <a:off x="2686507" y="5765292"/>
            <a:ext cx="109728" cy="109728"/>
          </a:xfrm>
          <a:prstGeom prst="ellipse">
            <a:avLst/>
          </a:prstGeom>
          <a:solidFill>
            <a:srgbClr val="1F6FB2"/>
          </a:solidFill>
          <a:ln w="12700">
            <a:solidFill>
              <a:srgbClr val="1F6FB2"/>
            </a:solidFill>
            <a:prstDash val="solid"/>
          </a:ln>
        </p:spPr>
      </p:sp>
      <p:sp>
        <p:nvSpPr>
          <p:cNvPr id="20" name="s3_dependence-leg-2"/>
          <p:cNvSpPr txBox="1"/>
          <p:nvPr/>
        </p:nvSpPr>
        <p:spPr>
          <a:xfrm>
            <a:off x="2841955" y="5724144"/>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1" name="s3_dependence-dot-3"/>
          <p:cNvSpPr/>
          <p:nvPr/>
        </p:nvSpPr>
        <p:spPr>
          <a:xfrm>
            <a:off x="3679546" y="5765292"/>
            <a:ext cx="109728" cy="109728"/>
          </a:xfrm>
          <a:prstGeom prst="ellipse">
            <a:avLst/>
          </a:prstGeom>
          <a:solidFill>
            <a:srgbClr val="2E7D32"/>
          </a:solidFill>
          <a:ln w="12700">
            <a:solidFill>
              <a:srgbClr val="2E7D32"/>
            </a:solidFill>
            <a:prstDash val="solid"/>
          </a:ln>
        </p:spPr>
      </p:sp>
      <p:sp>
        <p:nvSpPr>
          <p:cNvPr id="22" name="s3_dependence-leg-3"/>
          <p:cNvSpPr txBox="1"/>
          <p:nvPr/>
        </p:nvSpPr>
        <p:spPr>
          <a:xfrm>
            <a:off x="3834994" y="5724144"/>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3" name="s3_dependence-dot-4"/>
          <p:cNvSpPr/>
          <p:nvPr/>
        </p:nvSpPr>
        <p:spPr>
          <a:xfrm>
            <a:off x="4870094" y="5765292"/>
            <a:ext cx="109728" cy="109728"/>
          </a:xfrm>
          <a:prstGeom prst="ellipse">
            <a:avLst/>
          </a:prstGeom>
          <a:solidFill>
            <a:srgbClr val="7B3FA0"/>
          </a:solidFill>
          <a:ln w="12700">
            <a:solidFill>
              <a:srgbClr val="7B3FA0"/>
            </a:solidFill>
            <a:prstDash val="solid"/>
          </a:ln>
        </p:spPr>
      </p:sp>
      <p:sp>
        <p:nvSpPr>
          <p:cNvPr id="24" name="s3_dependence-leg-4"/>
          <p:cNvSpPr txBox="1"/>
          <p:nvPr/>
        </p:nvSpPr>
        <p:spPr>
          <a:xfrm>
            <a:off x="5025542" y="5724144"/>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5" name="s3_dependence-dot-5"/>
          <p:cNvSpPr/>
          <p:nvPr/>
        </p:nvSpPr>
        <p:spPr>
          <a:xfrm>
            <a:off x="6192317" y="5765292"/>
            <a:ext cx="109728" cy="109728"/>
          </a:xfrm>
          <a:prstGeom prst="ellipse">
            <a:avLst/>
          </a:prstGeom>
          <a:solidFill>
            <a:srgbClr val="B3B2AE"/>
          </a:solidFill>
          <a:ln w="12700">
            <a:solidFill>
              <a:srgbClr val="B3B2AE"/>
            </a:solidFill>
            <a:prstDash val="solid"/>
          </a:ln>
        </p:spPr>
      </p:sp>
      <p:sp>
        <p:nvSpPr>
          <p:cNvPr id="26" name="s3_dependence-leg-5"/>
          <p:cNvSpPr txBox="1"/>
          <p:nvPr/>
        </p:nvSpPr>
        <p:spPr>
          <a:xfrm>
            <a:off x="6347765" y="5724144"/>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7"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Stable sites peak highest at the core; Age Up, Exercise Down and Dynamic carry more of their dependence out in the flanks — Age Down simply has less of everything</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Position is a dial, and a moved motif never replaces the original</a:t>
            </a:r>
            <a:endParaRPr lang="en-US" sz="2800" dirty="0"/>
          </a:p>
        </p:txBody>
      </p:sp>
      <p:sp>
        <p:nvSpPr>
          <p:cNvPr id="3" name="copy-title"/>
          <p:cNvSpPr txBox="1"/>
          <p:nvPr/>
        </p:nvSpPr>
        <p:spPr>
          <a:xfrm>
            <a:off x="502920" y="102412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Where the added copy works best</a:t>
            </a:r>
            <a:endParaRPr lang="en-US" sz="1250" dirty="0"/>
          </a:p>
        </p:txBody>
      </p:sp>
      <p:pic>
        <p:nvPicPr>
          <p:cNvPr id="4" name="Image 0" descr="/Users/z5162865/WongLab/AlphaGenome_Ap1/Analysis/slide_figures/panels/d_addcopy.png">    </p:cNvPr>
          <p:cNvPicPr>
            <a:picLocks noChangeAspect="1"/>
          </p:cNvPicPr>
          <p:nvPr/>
        </p:nvPicPr>
        <p:blipFill>
          <a:blip r:embed="rId1"/>
          <a:stretch>
            <a:fillRect/>
          </a:stretch>
        </p:blipFill>
        <p:spPr>
          <a:xfrm>
            <a:off x="709758" y="1325880"/>
            <a:ext cx="2420965" cy="1783080"/>
          </a:xfrm>
          <a:prstGeom prst="rect">
            <a:avLst/>
          </a:prstGeom>
        </p:spPr>
      </p:pic>
      <p:sp>
        <p:nvSpPr>
          <p:cNvPr id="5" name="move-title"/>
          <p:cNvSpPr txBox="1"/>
          <p:nvPr/>
        </p:nvSpPr>
        <p:spPr>
          <a:xfrm>
            <a:off x="502920" y="321868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...and where it lands when moved</a:t>
            </a:r>
            <a:endParaRPr lang="en-US" sz="1250" dirty="0"/>
          </a:p>
        </p:txBody>
      </p:sp>
      <p:pic>
        <p:nvPicPr>
          <p:cNvPr id="6" name="Image 1" descr="/Users/z5162865/WongLab/AlphaGenome_Ap1/Analysis/slide_figures/panels/d_relocate.png">    </p:cNvPr>
          <p:cNvPicPr>
            <a:picLocks noChangeAspect="1"/>
          </p:cNvPicPr>
          <p:nvPr/>
        </p:nvPicPr>
        <p:blipFill>
          <a:blip r:embed="rId2"/>
          <a:stretch>
            <a:fillRect/>
          </a:stretch>
        </p:blipFill>
        <p:spPr>
          <a:xfrm>
            <a:off x="662666" y="3520440"/>
            <a:ext cx="2515149" cy="1783080"/>
          </a:xfrm>
          <a:prstGeom prst="rect">
            <a:avLst/>
          </a:prstGeom>
        </p:spPr>
      </p:pic>
      <p:sp>
        <p:nvSpPr>
          <p:cNvPr id="7" name="curve-caption"/>
          <p:cNvSpPr txBox="1"/>
          <p:nvPr/>
        </p:nvSpPr>
        <p:spPr>
          <a:xfrm>
            <a:off x="502920" y="5349240"/>
            <a:ext cx="2926080" cy="457200"/>
          </a:xfrm>
          <a:prstGeom prst="rect">
            <a:avLst/>
          </a:prstGeom>
          <a:noFill/>
          <a:ln/>
        </p:spPr>
        <p:txBody>
          <a:bodyPr wrap="square" lIns="0" tIns="0" rIns="0" bIns="0" rtlCol="0" anchor="ctr"/>
          <a:lstStyle/>
          <a:p>
            <a:pPr indent="0" marL="0">
              <a:buNone/>
            </a:pPr>
            <a:r>
              <a:rPr lang="en-US" sz="950" dirty="0">
                <a:solidFill>
                  <a:srgbClr val="595959"/>
                </a:solidFill>
              </a:rPr>
              <a:t>both curves drawn once per class; colours as in the legend</a:t>
            </a:r>
            <a:endParaRPr lang="en-US" sz="950" dirty="0"/>
          </a:p>
        </p:txBody>
      </p:sp>
      <p:sp>
        <p:nvSpPr>
          <p:cNvPr id="8" name="s4_titration-title-0"/>
          <p:cNvSpPr txBox="1"/>
          <p:nvPr/>
        </p:nvSpPr>
        <p:spPr>
          <a:xfrm>
            <a:off x="4041648"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A second copy added</a:t>
            </a:r>
            <a:endParaRPr lang="en-US" sz="1250" dirty="0"/>
          </a:p>
        </p:txBody>
      </p:sp>
      <p:sp>
        <p:nvSpPr>
          <p:cNvPr id="9" name="s4_titration-sub-0"/>
          <p:cNvSpPr txBox="1"/>
          <p:nvPr/>
        </p:nvSpPr>
        <p:spPr>
          <a:xfrm>
            <a:off x="4041648"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net of a shuffled-sequence control</a:t>
            </a:r>
            <a:endParaRPr lang="en-US" sz="950" dirty="0"/>
          </a:p>
        </p:txBody>
      </p:sp>
      <p:pic>
        <p:nvPicPr>
          <p:cNvPr id="10" name="Image 2" descr="/Users/z5162865/WongLab/AlphaGenome_Ap1/Analysis/slide_figures/panels/s4_titration_c0_r0.png">    </p:cNvPr>
          <p:cNvPicPr>
            <a:picLocks noChangeAspect="1"/>
          </p:cNvPicPr>
          <p:nvPr/>
        </p:nvPicPr>
        <p:blipFill>
          <a:blip r:embed="rId3"/>
          <a:stretch>
            <a:fillRect/>
          </a:stretch>
        </p:blipFill>
        <p:spPr>
          <a:xfrm>
            <a:off x="4360316" y="1892808"/>
            <a:ext cx="3097987" cy="2816352"/>
          </a:xfrm>
          <a:prstGeom prst="rect">
            <a:avLst/>
          </a:prstGeom>
        </p:spPr>
      </p:pic>
      <p:sp>
        <p:nvSpPr>
          <p:cNvPr id="11" name="s4_titration-title-1"/>
          <p:cNvSpPr txBox="1"/>
          <p:nvPr/>
        </p:nvSpPr>
        <p:spPr>
          <a:xfrm>
            <a:off x="7850124"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The motif moved elsewhere</a:t>
            </a:r>
            <a:endParaRPr lang="en-US" sz="1250" dirty="0"/>
          </a:p>
        </p:txBody>
      </p:sp>
      <p:sp>
        <p:nvSpPr>
          <p:cNvPr id="12" name="s4_titration-sub-1"/>
          <p:cNvSpPr txBox="1"/>
          <p:nvPr/>
        </p:nvSpPr>
        <p:spPr>
          <a:xfrm>
            <a:off x="7850124"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the motif destroyed and re-inserted, net of the same control</a:t>
            </a:r>
            <a:endParaRPr lang="en-US" sz="950" dirty="0"/>
          </a:p>
        </p:txBody>
      </p:sp>
      <p:pic>
        <p:nvPicPr>
          <p:cNvPr id="13" name="Image 3" descr="/Users/z5162865/WongLab/AlphaGenome_Ap1/Analysis/slide_figures/panels/s4_titration_c1_r0.png">    </p:cNvPr>
          <p:cNvPicPr>
            <a:picLocks noChangeAspect="1"/>
          </p:cNvPicPr>
          <p:nvPr/>
        </p:nvPicPr>
        <p:blipFill>
          <a:blip r:embed="rId4"/>
          <a:stretch>
            <a:fillRect/>
          </a:stretch>
        </p:blipFill>
        <p:spPr>
          <a:xfrm>
            <a:off x="8168792" y="1892808"/>
            <a:ext cx="3097987" cy="2816352"/>
          </a:xfrm>
          <a:prstGeom prst="rect">
            <a:avLst/>
          </a:prstGeom>
        </p:spPr>
      </p:pic>
      <p:sp>
        <p:nvSpPr>
          <p:cNvPr id="14" name="s4_titration-dot-0"/>
          <p:cNvSpPr/>
          <p:nvPr/>
        </p:nvSpPr>
        <p:spPr>
          <a:xfrm>
            <a:off x="3931920" y="4914900"/>
            <a:ext cx="109728" cy="109728"/>
          </a:xfrm>
          <a:prstGeom prst="ellipse">
            <a:avLst/>
          </a:prstGeom>
          <a:solidFill>
            <a:srgbClr val="4F4F4F"/>
          </a:solidFill>
          <a:ln w="12700">
            <a:solidFill>
              <a:srgbClr val="4F4F4F"/>
            </a:solidFill>
            <a:prstDash val="solid"/>
          </a:ln>
        </p:spPr>
      </p:sp>
      <p:sp>
        <p:nvSpPr>
          <p:cNvPr id="15" name="s4_titration-leg-0"/>
          <p:cNvSpPr txBox="1"/>
          <p:nvPr/>
        </p:nvSpPr>
        <p:spPr>
          <a:xfrm>
            <a:off x="408736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6" name="s4_titration-dot-1"/>
          <p:cNvSpPr/>
          <p:nvPr/>
        </p:nvSpPr>
        <p:spPr>
          <a:xfrm>
            <a:off x="5254142" y="4914900"/>
            <a:ext cx="109728" cy="109728"/>
          </a:xfrm>
          <a:prstGeom prst="ellipse">
            <a:avLst/>
          </a:prstGeom>
          <a:solidFill>
            <a:srgbClr val="C2551C"/>
          </a:solidFill>
          <a:ln w="12700">
            <a:solidFill>
              <a:srgbClr val="C2551C"/>
            </a:solidFill>
            <a:prstDash val="solid"/>
          </a:ln>
        </p:spPr>
      </p:sp>
      <p:sp>
        <p:nvSpPr>
          <p:cNvPr id="17" name="s4_titration-leg-1"/>
          <p:cNvSpPr txBox="1"/>
          <p:nvPr/>
        </p:nvSpPr>
        <p:spPr>
          <a:xfrm>
            <a:off x="540959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8" name="s4_titration-dot-2"/>
          <p:cNvSpPr/>
          <p:nvPr/>
        </p:nvSpPr>
        <p:spPr>
          <a:xfrm>
            <a:off x="6115507" y="4914900"/>
            <a:ext cx="109728" cy="109728"/>
          </a:xfrm>
          <a:prstGeom prst="ellipse">
            <a:avLst/>
          </a:prstGeom>
          <a:solidFill>
            <a:srgbClr val="1F6FB2"/>
          </a:solidFill>
          <a:ln w="12700">
            <a:solidFill>
              <a:srgbClr val="1F6FB2"/>
            </a:solidFill>
            <a:prstDash val="solid"/>
          </a:ln>
        </p:spPr>
      </p:sp>
      <p:sp>
        <p:nvSpPr>
          <p:cNvPr id="19" name="s4_titration-leg-2"/>
          <p:cNvSpPr txBox="1"/>
          <p:nvPr/>
        </p:nvSpPr>
        <p:spPr>
          <a:xfrm>
            <a:off x="627095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0" name="s4_titration-dot-3"/>
          <p:cNvSpPr/>
          <p:nvPr/>
        </p:nvSpPr>
        <p:spPr>
          <a:xfrm>
            <a:off x="7108546" y="4914900"/>
            <a:ext cx="109728" cy="109728"/>
          </a:xfrm>
          <a:prstGeom prst="ellipse">
            <a:avLst/>
          </a:prstGeom>
          <a:solidFill>
            <a:srgbClr val="2E7D32"/>
          </a:solidFill>
          <a:ln w="12700">
            <a:solidFill>
              <a:srgbClr val="2E7D32"/>
            </a:solidFill>
            <a:prstDash val="solid"/>
          </a:ln>
        </p:spPr>
      </p:sp>
      <p:sp>
        <p:nvSpPr>
          <p:cNvPr id="21" name="s4_titration-leg-3"/>
          <p:cNvSpPr txBox="1"/>
          <p:nvPr/>
        </p:nvSpPr>
        <p:spPr>
          <a:xfrm>
            <a:off x="726399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2" name="s4_titration-dot-4"/>
          <p:cNvSpPr/>
          <p:nvPr/>
        </p:nvSpPr>
        <p:spPr>
          <a:xfrm>
            <a:off x="8299094" y="4914900"/>
            <a:ext cx="109728" cy="109728"/>
          </a:xfrm>
          <a:prstGeom prst="ellipse">
            <a:avLst/>
          </a:prstGeom>
          <a:solidFill>
            <a:srgbClr val="7B3FA0"/>
          </a:solidFill>
          <a:ln w="12700">
            <a:solidFill>
              <a:srgbClr val="7B3FA0"/>
            </a:solidFill>
            <a:prstDash val="solid"/>
          </a:ln>
        </p:spPr>
      </p:sp>
      <p:sp>
        <p:nvSpPr>
          <p:cNvPr id="23" name="s4_titration-leg-4"/>
          <p:cNvSpPr txBox="1"/>
          <p:nvPr/>
        </p:nvSpPr>
        <p:spPr>
          <a:xfrm>
            <a:off x="845454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4" name="s4_titration-dot-5"/>
          <p:cNvSpPr/>
          <p:nvPr/>
        </p:nvSpPr>
        <p:spPr>
          <a:xfrm>
            <a:off x="9621317" y="4914900"/>
            <a:ext cx="109728" cy="109728"/>
          </a:xfrm>
          <a:prstGeom prst="ellipse">
            <a:avLst/>
          </a:prstGeom>
          <a:solidFill>
            <a:srgbClr val="B3B2AE"/>
          </a:solidFill>
          <a:ln w="12700">
            <a:solidFill>
              <a:srgbClr val="B3B2AE"/>
            </a:solidFill>
            <a:prstDash val="solid"/>
          </a:ln>
        </p:spPr>
      </p:sp>
      <p:sp>
        <p:nvSpPr>
          <p:cNvPr id="25" name="s4_titration-leg-5"/>
          <p:cNvSpPr txBox="1"/>
          <p:nvPr/>
        </p:nvSpPr>
        <p:spPr>
          <a:xfrm>
            <a:off x="977676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6" name="s4_titration-key"/>
          <p:cNvSpPr txBox="1"/>
          <p:nvPr/>
        </p:nvSpPr>
        <p:spPr>
          <a:xfrm>
            <a:off x="3931920" y="5148072"/>
            <a:ext cx="7726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10 tests on this figure.   *** p&lt;0.001   ** p&lt;0.01   * p&lt;0.05   ns ≥ 0.05</a:t>
            </a:r>
            <a:endParaRPr lang="en-US" sz="900" dirty="0"/>
          </a:p>
        </p:txBody>
      </p:sp>
      <p:sp>
        <p:nvSpPr>
          <p:cNvPr id="27"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 second copy is worth most at ±20–40 bp and a moved motif recovers only a third of what destroying it cost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sp>
        <p:nvSpPr>
          <p:cNvPr id="3" name="ag-t1"/>
          <p:cNvSpPr txBox="1"/>
          <p:nvPr/>
        </p:nvSpPr>
        <p:spPr>
          <a:xfrm>
            <a:off x="731520" y="1051560"/>
            <a:ext cx="7315200" cy="292608"/>
          </a:xfrm>
          <a:prstGeom prst="rect">
            <a:avLst/>
          </a:prstGeom>
          <a:noFill/>
          <a:ln/>
        </p:spPr>
        <p:txBody>
          <a:bodyPr wrap="square" lIns="0" tIns="0" rIns="0" bIns="0" rtlCol="0" anchor="ctr"/>
          <a:lstStyle/>
          <a:p>
            <a:pPr indent="0" marL="0">
              <a:buNone/>
            </a:pPr>
            <a:r>
              <a:rPr lang="en-US" sz="1350" b="1" dirty="0">
                <a:solidFill>
                  <a:srgbClr val="111111"/>
                </a:solidFill>
              </a:rPr>
              <a:t>Age-gained sites respond more to AP-1 dosage, both ways</a:t>
            </a:r>
            <a:endParaRPr lang="en-US" sz="1350" dirty="0"/>
          </a:p>
        </p:txBody>
      </p:sp>
      <p:sp>
        <p:nvSpPr>
          <p:cNvPr id="4" name="ag-s1"/>
          <p:cNvSpPr txBox="1"/>
          <p:nvPr/>
        </p:nvSpPr>
        <p:spPr>
          <a:xfrm>
            <a:off x="731520" y="1344168"/>
            <a:ext cx="7315200" cy="292608"/>
          </a:xfrm>
          <a:prstGeom prst="rect">
            <a:avLst/>
          </a:prstGeom>
          <a:noFill/>
          <a:ln/>
        </p:spPr>
        <p:txBody>
          <a:bodyPr wrap="square" lIns="0" tIns="0" rIns="0" bIns="0" rtlCol="0" anchor="ctr"/>
          <a:lstStyle/>
          <a:p>
            <a:pPr indent="0" marL="0">
              <a:buNone/>
            </a:pPr>
            <a:r>
              <a:rPr lang="en-US" sz="1050" dirty="0">
                <a:solidFill>
                  <a:srgbClr val="595959"/>
                </a:solidFill>
              </a:rPr>
              <a:t>Δscore definition: the top fifth of the change in TOBIAS binding score with age, against matched Unchanged sites</a:t>
            </a:r>
            <a:endParaRPr lang="en-US" sz="1050" dirty="0"/>
          </a:p>
        </p:txBody>
      </p:sp>
      <p:pic>
        <p:nvPicPr>
          <p:cNvPr id="5" name="Image 0" descr="/Users/z5162865/WongLab/AlphaGenome_Ap1/Analysis/slide_figures/panels/s5_age_gained.png">    </p:cNvPr>
          <p:cNvPicPr>
            <a:picLocks noChangeAspect="1"/>
          </p:cNvPicPr>
          <p:nvPr/>
        </p:nvPicPr>
        <p:blipFill>
          <a:blip r:embed="rId1"/>
          <a:stretch>
            <a:fillRect/>
          </a:stretch>
        </p:blipFill>
        <p:spPr>
          <a:xfrm>
            <a:off x="1429175" y="1737360"/>
            <a:ext cx="5919890" cy="3017520"/>
          </a:xfrm>
          <a:prstGeom prst="rect">
            <a:avLst/>
          </a:prstGeom>
        </p:spPr>
      </p:pic>
      <p:sp>
        <p:nvSpPr>
          <p:cNvPr id="6" name="lg-dot-5.3-0"/>
          <p:cNvSpPr/>
          <p:nvPr/>
        </p:nvSpPr>
        <p:spPr>
          <a:xfrm>
            <a:off x="731520" y="4887468"/>
            <a:ext cx="109728" cy="109728"/>
          </a:xfrm>
          <a:prstGeom prst="ellipse">
            <a:avLst/>
          </a:prstGeom>
          <a:solidFill>
            <a:srgbClr val="B3B2AE"/>
          </a:solidFill>
          <a:ln w="12700">
            <a:solidFill>
              <a:srgbClr val="B3B2AE"/>
            </a:solidFill>
            <a:prstDash val="solid"/>
          </a:ln>
        </p:spPr>
      </p:sp>
      <p:sp>
        <p:nvSpPr>
          <p:cNvPr id="7" name="lg-txt-5.3-0"/>
          <p:cNvSpPr txBox="1"/>
          <p:nvPr/>
        </p:nvSpPr>
        <p:spPr>
          <a:xfrm>
            <a:off x="886968" y="4846320"/>
            <a:ext cx="1320394" cy="201168"/>
          </a:xfrm>
          <a:prstGeom prst="rect">
            <a:avLst/>
          </a:prstGeom>
          <a:noFill/>
          <a:ln/>
        </p:spPr>
        <p:txBody>
          <a:bodyPr wrap="square" lIns="0" tIns="0" rIns="0" bIns="0" rtlCol="0" anchor="ctr"/>
          <a:lstStyle/>
          <a:p>
            <a:pPr indent="0" marL="0">
              <a:buNone/>
            </a:pPr>
            <a:r>
              <a:rPr lang="en-US" sz="1050" dirty="0">
                <a:solidFill>
                  <a:srgbClr val="111111"/>
                </a:solidFill>
              </a:rPr>
              <a:t>Matched Unchanged</a:t>
            </a:r>
            <a:endParaRPr lang="en-US" sz="1050" dirty="0"/>
          </a:p>
        </p:txBody>
      </p:sp>
      <p:sp>
        <p:nvSpPr>
          <p:cNvPr id="8" name="lg-dot-5.3-1"/>
          <p:cNvSpPr/>
          <p:nvPr/>
        </p:nvSpPr>
        <p:spPr>
          <a:xfrm>
            <a:off x="2317090" y="4887468"/>
            <a:ext cx="109728" cy="109728"/>
          </a:xfrm>
          <a:prstGeom prst="ellipse">
            <a:avLst/>
          </a:prstGeom>
          <a:solidFill>
            <a:srgbClr val="C2551C"/>
          </a:solidFill>
          <a:ln w="12700">
            <a:solidFill>
              <a:srgbClr val="C2551C"/>
            </a:solidFill>
            <a:prstDash val="solid"/>
          </a:ln>
        </p:spPr>
      </p:sp>
      <p:sp>
        <p:nvSpPr>
          <p:cNvPr id="9" name="lg-txt-5.3-1"/>
          <p:cNvSpPr txBox="1"/>
          <p:nvPr/>
        </p:nvSpPr>
        <p:spPr>
          <a:xfrm>
            <a:off x="2472538" y="4846320"/>
            <a:ext cx="1452067" cy="201168"/>
          </a:xfrm>
          <a:prstGeom prst="rect">
            <a:avLst/>
          </a:prstGeom>
          <a:noFill/>
          <a:ln/>
        </p:spPr>
        <p:txBody>
          <a:bodyPr wrap="square" lIns="0" tIns="0" rIns="0" bIns="0" rtlCol="0" anchor="ctr"/>
          <a:lstStyle/>
          <a:p>
            <a:pPr indent="0" marL="0">
              <a:buNone/>
            </a:pPr>
            <a:r>
              <a:rPr lang="en-US" sz="1050" dirty="0">
                <a:solidFill>
                  <a:srgbClr val="111111"/>
                </a:solidFill>
              </a:rPr>
              <a:t>Age-gained (Δscore)</a:t>
            </a:r>
            <a:endParaRPr lang="en-US" sz="1050" dirty="0"/>
          </a:p>
        </p:txBody>
      </p:sp>
      <p:sp>
        <p:nvSpPr>
          <p:cNvPr id="10"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1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sp>
        <p:nvSpPr>
          <p:cNvPr id="3" name="mp-t1"/>
          <p:cNvSpPr txBox="1"/>
          <p:nvPr/>
        </p:nvSpPr>
        <p:spPr>
          <a:xfrm>
            <a:off x="731520" y="2331720"/>
            <a:ext cx="4937760" cy="274320"/>
          </a:xfrm>
          <a:prstGeom prst="rect">
            <a:avLst/>
          </a:prstGeom>
          <a:noFill/>
          <a:ln/>
        </p:spPr>
        <p:txBody>
          <a:bodyPr wrap="square" lIns="0" tIns="0" rIns="0" bIns="0" rtlCol="0" anchor="ctr"/>
          <a:lstStyle/>
          <a:p>
            <a:pPr indent="0" marL="0">
              <a:buNone/>
            </a:pPr>
            <a:r>
              <a:rPr lang="en-US" sz="1300" b="1" dirty="0">
                <a:solidFill>
                  <a:srgbClr val="111111"/>
                </a:solidFill>
              </a:rPr>
              <a:t>Same answer: the motif is a small part</a:t>
            </a:r>
            <a:endParaRPr lang="en-US" sz="1300" dirty="0"/>
          </a:p>
        </p:txBody>
      </p:sp>
      <p:pic>
        <p:nvPicPr>
          <p:cNvPr id="4" name="Image 0" descr="/Users/z5162865/WongLab/AlphaGenome_Ap1/Analysis/slide_figures/panels/s6_share.png">    </p:cNvPr>
          <p:cNvPicPr>
            <a:picLocks noChangeAspect="1"/>
          </p:cNvPicPr>
          <p:nvPr/>
        </p:nvPicPr>
        <p:blipFill>
          <a:blip r:embed="rId1"/>
          <a:stretch>
            <a:fillRect/>
          </a:stretch>
        </p:blipFill>
        <p:spPr>
          <a:xfrm>
            <a:off x="1352676" y="2651760"/>
            <a:ext cx="3695447" cy="2651760"/>
          </a:xfrm>
          <a:prstGeom prst="rect">
            <a:avLst/>
          </a:prstGeom>
        </p:spPr>
      </p:pic>
      <p:sp>
        <p:nvSpPr>
          <p:cNvPr id="5" name="mp-t2"/>
          <p:cNvSpPr txBox="1"/>
          <p:nvPr/>
        </p:nvSpPr>
        <p:spPr>
          <a:xfrm>
            <a:off x="6309360" y="2331720"/>
            <a:ext cx="5120640" cy="274320"/>
          </a:xfrm>
          <a:prstGeom prst="rect">
            <a:avLst/>
          </a:prstGeom>
          <a:noFill/>
          <a:ln/>
        </p:spPr>
        <p:txBody>
          <a:bodyPr wrap="square" lIns="0" tIns="0" rIns="0" bIns="0" rtlCol="0" anchor="ctr"/>
          <a:lstStyle/>
          <a:p>
            <a:pPr indent="0" marL="0">
              <a:buNone/>
            </a:pPr>
            <a:r>
              <a:rPr lang="en-US" sz="1300" b="1" dirty="0">
                <a:solidFill>
                  <a:srgbClr val="111111"/>
                </a:solidFill>
              </a:rPr>
              <a:t>But they disagree on which elements depend more</a:t>
            </a:r>
            <a:endParaRPr lang="en-US" sz="1300" dirty="0"/>
          </a:p>
        </p:txBody>
      </p:sp>
      <p:pic>
        <p:nvPicPr>
          <p:cNvPr id="6" name="Image 1" descr="/Users/z5162865/WongLab/AlphaGenome_Ap1/Analysis/slide_figures/panels/s6_direction.png">    </p:cNvPr>
          <p:cNvPicPr>
            <a:picLocks noChangeAspect="1"/>
          </p:cNvPicPr>
          <p:nvPr/>
        </p:nvPicPr>
        <p:blipFill>
          <a:blip r:embed="rId2"/>
          <a:stretch>
            <a:fillRect/>
          </a:stretch>
        </p:blipFill>
        <p:spPr>
          <a:xfrm>
            <a:off x="7044645" y="2651760"/>
            <a:ext cx="3650070" cy="2651760"/>
          </a:xfrm>
          <a:prstGeom prst="rect">
            <a:avLst/>
          </a:prstGeom>
        </p:spPr>
      </p:pic>
      <p:sp>
        <p:nvSpPr>
          <p:cNvPr id="7" name="mp-key"/>
          <p:cNvSpPr txBox="1"/>
          <p:nvPr/>
        </p:nvSpPr>
        <p:spPr>
          <a:xfrm>
            <a:off x="731520" y="5349240"/>
            <a:ext cx="10698480" cy="274320"/>
          </a:xfrm>
          <a:prstGeom prst="rect">
            <a:avLst/>
          </a:prstGeom>
          <a:noFill/>
          <a:ln/>
        </p:spPr>
        <p:txBody>
          <a:bodyPr wrap="square" lIns="0" tIns="0" rIns="0" bIns="0" rtlCol="0" anchor="ctr"/>
          <a:lstStyle/>
          <a:p>
            <a:pPr indent="0" marL="0">
              <a:buNone/>
            </a:pPr>
            <a:r>
              <a:rPr lang="en-US" sz="950" dirty="0">
                <a:solidFill>
                  <a:srgbClr val="595959"/>
                </a:solidFill>
              </a:rPr>
              <a:t>below 1×: responsive elements lose less than Stable ones   ·   above 1×: they lose more   ·   both p &lt; 0.001</a:t>
            </a:r>
            <a:endParaRPr lang="en-US" sz="950" dirty="0"/>
          </a:p>
        </p:txBody>
      </p:sp>
      <p:sp>
        <p:nvSpPr>
          <p:cNvPr id="8"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9" name="Text 5"/>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10" name="Text 6"/>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11"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12" name="Text 8"/>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13" name="Text 9"/>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2026-10-23T01:48:26Z</dcterms:created>
  <dcterms:modified xsi:type="dcterms:W3CDTF">2026-10-23T01:48:26Z</dcterms:modified>
</cp:coreProperties>
</file>