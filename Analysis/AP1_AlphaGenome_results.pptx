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4dd5554-4130-fc08-c4a5-5ee2c95ed81a}">
          <p14:sldIdLst>
            <p14:sldId id="256"/>
          </p14:sldIdLst>
        </p14:section>
        <p14:section name="Design" id="{cdc6e86f-f7ca-69bb-f872-186f85f7f638}">
          <p14:sldIdLst>
            <p14:sldId id="257"/>
            <p14:sldId id="258"/>
          </p14:sldIdLst>
        </p14:section>
        <p14:section name="Findings" id="{6cf14f4c-6d9a-0e5c-db6e-46d0bc1bec20}">
          <p14:sldIdLst>
            <p14:sldId id="259"/>
            <p14:sldId id="260"/>
            <p14:sldId id="261"/>
            <p14:sldId id="262"/>
            <p14:sldId id="263"/>
            <p14:sldId id="264"/>
            <p14:sldId id="265"/>
            <p14:sldId id="266"/>
            <p14:sldId id="267"/>
          </p14:sldIdLst>
        </p14:section>
        <p14:section name="Conclusion" id="{54e7a206-5c2b-ef3d-ae80-8713e839de66}">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tests are exact McNemar on the paired sites, raw tests are Fisher, BH across all 20. Surviving: Age Up on both definitions (FDR 0.021 leaned-on, 0.045 footprint-present) and Exercise Down on the leaned-on definition (FDR 0.026); Exercise Down footprint-present does not (FDR 0.12). Age Down and Exercise Up show nothing either way. An earlier quote of p = 0.003 and p = 0.0005 for these came from Fisher applied to the matched groups as if unpaired; McNemar is the right test and gives p = 0.0021 and p = 0.0013.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of 16 scan features separate Dynamic from matched Stable. Share of dependence within 85 bp 0.63 vs 0.74, spread 94 vs 86 bp, largest single-base effect 0.74 vs 0.90. Age Up is the most diffuse class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dose-response slope tracks core quality measured independently from the genome sequence, rho 0.30.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Most of the difference is chromatin, not sequence</a:t>
            </a:r>
            <a:endParaRPr lang="en-US" sz="2800" dirty="0"/>
          </a:p>
        </p:txBody>
      </p:sp>
      <p:pic>
        <p:nvPicPr>
          <p:cNvPr id="3" name="Image 0" descr="/Users/z5162865/WongLab/AlphaGenome_Ap1/Analysis/slide_figures/s2_matched_null.png">    </p:cNvPr>
          <p:cNvPicPr>
            <a:picLocks noChangeAspect="1"/>
          </p:cNvPicPr>
          <p:nvPr/>
        </p:nvPicPr>
        <p:blipFill>
          <a:blip r:embed="rId1"/>
          <a:stretch>
            <a:fillRect/>
          </a:stretch>
        </p:blipFill>
        <p:spPr>
          <a:xfrm>
            <a:off x="657675" y="1051560"/>
            <a:ext cx="10846171" cy="461772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behaves the same way: the motif and the whole peak close up under matching, the 170 bp element does not — except Age Down, which closes up everywhere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s8_partners.png">    </p:cNvPr>
          <p:cNvPicPr>
            <a:picLocks noChangeAspect="1"/>
          </p:cNvPicPr>
          <p:nvPr/>
        </p:nvPicPr>
        <p:blipFill>
          <a:blip r:embed="rId2"/>
          <a:stretch>
            <a:fillRect/>
          </a:stretch>
        </p:blipFill>
        <p:spPr>
          <a:xfrm>
            <a:off x="502920" y="2177702"/>
            <a:ext cx="11155680" cy="3371276"/>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MEF2 sits right beside the AP-1 motif, and it matters</a:t>
            </a:r>
            <a:endParaRPr lang="en-US" sz="2800" dirty="0"/>
          </a:p>
        </p:txBody>
      </p:sp>
      <p:pic>
        <p:nvPicPr>
          <p:cNvPr id="3" name="Image 0" descr="/Users/z5162865/WongLab/AlphaGenome_Ap1/Analysis/slide_figures/s7_spacing.png">    </p:cNvPr>
          <p:cNvPicPr>
            <a:picLocks noChangeAspect="1"/>
          </p:cNvPicPr>
          <p:nvPr/>
        </p:nvPicPr>
        <p:blipFill>
          <a:blip r:embed="rId1"/>
          <a:stretch>
            <a:fillRect/>
          </a:stretch>
        </p:blipFill>
        <p:spPr>
          <a:xfrm>
            <a:off x="502920" y="1225857"/>
            <a:ext cx="11155680" cy="4314846"/>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is 2.67× enriched at 11–25 bp and is worth −0.9 log2 there; KLF/SP is the commonest neighbour and is worth nothing anywhere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short of that MEF2</a:t>
            </a:r>
            <a:endParaRPr lang="en-US" sz="2800" dirty="0"/>
          </a:p>
        </p:txBody>
      </p:sp>
      <p:pic>
        <p:nvPicPr>
          <p:cNvPr id="3" name="Image 0" descr="/Users/z5162865/WongLab/AlphaGenome_Ap1/Analysis/slide_figures/s9_mef2_by_class.png">    </p:cNvPr>
          <p:cNvPicPr>
            <a:picLocks noChangeAspect="1"/>
          </p:cNvPicPr>
          <p:nvPr/>
        </p:nvPicPr>
        <p:blipFill>
          <a:blip r:embed="rId1"/>
          <a:stretch>
            <a:fillRect/>
          </a:stretch>
        </p:blipFill>
        <p:spPr>
          <a:xfrm>
            <a:off x="2638189" y="1051560"/>
            <a:ext cx="6885142" cy="461772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Age Up 3.2% against 10.5% of its matched controls, Exercise Down 1.2% against 9.8% — and the deficit is sharper when only the MEF2 the model uses is counted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pic>
        <p:nvPicPr>
          <p:cNvPr id="3" name="Image 0" descr="/Users/z5162865/WongLab/AlphaGenome_Ap1/Analysis/slide_figures/s3_dependence.png">    </p:cNvPr>
          <p:cNvPicPr>
            <a:picLocks noChangeAspect="1"/>
          </p:cNvPicPr>
          <p:nvPr/>
        </p:nvPicPr>
        <p:blipFill>
          <a:blip r:embed="rId1"/>
          <a:stretch>
            <a:fillRect/>
          </a:stretch>
        </p:blipFill>
        <p:spPr>
          <a:xfrm>
            <a:off x="502920" y="1177741"/>
            <a:ext cx="11155680" cy="4365358"/>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same shift in every class and on all three measures — strongest in Age Up and Exercise Down, absent only in Age Down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Motif strength is a switch; position is a dial</a:t>
            </a:r>
            <a:endParaRPr lang="en-US" sz="2800" dirty="0"/>
          </a:p>
        </p:txBody>
      </p:sp>
      <p:pic>
        <p:nvPicPr>
          <p:cNvPr id="3" name="Image 0" descr="/Users/z5162865/WongLab/AlphaGenome_Ap1/Analysis/slide_figures/d_titr.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s4_titration.png">    </p:cNvPr>
          <p:cNvPicPr>
            <a:picLocks noChangeAspect="1"/>
          </p:cNvPicPr>
          <p:nvPr/>
        </p:nvPicPr>
        <p:blipFill>
          <a:blip r:embed="rId2"/>
          <a:stretch>
            <a:fillRect/>
          </a:stretch>
        </p:blipFill>
        <p:spPr>
          <a:xfrm>
            <a:off x="1254995" y="1965960"/>
            <a:ext cx="9651530" cy="3794760"/>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one wrong base costs −0.45 of the −0.56 total and a moved motif recovers only a third — but every class titrates the same way</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pic>
        <p:nvPicPr>
          <p:cNvPr id="3" name="Image 0" descr="/Users/z5162865/WongLab/AlphaGenome_Ap1/Analysis/slide_figures/s5_age_gained.png">    </p:cNvPr>
          <p:cNvPicPr>
            <a:picLocks noChangeAspect="1"/>
          </p:cNvPicPr>
          <p:nvPr/>
        </p:nvPicPr>
        <p:blipFill>
          <a:blip r:embed="rId1"/>
          <a:stretch>
            <a:fillRect/>
          </a:stretch>
        </p:blipFill>
        <p:spPr>
          <a:xfrm>
            <a:off x="1466163" y="1097280"/>
            <a:ext cx="9229194" cy="3794760"/>
          </a:xfrm>
          <a:prstGeom prst="rect">
            <a:avLst/>
          </a:prstGeom>
        </p:spPr>
      </p:pic>
      <p:sp>
        <p:nvSpPr>
          <p:cNvPr id="4"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pic>
        <p:nvPicPr>
          <p:cNvPr id="3" name="Image 0" descr="/Users/z5162865/WongLab/AlphaGenome_Ap1/Analysis/slide_figures/s6_mpra.png">    </p:cNvPr>
          <p:cNvPicPr>
            <a:picLocks noChangeAspect="1"/>
          </p:cNvPicPr>
          <p:nvPr/>
        </p:nvPicPr>
        <p:blipFill>
          <a:blip r:embed="rId1"/>
          <a:stretch>
            <a:fillRect/>
          </a:stretch>
        </p:blipFill>
        <p:spPr>
          <a:xfrm>
            <a:off x="1191113" y="2240280"/>
            <a:ext cx="9779295" cy="3520440"/>
          </a:xfrm>
          <a:prstGeom prst="rect">
            <a:avLst/>
          </a:prstGeom>
        </p:spPr>
      </p:pic>
      <p:sp>
        <p:nvSpPr>
          <p:cNvPr id="4"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5" name="Text 2"/>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6" name="Text 3"/>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7"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8" name="Text 5"/>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9" name="Text 6"/>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0"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2026-10-23T00:51:36Z</dcterms:created>
  <dcterms:modified xsi:type="dcterms:W3CDTF">2026-10-23T00:51:36Z</dcterms:modified>
</cp:coreProperties>
</file>