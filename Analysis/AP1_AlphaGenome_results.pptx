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4670f3b-2581-cefe-17f0-6cadfd8135cb}">
          <p14:sldIdLst>
            <p14:sldId id="256"/>
          </p14:sldIdLst>
        </p14:section>
        <p14:section name="Design" id="{d0a7aa40-f9fc-eb03-01c0-7d2abef8def0}">
          <p14:sldIdLst>
            <p14:sldId id="257"/>
            <p14:sldId id="258"/>
            <p14:sldId id="259"/>
          </p14:sldIdLst>
        </p14:section>
        <p14:section name="Findings" id="{5f6d2a89-2256-453b-6324-a09fb860b719}">
          <p14:sldIdLst>
            <p14:sldId id="260"/>
            <p14:sldId id="261"/>
            <p14:sldId id="262"/>
            <p14:sldId id="263"/>
            <p14:sldId id="264"/>
            <p14:sldId id="265"/>
            <p14:sldId id="266"/>
            <p14:sldId id="267"/>
            <p14:sldId id="268"/>
            <p14:sldId id="269"/>
          </p14:sldIdLst>
        </p14:section>
        <p14:section name="Conclusion" id="{65a0044b-3162-4dde-0792-36e733bd482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demonstration, not a result, but chosen to be typical rather than striking: the motif window, the total dependence and the deepest-neighbour pattern all sit near the median. An earlier version used a site in the top 8% for motif depth, which made the motif look far more dominant than it is. The footprint lane is every named family TOBIAS calls here, with overlapping calls of one family merged and counted; only the two catch-all bins (Other, Zinc finger other) are dropped. The same scan is also read over the 11 bp motif and over the whole peak, and the titration and single-base experiments run on the same 3,678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profiles are means, not medians, so the area under a curve equals the per-site totals in the panels on the right; with medians the two panels are different functions and do not correspond. Note where the difference lives: at the single deepest window Stable and Age Up are almost identical (0.68 vs 0.63 mean), and the 18% gap in loss within 85 bp comes from the shoulders, not the peak. At the core (within 15 bp) every class loses less than Stable sites do: Age Down 0.73x, Exercise Up 0.76x, Exercise Down 0.78x, Dynamic 0.80x, Age Up 0.90x, all FDR &lt;= 0.016. Normalised to each site’s own total, the core share is barely different (0.93-1.00) but the flank share beyond 85 bp is higher in Age Up 1.31x, Exercise Down 1.29x and Dynamic 1.21x, all FDR &lt;= 0.0002, while Age Down is 0.99x. So Age Down is not a redistribution, it is a weaker element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thing at one real element</a:t>
            </a:r>
            <a:endParaRPr lang="en-US" sz="2800" dirty="0"/>
          </a:p>
        </p:txBody>
      </p:sp>
      <p:sp>
        <p:nvSpPr>
          <p:cNvPr id="3" name="ml-intro"/>
          <p:cNvSpPr txBox="1"/>
          <p:nvPr/>
        </p:nvSpPr>
        <p:spPr>
          <a:xfrm>
            <a:off x="731520" y="1024128"/>
            <a:ext cx="10881360" cy="475488"/>
          </a:xfrm>
          <a:prstGeom prst="rect">
            <a:avLst/>
          </a:prstGeom>
          <a:noFill/>
          <a:ln/>
        </p:spPr>
        <p:txBody>
          <a:bodyPr wrap="square" lIns="0" tIns="0" rIns="0" bIns="0" rtlCol="0" anchor="ctr"/>
          <a:lstStyle/>
          <a:p>
            <a:pPr indent="0" marL="0">
              <a:buNone/>
            </a:pPr>
            <a:r>
              <a:rPr lang="en-US" sz="1150" dirty="0">
                <a:solidFill>
                  <a:srgbClr val="595959"/>
                </a:solidFill>
              </a:rPr>
              <a:t>Every 10 bp window from −300 to +300 bp is replaced by random bases in turn, three times, and the bar is what the prediction loses over the surrounding 170 bp. Gold is the called AP-1 motif. The lane below is every other footprinted motif TOBIAS calls in this element, which is what the windows are read against.</a:t>
            </a:r>
            <a:endParaRPr lang="en-US" sz="1150" dirty="0"/>
          </a:p>
        </p:txBody>
      </p:sp>
      <p:pic>
        <p:nvPicPr>
          <p:cNvPr id="4" name="Image 0" descr="/Users/z5162865/WongLab/AlphaGenome_Ap1/Analysis/slide_figures/panels/s11_method_locus.png">    </p:cNvPr>
          <p:cNvPicPr>
            <a:picLocks noChangeAspect="1"/>
          </p:cNvPicPr>
          <p:nvPr/>
        </p:nvPicPr>
        <p:blipFill>
          <a:blip r:embed="rId1"/>
          <a:stretch>
            <a:fillRect/>
          </a:stretch>
        </p:blipFill>
        <p:spPr>
          <a:xfrm>
            <a:off x="594360" y="1737360"/>
            <a:ext cx="10972800" cy="3200400"/>
          </a:xfrm>
          <a:prstGeom prst="rect">
            <a:avLst/>
          </a:prstGeom>
        </p:spPr>
      </p:pic>
      <p:sp>
        <p:nvSpPr>
          <p:cNvPr id="5" name="ml-cap"/>
          <p:cNvSpPr txBox="1"/>
          <p:nvPr/>
        </p:nvSpPr>
        <p:spPr>
          <a:xfrm>
            <a:off x="731520" y="5074920"/>
            <a:ext cx="10881360" cy="274320"/>
          </a:xfrm>
          <a:prstGeom prst="rect">
            <a:avLst/>
          </a:prstGeom>
          <a:noFill/>
          <a:ln/>
        </p:spPr>
        <p:txBody>
          <a:bodyPr wrap="square" lIns="0" tIns="0" rIns="0" bIns="0" rtlCol="0" anchor="ctr"/>
          <a:lstStyle/>
          <a:p>
            <a:pPr indent="0" marL="0">
              <a:buNone/>
            </a:pPr>
            <a:r>
              <a:rPr lang="en-US" sz="1050" dirty="0">
                <a:solidFill>
                  <a:srgbClr val="111111"/>
                </a:solidFill>
              </a:rPr>
              <a:t>chr2:167,698,004 · the motif window costs −0.56 against a median of −0.66 across all 3,678 sites, and the deepest window is a neighbour — as it is at 69% of sites</a:t>
            </a:r>
            <a:endParaRPr lang="en-US" sz="105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motif is one window among sixty, and usually not the deepest — everything that follows is this, repeated over 3,678 sites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ed-t"/>
          <p:cNvSpPr txBox="1"/>
          <p:nvPr/>
        </p:nvSpPr>
        <p:spPr>
          <a:xfrm>
            <a:off x="502920" y="987552"/>
            <a:ext cx="4937760" cy="256032"/>
          </a:xfrm>
          <a:prstGeom prst="rect">
            <a:avLst/>
          </a:prstGeom>
          <a:noFill/>
          <a:ln/>
        </p:spPr>
        <p:txBody>
          <a:bodyPr wrap="square" lIns="0" tIns="0" rIns="0" bIns="0" rtlCol="0" anchor="ctr"/>
          <a:lstStyle/>
          <a:p>
            <a:pPr indent="0" marL="0">
              <a:buNone/>
            </a:pPr>
            <a:r>
              <a:rPr lang="en-US" sz="1250" b="1" dirty="0">
                <a:solidFill>
                  <a:srgbClr val="111111"/>
                </a:solidFill>
              </a:rPr>
              <a:t>The three edits, and the control</a:t>
            </a:r>
            <a:endParaRPr lang="en-US" sz="1250" dirty="0"/>
          </a:p>
        </p:txBody>
      </p:sp>
      <p:pic>
        <p:nvPicPr>
          <p:cNvPr id="4" name="Image 0" descr="/Users/z5162865/WongLab/AlphaGenome_Ap1/Analysis/slide_figures/panels/d_edits.png">    </p:cNvPr>
          <p:cNvPicPr>
            <a:picLocks noChangeAspect="1"/>
          </p:cNvPicPr>
          <p:nvPr/>
        </p:nvPicPr>
        <p:blipFill>
          <a:blip r:embed="rId1"/>
          <a:stretch>
            <a:fillRect/>
          </a:stretch>
        </p:blipFill>
        <p:spPr>
          <a:xfrm>
            <a:off x="1008944" y="1261872"/>
            <a:ext cx="3925711" cy="1188720"/>
          </a:xfrm>
          <a:prstGeom prst="rect">
            <a:avLst/>
          </a:prstGeom>
        </p:spPr>
      </p:pic>
      <p:sp>
        <p:nvSpPr>
          <p:cNvPr id="5" name="s2_matched_null-title-0"/>
          <p:cNvSpPr txBox="1"/>
          <p:nvPr/>
        </p:nvSpPr>
        <p:spPr>
          <a:xfrm>
            <a:off x="612648"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6" name="s2_matched_null-sub-0"/>
          <p:cNvSpPr txBox="1"/>
          <p:nvPr/>
        </p:nvSpPr>
        <p:spPr>
          <a:xfrm>
            <a:off x="612648"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7" name="Image 1" descr="/Users/z5162865/WongLab/AlphaGenome_Ap1/Analysis/slide_figures/panels/s2_matched_null_c0_r0.png">    </p:cNvPr>
          <p:cNvPicPr>
            <a:picLocks noChangeAspect="1"/>
          </p:cNvPicPr>
          <p:nvPr/>
        </p:nvPicPr>
        <p:blipFill>
          <a:blip r:embed="rId2"/>
          <a:stretch>
            <a:fillRect/>
          </a:stretch>
        </p:blipFill>
        <p:spPr>
          <a:xfrm>
            <a:off x="1222553" y="3328416"/>
            <a:ext cx="1468526" cy="1335024"/>
          </a:xfrm>
          <a:prstGeom prst="rect">
            <a:avLst/>
          </a:prstGeom>
        </p:spPr>
      </p:pic>
      <p:sp>
        <p:nvSpPr>
          <p:cNvPr id="8" name="s2_matched_null-title-1"/>
          <p:cNvSpPr txBox="1"/>
          <p:nvPr/>
        </p:nvSpPr>
        <p:spPr>
          <a:xfrm>
            <a:off x="3374136"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9" name="s2_matched_null-sub-1"/>
          <p:cNvSpPr txBox="1"/>
          <p:nvPr/>
        </p:nvSpPr>
        <p:spPr>
          <a:xfrm>
            <a:off x="3374136"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10" name="Image 2" descr="/Users/z5162865/WongLab/AlphaGenome_Ap1/Analysis/slide_figures/panels/s2_matched_null_c1_r0.png">    </p:cNvPr>
          <p:cNvPicPr>
            <a:picLocks noChangeAspect="1"/>
          </p:cNvPicPr>
          <p:nvPr/>
        </p:nvPicPr>
        <p:blipFill>
          <a:blip r:embed="rId3"/>
          <a:stretch>
            <a:fillRect/>
          </a:stretch>
        </p:blipFill>
        <p:spPr>
          <a:xfrm>
            <a:off x="3984041" y="3328416"/>
            <a:ext cx="1468526" cy="1335024"/>
          </a:xfrm>
          <a:prstGeom prst="rect">
            <a:avLst/>
          </a:prstGeom>
        </p:spPr>
      </p:pic>
      <p:sp>
        <p:nvSpPr>
          <p:cNvPr id="11" name="s2_matched_null-title-2"/>
          <p:cNvSpPr txBox="1"/>
          <p:nvPr/>
        </p:nvSpPr>
        <p:spPr>
          <a:xfrm>
            <a:off x="6135624"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2" name="s2_matched_null-sub-2"/>
          <p:cNvSpPr txBox="1"/>
          <p:nvPr/>
        </p:nvSpPr>
        <p:spPr>
          <a:xfrm>
            <a:off x="6135624"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3" name="Image 3" descr="/Users/z5162865/WongLab/AlphaGenome_Ap1/Analysis/slide_figures/panels/s2_matched_null_c2_r0.png">    </p:cNvPr>
          <p:cNvPicPr>
            <a:picLocks noChangeAspect="1"/>
          </p:cNvPicPr>
          <p:nvPr/>
        </p:nvPicPr>
        <p:blipFill>
          <a:blip r:embed="rId4"/>
          <a:stretch>
            <a:fillRect/>
          </a:stretch>
        </p:blipFill>
        <p:spPr>
          <a:xfrm>
            <a:off x="6745529" y="3328416"/>
            <a:ext cx="1468526" cy="1335024"/>
          </a:xfrm>
          <a:prstGeom prst="rect">
            <a:avLst/>
          </a:prstGeom>
        </p:spPr>
      </p:pic>
      <p:sp>
        <p:nvSpPr>
          <p:cNvPr id="14" name="s2_matched_null-title-3"/>
          <p:cNvSpPr txBox="1"/>
          <p:nvPr/>
        </p:nvSpPr>
        <p:spPr>
          <a:xfrm>
            <a:off x="8897112"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5" name="s2_matched_null-sub-3"/>
          <p:cNvSpPr txBox="1"/>
          <p:nvPr/>
        </p:nvSpPr>
        <p:spPr>
          <a:xfrm>
            <a:off x="8897112"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6" name="Image 4" descr="/Users/z5162865/WongLab/AlphaGenome_Ap1/Analysis/slide_figures/panels/s2_matched_null_c3_r0.png">    </p:cNvPr>
          <p:cNvPicPr>
            <a:picLocks noChangeAspect="1"/>
          </p:cNvPicPr>
          <p:nvPr/>
        </p:nvPicPr>
        <p:blipFill>
          <a:blip r:embed="rId5"/>
          <a:stretch>
            <a:fillRect/>
          </a:stretch>
        </p:blipFill>
        <p:spPr>
          <a:xfrm>
            <a:off x="9507017" y="3328416"/>
            <a:ext cx="1468526" cy="1335024"/>
          </a:xfrm>
          <a:prstGeom prst="rect">
            <a:avLst/>
          </a:prstGeom>
        </p:spPr>
      </p:pic>
      <p:sp>
        <p:nvSpPr>
          <p:cNvPr id="17" name="s2_matched_null-dot-0"/>
          <p:cNvSpPr/>
          <p:nvPr/>
        </p:nvSpPr>
        <p:spPr>
          <a:xfrm>
            <a:off x="502920" y="4869180"/>
            <a:ext cx="109728" cy="109728"/>
          </a:xfrm>
          <a:prstGeom prst="ellipse">
            <a:avLst/>
          </a:prstGeom>
          <a:solidFill>
            <a:srgbClr val="4F4F4F"/>
          </a:solidFill>
          <a:ln w="12700">
            <a:solidFill>
              <a:srgbClr val="4F4F4F"/>
            </a:solidFill>
            <a:prstDash val="solid"/>
          </a:ln>
        </p:spPr>
      </p:sp>
      <p:sp>
        <p:nvSpPr>
          <p:cNvPr id="18" name="s2_matched_null-leg-0"/>
          <p:cNvSpPr txBox="1"/>
          <p:nvPr/>
        </p:nvSpPr>
        <p:spPr>
          <a:xfrm>
            <a:off x="658368"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9" name="s2_matched_null-dot-1"/>
          <p:cNvSpPr/>
          <p:nvPr/>
        </p:nvSpPr>
        <p:spPr>
          <a:xfrm>
            <a:off x="1825142" y="4869180"/>
            <a:ext cx="109728" cy="109728"/>
          </a:xfrm>
          <a:prstGeom prst="ellipse">
            <a:avLst/>
          </a:prstGeom>
          <a:solidFill>
            <a:srgbClr val="C2551C"/>
          </a:solidFill>
          <a:ln w="12700">
            <a:solidFill>
              <a:srgbClr val="C2551C"/>
            </a:solidFill>
            <a:prstDash val="solid"/>
          </a:ln>
        </p:spPr>
      </p:sp>
      <p:sp>
        <p:nvSpPr>
          <p:cNvPr id="20" name="s2_matched_null-leg-1"/>
          <p:cNvSpPr txBox="1"/>
          <p:nvPr/>
        </p:nvSpPr>
        <p:spPr>
          <a:xfrm>
            <a:off x="1980590" y="482803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1" name="s2_matched_null-dot-2"/>
          <p:cNvSpPr/>
          <p:nvPr/>
        </p:nvSpPr>
        <p:spPr>
          <a:xfrm>
            <a:off x="2686507" y="4869180"/>
            <a:ext cx="109728" cy="109728"/>
          </a:xfrm>
          <a:prstGeom prst="ellipse">
            <a:avLst/>
          </a:prstGeom>
          <a:solidFill>
            <a:srgbClr val="1F6FB2"/>
          </a:solidFill>
          <a:ln w="12700">
            <a:solidFill>
              <a:srgbClr val="1F6FB2"/>
            </a:solidFill>
            <a:prstDash val="solid"/>
          </a:ln>
        </p:spPr>
      </p:sp>
      <p:sp>
        <p:nvSpPr>
          <p:cNvPr id="22" name="s2_matched_null-leg-2"/>
          <p:cNvSpPr txBox="1"/>
          <p:nvPr/>
        </p:nvSpPr>
        <p:spPr>
          <a:xfrm>
            <a:off x="2841955" y="482803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3" name="s2_matched_null-dot-3"/>
          <p:cNvSpPr/>
          <p:nvPr/>
        </p:nvSpPr>
        <p:spPr>
          <a:xfrm>
            <a:off x="3679546" y="4869180"/>
            <a:ext cx="109728" cy="109728"/>
          </a:xfrm>
          <a:prstGeom prst="ellipse">
            <a:avLst/>
          </a:prstGeom>
          <a:solidFill>
            <a:srgbClr val="2E7D32"/>
          </a:solidFill>
          <a:ln w="12700">
            <a:solidFill>
              <a:srgbClr val="2E7D32"/>
            </a:solidFill>
            <a:prstDash val="solid"/>
          </a:ln>
        </p:spPr>
      </p:sp>
      <p:sp>
        <p:nvSpPr>
          <p:cNvPr id="24" name="s2_matched_null-leg-3"/>
          <p:cNvSpPr txBox="1"/>
          <p:nvPr/>
        </p:nvSpPr>
        <p:spPr>
          <a:xfrm>
            <a:off x="3834994" y="482803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5" name="s2_matched_null-dot-4"/>
          <p:cNvSpPr/>
          <p:nvPr/>
        </p:nvSpPr>
        <p:spPr>
          <a:xfrm>
            <a:off x="4870094" y="4869180"/>
            <a:ext cx="109728" cy="109728"/>
          </a:xfrm>
          <a:prstGeom prst="ellipse">
            <a:avLst/>
          </a:prstGeom>
          <a:solidFill>
            <a:srgbClr val="7B3FA0"/>
          </a:solidFill>
          <a:ln w="12700">
            <a:solidFill>
              <a:srgbClr val="7B3FA0"/>
            </a:solidFill>
            <a:prstDash val="solid"/>
          </a:ln>
        </p:spPr>
      </p:sp>
      <p:sp>
        <p:nvSpPr>
          <p:cNvPr id="26" name="s2_matched_null-leg-4"/>
          <p:cNvSpPr txBox="1"/>
          <p:nvPr/>
        </p:nvSpPr>
        <p:spPr>
          <a:xfrm>
            <a:off x="5025542"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7" name="s2_matched_null-dot-5"/>
          <p:cNvSpPr/>
          <p:nvPr/>
        </p:nvSpPr>
        <p:spPr>
          <a:xfrm>
            <a:off x="6192317" y="4869180"/>
            <a:ext cx="109728" cy="109728"/>
          </a:xfrm>
          <a:prstGeom prst="ellipse">
            <a:avLst/>
          </a:prstGeom>
          <a:solidFill>
            <a:srgbClr val="B3B2AE"/>
          </a:solidFill>
          <a:ln w="12700">
            <a:solidFill>
              <a:srgbClr val="B3B2AE"/>
            </a:solidFill>
            <a:prstDash val="solid"/>
          </a:ln>
        </p:spPr>
      </p:sp>
      <p:sp>
        <p:nvSpPr>
          <p:cNvPr id="28" name="s2_matched_null-leg-5"/>
          <p:cNvSpPr txBox="1"/>
          <p:nvPr/>
        </p:nvSpPr>
        <p:spPr>
          <a:xfrm>
            <a:off x="6347765" y="482803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9" name="s2_matched_null-key"/>
          <p:cNvSpPr txBox="1"/>
          <p:nvPr/>
        </p:nvSpPr>
        <p:spPr>
          <a:xfrm>
            <a:off x="502920" y="510235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sp>
        <p:nvSpPr>
          <p:cNvPr id="3" name="prof-t1"/>
          <p:cNvSpPr txBox="1"/>
          <p:nvPr/>
        </p:nvSpPr>
        <p:spPr>
          <a:xfrm>
            <a:off x="502920" y="1042416"/>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Where the dependence sits across the element</a:t>
            </a:r>
            <a:endParaRPr lang="en-US" sz="1350" dirty="0"/>
          </a:p>
        </p:txBody>
      </p:sp>
      <p:sp>
        <p:nvSpPr>
          <p:cNvPr id="4" name="prof-s1"/>
          <p:cNvSpPr txBox="1"/>
          <p:nvPr/>
        </p:nvSpPr>
        <p:spPr>
          <a:xfrm>
            <a:off x="502920" y="1325880"/>
            <a:ext cx="6949440" cy="274320"/>
          </a:xfrm>
          <a:prstGeom prst="rect">
            <a:avLst/>
          </a:prstGeom>
          <a:noFill/>
          <a:ln/>
        </p:spPr>
        <p:txBody>
          <a:bodyPr wrap="square" lIns="0" tIns="0" rIns="0" bIns="0" rtlCol="0" anchor="ctr"/>
          <a:lstStyle/>
          <a:p>
            <a:pPr indent="0" marL="0">
              <a:buNone/>
            </a:pPr>
            <a:r>
              <a:rPr lang="en-US" sz="1050" dirty="0">
                <a:solidFill>
                  <a:srgbClr val="595959"/>
                </a:solidFill>
              </a:rPr>
              <a:t>mean loss at each of the 60 windows, smoothed over 3; summed across windows this is exactly the quantity in the panels on the right. Gold band = the ±15 bp core.</a:t>
            </a:r>
            <a:endParaRPr lang="en-US" sz="1050" dirty="0"/>
          </a:p>
        </p:txBody>
      </p:sp>
      <p:pic>
        <p:nvPicPr>
          <p:cNvPr id="5" name="Image 0" descr="/Users/z5162865/WongLab/AlphaGenome_Ap1/Analysis/slide_figures/panels/s12_profile_absolute.png">    </p:cNvPr>
          <p:cNvPicPr>
            <a:picLocks noChangeAspect="1"/>
          </p:cNvPicPr>
          <p:nvPr/>
        </p:nvPicPr>
        <p:blipFill>
          <a:blip r:embed="rId1"/>
          <a:stretch>
            <a:fillRect/>
          </a:stretch>
        </p:blipFill>
        <p:spPr>
          <a:xfrm>
            <a:off x="1139268" y="1609344"/>
            <a:ext cx="5676744" cy="1783080"/>
          </a:xfrm>
          <a:prstGeom prst="rect">
            <a:avLst/>
          </a:prstGeom>
        </p:spPr>
      </p:pic>
      <p:sp>
        <p:nvSpPr>
          <p:cNvPr id="6" name="prof-t2"/>
          <p:cNvSpPr txBox="1"/>
          <p:nvPr/>
        </p:nvSpPr>
        <p:spPr>
          <a:xfrm>
            <a:off x="502920" y="3456432"/>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...and the same as a share of each site’s own total</a:t>
            </a:r>
            <a:endParaRPr lang="en-US" sz="1350" dirty="0"/>
          </a:p>
        </p:txBody>
      </p:sp>
      <p:sp>
        <p:nvSpPr>
          <p:cNvPr id="7" name="prof-s2"/>
          <p:cNvSpPr txBox="1"/>
          <p:nvPr/>
        </p:nvSpPr>
        <p:spPr>
          <a:xfrm>
            <a:off x="502920" y="3721608"/>
            <a:ext cx="6949440" cy="274320"/>
          </a:xfrm>
          <a:prstGeom prst="rect">
            <a:avLst/>
          </a:prstGeom>
          <a:noFill/>
          <a:ln/>
        </p:spPr>
        <p:txBody>
          <a:bodyPr wrap="square" lIns="0" tIns="0" rIns="0" bIns="0" rtlCol="0" anchor="ctr"/>
          <a:lstStyle/>
          <a:p>
            <a:pPr indent="0" marL="0">
              <a:buNone/>
            </a:pPr>
            <a:r>
              <a:rPr lang="en-US" sz="1050" dirty="0">
                <a:solidFill>
                  <a:srgbClr val="595959"/>
                </a:solidFill>
              </a:rPr>
              <a:t>depth divided out, so only the shape is compared</a:t>
            </a:r>
            <a:endParaRPr lang="en-US" sz="1050" dirty="0"/>
          </a:p>
        </p:txBody>
      </p:sp>
      <p:pic>
        <p:nvPicPr>
          <p:cNvPr id="8" name="Image 1" descr="/Users/z5162865/WongLab/AlphaGenome_Ap1/Analysis/slide_figures/panels/s12_profile_shape.png">    </p:cNvPr>
          <p:cNvPicPr>
            <a:picLocks noChangeAspect="1"/>
          </p:cNvPicPr>
          <p:nvPr/>
        </p:nvPicPr>
        <p:blipFill>
          <a:blip r:embed="rId2"/>
          <a:stretch>
            <a:fillRect/>
          </a:stretch>
        </p:blipFill>
        <p:spPr>
          <a:xfrm>
            <a:off x="1284825" y="3950208"/>
            <a:ext cx="5385629" cy="1691640"/>
          </a:xfrm>
          <a:prstGeom prst="rect">
            <a:avLst/>
          </a:prstGeom>
        </p:spPr>
      </p:pic>
      <p:sp>
        <p:nvSpPr>
          <p:cNvPr id="9" name="s3_dependence-title-0"/>
          <p:cNvSpPr txBox="1"/>
          <p:nvPr/>
        </p:nvSpPr>
        <p:spPr>
          <a:xfrm>
            <a:off x="7653528" y="104241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near the motif</a:t>
            </a:r>
            <a:endParaRPr lang="en-US" sz="1150" dirty="0"/>
          </a:p>
        </p:txBody>
      </p:sp>
      <p:pic>
        <p:nvPicPr>
          <p:cNvPr id="10" name="Image 2" descr="/Users/z5162865/WongLab/AlphaGenome_Ap1/Analysis/slide_figures/panels/s3_dependence_c0_r0.png">    </p:cNvPr>
          <p:cNvPicPr>
            <a:picLocks noChangeAspect="1"/>
          </p:cNvPicPr>
          <p:nvPr/>
        </p:nvPicPr>
        <p:blipFill>
          <a:blip r:embed="rId3"/>
          <a:stretch>
            <a:fillRect/>
          </a:stretch>
        </p:blipFill>
        <p:spPr>
          <a:xfrm>
            <a:off x="7653963" y="1298448"/>
            <a:ext cx="4004201" cy="1274064"/>
          </a:xfrm>
          <a:prstGeom prst="rect">
            <a:avLst/>
          </a:prstGeom>
        </p:spPr>
      </p:pic>
      <p:sp>
        <p:nvSpPr>
          <p:cNvPr id="11" name="s3_dependence-title-1"/>
          <p:cNvSpPr txBox="1"/>
          <p:nvPr/>
        </p:nvSpPr>
        <p:spPr>
          <a:xfrm>
            <a:off x="7653528" y="262737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out in the context</a:t>
            </a:r>
            <a:endParaRPr lang="en-US" sz="1150" dirty="0"/>
          </a:p>
        </p:txBody>
      </p:sp>
      <p:pic>
        <p:nvPicPr>
          <p:cNvPr id="12" name="Image 3" descr="/Users/z5162865/WongLab/AlphaGenome_Ap1/Analysis/slide_figures/panels/s3_dependence_c1_r0.png">    </p:cNvPr>
          <p:cNvPicPr>
            <a:picLocks noChangeAspect="1"/>
          </p:cNvPicPr>
          <p:nvPr/>
        </p:nvPicPr>
        <p:blipFill>
          <a:blip r:embed="rId4"/>
          <a:stretch>
            <a:fillRect/>
          </a:stretch>
        </p:blipFill>
        <p:spPr>
          <a:xfrm>
            <a:off x="7653963" y="2883408"/>
            <a:ext cx="4004201" cy="1274064"/>
          </a:xfrm>
          <a:prstGeom prst="rect">
            <a:avLst/>
          </a:prstGeom>
        </p:spPr>
      </p:pic>
      <p:sp>
        <p:nvSpPr>
          <p:cNvPr id="13" name="s3_dependence-title-2"/>
          <p:cNvSpPr txBox="1"/>
          <p:nvPr/>
        </p:nvSpPr>
        <p:spPr>
          <a:xfrm>
            <a:off x="7653528" y="421233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Spread along the element</a:t>
            </a:r>
            <a:endParaRPr lang="en-US" sz="1150" dirty="0"/>
          </a:p>
        </p:txBody>
      </p:sp>
      <p:pic>
        <p:nvPicPr>
          <p:cNvPr id="14" name="Image 4" descr="/Users/z5162865/WongLab/AlphaGenome_Ap1/Analysis/slide_figures/panels/s3_dependence_c2_r0.png">    </p:cNvPr>
          <p:cNvPicPr>
            <a:picLocks noChangeAspect="1"/>
          </p:cNvPicPr>
          <p:nvPr/>
        </p:nvPicPr>
        <p:blipFill>
          <a:blip r:embed="rId5"/>
          <a:stretch>
            <a:fillRect/>
          </a:stretch>
        </p:blipFill>
        <p:spPr>
          <a:xfrm>
            <a:off x="7653963" y="4468368"/>
            <a:ext cx="4004201" cy="1274064"/>
          </a:xfrm>
          <a:prstGeom prst="rect">
            <a:avLst/>
          </a:prstGeom>
        </p:spPr>
      </p:pic>
      <p:sp>
        <p:nvSpPr>
          <p:cNvPr id="15" name="s3_dependence-dot-0"/>
          <p:cNvSpPr/>
          <p:nvPr/>
        </p:nvSpPr>
        <p:spPr>
          <a:xfrm>
            <a:off x="502920" y="5765292"/>
            <a:ext cx="109728" cy="109728"/>
          </a:xfrm>
          <a:prstGeom prst="ellipse">
            <a:avLst/>
          </a:prstGeom>
          <a:solidFill>
            <a:srgbClr val="4F4F4F"/>
          </a:solidFill>
          <a:ln w="12700">
            <a:solidFill>
              <a:srgbClr val="4F4F4F"/>
            </a:solidFill>
            <a:prstDash val="solid"/>
          </a:ln>
        </p:spPr>
      </p:sp>
      <p:sp>
        <p:nvSpPr>
          <p:cNvPr id="16" name="s3_dependence-leg-0"/>
          <p:cNvSpPr txBox="1"/>
          <p:nvPr/>
        </p:nvSpPr>
        <p:spPr>
          <a:xfrm>
            <a:off x="658368"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3_dependence-dot-1"/>
          <p:cNvSpPr/>
          <p:nvPr/>
        </p:nvSpPr>
        <p:spPr>
          <a:xfrm>
            <a:off x="1825142" y="5765292"/>
            <a:ext cx="109728" cy="109728"/>
          </a:xfrm>
          <a:prstGeom prst="ellipse">
            <a:avLst/>
          </a:prstGeom>
          <a:solidFill>
            <a:srgbClr val="C2551C"/>
          </a:solidFill>
          <a:ln w="12700">
            <a:solidFill>
              <a:srgbClr val="C2551C"/>
            </a:solidFill>
            <a:prstDash val="solid"/>
          </a:ln>
        </p:spPr>
      </p:sp>
      <p:sp>
        <p:nvSpPr>
          <p:cNvPr id="18" name="s3_dependence-leg-1"/>
          <p:cNvSpPr txBox="1"/>
          <p:nvPr/>
        </p:nvSpPr>
        <p:spPr>
          <a:xfrm>
            <a:off x="1980590" y="5724144"/>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3_dependence-dot-2"/>
          <p:cNvSpPr/>
          <p:nvPr/>
        </p:nvSpPr>
        <p:spPr>
          <a:xfrm>
            <a:off x="2686507" y="5765292"/>
            <a:ext cx="109728" cy="109728"/>
          </a:xfrm>
          <a:prstGeom prst="ellipse">
            <a:avLst/>
          </a:prstGeom>
          <a:solidFill>
            <a:srgbClr val="1F6FB2"/>
          </a:solidFill>
          <a:ln w="12700">
            <a:solidFill>
              <a:srgbClr val="1F6FB2"/>
            </a:solidFill>
            <a:prstDash val="solid"/>
          </a:ln>
        </p:spPr>
      </p:sp>
      <p:sp>
        <p:nvSpPr>
          <p:cNvPr id="20" name="s3_dependence-leg-2"/>
          <p:cNvSpPr txBox="1"/>
          <p:nvPr/>
        </p:nvSpPr>
        <p:spPr>
          <a:xfrm>
            <a:off x="2841955" y="5724144"/>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3_dependence-dot-3"/>
          <p:cNvSpPr/>
          <p:nvPr/>
        </p:nvSpPr>
        <p:spPr>
          <a:xfrm>
            <a:off x="3679546" y="5765292"/>
            <a:ext cx="109728" cy="109728"/>
          </a:xfrm>
          <a:prstGeom prst="ellipse">
            <a:avLst/>
          </a:prstGeom>
          <a:solidFill>
            <a:srgbClr val="2E7D32"/>
          </a:solidFill>
          <a:ln w="12700">
            <a:solidFill>
              <a:srgbClr val="2E7D32"/>
            </a:solidFill>
            <a:prstDash val="solid"/>
          </a:ln>
        </p:spPr>
      </p:sp>
      <p:sp>
        <p:nvSpPr>
          <p:cNvPr id="22" name="s3_dependence-leg-3"/>
          <p:cNvSpPr txBox="1"/>
          <p:nvPr/>
        </p:nvSpPr>
        <p:spPr>
          <a:xfrm>
            <a:off x="3834994" y="5724144"/>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3_dependence-dot-4"/>
          <p:cNvSpPr/>
          <p:nvPr/>
        </p:nvSpPr>
        <p:spPr>
          <a:xfrm>
            <a:off x="4870094" y="5765292"/>
            <a:ext cx="109728" cy="109728"/>
          </a:xfrm>
          <a:prstGeom prst="ellipse">
            <a:avLst/>
          </a:prstGeom>
          <a:solidFill>
            <a:srgbClr val="7B3FA0"/>
          </a:solidFill>
          <a:ln w="12700">
            <a:solidFill>
              <a:srgbClr val="7B3FA0"/>
            </a:solidFill>
            <a:prstDash val="solid"/>
          </a:ln>
        </p:spPr>
      </p:sp>
      <p:sp>
        <p:nvSpPr>
          <p:cNvPr id="24" name="s3_dependence-leg-4"/>
          <p:cNvSpPr txBox="1"/>
          <p:nvPr/>
        </p:nvSpPr>
        <p:spPr>
          <a:xfrm>
            <a:off x="5025542"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3_dependence-dot-5"/>
          <p:cNvSpPr/>
          <p:nvPr/>
        </p:nvSpPr>
        <p:spPr>
          <a:xfrm>
            <a:off x="6192317" y="5765292"/>
            <a:ext cx="109728" cy="109728"/>
          </a:xfrm>
          <a:prstGeom prst="ellipse">
            <a:avLst/>
          </a:prstGeom>
          <a:solidFill>
            <a:srgbClr val="B3B2AE"/>
          </a:solidFill>
          <a:ln w="12700">
            <a:solidFill>
              <a:srgbClr val="B3B2AE"/>
            </a:solidFill>
            <a:prstDash val="solid"/>
          </a:ln>
        </p:spPr>
      </p:sp>
      <p:sp>
        <p:nvSpPr>
          <p:cNvPr id="26" name="s3_dependence-leg-5"/>
          <p:cNvSpPr txBox="1"/>
          <p:nvPr/>
        </p:nvSpPr>
        <p:spPr>
          <a:xfrm>
            <a:off x="6347765" y="5724144"/>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Stable sites peak highest at the core; Age Up, Exercise Down and Dynamic carry more of their dependence out in the flanks — Age Down simply has less of everything</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2026-10-23T02:04:27Z</dcterms:created>
  <dcterms:modified xsi:type="dcterms:W3CDTF">2026-10-23T02:04:27Z</dcterms:modified>
</cp:coreProperties>
</file>