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828b441-2f2f-c7b3-610c-50ceb5423075}">
          <p14:sldIdLst>
            <p14:sldId id="256"/>
          </p14:sldIdLst>
        </p14:section>
        <p14:section name="Design" id="{c3967755-fcb0-39e5-aa69-e82e2ba3e3a1}">
          <p14:sldIdLst>
            <p14:sldId id="257"/>
            <p14:sldId id="258"/>
          </p14:sldIdLst>
        </p14:section>
        <p14:section name="Findings" id="{c49a37c9-7616-8758-b3dd-5c3c18301831}">
          <p14:sldIdLst>
            <p14:sldId id="259"/>
            <p14:sldId id="260"/>
            <p14:sldId id="261"/>
            <p14:sldId id="262"/>
            <p14:sldId id="263"/>
            <p14:sldId id="264"/>
            <p14:sldId id="265"/>
            <p14:sldId id="266"/>
            <p14:sldId id="267"/>
          </p14:sldIdLst>
        </p14:section>
        <p14:section name="Conclusion" id="{199aa5b4-fc81-7375-4d65-010333400a35}">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of 16 scan features separate Dynamic from matched Stable. Share of dependence within 85 bp 0.63 vs 0.74, spread 94 vs 86 bp, largest single-base effect 0.74 vs 0.90. Age Up is the most diffuse class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dose-response slope tracks core quality measured independently from the genome sequence, rho 0.30.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3.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3.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Most of the difference is chromatin, not sequence</a:t>
            </a:r>
            <a:endParaRPr lang="en-US" sz="2800" dirty="0"/>
          </a:p>
        </p:txBody>
      </p:sp>
      <p:sp>
        <p:nvSpPr>
          <p:cNvPr id="3" name="s2_matched_null-title-0"/>
          <p:cNvSpPr txBox="1"/>
          <p:nvPr/>
        </p:nvSpPr>
        <p:spPr>
          <a:xfrm>
            <a:off x="1618488"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4" name="s2_matched_null-sub-0"/>
          <p:cNvSpPr txBox="1"/>
          <p:nvPr/>
        </p:nvSpPr>
        <p:spPr>
          <a:xfrm>
            <a:off x="1618488"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5" name="Image 0" descr="/Users/z5162865/WongLab/AlphaGenome_Ap1/Analysis/slide_figures/panels/s2_matched_null_c0_r0.png">    </p:cNvPr>
          <p:cNvPicPr>
            <a:picLocks noChangeAspect="1"/>
          </p:cNvPicPr>
          <p:nvPr/>
        </p:nvPicPr>
        <p:blipFill>
          <a:blip r:embed="rId1"/>
          <a:stretch>
            <a:fillRect/>
          </a:stretch>
        </p:blipFill>
        <p:spPr>
          <a:xfrm>
            <a:off x="1685171" y="1755648"/>
            <a:ext cx="2303510" cy="1463040"/>
          </a:xfrm>
          <a:prstGeom prst="rect">
            <a:avLst/>
          </a:prstGeom>
        </p:spPr>
      </p:pic>
      <p:pic>
        <p:nvPicPr>
          <p:cNvPr id="6" name="Image 1" descr="/Users/z5162865/WongLab/AlphaGenome_Ap1/Analysis/slide_figures/panels/s2_matched_null_c0_r1.png">    </p:cNvPr>
          <p:cNvPicPr>
            <a:picLocks noChangeAspect="1"/>
          </p:cNvPicPr>
          <p:nvPr/>
        </p:nvPicPr>
        <p:blipFill>
          <a:blip r:embed="rId2"/>
          <a:stretch>
            <a:fillRect/>
          </a:stretch>
        </p:blipFill>
        <p:spPr>
          <a:xfrm>
            <a:off x="1685171" y="3291840"/>
            <a:ext cx="2303510" cy="1463040"/>
          </a:xfrm>
          <a:prstGeom prst="rect">
            <a:avLst/>
          </a:prstGeom>
        </p:spPr>
      </p:pic>
      <p:sp>
        <p:nvSpPr>
          <p:cNvPr id="7" name="s2_matched_null-title-1"/>
          <p:cNvSpPr txBox="1"/>
          <p:nvPr/>
        </p:nvSpPr>
        <p:spPr>
          <a:xfrm>
            <a:off x="4128516"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8" name="s2_matched_null-sub-1"/>
          <p:cNvSpPr txBox="1"/>
          <p:nvPr/>
        </p:nvSpPr>
        <p:spPr>
          <a:xfrm>
            <a:off x="4128516"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9" name="Image 2" descr="/Users/z5162865/WongLab/AlphaGenome_Ap1/Analysis/slide_figures/panels/s2_matched_null_c1_r0.png">    </p:cNvPr>
          <p:cNvPicPr>
            <a:picLocks noChangeAspect="1"/>
          </p:cNvPicPr>
          <p:nvPr/>
        </p:nvPicPr>
        <p:blipFill>
          <a:blip r:embed="rId3"/>
          <a:stretch>
            <a:fillRect/>
          </a:stretch>
        </p:blipFill>
        <p:spPr>
          <a:xfrm>
            <a:off x="4195199" y="1755648"/>
            <a:ext cx="2303510" cy="1463040"/>
          </a:xfrm>
          <a:prstGeom prst="rect">
            <a:avLst/>
          </a:prstGeom>
        </p:spPr>
      </p:pic>
      <p:pic>
        <p:nvPicPr>
          <p:cNvPr id="10" name="Image 3" descr="/Users/z5162865/WongLab/AlphaGenome_Ap1/Analysis/slide_figures/panels/s2_matched_null_c1_r1.png">    </p:cNvPr>
          <p:cNvPicPr>
            <a:picLocks noChangeAspect="1"/>
          </p:cNvPicPr>
          <p:nvPr/>
        </p:nvPicPr>
        <p:blipFill>
          <a:blip r:embed="rId4"/>
          <a:stretch>
            <a:fillRect/>
          </a:stretch>
        </p:blipFill>
        <p:spPr>
          <a:xfrm>
            <a:off x="4195199" y="3291840"/>
            <a:ext cx="2303510" cy="1463040"/>
          </a:xfrm>
          <a:prstGeom prst="rect">
            <a:avLst/>
          </a:prstGeom>
        </p:spPr>
      </p:pic>
      <p:sp>
        <p:nvSpPr>
          <p:cNvPr id="11" name="s2_matched_null-title-2"/>
          <p:cNvSpPr txBox="1"/>
          <p:nvPr/>
        </p:nvSpPr>
        <p:spPr>
          <a:xfrm>
            <a:off x="6638544"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2" name="s2_matched_null-sub-2"/>
          <p:cNvSpPr txBox="1"/>
          <p:nvPr/>
        </p:nvSpPr>
        <p:spPr>
          <a:xfrm>
            <a:off x="6638544"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3" name="Image 4" descr="/Users/z5162865/WongLab/AlphaGenome_Ap1/Analysis/slide_figures/panels/s2_matched_null_c2_r0.png">    </p:cNvPr>
          <p:cNvPicPr>
            <a:picLocks noChangeAspect="1"/>
          </p:cNvPicPr>
          <p:nvPr/>
        </p:nvPicPr>
        <p:blipFill>
          <a:blip r:embed="rId5"/>
          <a:stretch>
            <a:fillRect/>
          </a:stretch>
        </p:blipFill>
        <p:spPr>
          <a:xfrm>
            <a:off x="6705227" y="1755648"/>
            <a:ext cx="2303510" cy="1463040"/>
          </a:xfrm>
          <a:prstGeom prst="rect">
            <a:avLst/>
          </a:prstGeom>
        </p:spPr>
      </p:pic>
      <p:pic>
        <p:nvPicPr>
          <p:cNvPr id="14" name="Image 5" descr="/Users/z5162865/WongLab/AlphaGenome_Ap1/Analysis/slide_figures/panels/s2_matched_null_c2_r1.png">    </p:cNvPr>
          <p:cNvPicPr>
            <a:picLocks noChangeAspect="1"/>
          </p:cNvPicPr>
          <p:nvPr/>
        </p:nvPicPr>
        <p:blipFill>
          <a:blip r:embed="rId6"/>
          <a:stretch>
            <a:fillRect/>
          </a:stretch>
        </p:blipFill>
        <p:spPr>
          <a:xfrm>
            <a:off x="6705227" y="3291840"/>
            <a:ext cx="2303510" cy="1463040"/>
          </a:xfrm>
          <a:prstGeom prst="rect">
            <a:avLst/>
          </a:prstGeom>
        </p:spPr>
      </p:pic>
      <p:sp>
        <p:nvSpPr>
          <p:cNvPr id="15" name="s2_matched_null-title-3"/>
          <p:cNvSpPr txBox="1"/>
          <p:nvPr/>
        </p:nvSpPr>
        <p:spPr>
          <a:xfrm>
            <a:off x="9148572" y="1005840"/>
            <a:ext cx="243687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6" name="s2_matched_null-sub-3"/>
          <p:cNvSpPr txBox="1"/>
          <p:nvPr/>
        </p:nvSpPr>
        <p:spPr>
          <a:xfrm>
            <a:off x="9148572" y="1435608"/>
            <a:ext cx="243687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7" name="Image 6" descr="/Users/z5162865/WongLab/AlphaGenome_Ap1/Analysis/slide_figures/panels/s2_matched_null_c3_r0.png">    </p:cNvPr>
          <p:cNvPicPr>
            <a:picLocks noChangeAspect="1"/>
          </p:cNvPicPr>
          <p:nvPr/>
        </p:nvPicPr>
        <p:blipFill>
          <a:blip r:embed="rId7"/>
          <a:stretch>
            <a:fillRect/>
          </a:stretch>
        </p:blipFill>
        <p:spPr>
          <a:xfrm>
            <a:off x="9215255" y="1755648"/>
            <a:ext cx="2303510" cy="1463040"/>
          </a:xfrm>
          <a:prstGeom prst="rect">
            <a:avLst/>
          </a:prstGeom>
        </p:spPr>
      </p:pic>
      <p:pic>
        <p:nvPicPr>
          <p:cNvPr id="18" name="Image 7" descr="/Users/z5162865/WongLab/AlphaGenome_Ap1/Analysis/slide_figures/panels/s2_matched_null_c3_r1.png">    </p:cNvPr>
          <p:cNvPicPr>
            <a:picLocks noChangeAspect="1"/>
          </p:cNvPicPr>
          <p:nvPr/>
        </p:nvPicPr>
        <p:blipFill>
          <a:blip r:embed="rId8"/>
          <a:stretch>
            <a:fillRect/>
          </a:stretch>
        </p:blipFill>
        <p:spPr>
          <a:xfrm>
            <a:off x="9215255" y="3291840"/>
            <a:ext cx="2303510" cy="1463040"/>
          </a:xfrm>
          <a:prstGeom prst="rect">
            <a:avLst/>
          </a:prstGeom>
        </p:spPr>
      </p:pic>
      <p:sp>
        <p:nvSpPr>
          <p:cNvPr id="19" name="s2_matched_null-row-0"/>
          <p:cNvSpPr txBox="1"/>
          <p:nvPr/>
        </p:nvSpPr>
        <p:spPr>
          <a:xfrm rot="16200000">
            <a:off x="48463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20" name="s2_matched_null-row-1"/>
          <p:cNvSpPr txBox="1"/>
          <p:nvPr/>
        </p:nvSpPr>
        <p:spPr>
          <a:xfrm rot="16200000">
            <a:off x="48463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21" name="s2_matched_null-dot-0"/>
          <p:cNvSpPr/>
          <p:nvPr/>
        </p:nvSpPr>
        <p:spPr>
          <a:xfrm>
            <a:off x="1618488" y="4960620"/>
            <a:ext cx="109728" cy="109728"/>
          </a:xfrm>
          <a:prstGeom prst="ellipse">
            <a:avLst/>
          </a:prstGeom>
          <a:solidFill>
            <a:srgbClr val="4F4F4F"/>
          </a:solidFill>
          <a:ln w="12700">
            <a:solidFill>
              <a:srgbClr val="4F4F4F"/>
            </a:solidFill>
            <a:prstDash val="solid"/>
          </a:ln>
        </p:spPr>
      </p:sp>
      <p:sp>
        <p:nvSpPr>
          <p:cNvPr id="22" name="s2_matched_null-leg-0"/>
          <p:cNvSpPr txBox="1"/>
          <p:nvPr/>
        </p:nvSpPr>
        <p:spPr>
          <a:xfrm>
            <a:off x="1773936"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23" name="s2_matched_null-dot-1"/>
          <p:cNvSpPr/>
          <p:nvPr/>
        </p:nvSpPr>
        <p:spPr>
          <a:xfrm>
            <a:off x="2940710" y="4960620"/>
            <a:ext cx="109728" cy="109728"/>
          </a:xfrm>
          <a:prstGeom prst="ellipse">
            <a:avLst/>
          </a:prstGeom>
          <a:solidFill>
            <a:srgbClr val="C2551C"/>
          </a:solidFill>
          <a:ln w="12700">
            <a:solidFill>
              <a:srgbClr val="C2551C"/>
            </a:solidFill>
            <a:prstDash val="solid"/>
          </a:ln>
        </p:spPr>
      </p:sp>
      <p:sp>
        <p:nvSpPr>
          <p:cNvPr id="24" name="s2_matched_null-leg-1"/>
          <p:cNvSpPr txBox="1"/>
          <p:nvPr/>
        </p:nvSpPr>
        <p:spPr>
          <a:xfrm>
            <a:off x="3096158"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5" name="s2_matched_null-dot-2"/>
          <p:cNvSpPr/>
          <p:nvPr/>
        </p:nvSpPr>
        <p:spPr>
          <a:xfrm>
            <a:off x="3802075" y="4960620"/>
            <a:ext cx="109728" cy="109728"/>
          </a:xfrm>
          <a:prstGeom prst="ellipse">
            <a:avLst/>
          </a:prstGeom>
          <a:solidFill>
            <a:srgbClr val="1F6FB2"/>
          </a:solidFill>
          <a:ln w="12700">
            <a:solidFill>
              <a:srgbClr val="1F6FB2"/>
            </a:solidFill>
            <a:prstDash val="solid"/>
          </a:ln>
        </p:spPr>
      </p:sp>
      <p:sp>
        <p:nvSpPr>
          <p:cNvPr id="26" name="s2_matched_null-leg-2"/>
          <p:cNvSpPr txBox="1"/>
          <p:nvPr/>
        </p:nvSpPr>
        <p:spPr>
          <a:xfrm>
            <a:off x="3957523"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7" name="s2_matched_null-dot-3"/>
          <p:cNvSpPr/>
          <p:nvPr/>
        </p:nvSpPr>
        <p:spPr>
          <a:xfrm>
            <a:off x="4795114" y="4960620"/>
            <a:ext cx="109728" cy="109728"/>
          </a:xfrm>
          <a:prstGeom prst="ellipse">
            <a:avLst/>
          </a:prstGeom>
          <a:solidFill>
            <a:srgbClr val="2E7D32"/>
          </a:solidFill>
          <a:ln w="12700">
            <a:solidFill>
              <a:srgbClr val="2E7D32"/>
            </a:solidFill>
            <a:prstDash val="solid"/>
          </a:ln>
        </p:spPr>
      </p:sp>
      <p:sp>
        <p:nvSpPr>
          <p:cNvPr id="28" name="s2_matched_null-leg-3"/>
          <p:cNvSpPr txBox="1"/>
          <p:nvPr/>
        </p:nvSpPr>
        <p:spPr>
          <a:xfrm>
            <a:off x="4950562"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9" name="s2_matched_null-dot-4"/>
          <p:cNvSpPr/>
          <p:nvPr/>
        </p:nvSpPr>
        <p:spPr>
          <a:xfrm>
            <a:off x="5985662" y="4960620"/>
            <a:ext cx="109728" cy="109728"/>
          </a:xfrm>
          <a:prstGeom prst="ellipse">
            <a:avLst/>
          </a:prstGeom>
          <a:solidFill>
            <a:srgbClr val="7B3FA0"/>
          </a:solidFill>
          <a:ln w="12700">
            <a:solidFill>
              <a:srgbClr val="7B3FA0"/>
            </a:solidFill>
            <a:prstDash val="solid"/>
          </a:ln>
        </p:spPr>
      </p:sp>
      <p:sp>
        <p:nvSpPr>
          <p:cNvPr id="30" name="s2_matched_null-leg-4"/>
          <p:cNvSpPr txBox="1"/>
          <p:nvPr/>
        </p:nvSpPr>
        <p:spPr>
          <a:xfrm>
            <a:off x="6141110"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31" name="s2_matched_null-dot-5"/>
          <p:cNvSpPr/>
          <p:nvPr/>
        </p:nvSpPr>
        <p:spPr>
          <a:xfrm>
            <a:off x="7307885" y="4960620"/>
            <a:ext cx="109728" cy="109728"/>
          </a:xfrm>
          <a:prstGeom prst="ellipse">
            <a:avLst/>
          </a:prstGeom>
          <a:solidFill>
            <a:srgbClr val="B3B2AE"/>
          </a:solidFill>
          <a:ln w="12700">
            <a:solidFill>
              <a:srgbClr val="B3B2AE"/>
            </a:solidFill>
            <a:prstDash val="solid"/>
          </a:ln>
        </p:spPr>
      </p:sp>
      <p:sp>
        <p:nvSpPr>
          <p:cNvPr id="32" name="s2_matched_null-leg-5"/>
          <p:cNvSpPr txBox="1"/>
          <p:nvPr/>
        </p:nvSpPr>
        <p:spPr>
          <a:xfrm>
            <a:off x="7463333"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33" name="s2_matched_null-key"/>
          <p:cNvSpPr txBox="1"/>
          <p:nvPr/>
        </p:nvSpPr>
        <p:spPr>
          <a:xfrm>
            <a:off x="960120" y="5193792"/>
            <a:ext cx="106984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median with 95% bootstrap CI.   grey dots (bottom row): that class's own matched Stable controls.   Stars test the class against that reference — Mann–Whitney on all sites, paired Wilcoxon on matched pairs — BH across all 40 tests.   *** p&lt;0.001   ** p&lt;0.01   * p&lt;0.05   ns ≥ 0.05</a:t>
            </a:r>
            <a:endParaRPr lang="en-US" sz="900" dirty="0"/>
          </a:p>
        </p:txBody>
      </p:sp>
      <p:sp>
        <p:nvSpPr>
          <p:cNvPr id="3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behaves the same way: the motif and the whole peak close up under matching, the 170 bp element does not — except Age Down, which closes up everywhere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sp>
        <p:nvSpPr>
          <p:cNvPr id="4" name="pa-t1"/>
          <p:cNvSpPr txBox="1"/>
          <p:nvPr/>
        </p:nvSpPr>
        <p:spPr>
          <a:xfrm>
            <a:off x="731520" y="205740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All sites, nothing controlled</a:t>
            </a:r>
            <a:endParaRPr lang="en-US" sz="1300" dirty="0"/>
          </a:p>
        </p:txBody>
      </p:sp>
      <p:pic>
        <p:nvPicPr>
          <p:cNvPr id="5" name="Image 1" descr="/Users/z5162865/WongLab/AlphaGenome_Ap1/Analysis/slide_figures/panels/s8_partners_all.png">    </p:cNvPr>
          <p:cNvPicPr>
            <a:picLocks noChangeAspect="1"/>
          </p:cNvPicPr>
          <p:nvPr/>
        </p:nvPicPr>
        <p:blipFill>
          <a:blip r:embed="rId2"/>
          <a:stretch>
            <a:fillRect/>
          </a:stretch>
        </p:blipFill>
        <p:spPr>
          <a:xfrm>
            <a:off x="1295400" y="2377440"/>
            <a:ext cx="3810000" cy="2743200"/>
          </a:xfrm>
          <a:prstGeom prst="rect">
            <a:avLst/>
          </a:prstGeom>
        </p:spPr>
      </p:pic>
      <p:sp>
        <p:nvSpPr>
          <p:cNvPr id="6" name="pa-t2"/>
          <p:cNvSpPr txBox="1"/>
          <p:nvPr/>
        </p:nvSpPr>
        <p:spPr>
          <a:xfrm>
            <a:off x="6309360" y="205740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Each class against its own matched Stable controls</a:t>
            </a:r>
            <a:endParaRPr lang="en-US" sz="1300" dirty="0"/>
          </a:p>
        </p:txBody>
      </p:sp>
      <p:pic>
        <p:nvPicPr>
          <p:cNvPr id="7" name="Image 2" descr="/Users/z5162865/WongLab/AlphaGenome_Ap1/Analysis/slide_figures/panels/s8_partners_matched.png">    </p:cNvPr>
          <p:cNvPicPr>
            <a:picLocks noChangeAspect="1"/>
          </p:cNvPicPr>
          <p:nvPr/>
        </p:nvPicPr>
        <p:blipFill>
          <a:blip r:embed="rId3"/>
          <a:stretch>
            <a:fillRect/>
          </a:stretch>
        </p:blipFill>
        <p:spPr>
          <a:xfrm>
            <a:off x="6964680" y="2377440"/>
            <a:ext cx="3810000" cy="2743200"/>
          </a:xfrm>
          <a:prstGeom prst="rect">
            <a:avLst/>
          </a:prstGeom>
        </p:spPr>
      </p:pic>
      <p:sp>
        <p:nvSpPr>
          <p:cNvPr id="8" name="lg-dot-5.68-0"/>
          <p:cNvSpPr/>
          <p:nvPr/>
        </p:nvSpPr>
        <p:spPr>
          <a:xfrm>
            <a:off x="731520" y="5234940"/>
            <a:ext cx="109728" cy="109728"/>
          </a:xfrm>
          <a:prstGeom prst="ellipse">
            <a:avLst/>
          </a:prstGeom>
          <a:solidFill>
            <a:srgbClr val="B3B2AE"/>
          </a:solidFill>
          <a:ln w="12700">
            <a:solidFill>
              <a:srgbClr val="B3B2AE"/>
            </a:solidFill>
            <a:prstDash val="solid"/>
          </a:ln>
        </p:spPr>
      </p:sp>
      <p:sp>
        <p:nvSpPr>
          <p:cNvPr id="9" name="lg-txt-5.68-0"/>
          <p:cNvSpPr txBox="1"/>
          <p:nvPr/>
        </p:nvSpPr>
        <p:spPr>
          <a:xfrm>
            <a:off x="886968" y="5193792"/>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10" name="lg-dot-5.68-1"/>
          <p:cNvSpPr/>
          <p:nvPr/>
        </p:nvSpPr>
        <p:spPr>
          <a:xfrm>
            <a:off x="1592885" y="5234940"/>
            <a:ext cx="109728" cy="109728"/>
          </a:xfrm>
          <a:prstGeom prst="ellipse">
            <a:avLst/>
          </a:prstGeom>
          <a:solidFill>
            <a:srgbClr val="C2551C"/>
          </a:solidFill>
          <a:ln w="12700">
            <a:solidFill>
              <a:srgbClr val="C2551C"/>
            </a:solidFill>
            <a:prstDash val="solid"/>
          </a:ln>
        </p:spPr>
      </p:sp>
      <p:sp>
        <p:nvSpPr>
          <p:cNvPr id="11" name="lg-txt-5.68-1"/>
          <p:cNvSpPr txBox="1"/>
          <p:nvPr/>
        </p:nvSpPr>
        <p:spPr>
          <a:xfrm>
            <a:off x="1748333" y="519379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2" name="lg-dot-5.68-2"/>
          <p:cNvSpPr/>
          <p:nvPr/>
        </p:nvSpPr>
        <p:spPr>
          <a:xfrm>
            <a:off x="2454250" y="5234940"/>
            <a:ext cx="109728" cy="109728"/>
          </a:xfrm>
          <a:prstGeom prst="ellipse">
            <a:avLst/>
          </a:prstGeom>
          <a:solidFill>
            <a:srgbClr val="1F6FB2"/>
          </a:solidFill>
          <a:ln w="12700">
            <a:solidFill>
              <a:srgbClr val="1F6FB2"/>
            </a:solidFill>
            <a:prstDash val="solid"/>
          </a:ln>
        </p:spPr>
      </p:sp>
      <p:sp>
        <p:nvSpPr>
          <p:cNvPr id="13" name="lg-txt-5.68-2"/>
          <p:cNvSpPr txBox="1"/>
          <p:nvPr/>
        </p:nvSpPr>
        <p:spPr>
          <a:xfrm>
            <a:off x="2609698" y="519379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4" name="lg-dot-5.68-3"/>
          <p:cNvSpPr/>
          <p:nvPr/>
        </p:nvSpPr>
        <p:spPr>
          <a:xfrm>
            <a:off x="3447288" y="5234940"/>
            <a:ext cx="109728" cy="109728"/>
          </a:xfrm>
          <a:prstGeom prst="ellipse">
            <a:avLst/>
          </a:prstGeom>
          <a:solidFill>
            <a:srgbClr val="2E7D32"/>
          </a:solidFill>
          <a:ln w="12700">
            <a:solidFill>
              <a:srgbClr val="2E7D32"/>
            </a:solidFill>
            <a:prstDash val="solid"/>
          </a:ln>
        </p:spPr>
      </p:sp>
      <p:sp>
        <p:nvSpPr>
          <p:cNvPr id="15" name="lg-txt-5.68-3"/>
          <p:cNvSpPr txBox="1"/>
          <p:nvPr/>
        </p:nvSpPr>
        <p:spPr>
          <a:xfrm>
            <a:off x="3602736" y="519379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6" name="lg-dot-5.68-4"/>
          <p:cNvSpPr/>
          <p:nvPr/>
        </p:nvSpPr>
        <p:spPr>
          <a:xfrm>
            <a:off x="4637837" y="5234940"/>
            <a:ext cx="109728" cy="109728"/>
          </a:xfrm>
          <a:prstGeom prst="ellipse">
            <a:avLst/>
          </a:prstGeom>
          <a:solidFill>
            <a:srgbClr val="7B3FA0"/>
          </a:solidFill>
          <a:ln w="12700">
            <a:solidFill>
              <a:srgbClr val="7B3FA0"/>
            </a:solidFill>
            <a:prstDash val="solid"/>
          </a:ln>
        </p:spPr>
      </p:sp>
      <p:sp>
        <p:nvSpPr>
          <p:cNvPr id="17" name="lg-txt-5.68-4"/>
          <p:cNvSpPr txBox="1"/>
          <p:nvPr/>
        </p:nvSpPr>
        <p:spPr>
          <a:xfrm>
            <a:off x="4793285" y="519379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8" name="pa-key"/>
          <p:cNvSpPr txBox="1"/>
          <p:nvPr/>
        </p:nvSpPr>
        <p:spPr>
          <a:xfrm>
            <a:off x="731520" y="5468112"/>
            <a:ext cx="1069848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40 class-by-family comparisons; smallest FDR 0.04, and only before matching</a:t>
            </a:r>
            <a:endParaRPr lang="en-US" sz="950" dirty="0"/>
          </a:p>
        </p:txBody>
      </p:sp>
      <p:sp>
        <p:nvSpPr>
          <p:cNvPr id="19"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670048" y="1005840"/>
            <a:ext cx="38953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670048" y="1435608"/>
            <a:ext cx="38953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3465965" y="1755648"/>
            <a:ext cx="2303510" cy="1463040"/>
          </a:xfrm>
          <a:prstGeom prst="rect">
            <a:avLst/>
          </a:prstGeom>
        </p:spPr>
      </p:pic>
      <p:pic>
        <p:nvPicPr>
          <p:cNvPr id="6" name="Image 1" descr="/Users/z5162865/WongLab/AlphaGenome_Ap1/Analysis/slide_figures/panels/s9_mef2_by_class_c0_r1.png">    </p:cNvPr>
          <p:cNvPicPr>
            <a:picLocks noChangeAspect="1"/>
          </p:cNvPicPr>
          <p:nvPr/>
        </p:nvPicPr>
        <p:blipFill>
          <a:blip r:embed="rId2"/>
          <a:stretch>
            <a:fillRect/>
          </a:stretch>
        </p:blipFill>
        <p:spPr>
          <a:xfrm>
            <a:off x="3465965" y="3291840"/>
            <a:ext cx="2303510" cy="1463040"/>
          </a:xfrm>
          <a:prstGeom prst="rect">
            <a:avLst/>
          </a:prstGeom>
        </p:spPr>
      </p:pic>
      <p:sp>
        <p:nvSpPr>
          <p:cNvPr id="7" name="s9_mef2_by_class-title-1"/>
          <p:cNvSpPr txBox="1"/>
          <p:nvPr/>
        </p:nvSpPr>
        <p:spPr>
          <a:xfrm>
            <a:off x="6638544" y="1005840"/>
            <a:ext cx="38953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8" name="s9_mef2_by_class-sub-1"/>
          <p:cNvSpPr txBox="1"/>
          <p:nvPr/>
        </p:nvSpPr>
        <p:spPr>
          <a:xfrm>
            <a:off x="6638544" y="1435608"/>
            <a:ext cx="38953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9" name="Image 2" descr="/Users/z5162865/WongLab/AlphaGenome_Ap1/Analysis/slide_figures/panels/s9_mef2_by_class_c1_r0.png">    </p:cNvPr>
          <p:cNvPicPr>
            <a:picLocks noChangeAspect="1"/>
          </p:cNvPicPr>
          <p:nvPr/>
        </p:nvPicPr>
        <p:blipFill>
          <a:blip r:embed="rId3"/>
          <a:stretch>
            <a:fillRect/>
          </a:stretch>
        </p:blipFill>
        <p:spPr>
          <a:xfrm>
            <a:off x="7434461" y="1755648"/>
            <a:ext cx="2303510" cy="1463040"/>
          </a:xfrm>
          <a:prstGeom prst="rect">
            <a:avLst/>
          </a:prstGeom>
        </p:spPr>
      </p:pic>
      <p:pic>
        <p:nvPicPr>
          <p:cNvPr id="10" name="Image 3" descr="/Users/z5162865/WongLab/AlphaGenome_Ap1/Analysis/slide_figures/panels/s9_mef2_by_class_c1_r1.png">    </p:cNvPr>
          <p:cNvPicPr>
            <a:picLocks noChangeAspect="1"/>
          </p:cNvPicPr>
          <p:nvPr/>
        </p:nvPicPr>
        <p:blipFill>
          <a:blip r:embed="rId4"/>
          <a:stretch>
            <a:fillRect/>
          </a:stretch>
        </p:blipFill>
        <p:spPr>
          <a:xfrm>
            <a:off x="7434461" y="3291840"/>
            <a:ext cx="2303510" cy="1463040"/>
          </a:xfrm>
          <a:prstGeom prst="rect">
            <a:avLst/>
          </a:prstGeom>
        </p:spPr>
      </p:pic>
      <p:sp>
        <p:nvSpPr>
          <p:cNvPr id="11" name="s9_mef2_by_class-row-0"/>
          <p:cNvSpPr txBox="1"/>
          <p:nvPr/>
        </p:nvSpPr>
        <p:spPr>
          <a:xfrm rot="16200000">
            <a:off x="153619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12" name="s9_mef2_by_class-row-1"/>
          <p:cNvSpPr txBox="1"/>
          <p:nvPr/>
        </p:nvSpPr>
        <p:spPr>
          <a:xfrm rot="16200000">
            <a:off x="153619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13" name="s9_mef2_by_class-dot-0"/>
          <p:cNvSpPr/>
          <p:nvPr/>
        </p:nvSpPr>
        <p:spPr>
          <a:xfrm>
            <a:off x="2670048" y="4960620"/>
            <a:ext cx="109728" cy="109728"/>
          </a:xfrm>
          <a:prstGeom prst="ellipse">
            <a:avLst/>
          </a:prstGeom>
          <a:solidFill>
            <a:srgbClr val="4F4F4F"/>
          </a:solidFill>
          <a:ln w="12700">
            <a:solidFill>
              <a:srgbClr val="4F4F4F"/>
            </a:solidFill>
            <a:prstDash val="solid"/>
          </a:ln>
        </p:spPr>
      </p:sp>
      <p:sp>
        <p:nvSpPr>
          <p:cNvPr id="14" name="s9_mef2_by_class-leg-0"/>
          <p:cNvSpPr txBox="1"/>
          <p:nvPr/>
        </p:nvSpPr>
        <p:spPr>
          <a:xfrm>
            <a:off x="2825496"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5" name="s9_mef2_by_class-dot-1"/>
          <p:cNvSpPr/>
          <p:nvPr/>
        </p:nvSpPr>
        <p:spPr>
          <a:xfrm>
            <a:off x="3992270" y="4960620"/>
            <a:ext cx="109728" cy="109728"/>
          </a:xfrm>
          <a:prstGeom prst="ellipse">
            <a:avLst/>
          </a:prstGeom>
          <a:solidFill>
            <a:srgbClr val="C2551C"/>
          </a:solidFill>
          <a:ln w="12700">
            <a:solidFill>
              <a:srgbClr val="C2551C"/>
            </a:solidFill>
            <a:prstDash val="solid"/>
          </a:ln>
        </p:spPr>
      </p:sp>
      <p:sp>
        <p:nvSpPr>
          <p:cNvPr id="16" name="s9_mef2_by_class-leg-1"/>
          <p:cNvSpPr txBox="1"/>
          <p:nvPr/>
        </p:nvSpPr>
        <p:spPr>
          <a:xfrm>
            <a:off x="4147718"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7" name="s9_mef2_by_class-dot-2"/>
          <p:cNvSpPr/>
          <p:nvPr/>
        </p:nvSpPr>
        <p:spPr>
          <a:xfrm>
            <a:off x="4853635" y="4960620"/>
            <a:ext cx="109728" cy="109728"/>
          </a:xfrm>
          <a:prstGeom prst="ellipse">
            <a:avLst/>
          </a:prstGeom>
          <a:solidFill>
            <a:srgbClr val="1F6FB2"/>
          </a:solidFill>
          <a:ln w="12700">
            <a:solidFill>
              <a:srgbClr val="1F6FB2"/>
            </a:solidFill>
            <a:prstDash val="solid"/>
          </a:ln>
        </p:spPr>
      </p:sp>
      <p:sp>
        <p:nvSpPr>
          <p:cNvPr id="18" name="s9_mef2_by_class-leg-2"/>
          <p:cNvSpPr txBox="1"/>
          <p:nvPr/>
        </p:nvSpPr>
        <p:spPr>
          <a:xfrm>
            <a:off x="5009083"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9" name="s9_mef2_by_class-dot-3"/>
          <p:cNvSpPr/>
          <p:nvPr/>
        </p:nvSpPr>
        <p:spPr>
          <a:xfrm>
            <a:off x="5846674" y="4960620"/>
            <a:ext cx="109728" cy="109728"/>
          </a:xfrm>
          <a:prstGeom prst="ellipse">
            <a:avLst/>
          </a:prstGeom>
          <a:solidFill>
            <a:srgbClr val="2E7D32"/>
          </a:solidFill>
          <a:ln w="12700">
            <a:solidFill>
              <a:srgbClr val="2E7D32"/>
            </a:solidFill>
            <a:prstDash val="solid"/>
          </a:ln>
        </p:spPr>
      </p:sp>
      <p:sp>
        <p:nvSpPr>
          <p:cNvPr id="20" name="s9_mef2_by_class-leg-3"/>
          <p:cNvSpPr txBox="1"/>
          <p:nvPr/>
        </p:nvSpPr>
        <p:spPr>
          <a:xfrm>
            <a:off x="6002122"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1" name="s9_mef2_by_class-dot-4"/>
          <p:cNvSpPr/>
          <p:nvPr/>
        </p:nvSpPr>
        <p:spPr>
          <a:xfrm>
            <a:off x="7037222" y="4960620"/>
            <a:ext cx="109728" cy="109728"/>
          </a:xfrm>
          <a:prstGeom prst="ellipse">
            <a:avLst/>
          </a:prstGeom>
          <a:solidFill>
            <a:srgbClr val="7B3FA0"/>
          </a:solidFill>
          <a:ln w="12700">
            <a:solidFill>
              <a:srgbClr val="7B3FA0"/>
            </a:solidFill>
            <a:prstDash val="solid"/>
          </a:ln>
        </p:spPr>
      </p:sp>
      <p:sp>
        <p:nvSpPr>
          <p:cNvPr id="22" name="s9_mef2_by_class-leg-4"/>
          <p:cNvSpPr txBox="1"/>
          <p:nvPr/>
        </p:nvSpPr>
        <p:spPr>
          <a:xfrm>
            <a:off x="7192670"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3" name="s9_mef2_by_class-dot-5"/>
          <p:cNvSpPr/>
          <p:nvPr/>
        </p:nvSpPr>
        <p:spPr>
          <a:xfrm>
            <a:off x="8359445" y="4960620"/>
            <a:ext cx="109728" cy="109728"/>
          </a:xfrm>
          <a:prstGeom prst="ellipse">
            <a:avLst/>
          </a:prstGeom>
          <a:solidFill>
            <a:srgbClr val="B3B2AE"/>
          </a:solidFill>
          <a:ln w="12700">
            <a:solidFill>
              <a:srgbClr val="B3B2AE"/>
            </a:solidFill>
            <a:prstDash val="solid"/>
          </a:ln>
        </p:spPr>
      </p:sp>
      <p:sp>
        <p:nvSpPr>
          <p:cNvPr id="24" name="s9_mef2_by_class-leg-5"/>
          <p:cNvSpPr txBox="1"/>
          <p:nvPr/>
        </p:nvSpPr>
        <p:spPr>
          <a:xfrm>
            <a:off x="8514893"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25" name="s9_mef2_by_class-key"/>
          <p:cNvSpPr txBox="1"/>
          <p:nvPr/>
        </p:nvSpPr>
        <p:spPr>
          <a:xfrm>
            <a:off x="2011680" y="5193792"/>
            <a:ext cx="859536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with a 95% bootstrap CI.   grey dots (bottom row): that class's own matched controls.   Fisher on all sites, exact McNemar on matched pairs, BH across all 20 tests.   *** p&lt;0.001   ** p&lt;0.01   * p&lt;0.05   ns ≥ 0.05</a:t>
            </a:r>
            <a:endParaRPr lang="en-US" sz="900" dirty="0"/>
          </a:p>
        </p:txBody>
      </p:sp>
      <p:sp>
        <p:nvSpPr>
          <p:cNvPr id="2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3.2% against 10.5% of its matched controls, Exercise Down 1.2% against 9.8% — and the deficit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pic>
        <p:nvPicPr>
          <p:cNvPr id="3" name="Image 0" descr="/Users/z5162865/WongLab/AlphaGenome_Ap1/Analysis/slide_figures/panels/d_profile.png">    </p:cNvPr>
          <p:cNvPicPr>
            <a:picLocks noChangeAspect="1"/>
          </p:cNvPicPr>
          <p:nvPr/>
        </p:nvPicPr>
        <p:blipFill>
          <a:blip r:embed="rId1"/>
          <a:stretch>
            <a:fillRect/>
          </a:stretch>
        </p:blipFill>
        <p:spPr>
          <a:xfrm>
            <a:off x="502920" y="1373869"/>
            <a:ext cx="2286000" cy="1915702"/>
          </a:xfrm>
          <a:prstGeom prst="rect">
            <a:avLst/>
          </a:prstGeom>
        </p:spPr>
      </p:pic>
      <p:sp>
        <p:nvSpPr>
          <p:cNvPr id="4" name="profile-caption"/>
          <p:cNvSpPr txBox="1"/>
          <p:nvPr/>
        </p:nvSpPr>
        <p:spPr>
          <a:xfrm>
            <a:off x="502920" y="3337560"/>
            <a:ext cx="2286000" cy="822960"/>
          </a:xfrm>
          <a:prstGeom prst="rect">
            <a:avLst/>
          </a:prstGeom>
          <a:noFill/>
          <a:ln/>
        </p:spPr>
        <p:txBody>
          <a:bodyPr wrap="square" lIns="0" tIns="0" rIns="0" bIns="0" rtlCol="0" anchor="ctr"/>
          <a:lstStyle/>
          <a:p>
            <a:pPr indent="0" marL="0">
              <a:buNone/>
            </a:pPr>
            <a:r>
              <a:rPr lang="en-US" sz="950" dirty="0">
                <a:solidFill>
                  <a:srgbClr val="595959"/>
                </a:solidFill>
              </a:rPr>
              <a:t>one site’s sliding-window profile: each bar is a 10 bp window replaced, shaded band = within ±85 bp of the motif</a:t>
            </a:r>
            <a:endParaRPr lang="en-US" sz="950" dirty="0"/>
          </a:p>
        </p:txBody>
      </p:sp>
      <p:sp>
        <p:nvSpPr>
          <p:cNvPr id="5" name="s3_dependence-title-0"/>
          <p:cNvSpPr txBox="1"/>
          <p:nvPr/>
        </p:nvSpPr>
        <p:spPr>
          <a:xfrm>
            <a:off x="3995928"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Dependence near the motif</a:t>
            </a:r>
            <a:endParaRPr lang="en-US" sz="1250" dirty="0"/>
          </a:p>
        </p:txBody>
      </p:sp>
      <p:sp>
        <p:nvSpPr>
          <p:cNvPr id="6" name="s3_dependence-sub-0"/>
          <p:cNvSpPr txBox="1"/>
          <p:nvPr/>
        </p:nvSpPr>
        <p:spPr>
          <a:xfrm>
            <a:off x="3995928"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within ±85 bp</a:t>
            </a:r>
            <a:endParaRPr lang="en-US" sz="950" dirty="0"/>
          </a:p>
        </p:txBody>
      </p:sp>
      <p:pic>
        <p:nvPicPr>
          <p:cNvPr id="7" name="Image 1" descr="/Users/z5162865/WongLab/AlphaGenome_Ap1/Analysis/slide_figures/panels/s3_dependence_c0_r0.png">    </p:cNvPr>
          <p:cNvPicPr>
            <a:picLocks noChangeAspect="1"/>
          </p:cNvPicPr>
          <p:nvPr/>
        </p:nvPicPr>
        <p:blipFill>
          <a:blip r:embed="rId2"/>
          <a:stretch>
            <a:fillRect/>
          </a:stretch>
        </p:blipFill>
        <p:spPr>
          <a:xfrm>
            <a:off x="3995928" y="1902045"/>
            <a:ext cx="1842516" cy="1170247"/>
          </a:xfrm>
          <a:prstGeom prst="rect">
            <a:avLst/>
          </a:prstGeom>
        </p:spPr>
      </p:pic>
      <p:pic>
        <p:nvPicPr>
          <p:cNvPr id="8" name="Image 2" descr="/Users/z5162865/WongLab/AlphaGenome_Ap1/Analysis/slide_figures/panels/s3_dependence_c0_r1.png">    </p:cNvPr>
          <p:cNvPicPr>
            <a:picLocks noChangeAspect="1"/>
          </p:cNvPicPr>
          <p:nvPr/>
        </p:nvPicPr>
        <p:blipFill>
          <a:blip r:embed="rId3"/>
          <a:stretch>
            <a:fillRect/>
          </a:stretch>
        </p:blipFill>
        <p:spPr>
          <a:xfrm>
            <a:off x="3995928" y="3438237"/>
            <a:ext cx="1842516" cy="1170247"/>
          </a:xfrm>
          <a:prstGeom prst="rect">
            <a:avLst/>
          </a:prstGeom>
        </p:spPr>
      </p:pic>
      <p:sp>
        <p:nvSpPr>
          <p:cNvPr id="9" name="s3_dependence-title-1"/>
          <p:cNvSpPr txBox="1"/>
          <p:nvPr/>
        </p:nvSpPr>
        <p:spPr>
          <a:xfrm>
            <a:off x="5911596"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Dependence out in the context</a:t>
            </a:r>
            <a:endParaRPr lang="en-US" sz="1250" dirty="0"/>
          </a:p>
        </p:txBody>
      </p:sp>
      <p:sp>
        <p:nvSpPr>
          <p:cNvPr id="10" name="s3_dependence-sub-1"/>
          <p:cNvSpPr txBox="1"/>
          <p:nvPr/>
        </p:nvSpPr>
        <p:spPr>
          <a:xfrm>
            <a:off x="5911596"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beyond that</a:t>
            </a:r>
            <a:endParaRPr lang="en-US" sz="950" dirty="0"/>
          </a:p>
        </p:txBody>
      </p:sp>
      <p:pic>
        <p:nvPicPr>
          <p:cNvPr id="11" name="Image 3" descr="/Users/z5162865/WongLab/AlphaGenome_Ap1/Analysis/slide_figures/panels/s3_dependence_c1_r0.png">    </p:cNvPr>
          <p:cNvPicPr>
            <a:picLocks noChangeAspect="1"/>
          </p:cNvPicPr>
          <p:nvPr/>
        </p:nvPicPr>
        <p:blipFill>
          <a:blip r:embed="rId4"/>
          <a:stretch>
            <a:fillRect/>
          </a:stretch>
        </p:blipFill>
        <p:spPr>
          <a:xfrm>
            <a:off x="5911596" y="1902045"/>
            <a:ext cx="1842516" cy="1170247"/>
          </a:xfrm>
          <a:prstGeom prst="rect">
            <a:avLst/>
          </a:prstGeom>
        </p:spPr>
      </p:pic>
      <p:pic>
        <p:nvPicPr>
          <p:cNvPr id="12" name="Image 4" descr="/Users/z5162865/WongLab/AlphaGenome_Ap1/Analysis/slide_figures/panels/s3_dependence_c1_r1.png">    </p:cNvPr>
          <p:cNvPicPr>
            <a:picLocks noChangeAspect="1"/>
          </p:cNvPicPr>
          <p:nvPr/>
        </p:nvPicPr>
        <p:blipFill>
          <a:blip r:embed="rId5"/>
          <a:stretch>
            <a:fillRect/>
          </a:stretch>
        </p:blipFill>
        <p:spPr>
          <a:xfrm>
            <a:off x="5911596" y="3438237"/>
            <a:ext cx="1842516" cy="1170247"/>
          </a:xfrm>
          <a:prstGeom prst="rect">
            <a:avLst/>
          </a:prstGeom>
        </p:spPr>
      </p:pic>
      <p:sp>
        <p:nvSpPr>
          <p:cNvPr id="13" name="s3_dependence-title-2"/>
          <p:cNvSpPr txBox="1"/>
          <p:nvPr/>
        </p:nvSpPr>
        <p:spPr>
          <a:xfrm>
            <a:off x="7827264"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Spread along the element</a:t>
            </a:r>
            <a:endParaRPr lang="en-US" sz="1250" dirty="0"/>
          </a:p>
        </p:txBody>
      </p:sp>
      <p:sp>
        <p:nvSpPr>
          <p:cNvPr id="14" name="s3_dependence-sub-2"/>
          <p:cNvSpPr txBox="1"/>
          <p:nvPr/>
        </p:nvSpPr>
        <p:spPr>
          <a:xfrm>
            <a:off x="7827264"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SD of window position, weighted by loss</a:t>
            </a:r>
            <a:endParaRPr lang="en-US" sz="950" dirty="0"/>
          </a:p>
        </p:txBody>
      </p:sp>
      <p:pic>
        <p:nvPicPr>
          <p:cNvPr id="15" name="Image 5" descr="/Users/z5162865/WongLab/AlphaGenome_Ap1/Analysis/slide_figures/panels/s3_dependence_c2_r0.png">    </p:cNvPr>
          <p:cNvPicPr>
            <a:picLocks noChangeAspect="1"/>
          </p:cNvPicPr>
          <p:nvPr/>
        </p:nvPicPr>
        <p:blipFill>
          <a:blip r:embed="rId6"/>
          <a:stretch>
            <a:fillRect/>
          </a:stretch>
        </p:blipFill>
        <p:spPr>
          <a:xfrm>
            <a:off x="7827264" y="1902045"/>
            <a:ext cx="1842516" cy="1170247"/>
          </a:xfrm>
          <a:prstGeom prst="rect">
            <a:avLst/>
          </a:prstGeom>
        </p:spPr>
      </p:pic>
      <p:pic>
        <p:nvPicPr>
          <p:cNvPr id="16" name="Image 6" descr="/Users/z5162865/WongLab/AlphaGenome_Ap1/Analysis/slide_figures/panels/s3_dependence_c2_r1.png">    </p:cNvPr>
          <p:cNvPicPr>
            <a:picLocks noChangeAspect="1"/>
          </p:cNvPicPr>
          <p:nvPr/>
        </p:nvPicPr>
        <p:blipFill>
          <a:blip r:embed="rId7"/>
          <a:stretch>
            <a:fillRect/>
          </a:stretch>
        </p:blipFill>
        <p:spPr>
          <a:xfrm>
            <a:off x="7827264" y="3438237"/>
            <a:ext cx="1842516" cy="1170247"/>
          </a:xfrm>
          <a:prstGeom prst="rect">
            <a:avLst/>
          </a:prstGeom>
        </p:spPr>
      </p:pic>
      <p:sp>
        <p:nvSpPr>
          <p:cNvPr id="17" name="s3_dependence-title-3"/>
          <p:cNvSpPr txBox="1"/>
          <p:nvPr/>
        </p:nvSpPr>
        <p:spPr>
          <a:xfrm>
            <a:off x="9742932"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Depth of the single best base</a:t>
            </a:r>
            <a:endParaRPr lang="en-US" sz="1250" dirty="0"/>
          </a:p>
        </p:txBody>
      </p:sp>
      <p:sp>
        <p:nvSpPr>
          <p:cNvPr id="18" name="s3_dependence-sub-3"/>
          <p:cNvSpPr txBox="1"/>
          <p:nvPr/>
        </p:nvSpPr>
        <p:spPr>
          <a:xfrm>
            <a:off x="9742932"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largest effect of any one base change, ±30 bp</a:t>
            </a:r>
            <a:endParaRPr lang="en-US" sz="950" dirty="0"/>
          </a:p>
        </p:txBody>
      </p:sp>
      <p:pic>
        <p:nvPicPr>
          <p:cNvPr id="19" name="Image 7" descr="/Users/z5162865/WongLab/AlphaGenome_Ap1/Analysis/slide_figures/panels/s3_dependence_c3_r0.png">    </p:cNvPr>
          <p:cNvPicPr>
            <a:picLocks noChangeAspect="1"/>
          </p:cNvPicPr>
          <p:nvPr/>
        </p:nvPicPr>
        <p:blipFill>
          <a:blip r:embed="rId8"/>
          <a:stretch>
            <a:fillRect/>
          </a:stretch>
        </p:blipFill>
        <p:spPr>
          <a:xfrm>
            <a:off x="9742932" y="1902045"/>
            <a:ext cx="1842516" cy="1170247"/>
          </a:xfrm>
          <a:prstGeom prst="rect">
            <a:avLst/>
          </a:prstGeom>
        </p:spPr>
      </p:pic>
      <p:pic>
        <p:nvPicPr>
          <p:cNvPr id="20" name="Image 8" descr="/Users/z5162865/WongLab/AlphaGenome_Ap1/Analysis/slide_figures/panels/s3_dependence_c3_r1.png">    </p:cNvPr>
          <p:cNvPicPr>
            <a:picLocks noChangeAspect="1"/>
          </p:cNvPicPr>
          <p:nvPr/>
        </p:nvPicPr>
        <p:blipFill>
          <a:blip r:embed="rId9"/>
          <a:stretch>
            <a:fillRect/>
          </a:stretch>
        </p:blipFill>
        <p:spPr>
          <a:xfrm>
            <a:off x="9742932" y="3438237"/>
            <a:ext cx="1842516" cy="1170247"/>
          </a:xfrm>
          <a:prstGeom prst="rect">
            <a:avLst/>
          </a:prstGeom>
        </p:spPr>
      </p:pic>
      <p:sp>
        <p:nvSpPr>
          <p:cNvPr id="21" name="s3_dependence-row-0"/>
          <p:cNvSpPr txBox="1"/>
          <p:nvPr/>
        </p:nvSpPr>
        <p:spPr>
          <a:xfrm rot="16200000">
            <a:off x="295351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22" name="s3_dependence-row-1"/>
          <p:cNvSpPr txBox="1"/>
          <p:nvPr/>
        </p:nvSpPr>
        <p:spPr>
          <a:xfrm rot="16200000">
            <a:off x="295351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23" name="s3_dependence-dot-0"/>
          <p:cNvSpPr/>
          <p:nvPr/>
        </p:nvSpPr>
        <p:spPr>
          <a:xfrm>
            <a:off x="3995928" y="4960620"/>
            <a:ext cx="109728" cy="109728"/>
          </a:xfrm>
          <a:prstGeom prst="ellipse">
            <a:avLst/>
          </a:prstGeom>
          <a:solidFill>
            <a:srgbClr val="4F4F4F"/>
          </a:solidFill>
          <a:ln w="12700">
            <a:solidFill>
              <a:srgbClr val="4F4F4F"/>
            </a:solidFill>
            <a:prstDash val="solid"/>
          </a:ln>
        </p:spPr>
      </p:sp>
      <p:sp>
        <p:nvSpPr>
          <p:cNvPr id="24" name="s3_dependence-leg-0"/>
          <p:cNvSpPr txBox="1"/>
          <p:nvPr/>
        </p:nvSpPr>
        <p:spPr>
          <a:xfrm>
            <a:off x="4151376"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25" name="s3_dependence-dot-1"/>
          <p:cNvSpPr/>
          <p:nvPr/>
        </p:nvSpPr>
        <p:spPr>
          <a:xfrm>
            <a:off x="5318150" y="4960620"/>
            <a:ext cx="109728" cy="109728"/>
          </a:xfrm>
          <a:prstGeom prst="ellipse">
            <a:avLst/>
          </a:prstGeom>
          <a:solidFill>
            <a:srgbClr val="C2551C"/>
          </a:solidFill>
          <a:ln w="12700">
            <a:solidFill>
              <a:srgbClr val="C2551C"/>
            </a:solidFill>
            <a:prstDash val="solid"/>
          </a:ln>
        </p:spPr>
      </p:sp>
      <p:sp>
        <p:nvSpPr>
          <p:cNvPr id="26" name="s3_dependence-leg-1"/>
          <p:cNvSpPr txBox="1"/>
          <p:nvPr/>
        </p:nvSpPr>
        <p:spPr>
          <a:xfrm>
            <a:off x="5473598"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7" name="s3_dependence-dot-2"/>
          <p:cNvSpPr/>
          <p:nvPr/>
        </p:nvSpPr>
        <p:spPr>
          <a:xfrm>
            <a:off x="6179515" y="4960620"/>
            <a:ext cx="109728" cy="109728"/>
          </a:xfrm>
          <a:prstGeom prst="ellipse">
            <a:avLst/>
          </a:prstGeom>
          <a:solidFill>
            <a:srgbClr val="1F6FB2"/>
          </a:solidFill>
          <a:ln w="12700">
            <a:solidFill>
              <a:srgbClr val="1F6FB2"/>
            </a:solidFill>
            <a:prstDash val="solid"/>
          </a:ln>
        </p:spPr>
      </p:sp>
      <p:sp>
        <p:nvSpPr>
          <p:cNvPr id="28" name="s3_dependence-leg-2"/>
          <p:cNvSpPr txBox="1"/>
          <p:nvPr/>
        </p:nvSpPr>
        <p:spPr>
          <a:xfrm>
            <a:off x="6334963"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9" name="s3_dependence-dot-3"/>
          <p:cNvSpPr/>
          <p:nvPr/>
        </p:nvSpPr>
        <p:spPr>
          <a:xfrm>
            <a:off x="7172554" y="4960620"/>
            <a:ext cx="109728" cy="109728"/>
          </a:xfrm>
          <a:prstGeom prst="ellipse">
            <a:avLst/>
          </a:prstGeom>
          <a:solidFill>
            <a:srgbClr val="2E7D32"/>
          </a:solidFill>
          <a:ln w="12700">
            <a:solidFill>
              <a:srgbClr val="2E7D32"/>
            </a:solidFill>
            <a:prstDash val="solid"/>
          </a:ln>
        </p:spPr>
      </p:sp>
      <p:sp>
        <p:nvSpPr>
          <p:cNvPr id="30" name="s3_dependence-leg-3"/>
          <p:cNvSpPr txBox="1"/>
          <p:nvPr/>
        </p:nvSpPr>
        <p:spPr>
          <a:xfrm>
            <a:off x="7328002"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31" name="s3_dependence-dot-4"/>
          <p:cNvSpPr/>
          <p:nvPr/>
        </p:nvSpPr>
        <p:spPr>
          <a:xfrm>
            <a:off x="8363102" y="4960620"/>
            <a:ext cx="109728" cy="109728"/>
          </a:xfrm>
          <a:prstGeom prst="ellipse">
            <a:avLst/>
          </a:prstGeom>
          <a:solidFill>
            <a:srgbClr val="7B3FA0"/>
          </a:solidFill>
          <a:ln w="12700">
            <a:solidFill>
              <a:srgbClr val="7B3FA0"/>
            </a:solidFill>
            <a:prstDash val="solid"/>
          </a:ln>
        </p:spPr>
      </p:sp>
      <p:sp>
        <p:nvSpPr>
          <p:cNvPr id="32" name="s3_dependence-leg-4"/>
          <p:cNvSpPr txBox="1"/>
          <p:nvPr/>
        </p:nvSpPr>
        <p:spPr>
          <a:xfrm>
            <a:off x="8518550"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33" name="s3_dependence-dot-5"/>
          <p:cNvSpPr/>
          <p:nvPr/>
        </p:nvSpPr>
        <p:spPr>
          <a:xfrm>
            <a:off x="9685325" y="4960620"/>
            <a:ext cx="109728" cy="109728"/>
          </a:xfrm>
          <a:prstGeom prst="ellipse">
            <a:avLst/>
          </a:prstGeom>
          <a:solidFill>
            <a:srgbClr val="B3B2AE"/>
          </a:solidFill>
          <a:ln w="12700">
            <a:solidFill>
              <a:srgbClr val="B3B2AE"/>
            </a:solidFill>
            <a:prstDash val="solid"/>
          </a:ln>
        </p:spPr>
      </p:sp>
      <p:sp>
        <p:nvSpPr>
          <p:cNvPr id="34" name="s3_dependence-leg-5"/>
          <p:cNvSpPr txBox="1"/>
          <p:nvPr/>
        </p:nvSpPr>
        <p:spPr>
          <a:xfrm>
            <a:off x="9840773"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35" name="s3_dependence-key"/>
          <p:cNvSpPr txBox="1"/>
          <p:nvPr/>
        </p:nvSpPr>
        <p:spPr>
          <a:xfrm>
            <a:off x="3429000" y="5193792"/>
            <a:ext cx="822960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median with 95% bootstrap CI.   grey dots (bottom row): that class's own matched Stable controls.   Stars test the class against that reference — Mann–Whitney on all sites, paired Wilcoxon on matched pairs — BH across all 40 tests.   *** p&lt;0.001   ** p&lt;0.01   * p&lt;0.05   ns ≥ 0.05</a:t>
            </a:r>
            <a:endParaRPr lang="en-US" sz="900" dirty="0"/>
          </a:p>
        </p:txBody>
      </p:sp>
      <p:sp>
        <p:nvSpPr>
          <p:cNvPr id="3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same shift in every class and on all three measures — strongest in Age Up and Exercise Down, absent only in Age Down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Motif strength is a switch; position is a dial</a:t>
            </a:r>
            <a:endParaRPr lang="en-US" sz="2800" dirty="0"/>
          </a:p>
        </p:txBody>
      </p:sp>
      <p:sp>
        <p:nvSpPr>
          <p:cNvPr id="3" name="dose-title"/>
          <p:cNvSpPr txBox="1"/>
          <p:nvPr/>
        </p:nvSpPr>
        <p:spPr>
          <a:xfrm>
            <a:off x="502920" y="1024128"/>
            <a:ext cx="2377440" cy="274320"/>
          </a:xfrm>
          <a:prstGeom prst="rect">
            <a:avLst/>
          </a:prstGeom>
          <a:noFill/>
          <a:ln/>
        </p:spPr>
        <p:txBody>
          <a:bodyPr wrap="square" lIns="0" tIns="0" rIns="0" bIns="0" rtlCol="0" anchor="ctr"/>
          <a:lstStyle/>
          <a:p>
            <a:pPr indent="0" marL="0">
              <a:buNone/>
            </a:pPr>
            <a:r>
              <a:rPr lang="en-US" sz="1250" b="1" dirty="0">
                <a:solidFill>
                  <a:srgbClr val="111111"/>
                </a:solidFill>
              </a:rPr>
              <a:t>The dose curve, class by class</a:t>
            </a:r>
            <a:endParaRPr lang="en-US" sz="1250" dirty="0"/>
          </a:p>
        </p:txBody>
      </p:sp>
      <p:pic>
        <p:nvPicPr>
          <p:cNvPr id="4" name="Image 0" descr="/Users/z5162865/WongLab/AlphaGenome_Ap1/Analysis/slide_figures/panels/d_dose.png">    </p:cNvPr>
          <p:cNvPicPr>
            <a:picLocks noChangeAspect="1"/>
          </p:cNvPicPr>
          <p:nvPr/>
        </p:nvPicPr>
        <p:blipFill>
          <a:blip r:embed="rId1"/>
          <a:stretch>
            <a:fillRect/>
          </a:stretch>
        </p:blipFill>
        <p:spPr>
          <a:xfrm>
            <a:off x="502920" y="1330936"/>
            <a:ext cx="2286000" cy="1681529"/>
          </a:xfrm>
          <a:prstGeom prst="rect">
            <a:avLst/>
          </a:prstGeom>
        </p:spPr>
      </p:pic>
      <p:sp>
        <p:nvSpPr>
          <p:cNvPr id="5" name="copy-title"/>
          <p:cNvSpPr txBox="1"/>
          <p:nvPr/>
        </p:nvSpPr>
        <p:spPr>
          <a:xfrm>
            <a:off x="502920" y="3127248"/>
            <a:ext cx="2377440" cy="274320"/>
          </a:xfrm>
          <a:prstGeom prst="rect">
            <a:avLst/>
          </a:prstGeom>
          <a:noFill/>
          <a:ln/>
        </p:spPr>
        <p:txBody>
          <a:bodyPr wrap="square" lIns="0" tIns="0" rIns="0" bIns="0" rtlCol="0" anchor="ctr"/>
          <a:lstStyle/>
          <a:p>
            <a:pPr indent="0" marL="0">
              <a:buNone/>
            </a:pPr>
            <a:r>
              <a:rPr lang="en-US" sz="1250" b="1" dirty="0">
                <a:solidFill>
                  <a:srgbClr val="111111"/>
                </a:solidFill>
              </a:rPr>
              <a:t>Where a second copy helps</a:t>
            </a:r>
            <a:endParaRPr lang="en-US" sz="1250" dirty="0"/>
          </a:p>
        </p:txBody>
      </p:sp>
      <p:pic>
        <p:nvPicPr>
          <p:cNvPr id="6" name="Image 1" descr="/Users/z5162865/WongLab/AlphaGenome_Ap1/Analysis/slide_figures/panels/d_addcopy.png">    </p:cNvPr>
          <p:cNvPicPr>
            <a:picLocks noChangeAspect="1"/>
          </p:cNvPicPr>
          <p:nvPr/>
        </p:nvPicPr>
        <p:blipFill>
          <a:blip r:embed="rId2"/>
          <a:stretch>
            <a:fillRect/>
          </a:stretch>
        </p:blipFill>
        <p:spPr>
          <a:xfrm>
            <a:off x="544696" y="3429000"/>
            <a:ext cx="2202449" cy="1691640"/>
          </a:xfrm>
          <a:prstGeom prst="rect">
            <a:avLst/>
          </a:prstGeom>
        </p:spPr>
      </p:pic>
      <p:sp>
        <p:nvSpPr>
          <p:cNvPr id="7" name="curve-caption"/>
          <p:cNvSpPr txBox="1"/>
          <p:nvPr/>
        </p:nvSpPr>
        <p:spPr>
          <a:xfrm>
            <a:off x="502920" y="5166360"/>
            <a:ext cx="24688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3995928"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One damaged core base</a:t>
            </a:r>
            <a:endParaRPr lang="en-US" sz="1250" dirty="0"/>
          </a:p>
        </p:txBody>
      </p:sp>
      <p:sp>
        <p:nvSpPr>
          <p:cNvPr id="9" name="s4_titration-sub-0"/>
          <p:cNvSpPr txBox="1"/>
          <p:nvPr/>
        </p:nvSpPr>
        <p:spPr>
          <a:xfrm>
            <a:off x="3995928"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TGACTCA with a single base changed</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3995928" y="1902045"/>
            <a:ext cx="1842516" cy="1170247"/>
          </a:xfrm>
          <a:prstGeom prst="rect">
            <a:avLst/>
          </a:prstGeom>
        </p:spPr>
      </p:pic>
      <p:pic>
        <p:nvPicPr>
          <p:cNvPr id="11" name="Image 3" descr="/Users/z5162865/WongLab/AlphaGenome_Ap1/Analysis/slide_figures/panels/s4_titration_c0_r1.png">    </p:cNvPr>
          <p:cNvPicPr>
            <a:picLocks noChangeAspect="1"/>
          </p:cNvPicPr>
          <p:nvPr/>
        </p:nvPicPr>
        <p:blipFill>
          <a:blip r:embed="rId4"/>
          <a:stretch>
            <a:fillRect/>
          </a:stretch>
        </p:blipFill>
        <p:spPr>
          <a:xfrm>
            <a:off x="3995928" y="3438237"/>
            <a:ext cx="1842516" cy="1170247"/>
          </a:xfrm>
          <a:prstGeom prst="rect">
            <a:avLst/>
          </a:prstGeom>
        </p:spPr>
      </p:pic>
      <p:sp>
        <p:nvSpPr>
          <p:cNvPr id="12" name="s4_titration-title-1"/>
          <p:cNvSpPr txBox="1"/>
          <p:nvPr/>
        </p:nvSpPr>
        <p:spPr>
          <a:xfrm>
            <a:off x="5911596"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All seven core bases</a:t>
            </a:r>
            <a:endParaRPr lang="en-US" sz="1250" dirty="0"/>
          </a:p>
        </p:txBody>
      </p:sp>
      <p:sp>
        <p:nvSpPr>
          <p:cNvPr id="13" name="s4_titration-sub-1"/>
          <p:cNvSpPr txBox="1"/>
          <p:nvPr/>
        </p:nvSpPr>
        <p:spPr>
          <a:xfrm>
            <a:off x="5911596"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outright</a:t>
            </a:r>
            <a:endParaRPr lang="en-US" sz="950" dirty="0"/>
          </a:p>
        </p:txBody>
      </p:sp>
      <p:pic>
        <p:nvPicPr>
          <p:cNvPr id="14" name="Image 4" descr="/Users/z5162865/WongLab/AlphaGenome_Ap1/Analysis/slide_figures/panels/s4_titration_c1_r0.png">    </p:cNvPr>
          <p:cNvPicPr>
            <a:picLocks noChangeAspect="1"/>
          </p:cNvPicPr>
          <p:nvPr/>
        </p:nvPicPr>
        <p:blipFill>
          <a:blip r:embed="rId5"/>
          <a:stretch>
            <a:fillRect/>
          </a:stretch>
        </p:blipFill>
        <p:spPr>
          <a:xfrm>
            <a:off x="5911596" y="1902045"/>
            <a:ext cx="1842516" cy="1170247"/>
          </a:xfrm>
          <a:prstGeom prst="rect">
            <a:avLst/>
          </a:prstGeom>
        </p:spPr>
      </p:pic>
      <p:pic>
        <p:nvPicPr>
          <p:cNvPr id="15" name="Image 5" descr="/Users/z5162865/WongLab/AlphaGenome_Ap1/Analysis/slide_figures/panels/s4_titration_c1_r1.png">    </p:cNvPr>
          <p:cNvPicPr>
            <a:picLocks noChangeAspect="1"/>
          </p:cNvPicPr>
          <p:nvPr/>
        </p:nvPicPr>
        <p:blipFill>
          <a:blip r:embed="rId6"/>
          <a:stretch>
            <a:fillRect/>
          </a:stretch>
        </p:blipFill>
        <p:spPr>
          <a:xfrm>
            <a:off x="5911596" y="3438237"/>
            <a:ext cx="1842516" cy="1170247"/>
          </a:xfrm>
          <a:prstGeom prst="rect">
            <a:avLst/>
          </a:prstGeom>
        </p:spPr>
      </p:pic>
      <p:sp>
        <p:nvSpPr>
          <p:cNvPr id="16" name="s4_titration-title-2"/>
          <p:cNvSpPr txBox="1"/>
          <p:nvPr/>
        </p:nvSpPr>
        <p:spPr>
          <a:xfrm>
            <a:off x="7827264"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17" name="s4_titration-sub-2"/>
          <p:cNvSpPr txBox="1"/>
          <p:nvPr/>
        </p:nvSpPr>
        <p:spPr>
          <a:xfrm>
            <a:off x="7827264"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8" name="Image 6" descr="/Users/z5162865/WongLab/AlphaGenome_Ap1/Analysis/slide_figures/panels/s4_titration_c2_r0.png">    </p:cNvPr>
          <p:cNvPicPr>
            <a:picLocks noChangeAspect="1"/>
          </p:cNvPicPr>
          <p:nvPr/>
        </p:nvPicPr>
        <p:blipFill>
          <a:blip r:embed="rId7"/>
          <a:stretch>
            <a:fillRect/>
          </a:stretch>
        </p:blipFill>
        <p:spPr>
          <a:xfrm>
            <a:off x="7827264" y="1902045"/>
            <a:ext cx="1842516" cy="1170247"/>
          </a:xfrm>
          <a:prstGeom prst="rect">
            <a:avLst/>
          </a:prstGeom>
        </p:spPr>
      </p:pic>
      <p:pic>
        <p:nvPicPr>
          <p:cNvPr id="19" name="Image 7" descr="/Users/z5162865/WongLab/AlphaGenome_Ap1/Analysis/slide_figures/panels/s4_titration_c2_r1.png">    </p:cNvPr>
          <p:cNvPicPr>
            <a:picLocks noChangeAspect="1"/>
          </p:cNvPicPr>
          <p:nvPr/>
        </p:nvPicPr>
        <p:blipFill>
          <a:blip r:embed="rId8"/>
          <a:stretch>
            <a:fillRect/>
          </a:stretch>
        </p:blipFill>
        <p:spPr>
          <a:xfrm>
            <a:off x="7827264" y="3438237"/>
            <a:ext cx="1842516" cy="1170247"/>
          </a:xfrm>
          <a:prstGeom prst="rect">
            <a:avLst/>
          </a:prstGeom>
        </p:spPr>
      </p:pic>
      <p:sp>
        <p:nvSpPr>
          <p:cNvPr id="20" name="s4_titration-title-3"/>
          <p:cNvSpPr txBox="1"/>
          <p:nvPr/>
        </p:nvSpPr>
        <p:spPr>
          <a:xfrm>
            <a:off x="9742932" y="1005840"/>
            <a:ext cx="1842516"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21" name="s4_titration-sub-3"/>
          <p:cNvSpPr txBox="1"/>
          <p:nvPr/>
        </p:nvSpPr>
        <p:spPr>
          <a:xfrm>
            <a:off x="9742932" y="1435608"/>
            <a:ext cx="1842516" cy="310896"/>
          </a:xfrm>
          <a:prstGeom prst="rect">
            <a:avLst/>
          </a:prstGeom>
          <a:noFill/>
          <a:ln/>
        </p:spPr>
        <p:txBody>
          <a:bodyPr wrap="square" lIns="0" tIns="0" rIns="0" bIns="0" rtlCol="0" anchor="t"/>
          <a:lstStyle/>
          <a:p>
            <a:pPr indent="0" marL="0">
              <a:buNone/>
            </a:pPr>
            <a:r>
              <a:rPr lang="en-US" sz="950" dirty="0">
                <a:solidFill>
                  <a:srgbClr val="595959"/>
                </a:solidFill>
              </a:rPr>
              <a:t>net of the same control</a:t>
            </a:r>
            <a:endParaRPr lang="en-US" sz="950" dirty="0"/>
          </a:p>
        </p:txBody>
      </p:sp>
      <p:pic>
        <p:nvPicPr>
          <p:cNvPr id="22" name="Image 8" descr="/Users/z5162865/WongLab/AlphaGenome_Ap1/Analysis/slide_figures/panels/s4_titration_c3_r0.png">    </p:cNvPr>
          <p:cNvPicPr>
            <a:picLocks noChangeAspect="1"/>
          </p:cNvPicPr>
          <p:nvPr/>
        </p:nvPicPr>
        <p:blipFill>
          <a:blip r:embed="rId9"/>
          <a:stretch>
            <a:fillRect/>
          </a:stretch>
        </p:blipFill>
        <p:spPr>
          <a:xfrm>
            <a:off x="9742932" y="1902045"/>
            <a:ext cx="1842516" cy="1170247"/>
          </a:xfrm>
          <a:prstGeom prst="rect">
            <a:avLst/>
          </a:prstGeom>
        </p:spPr>
      </p:pic>
      <p:pic>
        <p:nvPicPr>
          <p:cNvPr id="23" name="Image 9" descr="/Users/z5162865/WongLab/AlphaGenome_Ap1/Analysis/slide_figures/panels/s4_titration_c3_r1.png">    </p:cNvPr>
          <p:cNvPicPr>
            <a:picLocks noChangeAspect="1"/>
          </p:cNvPicPr>
          <p:nvPr/>
        </p:nvPicPr>
        <p:blipFill>
          <a:blip r:embed="rId10"/>
          <a:stretch>
            <a:fillRect/>
          </a:stretch>
        </p:blipFill>
        <p:spPr>
          <a:xfrm>
            <a:off x="9742932" y="3438237"/>
            <a:ext cx="1842516" cy="1170247"/>
          </a:xfrm>
          <a:prstGeom prst="rect">
            <a:avLst/>
          </a:prstGeom>
        </p:spPr>
      </p:pic>
      <p:sp>
        <p:nvSpPr>
          <p:cNvPr id="24" name="s4_titration-row-0"/>
          <p:cNvSpPr txBox="1"/>
          <p:nvPr/>
        </p:nvSpPr>
        <p:spPr>
          <a:xfrm rot="16200000">
            <a:off x="2953512" y="1837944"/>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all sites, nothing controlled</a:t>
            </a:r>
            <a:endParaRPr lang="en-US" sz="1000" dirty="0"/>
          </a:p>
        </p:txBody>
      </p:sp>
      <p:sp>
        <p:nvSpPr>
          <p:cNvPr id="25" name="s4_titration-row-1"/>
          <p:cNvSpPr txBox="1"/>
          <p:nvPr/>
        </p:nvSpPr>
        <p:spPr>
          <a:xfrm rot="16200000">
            <a:off x="2953512" y="3374136"/>
            <a:ext cx="1371600" cy="1371600"/>
          </a:xfrm>
          <a:prstGeom prst="rect">
            <a:avLst/>
          </a:prstGeom>
          <a:noFill/>
          <a:ln/>
        </p:spPr>
        <p:txBody>
          <a:bodyPr wrap="square" lIns="0" tIns="0" rIns="0" bIns="0" rtlCol="0" anchor="ctr"/>
          <a:lstStyle/>
          <a:p>
            <a:pPr algn="ctr" indent="0" marL="0">
              <a:buNone/>
            </a:pPr>
            <a:r>
              <a:rPr lang="en-US" sz="1000" dirty="0">
                <a:solidFill>
                  <a:srgbClr val="111111"/>
                </a:solidFill>
              </a:rPr>
              <a:t>each class against its own matched Stable controls</a:t>
            </a:r>
            <a:endParaRPr lang="en-US" sz="1000" dirty="0"/>
          </a:p>
        </p:txBody>
      </p:sp>
      <p:sp>
        <p:nvSpPr>
          <p:cNvPr id="26" name="s4_titration-dot-0"/>
          <p:cNvSpPr/>
          <p:nvPr/>
        </p:nvSpPr>
        <p:spPr>
          <a:xfrm>
            <a:off x="3995928" y="4960620"/>
            <a:ext cx="109728" cy="109728"/>
          </a:xfrm>
          <a:prstGeom prst="ellipse">
            <a:avLst/>
          </a:prstGeom>
          <a:solidFill>
            <a:srgbClr val="4F4F4F"/>
          </a:solidFill>
          <a:ln w="12700">
            <a:solidFill>
              <a:srgbClr val="4F4F4F"/>
            </a:solidFill>
            <a:prstDash val="solid"/>
          </a:ln>
        </p:spPr>
      </p:sp>
      <p:sp>
        <p:nvSpPr>
          <p:cNvPr id="27" name="s4_titration-leg-0"/>
          <p:cNvSpPr txBox="1"/>
          <p:nvPr/>
        </p:nvSpPr>
        <p:spPr>
          <a:xfrm>
            <a:off x="4151376"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28" name="s4_titration-dot-1"/>
          <p:cNvSpPr/>
          <p:nvPr/>
        </p:nvSpPr>
        <p:spPr>
          <a:xfrm>
            <a:off x="5318150" y="4960620"/>
            <a:ext cx="109728" cy="109728"/>
          </a:xfrm>
          <a:prstGeom prst="ellipse">
            <a:avLst/>
          </a:prstGeom>
          <a:solidFill>
            <a:srgbClr val="C2551C"/>
          </a:solidFill>
          <a:ln w="12700">
            <a:solidFill>
              <a:srgbClr val="C2551C"/>
            </a:solidFill>
            <a:prstDash val="solid"/>
          </a:ln>
        </p:spPr>
      </p:sp>
      <p:sp>
        <p:nvSpPr>
          <p:cNvPr id="29" name="s4_titration-leg-1"/>
          <p:cNvSpPr txBox="1"/>
          <p:nvPr/>
        </p:nvSpPr>
        <p:spPr>
          <a:xfrm>
            <a:off x="5473598" y="491947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30" name="s4_titration-dot-2"/>
          <p:cNvSpPr/>
          <p:nvPr/>
        </p:nvSpPr>
        <p:spPr>
          <a:xfrm>
            <a:off x="6179515" y="4960620"/>
            <a:ext cx="109728" cy="109728"/>
          </a:xfrm>
          <a:prstGeom prst="ellipse">
            <a:avLst/>
          </a:prstGeom>
          <a:solidFill>
            <a:srgbClr val="1F6FB2"/>
          </a:solidFill>
          <a:ln w="12700">
            <a:solidFill>
              <a:srgbClr val="1F6FB2"/>
            </a:solidFill>
            <a:prstDash val="solid"/>
          </a:ln>
        </p:spPr>
      </p:sp>
      <p:sp>
        <p:nvSpPr>
          <p:cNvPr id="31" name="s4_titration-leg-2"/>
          <p:cNvSpPr txBox="1"/>
          <p:nvPr/>
        </p:nvSpPr>
        <p:spPr>
          <a:xfrm>
            <a:off x="6334963" y="491947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32" name="s4_titration-dot-3"/>
          <p:cNvSpPr/>
          <p:nvPr/>
        </p:nvSpPr>
        <p:spPr>
          <a:xfrm>
            <a:off x="7172554" y="4960620"/>
            <a:ext cx="109728" cy="109728"/>
          </a:xfrm>
          <a:prstGeom prst="ellipse">
            <a:avLst/>
          </a:prstGeom>
          <a:solidFill>
            <a:srgbClr val="2E7D32"/>
          </a:solidFill>
          <a:ln w="12700">
            <a:solidFill>
              <a:srgbClr val="2E7D32"/>
            </a:solidFill>
            <a:prstDash val="solid"/>
          </a:ln>
        </p:spPr>
      </p:sp>
      <p:sp>
        <p:nvSpPr>
          <p:cNvPr id="33" name="s4_titration-leg-3"/>
          <p:cNvSpPr txBox="1"/>
          <p:nvPr/>
        </p:nvSpPr>
        <p:spPr>
          <a:xfrm>
            <a:off x="7328002" y="491947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34" name="s4_titration-dot-4"/>
          <p:cNvSpPr/>
          <p:nvPr/>
        </p:nvSpPr>
        <p:spPr>
          <a:xfrm>
            <a:off x="8363102" y="4960620"/>
            <a:ext cx="109728" cy="109728"/>
          </a:xfrm>
          <a:prstGeom prst="ellipse">
            <a:avLst/>
          </a:prstGeom>
          <a:solidFill>
            <a:srgbClr val="7B3FA0"/>
          </a:solidFill>
          <a:ln w="12700">
            <a:solidFill>
              <a:srgbClr val="7B3FA0"/>
            </a:solidFill>
            <a:prstDash val="solid"/>
          </a:ln>
        </p:spPr>
      </p:sp>
      <p:sp>
        <p:nvSpPr>
          <p:cNvPr id="35" name="s4_titration-leg-4"/>
          <p:cNvSpPr txBox="1"/>
          <p:nvPr/>
        </p:nvSpPr>
        <p:spPr>
          <a:xfrm>
            <a:off x="8518550" y="491947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36" name="s4_titration-dot-5"/>
          <p:cNvSpPr/>
          <p:nvPr/>
        </p:nvSpPr>
        <p:spPr>
          <a:xfrm>
            <a:off x="9685325" y="4960620"/>
            <a:ext cx="109728" cy="109728"/>
          </a:xfrm>
          <a:prstGeom prst="ellipse">
            <a:avLst/>
          </a:prstGeom>
          <a:solidFill>
            <a:srgbClr val="B3B2AE"/>
          </a:solidFill>
          <a:ln w="12700">
            <a:solidFill>
              <a:srgbClr val="B3B2AE"/>
            </a:solidFill>
            <a:prstDash val="solid"/>
          </a:ln>
        </p:spPr>
      </p:sp>
      <p:sp>
        <p:nvSpPr>
          <p:cNvPr id="37" name="s4_titration-leg-5"/>
          <p:cNvSpPr txBox="1"/>
          <p:nvPr/>
        </p:nvSpPr>
        <p:spPr>
          <a:xfrm>
            <a:off x="9840773" y="4919472"/>
            <a:ext cx="2373782" cy="201168"/>
          </a:xfrm>
          <a:prstGeom prst="rect">
            <a:avLst/>
          </a:prstGeom>
          <a:noFill/>
          <a:ln/>
        </p:spPr>
        <p:txBody>
          <a:bodyPr wrap="square" lIns="0" tIns="0" rIns="0" bIns="0" rtlCol="0" anchor="ctr"/>
          <a:lstStyle/>
          <a:p>
            <a:pPr indent="0" marL="0">
              <a:buNone/>
            </a:pPr>
            <a:r>
              <a:rPr lang="en-US" sz="1050" dirty="0">
                <a:solidFill>
                  <a:srgbClr val="111111"/>
                </a:solidFill>
              </a:rPr>
              <a:t>Stable (all, or matched controls)</a:t>
            </a:r>
            <a:endParaRPr lang="en-US" sz="1050" dirty="0"/>
          </a:p>
        </p:txBody>
      </p:sp>
      <p:sp>
        <p:nvSpPr>
          <p:cNvPr id="38" name="s4_titration-key"/>
          <p:cNvSpPr txBox="1"/>
          <p:nvPr/>
        </p:nvSpPr>
        <p:spPr>
          <a:xfrm>
            <a:off x="3429000" y="5193792"/>
            <a:ext cx="822960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(top row): all Stable sites, median with 95% bootstrap CI.   grey dots (bottom row): that class's own matched Stable controls.   Stars test the class against that reference — Mann–Whitney on all sites, paired Wilcoxon on matched pairs — BH across all 40 tests.   *** p&lt;0.001   ** p&lt;0.01   * p&lt;0.05   ns ≥ 0.05</a:t>
            </a:r>
            <a:endParaRPr lang="en-US" sz="900" dirty="0"/>
          </a:p>
        </p:txBody>
      </p:sp>
      <p:sp>
        <p:nvSpPr>
          <p:cNvPr id="39"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wrong base costs −0.45 of the −0.56 total and a moved motif recovers only a third — but every class titrates the same way</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2026-10-23T01:00:19Z</dcterms:created>
  <dcterms:modified xsi:type="dcterms:W3CDTF">2026-10-23T01:00:19Z</dcterms:modified>
</cp:coreProperties>
</file>