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47ecadc-eff2-3d7e-5829-afcf254f3224}">
          <p14:sldIdLst>
            <p14:sldId id="256"/>
          </p14:sldIdLst>
        </p14:section>
        <p14:section name="Design" id="{9438a710-9c0e-a0e3-5f48-abc5b98ed3af}">
          <p14:sldIdLst>
            <p14:sldId id="257"/>
            <p14:sldId id="258"/>
          </p14:sldIdLst>
        </p14:section>
        <p14:section name="Findings" id="{9b25b984-bbf0-acb1-c4eb-e7fb2733c8ef}">
          <p14:sldIdLst>
            <p14:sldId id="259"/>
            <p14:sldId id="260"/>
            <p14:sldId id="261"/>
            <p14:sldId id="262"/>
            <p14:sldId id="263"/>
            <p14:sldId id="264"/>
            <p14:sldId id="265"/>
            <p14:sldId id="266"/>
            <p14:sldId id="267"/>
            <p14:sldId id="268"/>
            <p14:sldId id="269"/>
          </p14:sldIdLst>
        </p14:section>
        <p14:section name="Conclusion" id="{c956a467-aba6-0007-7787-75f29e203ba7}">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uncontrolled comparison: if the accessibility difference is itself biology, it lives there. Bottom row matches each class to its own Stable controls on predicted and measured accessibility, peak width and TSS distance. The 300 bp control is the thing to check: Age Up differs slightly even there (-0.152 vs -0.111 matched), but that offset is 0.04 against a 0.26 effect at 170 bp and runs the opposite way, so it does not explain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Tests run over all 88 matched class-by-family comparisons, not just the six families drawn. CTCF was reported as a lead earlier and is now retracted twice over: the original tile-level significance was pseudo-replication, and with the full scan and measured-accessibility matching the point estimate itself is zero (Dynamic -0.551 vs matched Stable -0.548, p = 0.98). The nearest thing to a real signal is MEF2 in Age Up, -0.53 against -0.84 in matched controls, p = 0.03 uncorrected, and in Exercise Down, p = 0.06 - the same two classes that are short of a close MEF2 on the previous slide. Neither survives correction on its own; they are worth quoting only because the proximity test points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Matched tests are exact McNemar on the paired sites, raw tests are Fisher, BH across all 20. Surviving: Age Up on both definitions (FDR 0.021 leaned-on, 0.045 footprint-present) and Exercise Down on the leaned-on definition (FDR 0.026); Exercise Down footprint-present does not (FDR 0.12). Age Down and Exercise Up show nothing either way. An earlier quote of p = 0.003 and p = 0.0005 for these came from Fisher applied to the matched groups as if unpaired; McNemar is the right test and gives p = 0.0021 and p = 0.0013.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Presence vs rank is the point. MEF2, does the element have one: Dynamic OR 0.58, Age Up 0.45, Exercise Down 0.56, all surviving BH. Given a MEF2 is present, every class ranks it in the top three about equally often (0.87-2.03, nothing significant). AP-1 given present: Dynamic 1.45x, FDR 0.036, with the direction repeating in all four directional classes (1.43-1.62). CTCF is the reason to keep the matched analysis in the report even though it is off the slides: OR 3.0-6.5 here with FDR &lt; 0.001, and exactly 1.0 once accessibility is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Chosen to illustrate the odds-ratio result on the previous slide, not as evidence in itself: n = 2. The pair is matched on predicted accessibility (0.77 vs 0.74) and peak width (758 vs 803), and both carry a comparable number of neighbouring AP-1 footprints, so the difference is which window the model weights. The age-gained site is MAS only, meaning AP-1 is called in aged sedentary but not in young or aged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of 16 scan features separate Dynamic from matched Stable. Share of dependence within 85 bp 0.63 vs 0.74, spread 94 vs 86 bp, largest single-base effect 0.74 vs 0.90. Age Up is the most diffuse class of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1-base and 7-base core results are not repeated here: they say the same thing as the motif shuffle on the earlier slide. One wrong base costs -0.45 of the -0.56 total, the dose slope tracks core quality read from the genome at rho 0.30, and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lose less to every edit of their element</a:t>
            </a:r>
            <a:endParaRPr lang="en-US" sz="2800" dirty="0"/>
          </a:p>
        </p:txBody>
      </p:sp>
      <p:sp>
        <p:nvSpPr>
          <p:cNvPr id="3" name="s2_matched_null-title-0"/>
          <p:cNvSpPr txBox="1"/>
          <p:nvPr/>
        </p:nvSpPr>
        <p:spPr>
          <a:xfrm>
            <a:off x="612648"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11 bp motif</a:t>
            </a:r>
            <a:endParaRPr lang="en-US" sz="1250" dirty="0"/>
          </a:p>
        </p:txBody>
      </p:sp>
      <p:sp>
        <p:nvSpPr>
          <p:cNvPr id="4" name="s2_matched_null-sub-0"/>
          <p:cNvSpPr txBox="1"/>
          <p:nvPr/>
        </p:nvSpPr>
        <p:spPr>
          <a:xfrm>
            <a:off x="612648"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the motif alone</a:t>
            </a:r>
            <a:endParaRPr lang="en-US" sz="950" dirty="0"/>
          </a:p>
        </p:txBody>
      </p:sp>
      <p:pic>
        <p:nvPicPr>
          <p:cNvPr id="5" name="Image 0" descr="/Users/z5162865/WongLab/AlphaGenome_Ap1/Analysis/slide_figures/panels/s2_matched_null_c0_r0.png">    </p:cNvPr>
          <p:cNvPicPr>
            <a:picLocks noChangeAspect="1"/>
          </p:cNvPicPr>
          <p:nvPr/>
        </p:nvPicPr>
        <p:blipFill>
          <a:blip r:embed="rId1"/>
          <a:stretch>
            <a:fillRect/>
          </a:stretch>
        </p:blipFill>
        <p:spPr>
          <a:xfrm>
            <a:off x="612648" y="2079013"/>
            <a:ext cx="2688336" cy="2443942"/>
          </a:xfrm>
          <a:prstGeom prst="rect">
            <a:avLst/>
          </a:prstGeom>
        </p:spPr>
      </p:pic>
      <p:sp>
        <p:nvSpPr>
          <p:cNvPr id="6" name="s2_matched_null-title-1"/>
          <p:cNvSpPr txBox="1"/>
          <p:nvPr/>
        </p:nvSpPr>
        <p:spPr>
          <a:xfrm>
            <a:off x="3374136"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170 bp element</a:t>
            </a:r>
            <a:endParaRPr lang="en-US" sz="1250" dirty="0"/>
          </a:p>
        </p:txBody>
      </p:sp>
      <p:sp>
        <p:nvSpPr>
          <p:cNvPr id="7" name="s2_matched_null-sub-1"/>
          <p:cNvSpPr txBox="1"/>
          <p:nvPr/>
        </p:nvSpPr>
        <p:spPr>
          <a:xfrm>
            <a:off x="3374136"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the element around it</a:t>
            </a:r>
            <a:endParaRPr lang="en-US" sz="950" dirty="0"/>
          </a:p>
        </p:txBody>
      </p:sp>
      <p:pic>
        <p:nvPicPr>
          <p:cNvPr id="8" name="Image 1" descr="/Users/z5162865/WongLab/AlphaGenome_Ap1/Analysis/slide_figures/panels/s2_matched_null_c1_r0.png">    </p:cNvPr>
          <p:cNvPicPr>
            <a:picLocks noChangeAspect="1"/>
          </p:cNvPicPr>
          <p:nvPr/>
        </p:nvPicPr>
        <p:blipFill>
          <a:blip r:embed="rId2"/>
          <a:stretch>
            <a:fillRect/>
          </a:stretch>
        </p:blipFill>
        <p:spPr>
          <a:xfrm>
            <a:off x="3374136" y="2079013"/>
            <a:ext cx="2688336" cy="2443942"/>
          </a:xfrm>
          <a:prstGeom prst="rect">
            <a:avLst/>
          </a:prstGeom>
        </p:spPr>
      </p:pic>
      <p:sp>
        <p:nvSpPr>
          <p:cNvPr id="9" name="s2_matched_null-title-2"/>
          <p:cNvSpPr txBox="1"/>
          <p:nvPr/>
        </p:nvSpPr>
        <p:spPr>
          <a:xfrm>
            <a:off x="6135624"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whole peak</a:t>
            </a:r>
            <a:endParaRPr lang="en-US" sz="1250" dirty="0"/>
          </a:p>
        </p:txBody>
      </p:sp>
      <p:sp>
        <p:nvSpPr>
          <p:cNvPr id="10" name="s2_matched_null-sub-2"/>
          <p:cNvSpPr txBox="1"/>
          <p:nvPr/>
        </p:nvSpPr>
        <p:spPr>
          <a:xfrm>
            <a:off x="6135624"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everything, read over the peak</a:t>
            </a:r>
            <a:endParaRPr lang="en-US" sz="950" dirty="0"/>
          </a:p>
        </p:txBody>
      </p:sp>
      <p:pic>
        <p:nvPicPr>
          <p:cNvPr id="11" name="Image 2" descr="/Users/z5162865/WongLab/AlphaGenome_Ap1/Analysis/slide_figures/panels/s2_matched_null_c2_r0.png">    </p:cNvPr>
          <p:cNvPicPr>
            <a:picLocks noChangeAspect="1"/>
          </p:cNvPicPr>
          <p:nvPr/>
        </p:nvPicPr>
        <p:blipFill>
          <a:blip r:embed="rId3"/>
          <a:stretch>
            <a:fillRect/>
          </a:stretch>
        </p:blipFill>
        <p:spPr>
          <a:xfrm>
            <a:off x="6135624" y="2079013"/>
            <a:ext cx="2688336" cy="2443942"/>
          </a:xfrm>
          <a:prstGeom prst="rect">
            <a:avLst/>
          </a:prstGeom>
        </p:spPr>
      </p:pic>
      <p:sp>
        <p:nvSpPr>
          <p:cNvPr id="12" name="s2_matched_null-title-3"/>
          <p:cNvSpPr txBox="1"/>
          <p:nvPr/>
        </p:nvSpPr>
        <p:spPr>
          <a:xfrm>
            <a:off x="8897112"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Edit 300 bp away</a:t>
            </a:r>
            <a:endParaRPr lang="en-US" sz="1250" dirty="0"/>
          </a:p>
        </p:txBody>
      </p:sp>
      <p:sp>
        <p:nvSpPr>
          <p:cNvPr id="13" name="s2_matched_null-sub-3"/>
          <p:cNvSpPr txBox="1"/>
          <p:nvPr/>
        </p:nvSpPr>
        <p:spPr>
          <a:xfrm>
            <a:off x="8897112"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the control: nothing at stake</a:t>
            </a:r>
            <a:endParaRPr lang="en-US" sz="950" dirty="0"/>
          </a:p>
        </p:txBody>
      </p:sp>
      <p:pic>
        <p:nvPicPr>
          <p:cNvPr id="14" name="Image 3" descr="/Users/z5162865/WongLab/AlphaGenome_Ap1/Analysis/slide_figures/panels/s2_matched_null_c3_r0.png">    </p:cNvPr>
          <p:cNvPicPr>
            <a:picLocks noChangeAspect="1"/>
          </p:cNvPicPr>
          <p:nvPr/>
        </p:nvPicPr>
        <p:blipFill>
          <a:blip r:embed="rId4"/>
          <a:stretch>
            <a:fillRect/>
          </a:stretch>
        </p:blipFill>
        <p:spPr>
          <a:xfrm>
            <a:off x="8897112" y="2079013"/>
            <a:ext cx="2688336" cy="2443942"/>
          </a:xfrm>
          <a:prstGeom prst="rect">
            <a:avLst/>
          </a:prstGeom>
        </p:spPr>
      </p:pic>
      <p:sp>
        <p:nvSpPr>
          <p:cNvPr id="15" name="s2_matched_null-dot-0"/>
          <p:cNvSpPr/>
          <p:nvPr/>
        </p:nvSpPr>
        <p:spPr>
          <a:xfrm>
            <a:off x="502920" y="4914900"/>
            <a:ext cx="109728" cy="109728"/>
          </a:xfrm>
          <a:prstGeom prst="ellipse">
            <a:avLst/>
          </a:prstGeom>
          <a:solidFill>
            <a:srgbClr val="4F4F4F"/>
          </a:solidFill>
          <a:ln w="12700">
            <a:solidFill>
              <a:srgbClr val="4F4F4F"/>
            </a:solidFill>
            <a:prstDash val="solid"/>
          </a:ln>
        </p:spPr>
      </p:sp>
      <p:sp>
        <p:nvSpPr>
          <p:cNvPr id="16" name="s2_matched_null-leg-0"/>
          <p:cNvSpPr txBox="1"/>
          <p:nvPr/>
        </p:nvSpPr>
        <p:spPr>
          <a:xfrm>
            <a:off x="65836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7" name="s2_matched_null-dot-1"/>
          <p:cNvSpPr/>
          <p:nvPr/>
        </p:nvSpPr>
        <p:spPr>
          <a:xfrm>
            <a:off x="1825142" y="4914900"/>
            <a:ext cx="109728" cy="109728"/>
          </a:xfrm>
          <a:prstGeom prst="ellipse">
            <a:avLst/>
          </a:prstGeom>
          <a:solidFill>
            <a:srgbClr val="C2551C"/>
          </a:solidFill>
          <a:ln w="12700">
            <a:solidFill>
              <a:srgbClr val="C2551C"/>
            </a:solidFill>
            <a:prstDash val="solid"/>
          </a:ln>
        </p:spPr>
      </p:sp>
      <p:sp>
        <p:nvSpPr>
          <p:cNvPr id="18" name="s2_matched_null-leg-1"/>
          <p:cNvSpPr txBox="1"/>
          <p:nvPr/>
        </p:nvSpPr>
        <p:spPr>
          <a:xfrm>
            <a:off x="198059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9" name="s2_matched_null-dot-2"/>
          <p:cNvSpPr/>
          <p:nvPr/>
        </p:nvSpPr>
        <p:spPr>
          <a:xfrm>
            <a:off x="2686507" y="4914900"/>
            <a:ext cx="109728" cy="109728"/>
          </a:xfrm>
          <a:prstGeom prst="ellipse">
            <a:avLst/>
          </a:prstGeom>
          <a:solidFill>
            <a:srgbClr val="1F6FB2"/>
          </a:solidFill>
          <a:ln w="12700">
            <a:solidFill>
              <a:srgbClr val="1F6FB2"/>
            </a:solidFill>
            <a:prstDash val="solid"/>
          </a:ln>
        </p:spPr>
      </p:sp>
      <p:sp>
        <p:nvSpPr>
          <p:cNvPr id="20" name="s2_matched_null-leg-2"/>
          <p:cNvSpPr txBox="1"/>
          <p:nvPr/>
        </p:nvSpPr>
        <p:spPr>
          <a:xfrm>
            <a:off x="284195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1" name="s2_matched_null-dot-3"/>
          <p:cNvSpPr/>
          <p:nvPr/>
        </p:nvSpPr>
        <p:spPr>
          <a:xfrm>
            <a:off x="3679546" y="4914900"/>
            <a:ext cx="109728" cy="109728"/>
          </a:xfrm>
          <a:prstGeom prst="ellipse">
            <a:avLst/>
          </a:prstGeom>
          <a:solidFill>
            <a:srgbClr val="2E7D32"/>
          </a:solidFill>
          <a:ln w="12700">
            <a:solidFill>
              <a:srgbClr val="2E7D32"/>
            </a:solidFill>
            <a:prstDash val="solid"/>
          </a:ln>
        </p:spPr>
      </p:sp>
      <p:sp>
        <p:nvSpPr>
          <p:cNvPr id="22" name="s2_matched_null-leg-3"/>
          <p:cNvSpPr txBox="1"/>
          <p:nvPr/>
        </p:nvSpPr>
        <p:spPr>
          <a:xfrm>
            <a:off x="383499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3" name="s2_matched_null-dot-4"/>
          <p:cNvSpPr/>
          <p:nvPr/>
        </p:nvSpPr>
        <p:spPr>
          <a:xfrm>
            <a:off x="4870094" y="4914900"/>
            <a:ext cx="109728" cy="109728"/>
          </a:xfrm>
          <a:prstGeom prst="ellipse">
            <a:avLst/>
          </a:prstGeom>
          <a:solidFill>
            <a:srgbClr val="7B3FA0"/>
          </a:solidFill>
          <a:ln w="12700">
            <a:solidFill>
              <a:srgbClr val="7B3FA0"/>
            </a:solidFill>
            <a:prstDash val="solid"/>
          </a:ln>
        </p:spPr>
      </p:sp>
      <p:sp>
        <p:nvSpPr>
          <p:cNvPr id="24" name="s2_matched_null-leg-4"/>
          <p:cNvSpPr txBox="1"/>
          <p:nvPr/>
        </p:nvSpPr>
        <p:spPr>
          <a:xfrm>
            <a:off x="502554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5" name="s2_matched_null-dot-5"/>
          <p:cNvSpPr/>
          <p:nvPr/>
        </p:nvSpPr>
        <p:spPr>
          <a:xfrm>
            <a:off x="6192317" y="4914900"/>
            <a:ext cx="109728" cy="109728"/>
          </a:xfrm>
          <a:prstGeom prst="ellipse">
            <a:avLst/>
          </a:prstGeom>
          <a:solidFill>
            <a:srgbClr val="B3B2AE"/>
          </a:solidFill>
          <a:ln w="12700">
            <a:solidFill>
              <a:srgbClr val="B3B2AE"/>
            </a:solidFill>
            <a:prstDash val="solid"/>
          </a:ln>
        </p:spPr>
      </p:sp>
      <p:sp>
        <p:nvSpPr>
          <p:cNvPr id="26" name="s2_matched_null-leg-5"/>
          <p:cNvSpPr txBox="1"/>
          <p:nvPr/>
        </p:nvSpPr>
        <p:spPr>
          <a:xfrm>
            <a:off x="634776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7" name="s2_matched_null-key"/>
          <p:cNvSpPr txBox="1"/>
          <p:nvPr/>
        </p:nvSpPr>
        <p:spPr>
          <a:xfrm>
            <a:off x="502920" y="5148072"/>
            <a:ext cx="11155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20 tests on this figure.   *** p&lt;0.001   ** p&lt;0.01   * p&lt;0.05   ns ≥ 0.05</a:t>
            </a:r>
            <a:endParaRPr lang="en-US" sz="900" dirty="0"/>
          </a:p>
        </p:txBody>
      </p:sp>
      <p:sp>
        <p:nvSpPr>
          <p:cNvPr id="28"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class loses less than Stable sites do at every scale, and the 300 bp control shows it is not a global offset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panels/s8_partners_all.png">    </p:cNvPr>
          <p:cNvPicPr>
            <a:picLocks noChangeAspect="1"/>
          </p:cNvPicPr>
          <p:nvPr/>
        </p:nvPicPr>
        <p:blipFill>
          <a:blip r:embed="rId2"/>
          <a:stretch>
            <a:fillRect/>
          </a:stretch>
        </p:blipFill>
        <p:spPr>
          <a:xfrm>
            <a:off x="3953510" y="2103120"/>
            <a:ext cx="4254500" cy="3063240"/>
          </a:xfrm>
          <a:prstGeom prst="rect">
            <a:avLst/>
          </a:prstGeom>
        </p:spPr>
      </p:pic>
      <p:sp>
        <p:nvSpPr>
          <p:cNvPr id="5" name="lg-dot-5.72-0"/>
          <p:cNvSpPr/>
          <p:nvPr/>
        </p:nvSpPr>
        <p:spPr>
          <a:xfrm>
            <a:off x="1280160" y="5271516"/>
            <a:ext cx="109728" cy="109728"/>
          </a:xfrm>
          <a:prstGeom prst="ellipse">
            <a:avLst/>
          </a:prstGeom>
          <a:solidFill>
            <a:srgbClr val="B3B2AE"/>
          </a:solidFill>
          <a:ln w="12700">
            <a:solidFill>
              <a:srgbClr val="B3B2AE"/>
            </a:solidFill>
            <a:prstDash val="solid"/>
          </a:ln>
        </p:spPr>
      </p:sp>
      <p:sp>
        <p:nvSpPr>
          <p:cNvPr id="6" name="lg-txt-5.72-0"/>
          <p:cNvSpPr txBox="1"/>
          <p:nvPr/>
        </p:nvSpPr>
        <p:spPr>
          <a:xfrm>
            <a:off x="1435608"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Stable</a:t>
            </a:r>
            <a:endParaRPr lang="en-US" sz="1050" dirty="0"/>
          </a:p>
        </p:txBody>
      </p:sp>
      <p:sp>
        <p:nvSpPr>
          <p:cNvPr id="7" name="lg-dot-5.72-1"/>
          <p:cNvSpPr/>
          <p:nvPr/>
        </p:nvSpPr>
        <p:spPr>
          <a:xfrm>
            <a:off x="2141525" y="5271516"/>
            <a:ext cx="109728" cy="109728"/>
          </a:xfrm>
          <a:prstGeom prst="ellipse">
            <a:avLst/>
          </a:prstGeom>
          <a:solidFill>
            <a:srgbClr val="C2551C"/>
          </a:solidFill>
          <a:ln w="12700">
            <a:solidFill>
              <a:srgbClr val="C2551C"/>
            </a:solidFill>
            <a:prstDash val="solid"/>
          </a:ln>
        </p:spPr>
      </p:sp>
      <p:sp>
        <p:nvSpPr>
          <p:cNvPr id="8" name="lg-txt-5.72-1"/>
          <p:cNvSpPr txBox="1"/>
          <p:nvPr/>
        </p:nvSpPr>
        <p:spPr>
          <a:xfrm>
            <a:off x="2296973"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9" name="lg-dot-5.72-2"/>
          <p:cNvSpPr/>
          <p:nvPr/>
        </p:nvSpPr>
        <p:spPr>
          <a:xfrm>
            <a:off x="3002890" y="5271516"/>
            <a:ext cx="109728" cy="109728"/>
          </a:xfrm>
          <a:prstGeom prst="ellipse">
            <a:avLst/>
          </a:prstGeom>
          <a:solidFill>
            <a:srgbClr val="1F6FB2"/>
          </a:solidFill>
          <a:ln w="12700">
            <a:solidFill>
              <a:srgbClr val="1F6FB2"/>
            </a:solidFill>
            <a:prstDash val="solid"/>
          </a:ln>
        </p:spPr>
      </p:sp>
      <p:sp>
        <p:nvSpPr>
          <p:cNvPr id="10" name="lg-txt-5.72-2"/>
          <p:cNvSpPr txBox="1"/>
          <p:nvPr/>
        </p:nvSpPr>
        <p:spPr>
          <a:xfrm>
            <a:off x="3158338" y="5230368"/>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1" name="lg-dot-5.72-3"/>
          <p:cNvSpPr/>
          <p:nvPr/>
        </p:nvSpPr>
        <p:spPr>
          <a:xfrm>
            <a:off x="3995928" y="5271516"/>
            <a:ext cx="109728" cy="109728"/>
          </a:xfrm>
          <a:prstGeom prst="ellipse">
            <a:avLst/>
          </a:prstGeom>
          <a:solidFill>
            <a:srgbClr val="2E7D32"/>
          </a:solidFill>
          <a:ln w="12700">
            <a:solidFill>
              <a:srgbClr val="2E7D32"/>
            </a:solidFill>
            <a:prstDash val="solid"/>
          </a:ln>
        </p:spPr>
      </p:sp>
      <p:sp>
        <p:nvSpPr>
          <p:cNvPr id="12" name="lg-txt-5.72-3"/>
          <p:cNvSpPr txBox="1"/>
          <p:nvPr/>
        </p:nvSpPr>
        <p:spPr>
          <a:xfrm>
            <a:off x="4151376" y="5230368"/>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3" name="lg-dot-5.72-4"/>
          <p:cNvSpPr/>
          <p:nvPr/>
        </p:nvSpPr>
        <p:spPr>
          <a:xfrm>
            <a:off x="5186477" y="5271516"/>
            <a:ext cx="109728" cy="109728"/>
          </a:xfrm>
          <a:prstGeom prst="ellipse">
            <a:avLst/>
          </a:prstGeom>
          <a:solidFill>
            <a:srgbClr val="7B3FA0"/>
          </a:solidFill>
          <a:ln w="12700">
            <a:solidFill>
              <a:srgbClr val="7B3FA0"/>
            </a:solidFill>
            <a:prstDash val="solid"/>
          </a:ln>
        </p:spPr>
      </p:sp>
      <p:sp>
        <p:nvSpPr>
          <p:cNvPr id="14" name="lg-txt-5.72-4"/>
          <p:cNvSpPr txBox="1"/>
          <p:nvPr/>
        </p:nvSpPr>
        <p:spPr>
          <a:xfrm>
            <a:off x="5341925" y="5230368"/>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5" name="pa-key"/>
          <p:cNvSpPr txBox="1"/>
          <p:nvPr/>
        </p:nvSpPr>
        <p:spPr>
          <a:xfrm>
            <a:off x="1280160" y="5504688"/>
            <a:ext cx="10149840" cy="274320"/>
          </a:xfrm>
          <a:prstGeom prst="rect">
            <a:avLst/>
          </a:prstGeom>
          <a:noFill/>
          <a:ln/>
        </p:spPr>
        <p:txBody>
          <a:bodyPr wrap="square" lIns="0" tIns="0" rIns="0" bIns="0" rtlCol="0" anchor="ctr"/>
          <a:lstStyle/>
          <a:p>
            <a:pPr indent="0" marL="0">
              <a:buNone/>
            </a:pPr>
            <a:r>
              <a:rPr lang="en-US" sz="950" dirty="0">
                <a:solidFill>
                  <a:srgbClr val="595959"/>
                </a:solidFill>
              </a:rPr>
              <a:t>six families shown; tests run over all 20 class-by-family comparisons, smallest FDR 0.02</a:t>
            </a:r>
            <a:endParaRPr lang="en-US" sz="950" dirty="0"/>
          </a:p>
        </p:txBody>
      </p:sp>
      <p:sp>
        <p:nvSpPr>
          <p:cNvPr id="1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MEF2 sits right beside the AP-1 motif, and it matters</a:t>
            </a:r>
            <a:endParaRPr lang="en-US" sz="2800" dirty="0"/>
          </a:p>
        </p:txBody>
      </p:sp>
      <p:sp>
        <p:nvSpPr>
          <p:cNvPr id="3" name="sp-t1"/>
          <p:cNvSpPr txBox="1"/>
          <p:nvPr/>
        </p:nvSpPr>
        <p:spPr>
          <a:xfrm>
            <a:off x="731520" y="1051560"/>
            <a:ext cx="4937760" cy="274320"/>
          </a:xfrm>
          <a:prstGeom prst="rect">
            <a:avLst/>
          </a:prstGeom>
          <a:noFill/>
          <a:ln/>
        </p:spPr>
        <p:txBody>
          <a:bodyPr wrap="square" lIns="0" tIns="0" rIns="0" bIns="0" rtlCol="0" anchor="ctr"/>
          <a:lstStyle/>
          <a:p>
            <a:pPr indent="0" marL="0">
              <a:buNone/>
            </a:pPr>
            <a:r>
              <a:rPr lang="en-US" sz="1350" b="1" dirty="0">
                <a:solidFill>
                  <a:srgbClr val="111111"/>
                </a:solidFill>
              </a:rPr>
              <a:t>How often a partner sits there</a:t>
            </a:r>
            <a:endParaRPr lang="en-US" sz="1350" dirty="0"/>
          </a:p>
        </p:txBody>
      </p:sp>
      <p:sp>
        <p:nvSpPr>
          <p:cNvPr id="4" name="sp-s1"/>
          <p:cNvSpPr txBox="1"/>
          <p:nvPr/>
        </p:nvSpPr>
        <p:spPr>
          <a:xfrm>
            <a:off x="731520" y="1335024"/>
            <a:ext cx="4937760" cy="274320"/>
          </a:xfrm>
          <a:prstGeom prst="rect">
            <a:avLst/>
          </a:prstGeom>
          <a:noFill/>
          <a:ln/>
        </p:spPr>
        <p:txBody>
          <a:bodyPr wrap="square" lIns="0" tIns="0" rIns="0" bIns="0" rtlCol="0" anchor="ctr"/>
          <a:lstStyle/>
          <a:p>
            <a:pPr indent="0" marL="0">
              <a:buNone/>
            </a:pPr>
            <a:r>
              <a:rPr lang="en-US" sz="1050" dirty="0">
                <a:solidFill>
                  <a:srgbClr val="595959"/>
                </a:solidFill>
              </a:rPr>
              <a:t>every footprint of that family, important or not</a:t>
            </a:r>
            <a:endParaRPr lang="en-US" sz="1050" dirty="0"/>
          </a:p>
        </p:txBody>
      </p:sp>
      <p:pic>
        <p:nvPicPr>
          <p:cNvPr id="5" name="Image 0" descr="/Users/z5162865/WongLab/AlphaGenome_Ap1/Analysis/slide_figures/panels/s7_occurrence.png">    </p:cNvPr>
          <p:cNvPicPr>
            <a:picLocks noChangeAspect="1"/>
          </p:cNvPicPr>
          <p:nvPr/>
        </p:nvPicPr>
        <p:blipFill>
          <a:blip r:embed="rId1"/>
          <a:stretch>
            <a:fillRect/>
          </a:stretch>
        </p:blipFill>
        <p:spPr>
          <a:xfrm>
            <a:off x="757624" y="1691640"/>
            <a:ext cx="4885551" cy="3200400"/>
          </a:xfrm>
          <a:prstGeom prst="rect">
            <a:avLst/>
          </a:prstGeom>
        </p:spPr>
      </p:pic>
      <p:sp>
        <p:nvSpPr>
          <p:cNvPr id="6" name="sp-t2"/>
          <p:cNvSpPr txBox="1"/>
          <p:nvPr/>
        </p:nvSpPr>
        <p:spPr>
          <a:xfrm>
            <a:off x="6309360" y="1051560"/>
            <a:ext cx="5120640" cy="274320"/>
          </a:xfrm>
          <a:prstGeom prst="rect">
            <a:avLst/>
          </a:prstGeom>
          <a:noFill/>
          <a:ln/>
        </p:spPr>
        <p:txBody>
          <a:bodyPr wrap="square" lIns="0" tIns="0" rIns="0" bIns="0" rtlCol="0" anchor="ctr"/>
          <a:lstStyle/>
          <a:p>
            <a:pPr indent="0" marL="0">
              <a:buNone/>
            </a:pPr>
            <a:r>
              <a:rPr lang="en-US" sz="1350" b="1" dirty="0">
                <a:solidFill>
                  <a:srgbClr val="111111"/>
                </a:solidFill>
              </a:rPr>
              <a:t>How much it matters there</a:t>
            </a:r>
            <a:endParaRPr lang="en-US" sz="1350" dirty="0"/>
          </a:p>
        </p:txBody>
      </p:sp>
      <p:sp>
        <p:nvSpPr>
          <p:cNvPr id="7" name="sp-s2"/>
          <p:cNvSpPr txBox="1"/>
          <p:nvPr/>
        </p:nvSpPr>
        <p:spPr>
          <a:xfrm>
            <a:off x="6309360" y="1335024"/>
            <a:ext cx="5120640" cy="274320"/>
          </a:xfrm>
          <a:prstGeom prst="rect">
            <a:avLst/>
          </a:prstGeom>
          <a:noFill/>
          <a:ln/>
        </p:spPr>
        <p:txBody>
          <a:bodyPr wrap="square" lIns="0" tIns="0" rIns="0" bIns="0" rtlCol="0" anchor="ctr"/>
          <a:lstStyle/>
          <a:p>
            <a:pPr indent="0" marL="0">
              <a:buNone/>
            </a:pPr>
            <a:r>
              <a:rPr lang="en-US" sz="1050" dirty="0">
                <a:solidFill>
                  <a:srgbClr val="595959"/>
                </a:solidFill>
              </a:rPr>
              <a:t>against footprint-free tiles the same distance away</a:t>
            </a:r>
            <a:endParaRPr lang="en-US" sz="1050" dirty="0"/>
          </a:p>
        </p:txBody>
      </p:sp>
      <p:pic>
        <p:nvPicPr>
          <p:cNvPr id="8" name="Image 1" descr="/Users/z5162865/WongLab/AlphaGenome_Ap1/Analysis/slide_figures/panels/s7_importance.png">    </p:cNvPr>
          <p:cNvPicPr>
            <a:picLocks noChangeAspect="1"/>
          </p:cNvPicPr>
          <p:nvPr/>
        </p:nvPicPr>
        <p:blipFill>
          <a:blip r:embed="rId2"/>
          <a:stretch>
            <a:fillRect/>
          </a:stretch>
        </p:blipFill>
        <p:spPr>
          <a:xfrm>
            <a:off x="6409568" y="1691640"/>
            <a:ext cx="4920225" cy="3200400"/>
          </a:xfrm>
          <a:prstGeom prst="rect">
            <a:avLst/>
          </a:prstGeom>
        </p:spPr>
      </p:pic>
      <p:sp>
        <p:nvSpPr>
          <p:cNvPr id="9" name="lg-dot-5.45-0"/>
          <p:cNvSpPr/>
          <p:nvPr/>
        </p:nvSpPr>
        <p:spPr>
          <a:xfrm>
            <a:off x="731520" y="5024628"/>
            <a:ext cx="109728" cy="109728"/>
          </a:xfrm>
          <a:prstGeom prst="ellipse">
            <a:avLst/>
          </a:prstGeom>
          <a:solidFill>
            <a:srgbClr val="C2551C"/>
          </a:solidFill>
          <a:ln w="12700">
            <a:solidFill>
              <a:srgbClr val="C2551C"/>
            </a:solidFill>
            <a:prstDash val="solid"/>
          </a:ln>
        </p:spPr>
      </p:sp>
      <p:sp>
        <p:nvSpPr>
          <p:cNvPr id="10" name="lg-txt-5.45-0"/>
          <p:cNvSpPr txBox="1"/>
          <p:nvPr/>
        </p:nvSpPr>
        <p:spPr>
          <a:xfrm>
            <a:off x="886968" y="4983480"/>
            <a:ext cx="464515" cy="201168"/>
          </a:xfrm>
          <a:prstGeom prst="rect">
            <a:avLst/>
          </a:prstGeom>
          <a:noFill/>
          <a:ln/>
        </p:spPr>
        <p:txBody>
          <a:bodyPr wrap="square" lIns="0" tIns="0" rIns="0" bIns="0" rtlCol="0" anchor="ctr"/>
          <a:lstStyle/>
          <a:p>
            <a:pPr indent="0" marL="0">
              <a:buNone/>
            </a:pPr>
            <a:r>
              <a:rPr lang="en-US" sz="1050" dirty="0">
                <a:solidFill>
                  <a:srgbClr val="111111"/>
                </a:solidFill>
              </a:rPr>
              <a:t>MEF2</a:t>
            </a:r>
            <a:endParaRPr lang="en-US" sz="1050" dirty="0"/>
          </a:p>
        </p:txBody>
      </p:sp>
      <p:sp>
        <p:nvSpPr>
          <p:cNvPr id="11" name="lg-dot-5.45-1"/>
          <p:cNvSpPr/>
          <p:nvPr/>
        </p:nvSpPr>
        <p:spPr>
          <a:xfrm>
            <a:off x="1461211" y="5024628"/>
            <a:ext cx="109728" cy="109728"/>
          </a:xfrm>
          <a:prstGeom prst="ellipse">
            <a:avLst/>
          </a:prstGeom>
          <a:solidFill>
            <a:srgbClr val="9A9993"/>
          </a:solidFill>
          <a:ln w="12700">
            <a:solidFill>
              <a:srgbClr val="9A9993"/>
            </a:solidFill>
            <a:prstDash val="solid"/>
          </a:ln>
        </p:spPr>
      </p:sp>
      <p:sp>
        <p:nvSpPr>
          <p:cNvPr id="12" name="lg-txt-5.45-1"/>
          <p:cNvSpPr txBox="1"/>
          <p:nvPr/>
        </p:nvSpPr>
        <p:spPr>
          <a:xfrm>
            <a:off x="1616659" y="4983480"/>
            <a:ext cx="727862" cy="201168"/>
          </a:xfrm>
          <a:prstGeom prst="rect">
            <a:avLst/>
          </a:prstGeom>
          <a:noFill/>
          <a:ln/>
        </p:spPr>
        <p:txBody>
          <a:bodyPr wrap="square" lIns="0" tIns="0" rIns="0" bIns="0" rtlCol="0" anchor="ctr"/>
          <a:lstStyle/>
          <a:p>
            <a:pPr indent="0" marL="0">
              <a:buNone/>
            </a:pPr>
            <a:r>
              <a:rPr lang="en-US" sz="1050" dirty="0">
                <a:solidFill>
                  <a:srgbClr val="111111"/>
                </a:solidFill>
              </a:rPr>
              <a:t>KLF / SP</a:t>
            </a:r>
            <a:endParaRPr lang="en-US" sz="1050" dirty="0"/>
          </a:p>
        </p:txBody>
      </p:sp>
      <p:sp>
        <p:nvSpPr>
          <p:cNvPr id="13" name="sp-key"/>
          <p:cNvSpPr txBox="1"/>
          <p:nvPr/>
        </p:nvSpPr>
        <p:spPr>
          <a:xfrm>
            <a:off x="731520" y="5285232"/>
            <a:ext cx="10698480" cy="365760"/>
          </a:xfrm>
          <a:prstGeom prst="rect">
            <a:avLst/>
          </a:prstGeom>
          <a:noFill/>
          <a:ln/>
        </p:spPr>
        <p:txBody>
          <a:bodyPr wrap="square" lIns="0" tIns="0" rIns="0" bIns="0" rtlCol="0" anchor="ctr"/>
          <a:lstStyle/>
          <a:p>
            <a:pPr indent="0" marL="0">
              <a:buNone/>
            </a:pPr>
            <a:r>
              <a:rPr lang="en-US" sz="950" dirty="0">
                <a:solidFill>
                  <a:srgbClr val="595959"/>
                </a:solidFill>
              </a:rPr>
              <a:t>shaded band on the left: 11–25 bp, where a neighbour abuts the motif.   MEF2 is 2.67× enriched there against 1.47× for KLF/SP (FDR 0.004).</a:t>
            </a:r>
            <a:endParaRPr lang="en-US" sz="95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is 2.67× enriched at 11–25 bp and is worth −0.9 log2 there; KLF/SP is the commonest neighbour and is worth nothing anywhere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are short of that MEF2</a:t>
            </a:r>
            <a:endParaRPr lang="en-US" sz="2800" dirty="0"/>
          </a:p>
        </p:txBody>
      </p:sp>
      <p:sp>
        <p:nvSpPr>
          <p:cNvPr id="3" name="s9_mef2_by_class-title-0"/>
          <p:cNvSpPr txBox="1"/>
          <p:nvPr/>
        </p:nvSpPr>
        <p:spPr>
          <a:xfrm>
            <a:off x="2487168"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A MEF2 footprint within 25 bp</a:t>
            </a:r>
            <a:endParaRPr lang="en-US" sz="1250" dirty="0"/>
          </a:p>
        </p:txBody>
      </p:sp>
      <p:sp>
        <p:nvSpPr>
          <p:cNvPr id="4" name="s9_mef2_by_class-sub-0"/>
          <p:cNvSpPr txBox="1"/>
          <p:nvPr/>
        </p:nvSpPr>
        <p:spPr>
          <a:xfrm>
            <a:off x="2487168"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counting footprints, used by the model or not</a:t>
            </a:r>
            <a:endParaRPr lang="en-US" sz="950" dirty="0"/>
          </a:p>
        </p:txBody>
      </p:sp>
      <p:pic>
        <p:nvPicPr>
          <p:cNvPr id="5" name="Image 0" descr="/Users/z5162865/WongLab/AlphaGenome_Ap1/Analysis/slide_figures/panels/s9_mef2_by_class_c0_r0.png">    </p:cNvPr>
          <p:cNvPicPr>
            <a:picLocks noChangeAspect="1"/>
          </p:cNvPicPr>
          <p:nvPr/>
        </p:nvPicPr>
        <p:blipFill>
          <a:blip r:embed="rId1"/>
          <a:stretch>
            <a:fillRect/>
          </a:stretch>
        </p:blipFill>
        <p:spPr>
          <a:xfrm>
            <a:off x="2771546" y="1892808"/>
            <a:ext cx="3097987" cy="2816352"/>
          </a:xfrm>
          <a:prstGeom prst="rect">
            <a:avLst/>
          </a:prstGeom>
        </p:spPr>
      </p:pic>
      <p:sp>
        <p:nvSpPr>
          <p:cNvPr id="6" name="s9_mef2_by_class-title-1"/>
          <p:cNvSpPr txBox="1"/>
          <p:nvPr/>
        </p:nvSpPr>
        <p:spPr>
          <a:xfrm>
            <a:off x="6227064"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...one the model actually leans on</a:t>
            </a:r>
            <a:endParaRPr lang="en-US" sz="1250" dirty="0"/>
          </a:p>
        </p:txBody>
      </p:sp>
      <p:sp>
        <p:nvSpPr>
          <p:cNvPr id="7" name="s9_mef2_by_class-sub-1"/>
          <p:cNvSpPr txBox="1"/>
          <p:nvPr/>
        </p:nvSpPr>
        <p:spPr>
          <a:xfrm>
            <a:off x="6227064"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restricted to tiles worth more than 0.2 log2</a:t>
            </a:r>
            <a:endParaRPr lang="en-US" sz="950" dirty="0"/>
          </a:p>
        </p:txBody>
      </p:sp>
      <p:pic>
        <p:nvPicPr>
          <p:cNvPr id="8" name="Image 1" descr="/Users/z5162865/WongLab/AlphaGenome_Ap1/Analysis/slide_figures/panels/s9_mef2_by_class_c1_r0.png">    </p:cNvPr>
          <p:cNvPicPr>
            <a:picLocks noChangeAspect="1"/>
          </p:cNvPicPr>
          <p:nvPr/>
        </p:nvPicPr>
        <p:blipFill>
          <a:blip r:embed="rId2"/>
          <a:stretch>
            <a:fillRect/>
          </a:stretch>
        </p:blipFill>
        <p:spPr>
          <a:xfrm>
            <a:off x="6511442" y="1892808"/>
            <a:ext cx="3097987" cy="2816352"/>
          </a:xfrm>
          <a:prstGeom prst="rect">
            <a:avLst/>
          </a:prstGeom>
        </p:spPr>
      </p:pic>
      <p:sp>
        <p:nvSpPr>
          <p:cNvPr id="9" name="s9_mef2_by_class-dot-0"/>
          <p:cNvSpPr/>
          <p:nvPr/>
        </p:nvSpPr>
        <p:spPr>
          <a:xfrm>
            <a:off x="2377440" y="4914900"/>
            <a:ext cx="109728" cy="109728"/>
          </a:xfrm>
          <a:prstGeom prst="ellipse">
            <a:avLst/>
          </a:prstGeom>
          <a:solidFill>
            <a:srgbClr val="4F4F4F"/>
          </a:solidFill>
          <a:ln w="12700">
            <a:solidFill>
              <a:srgbClr val="4F4F4F"/>
            </a:solidFill>
            <a:prstDash val="solid"/>
          </a:ln>
        </p:spPr>
      </p:sp>
      <p:sp>
        <p:nvSpPr>
          <p:cNvPr id="10" name="s9_mef2_by_class-leg-0"/>
          <p:cNvSpPr txBox="1"/>
          <p:nvPr/>
        </p:nvSpPr>
        <p:spPr>
          <a:xfrm>
            <a:off x="253288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1" name="s9_mef2_by_class-dot-1"/>
          <p:cNvSpPr/>
          <p:nvPr/>
        </p:nvSpPr>
        <p:spPr>
          <a:xfrm>
            <a:off x="3699662" y="4914900"/>
            <a:ext cx="109728" cy="109728"/>
          </a:xfrm>
          <a:prstGeom prst="ellipse">
            <a:avLst/>
          </a:prstGeom>
          <a:solidFill>
            <a:srgbClr val="C2551C"/>
          </a:solidFill>
          <a:ln w="12700">
            <a:solidFill>
              <a:srgbClr val="C2551C"/>
            </a:solidFill>
            <a:prstDash val="solid"/>
          </a:ln>
        </p:spPr>
      </p:sp>
      <p:sp>
        <p:nvSpPr>
          <p:cNvPr id="12" name="s9_mef2_by_class-leg-1"/>
          <p:cNvSpPr txBox="1"/>
          <p:nvPr/>
        </p:nvSpPr>
        <p:spPr>
          <a:xfrm>
            <a:off x="385511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3" name="s9_mef2_by_class-dot-2"/>
          <p:cNvSpPr/>
          <p:nvPr/>
        </p:nvSpPr>
        <p:spPr>
          <a:xfrm>
            <a:off x="4561027" y="4914900"/>
            <a:ext cx="109728" cy="109728"/>
          </a:xfrm>
          <a:prstGeom prst="ellipse">
            <a:avLst/>
          </a:prstGeom>
          <a:solidFill>
            <a:srgbClr val="1F6FB2"/>
          </a:solidFill>
          <a:ln w="12700">
            <a:solidFill>
              <a:srgbClr val="1F6FB2"/>
            </a:solidFill>
            <a:prstDash val="solid"/>
          </a:ln>
        </p:spPr>
      </p:sp>
      <p:sp>
        <p:nvSpPr>
          <p:cNvPr id="14" name="s9_mef2_by_class-leg-2"/>
          <p:cNvSpPr txBox="1"/>
          <p:nvPr/>
        </p:nvSpPr>
        <p:spPr>
          <a:xfrm>
            <a:off x="471647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5" name="s9_mef2_by_class-dot-3"/>
          <p:cNvSpPr/>
          <p:nvPr/>
        </p:nvSpPr>
        <p:spPr>
          <a:xfrm>
            <a:off x="5554066" y="4914900"/>
            <a:ext cx="109728" cy="109728"/>
          </a:xfrm>
          <a:prstGeom prst="ellipse">
            <a:avLst/>
          </a:prstGeom>
          <a:solidFill>
            <a:srgbClr val="2E7D32"/>
          </a:solidFill>
          <a:ln w="12700">
            <a:solidFill>
              <a:srgbClr val="2E7D32"/>
            </a:solidFill>
            <a:prstDash val="solid"/>
          </a:ln>
        </p:spPr>
      </p:sp>
      <p:sp>
        <p:nvSpPr>
          <p:cNvPr id="16" name="s9_mef2_by_class-leg-3"/>
          <p:cNvSpPr txBox="1"/>
          <p:nvPr/>
        </p:nvSpPr>
        <p:spPr>
          <a:xfrm>
            <a:off x="570951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7" name="s9_mef2_by_class-dot-4"/>
          <p:cNvSpPr/>
          <p:nvPr/>
        </p:nvSpPr>
        <p:spPr>
          <a:xfrm>
            <a:off x="6744614" y="4914900"/>
            <a:ext cx="109728" cy="109728"/>
          </a:xfrm>
          <a:prstGeom prst="ellipse">
            <a:avLst/>
          </a:prstGeom>
          <a:solidFill>
            <a:srgbClr val="7B3FA0"/>
          </a:solidFill>
          <a:ln w="12700">
            <a:solidFill>
              <a:srgbClr val="7B3FA0"/>
            </a:solidFill>
            <a:prstDash val="solid"/>
          </a:ln>
        </p:spPr>
      </p:sp>
      <p:sp>
        <p:nvSpPr>
          <p:cNvPr id="18" name="s9_mef2_by_class-leg-4"/>
          <p:cNvSpPr txBox="1"/>
          <p:nvPr/>
        </p:nvSpPr>
        <p:spPr>
          <a:xfrm>
            <a:off x="690006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9" name="s9_mef2_by_class-dot-5"/>
          <p:cNvSpPr/>
          <p:nvPr/>
        </p:nvSpPr>
        <p:spPr>
          <a:xfrm>
            <a:off x="8066837" y="4914900"/>
            <a:ext cx="109728" cy="109728"/>
          </a:xfrm>
          <a:prstGeom prst="ellipse">
            <a:avLst/>
          </a:prstGeom>
          <a:solidFill>
            <a:srgbClr val="B3B2AE"/>
          </a:solidFill>
          <a:ln w="12700">
            <a:solidFill>
              <a:srgbClr val="B3B2AE"/>
            </a:solidFill>
            <a:prstDash val="solid"/>
          </a:ln>
        </p:spPr>
      </p:sp>
      <p:sp>
        <p:nvSpPr>
          <p:cNvPr id="20" name="s9_mef2_by_class-leg-5"/>
          <p:cNvSpPr txBox="1"/>
          <p:nvPr/>
        </p:nvSpPr>
        <p:spPr>
          <a:xfrm>
            <a:off x="822228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1" name="s9_mef2_by_class-key"/>
          <p:cNvSpPr txBox="1"/>
          <p:nvPr/>
        </p:nvSpPr>
        <p:spPr>
          <a:xfrm>
            <a:off x="2377440" y="5148072"/>
            <a:ext cx="758952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with a 95% bootstrap CI.   Fisher's exact test against that reference, BH across all 10 tests on this figure.   *** p&lt;0.001   ** p&lt;0.01   * p&lt;0.05   ns ≥ 0.05</a:t>
            </a:r>
            <a:endParaRPr lang="en-US" sz="900" dirty="0"/>
          </a:p>
        </p:txBody>
      </p:sp>
      <p:sp>
        <p:nvSpPr>
          <p:cNvPr id="2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Age Up 5.8% and Exercise Down 5.4% carry a close MEF2, against 8.5% of Stable sites — and the gap is sharper when only the MEF2 the model uses is counted</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Is the partner missing, or just worth less?</a:t>
            </a:r>
            <a:endParaRPr lang="en-US" sz="2800" dirty="0"/>
          </a:p>
        </p:txBody>
      </p:sp>
      <p:sp>
        <p:nvSpPr>
          <p:cNvPr id="3" name="or-intro"/>
          <p:cNvSpPr txBox="1"/>
          <p:nvPr/>
        </p:nvSpPr>
        <p:spPr>
          <a:xfrm>
            <a:off x="731520" y="1005840"/>
            <a:ext cx="10881360" cy="420624"/>
          </a:xfrm>
          <a:prstGeom prst="rect">
            <a:avLst/>
          </a:prstGeom>
          <a:noFill/>
          <a:ln/>
        </p:spPr>
        <p:txBody>
          <a:bodyPr wrap="square" lIns="0" tIns="0" rIns="0" bIns="0" rtlCol="0" anchor="ctr"/>
          <a:lstStyle/>
          <a:p>
            <a:pPr indent="0" marL="0">
              <a:buNone/>
            </a:pPr>
            <a:r>
              <a:rPr lang="en-US" sz="1150" dirty="0">
                <a:solidFill>
                  <a:srgbClr val="595959"/>
                </a:solidFill>
              </a:rPr>
              <a:t>Rank the 60 windows within each element, take the three most damaging, and ask whether any covers that family’s footprint. A within-element question, so a class with less total dependence is not penalised for it.</a:t>
            </a:r>
            <a:endParaRPr lang="en-US" sz="1150" dirty="0"/>
          </a:p>
        </p:txBody>
      </p:sp>
      <p:sp>
        <p:nvSpPr>
          <p:cNvPr id="4" name="or-t1"/>
          <p:cNvSpPr txBox="1"/>
          <p:nvPr/>
        </p:nvSpPr>
        <p:spPr>
          <a:xfrm>
            <a:off x="13716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MEF2</a:t>
            </a:r>
            <a:endParaRPr lang="en-US" sz="1350" dirty="0"/>
          </a:p>
        </p:txBody>
      </p:sp>
      <p:pic>
        <p:nvPicPr>
          <p:cNvPr id="5" name="Image 0" descr="/Users/z5162865/WongLab/AlphaGenome_Ap1/Analysis/slide_figures/panels/s10_mef2_all.png">    </p:cNvPr>
          <p:cNvPicPr>
            <a:picLocks noChangeAspect="1"/>
          </p:cNvPicPr>
          <p:nvPr/>
        </p:nvPicPr>
        <p:blipFill>
          <a:blip r:embed="rId1"/>
          <a:stretch>
            <a:fillRect/>
          </a:stretch>
        </p:blipFill>
        <p:spPr>
          <a:xfrm>
            <a:off x="1730862" y="1883664"/>
            <a:ext cx="3853476" cy="3017520"/>
          </a:xfrm>
          <a:prstGeom prst="rect">
            <a:avLst/>
          </a:prstGeom>
        </p:spPr>
      </p:pic>
      <p:sp>
        <p:nvSpPr>
          <p:cNvPr id="6" name="or-t2"/>
          <p:cNvSpPr txBox="1"/>
          <p:nvPr/>
        </p:nvSpPr>
        <p:spPr>
          <a:xfrm>
            <a:off x="64008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A second AP-1 footprint</a:t>
            </a:r>
            <a:endParaRPr lang="en-US" sz="1350" dirty="0"/>
          </a:p>
        </p:txBody>
      </p:sp>
      <p:pic>
        <p:nvPicPr>
          <p:cNvPr id="7" name="Image 1" descr="/Users/z5162865/WongLab/AlphaGenome_Ap1/Analysis/slide_figures/panels/s10_ap1.png">    </p:cNvPr>
          <p:cNvPicPr>
            <a:picLocks noChangeAspect="1"/>
          </p:cNvPicPr>
          <p:nvPr/>
        </p:nvPicPr>
        <p:blipFill>
          <a:blip r:embed="rId2"/>
          <a:stretch>
            <a:fillRect/>
          </a:stretch>
        </p:blipFill>
        <p:spPr>
          <a:xfrm>
            <a:off x="6760062" y="1883664"/>
            <a:ext cx="3853476" cy="3017520"/>
          </a:xfrm>
          <a:prstGeom prst="rect">
            <a:avLst/>
          </a:prstGeom>
        </p:spPr>
      </p:pic>
      <p:sp>
        <p:nvSpPr>
          <p:cNvPr id="8" name="lg-dot-5.5-0"/>
          <p:cNvSpPr/>
          <p:nvPr/>
        </p:nvSpPr>
        <p:spPr>
          <a:xfrm>
            <a:off x="1371600" y="5070348"/>
            <a:ext cx="109728" cy="109728"/>
          </a:xfrm>
          <a:prstGeom prst="ellipse">
            <a:avLst/>
          </a:prstGeom>
          <a:solidFill>
            <a:srgbClr val="C2551C"/>
          </a:solidFill>
          <a:ln w="12700">
            <a:solidFill>
              <a:srgbClr val="C2551C"/>
            </a:solidFill>
            <a:prstDash val="solid"/>
          </a:ln>
        </p:spPr>
      </p:sp>
      <p:sp>
        <p:nvSpPr>
          <p:cNvPr id="9" name="lg-txt-5.5-0"/>
          <p:cNvSpPr txBox="1"/>
          <p:nvPr/>
        </p:nvSpPr>
        <p:spPr>
          <a:xfrm>
            <a:off x="1527048" y="5029200"/>
            <a:ext cx="2307946" cy="201168"/>
          </a:xfrm>
          <a:prstGeom prst="rect">
            <a:avLst/>
          </a:prstGeom>
          <a:noFill/>
          <a:ln/>
        </p:spPr>
        <p:txBody>
          <a:bodyPr wrap="square" lIns="0" tIns="0" rIns="0" bIns="0" rtlCol="0" anchor="ctr"/>
          <a:lstStyle/>
          <a:p>
            <a:pPr indent="0" marL="0">
              <a:buNone/>
            </a:pPr>
            <a:r>
              <a:rPr lang="en-US" sz="1050" dirty="0">
                <a:solidFill>
                  <a:srgbClr val="111111"/>
                </a:solidFill>
              </a:rPr>
              <a:t>does the element have one at all</a:t>
            </a:r>
            <a:endParaRPr lang="en-US" sz="1050" dirty="0"/>
          </a:p>
        </p:txBody>
      </p:sp>
      <p:sp>
        <p:nvSpPr>
          <p:cNvPr id="10" name="lg-dot-5.5-1"/>
          <p:cNvSpPr/>
          <p:nvPr/>
        </p:nvSpPr>
        <p:spPr>
          <a:xfrm>
            <a:off x="3944722" y="5070348"/>
            <a:ext cx="109728" cy="109728"/>
          </a:xfrm>
          <a:prstGeom prst="ellipse">
            <a:avLst/>
          </a:prstGeom>
          <a:solidFill>
            <a:srgbClr val="4F4F4F"/>
          </a:solidFill>
          <a:ln w="12700">
            <a:solidFill>
              <a:srgbClr val="4F4F4F"/>
            </a:solidFill>
            <a:prstDash val="solid"/>
          </a:ln>
        </p:spPr>
      </p:sp>
      <p:sp>
        <p:nvSpPr>
          <p:cNvPr id="11" name="lg-txt-5.5-1"/>
          <p:cNvSpPr txBox="1"/>
          <p:nvPr/>
        </p:nvSpPr>
        <p:spPr>
          <a:xfrm>
            <a:off x="4100170" y="5029200"/>
            <a:ext cx="2373782" cy="201168"/>
          </a:xfrm>
          <a:prstGeom prst="rect">
            <a:avLst/>
          </a:prstGeom>
          <a:noFill/>
          <a:ln/>
        </p:spPr>
        <p:txBody>
          <a:bodyPr wrap="square" lIns="0" tIns="0" rIns="0" bIns="0" rtlCol="0" anchor="ctr"/>
          <a:lstStyle/>
          <a:p>
            <a:pPr indent="0" marL="0">
              <a:buNone/>
            </a:pPr>
            <a:r>
              <a:rPr lang="en-US" sz="1050" dirty="0">
                <a:solidFill>
                  <a:srgbClr val="111111"/>
                </a:solidFill>
              </a:rPr>
              <a:t>when it has one, is it ranked top</a:t>
            </a:r>
            <a:endParaRPr lang="en-US" sz="1050" dirty="0"/>
          </a:p>
        </p:txBody>
      </p:sp>
      <p:sp>
        <p:nvSpPr>
          <p:cNvPr id="12" name="or-key"/>
          <p:cNvSpPr txBox="1"/>
          <p:nvPr/>
        </p:nvSpPr>
        <p:spPr>
          <a:xfrm>
            <a:off x="731520" y="5376672"/>
            <a:ext cx="10881360" cy="457200"/>
          </a:xfrm>
          <a:prstGeom prst="rect">
            <a:avLst/>
          </a:prstGeom>
          <a:noFill/>
          <a:ln/>
        </p:spPr>
        <p:txBody>
          <a:bodyPr wrap="square" lIns="0" tIns="0" rIns="0" bIns="0" rtlCol="0" anchor="ctr"/>
          <a:lstStyle/>
          <a:p>
            <a:pPr indent="0" marL="0">
              <a:buNone/>
            </a:pPr>
            <a:r>
              <a:rPr lang="en-US" sz="950" dirty="0">
                <a:solidFill>
                  <a:srgbClr val="595959"/>
                </a:solidFill>
              </a:rPr>
              <a:t>log2 odds ratio against all Stable sites with a 95% CI; dotted line = no difference, so −1 is half the odds and +1 is double.   MEF2, does it have one: Age Up OR 0.45, Exercise Down 0.56, Dynamic 0.58, all FDR ≤ 0.005.   AP-1, when it has one: Dynamic OR 1.45, FDR 0.036.</a:t>
            </a:r>
            <a:endParaRPr lang="en-US" sz="95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MEF2 deficit is about having one, not about how it is ranked — and responsive elements lean more on a second AP-1 site when they have one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the model leans on: its own motif, or a neighbour</a:t>
            </a:r>
            <a:endParaRPr lang="en-US" sz="2800" dirty="0"/>
          </a:p>
        </p:txBody>
      </p:sp>
      <p:sp>
        <p:nvSpPr>
          <p:cNvPr id="3" name="cl-intro"/>
          <p:cNvSpPr txBox="1"/>
          <p:nvPr/>
        </p:nvSpPr>
        <p:spPr>
          <a:xfrm>
            <a:off x="731520" y="1005840"/>
            <a:ext cx="10881360" cy="457200"/>
          </a:xfrm>
          <a:prstGeom prst="rect">
            <a:avLst/>
          </a:prstGeom>
          <a:noFill/>
          <a:ln/>
        </p:spPr>
        <p:txBody>
          <a:bodyPr wrap="square" lIns="0" tIns="0" rIns="0" bIns="0" rtlCol="0" anchor="ctr"/>
          <a:lstStyle/>
          <a:p>
            <a:pPr indent="0" marL="0">
              <a:buNone/>
            </a:pPr>
            <a:r>
              <a:rPr lang="en-US" sz="1150" dirty="0">
                <a:solidFill>
                  <a:srgbClr val="595959"/>
                </a:solidFill>
              </a:rPr>
              <a:t>Two elements with a comparable set of neighbouring AP-1 footprints and comparable accessibility. Coloured bars are the three most damaging windows; gold marks the called AP-1 motif; the lane below shows every other AP-1 footprint, merged where calls overlap and numbered.</a:t>
            </a:r>
            <a:endParaRPr lang="en-US" sz="1150" dirty="0"/>
          </a:p>
        </p:txBody>
      </p:sp>
      <p:sp>
        <p:nvSpPr>
          <p:cNvPr id="4" name="cl-t1"/>
          <p:cNvSpPr txBox="1"/>
          <p:nvPr/>
        </p:nvSpPr>
        <p:spPr>
          <a:xfrm>
            <a:off x="731520" y="1572768"/>
            <a:ext cx="10881360" cy="256032"/>
          </a:xfrm>
          <a:prstGeom prst="rect">
            <a:avLst/>
          </a:prstGeom>
          <a:noFill/>
          <a:ln/>
        </p:spPr>
        <p:txBody>
          <a:bodyPr wrap="square" lIns="0" tIns="0" rIns="0" bIns="0" rtlCol="0" anchor="ctr"/>
          <a:lstStyle/>
          <a:p>
            <a:pPr indent="0" marL="0">
              <a:buNone/>
            </a:pPr>
            <a:r>
              <a:rPr lang="en-US" sz="1300" b="1" dirty="0">
                <a:solidFill>
                  <a:srgbClr val="1F6FB2"/>
                </a:solidFill>
              </a:rPr>
              <a:t>Stable  </a:t>
            </a:r>
            <a:pPr indent="0" marL="0">
              <a:buNone/>
            </a:pPr>
            <a:r>
              <a:rPr lang="en-US" sz="1200" dirty="0">
                <a:solidFill>
                  <a:srgbClr val="111111"/>
                </a:solidFill>
              </a:rPr>
              <a:t>chr2:110,186,562 — all three top windows are the motif itself</a:t>
            </a:r>
            <a:endParaRPr lang="en-US" sz="1300" dirty="0"/>
          </a:p>
        </p:txBody>
      </p:sp>
      <p:pic>
        <p:nvPicPr>
          <p:cNvPr id="5" name="Image 0" descr="/Users/z5162865/WongLab/AlphaGenome_Ap1/Analysis/slide_figures/panels/s11_cluster_stable.png">    </p:cNvPr>
          <p:cNvPicPr>
            <a:picLocks noChangeAspect="1"/>
          </p:cNvPicPr>
          <p:nvPr/>
        </p:nvPicPr>
        <p:blipFill>
          <a:blip r:embed="rId1"/>
          <a:stretch>
            <a:fillRect/>
          </a:stretch>
        </p:blipFill>
        <p:spPr>
          <a:xfrm>
            <a:off x="1462024" y="1847088"/>
            <a:ext cx="9420352" cy="1737360"/>
          </a:xfrm>
          <a:prstGeom prst="rect">
            <a:avLst/>
          </a:prstGeom>
        </p:spPr>
      </p:pic>
      <p:sp>
        <p:nvSpPr>
          <p:cNvPr id="6" name="cl-t2"/>
          <p:cNvSpPr txBox="1"/>
          <p:nvPr/>
        </p:nvSpPr>
        <p:spPr>
          <a:xfrm>
            <a:off x="731520" y="3611880"/>
            <a:ext cx="10881360" cy="256032"/>
          </a:xfrm>
          <a:prstGeom prst="rect">
            <a:avLst/>
          </a:prstGeom>
          <a:noFill/>
          <a:ln/>
        </p:spPr>
        <p:txBody>
          <a:bodyPr wrap="square" lIns="0" tIns="0" rIns="0" bIns="0" rtlCol="0" anchor="ctr"/>
          <a:lstStyle/>
          <a:p>
            <a:pPr indent="0" marL="0">
              <a:buNone/>
            </a:pPr>
            <a:r>
              <a:rPr lang="en-US" sz="1300" b="1" dirty="0">
                <a:solidFill>
                  <a:srgbClr val="C2551C"/>
                </a:solidFill>
              </a:rPr>
              <a:t>Age-gained  </a:t>
            </a:r>
            <a:pPr indent="0" marL="0">
              <a:buNone/>
            </a:pPr>
            <a:r>
              <a:rPr lang="en-US" sz="1200" dirty="0">
                <a:solidFill>
                  <a:srgbClr val="111111"/>
                </a:solidFill>
              </a:rPr>
              <a:t>chr13:35,395,938 — the two worst windows sit on a cluster of neighbouring AP-1 sites, and the called motif is only third</a:t>
            </a:r>
            <a:endParaRPr lang="en-US" sz="1300" dirty="0"/>
          </a:p>
        </p:txBody>
      </p:sp>
      <p:pic>
        <p:nvPicPr>
          <p:cNvPr id="7" name="Image 1" descr="/Users/z5162865/WongLab/AlphaGenome_Ap1/Analysis/slide_figures/panels/s11_cluster_dynamic.png">    </p:cNvPr>
          <p:cNvPicPr>
            <a:picLocks noChangeAspect="1"/>
          </p:cNvPicPr>
          <p:nvPr/>
        </p:nvPicPr>
        <p:blipFill>
          <a:blip r:embed="rId2"/>
          <a:stretch>
            <a:fillRect/>
          </a:stretch>
        </p:blipFill>
        <p:spPr>
          <a:xfrm>
            <a:off x="1462024" y="3886200"/>
            <a:ext cx="9420352" cy="1737360"/>
          </a:xfrm>
          <a:prstGeom prst="rect">
            <a:avLst/>
          </a:prstGeom>
        </p:spPr>
      </p:pic>
      <p:sp>
        <p:nvSpPr>
          <p:cNvPr id="8" name="cl-key"/>
          <p:cNvSpPr txBox="1"/>
          <p:nvPr/>
        </p:nvSpPr>
        <p:spPr>
          <a:xfrm>
            <a:off x="731520" y="5614416"/>
            <a:ext cx="10881360" cy="274320"/>
          </a:xfrm>
          <a:prstGeom prst="rect">
            <a:avLst/>
          </a:prstGeom>
          <a:noFill/>
          <a:ln/>
        </p:spPr>
        <p:txBody>
          <a:bodyPr wrap="square" lIns="0" tIns="0" rIns="0" bIns="0" rtlCol="0" anchor="ctr"/>
          <a:lstStyle/>
          <a:p>
            <a:pPr indent="0" marL="0">
              <a:buNone/>
            </a:pPr>
            <a:r>
              <a:rPr lang="en-US" sz="950" dirty="0">
                <a:solidFill>
                  <a:srgbClr val="595959"/>
                </a:solidFill>
              </a:rPr>
              <a:t>own motif −1.90 against strongest neighbour −1.18 at the Stable site; −1.56 against −2.05 at the age-gained one. 8 and 10 neighbouring AP-1 footprints respectively.</a:t>
            </a:r>
            <a:endParaRPr lang="en-US" sz="950" dirty="0"/>
          </a:p>
        </p:txBody>
      </p:sp>
      <p:sp>
        <p:nvSpPr>
          <p:cNvPr id="9"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one locus showing the 1.45× result: when a responsive element has a second AP-1 site, that is what the model leans on</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pic>
        <p:nvPicPr>
          <p:cNvPr id="3" name="Image 0" descr="/Users/z5162865/WongLab/AlphaGenome_Ap1/Analysis/slide_figures/panels/d_profile.png">    </p:cNvPr>
          <p:cNvPicPr>
            <a:picLocks noChangeAspect="1"/>
          </p:cNvPicPr>
          <p:nvPr/>
        </p:nvPicPr>
        <p:blipFill>
          <a:blip r:embed="rId1"/>
          <a:stretch>
            <a:fillRect/>
          </a:stretch>
        </p:blipFill>
        <p:spPr>
          <a:xfrm>
            <a:off x="502920" y="1373869"/>
            <a:ext cx="2286000" cy="1915702"/>
          </a:xfrm>
          <a:prstGeom prst="rect">
            <a:avLst/>
          </a:prstGeom>
        </p:spPr>
      </p:pic>
      <p:sp>
        <p:nvSpPr>
          <p:cNvPr id="4" name="profile-caption"/>
          <p:cNvSpPr txBox="1"/>
          <p:nvPr/>
        </p:nvSpPr>
        <p:spPr>
          <a:xfrm>
            <a:off x="502920" y="3337560"/>
            <a:ext cx="2286000" cy="822960"/>
          </a:xfrm>
          <a:prstGeom prst="rect">
            <a:avLst/>
          </a:prstGeom>
          <a:noFill/>
          <a:ln/>
        </p:spPr>
        <p:txBody>
          <a:bodyPr wrap="square" lIns="0" tIns="0" rIns="0" bIns="0" rtlCol="0" anchor="ctr"/>
          <a:lstStyle/>
          <a:p>
            <a:pPr indent="0" marL="0">
              <a:buNone/>
            </a:pPr>
            <a:r>
              <a:rPr lang="en-US" sz="950" dirty="0">
                <a:solidFill>
                  <a:srgbClr val="595959"/>
                </a:solidFill>
              </a:rPr>
              <a:t>one site’s sliding-window profile: each bar is a 10 bp window replaced, shaded band = within ±85 bp of the motif</a:t>
            </a:r>
            <a:endParaRPr lang="en-US" sz="950" dirty="0"/>
          </a:p>
        </p:txBody>
      </p:sp>
      <p:sp>
        <p:nvSpPr>
          <p:cNvPr id="5" name="s3_dependence-title-0"/>
          <p:cNvSpPr txBox="1"/>
          <p:nvPr/>
        </p:nvSpPr>
        <p:spPr>
          <a:xfrm>
            <a:off x="3401568"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Dependence near the motif</a:t>
            </a:r>
            <a:endParaRPr lang="en-US" sz="1250" dirty="0"/>
          </a:p>
        </p:txBody>
      </p:sp>
      <p:sp>
        <p:nvSpPr>
          <p:cNvPr id="6" name="s3_dependence-sub-0"/>
          <p:cNvSpPr txBox="1"/>
          <p:nvPr/>
        </p:nvSpPr>
        <p:spPr>
          <a:xfrm>
            <a:off x="3401568"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loss summed over windows within ±85 bp</a:t>
            </a:r>
            <a:endParaRPr lang="en-US" sz="950" dirty="0"/>
          </a:p>
        </p:txBody>
      </p:sp>
      <p:pic>
        <p:nvPicPr>
          <p:cNvPr id="7" name="Image 1" descr="/Users/z5162865/WongLab/AlphaGenome_Ap1/Analysis/slide_figures/panels/s3_dependence_c0_r0.png">    </p:cNvPr>
          <p:cNvPicPr>
            <a:picLocks noChangeAspect="1"/>
          </p:cNvPicPr>
          <p:nvPr/>
        </p:nvPicPr>
        <p:blipFill>
          <a:blip r:embed="rId2"/>
          <a:stretch>
            <a:fillRect/>
          </a:stretch>
        </p:blipFill>
        <p:spPr>
          <a:xfrm>
            <a:off x="3401568" y="2395936"/>
            <a:ext cx="1991106" cy="1810096"/>
          </a:xfrm>
          <a:prstGeom prst="rect">
            <a:avLst/>
          </a:prstGeom>
        </p:spPr>
      </p:pic>
      <p:sp>
        <p:nvSpPr>
          <p:cNvPr id="8" name="s3_dependence-title-1"/>
          <p:cNvSpPr txBox="1"/>
          <p:nvPr/>
        </p:nvSpPr>
        <p:spPr>
          <a:xfrm>
            <a:off x="5465826"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Dependence out in the context</a:t>
            </a:r>
            <a:endParaRPr lang="en-US" sz="1250" dirty="0"/>
          </a:p>
        </p:txBody>
      </p:sp>
      <p:sp>
        <p:nvSpPr>
          <p:cNvPr id="9" name="s3_dependence-sub-1"/>
          <p:cNvSpPr txBox="1"/>
          <p:nvPr/>
        </p:nvSpPr>
        <p:spPr>
          <a:xfrm>
            <a:off x="5465826"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loss summed over windows beyond that</a:t>
            </a:r>
            <a:endParaRPr lang="en-US" sz="950" dirty="0"/>
          </a:p>
        </p:txBody>
      </p:sp>
      <p:pic>
        <p:nvPicPr>
          <p:cNvPr id="10" name="Image 2" descr="/Users/z5162865/WongLab/AlphaGenome_Ap1/Analysis/slide_figures/panels/s3_dependence_c1_r0.png">    </p:cNvPr>
          <p:cNvPicPr>
            <a:picLocks noChangeAspect="1"/>
          </p:cNvPicPr>
          <p:nvPr/>
        </p:nvPicPr>
        <p:blipFill>
          <a:blip r:embed="rId3"/>
          <a:stretch>
            <a:fillRect/>
          </a:stretch>
        </p:blipFill>
        <p:spPr>
          <a:xfrm>
            <a:off x="5465826" y="2395936"/>
            <a:ext cx="1991106" cy="1810096"/>
          </a:xfrm>
          <a:prstGeom prst="rect">
            <a:avLst/>
          </a:prstGeom>
        </p:spPr>
      </p:pic>
      <p:sp>
        <p:nvSpPr>
          <p:cNvPr id="11" name="s3_dependence-title-2"/>
          <p:cNvSpPr txBox="1"/>
          <p:nvPr/>
        </p:nvSpPr>
        <p:spPr>
          <a:xfrm>
            <a:off x="7530084"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Spread along the element</a:t>
            </a:r>
            <a:endParaRPr lang="en-US" sz="1250" dirty="0"/>
          </a:p>
        </p:txBody>
      </p:sp>
      <p:sp>
        <p:nvSpPr>
          <p:cNvPr id="12" name="s3_dependence-sub-2"/>
          <p:cNvSpPr txBox="1"/>
          <p:nvPr/>
        </p:nvSpPr>
        <p:spPr>
          <a:xfrm>
            <a:off x="7530084"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SD of window position, weighted by loss</a:t>
            </a:r>
            <a:endParaRPr lang="en-US" sz="950" dirty="0"/>
          </a:p>
        </p:txBody>
      </p:sp>
      <p:pic>
        <p:nvPicPr>
          <p:cNvPr id="13" name="Image 3" descr="/Users/z5162865/WongLab/AlphaGenome_Ap1/Analysis/slide_figures/panels/s3_dependence_c2_r0.png">    </p:cNvPr>
          <p:cNvPicPr>
            <a:picLocks noChangeAspect="1"/>
          </p:cNvPicPr>
          <p:nvPr/>
        </p:nvPicPr>
        <p:blipFill>
          <a:blip r:embed="rId4"/>
          <a:stretch>
            <a:fillRect/>
          </a:stretch>
        </p:blipFill>
        <p:spPr>
          <a:xfrm>
            <a:off x="7530084" y="2395936"/>
            <a:ext cx="1991106" cy="1810096"/>
          </a:xfrm>
          <a:prstGeom prst="rect">
            <a:avLst/>
          </a:prstGeom>
        </p:spPr>
      </p:pic>
      <p:sp>
        <p:nvSpPr>
          <p:cNvPr id="14" name="s3_dependence-title-3"/>
          <p:cNvSpPr txBox="1"/>
          <p:nvPr/>
        </p:nvSpPr>
        <p:spPr>
          <a:xfrm>
            <a:off x="9594342"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Depth of the single best base</a:t>
            </a:r>
            <a:endParaRPr lang="en-US" sz="1250" dirty="0"/>
          </a:p>
        </p:txBody>
      </p:sp>
      <p:sp>
        <p:nvSpPr>
          <p:cNvPr id="15" name="s3_dependence-sub-3"/>
          <p:cNvSpPr txBox="1"/>
          <p:nvPr/>
        </p:nvSpPr>
        <p:spPr>
          <a:xfrm>
            <a:off x="9594342"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largest effect of any one base change, ±30 bp</a:t>
            </a:r>
            <a:endParaRPr lang="en-US" sz="950" dirty="0"/>
          </a:p>
        </p:txBody>
      </p:sp>
      <p:pic>
        <p:nvPicPr>
          <p:cNvPr id="16" name="Image 4" descr="/Users/z5162865/WongLab/AlphaGenome_Ap1/Analysis/slide_figures/panels/s3_dependence_c3_r0.png">    </p:cNvPr>
          <p:cNvPicPr>
            <a:picLocks noChangeAspect="1"/>
          </p:cNvPicPr>
          <p:nvPr/>
        </p:nvPicPr>
        <p:blipFill>
          <a:blip r:embed="rId5"/>
          <a:stretch>
            <a:fillRect/>
          </a:stretch>
        </p:blipFill>
        <p:spPr>
          <a:xfrm>
            <a:off x="9594342" y="2395936"/>
            <a:ext cx="1991106" cy="1810096"/>
          </a:xfrm>
          <a:prstGeom prst="rect">
            <a:avLst/>
          </a:prstGeom>
        </p:spPr>
      </p:pic>
      <p:sp>
        <p:nvSpPr>
          <p:cNvPr id="17" name="s3_dependence-dot-0"/>
          <p:cNvSpPr/>
          <p:nvPr/>
        </p:nvSpPr>
        <p:spPr>
          <a:xfrm>
            <a:off x="3291840" y="4914900"/>
            <a:ext cx="109728" cy="109728"/>
          </a:xfrm>
          <a:prstGeom prst="ellipse">
            <a:avLst/>
          </a:prstGeom>
          <a:solidFill>
            <a:srgbClr val="4F4F4F"/>
          </a:solidFill>
          <a:ln w="12700">
            <a:solidFill>
              <a:srgbClr val="4F4F4F"/>
            </a:solidFill>
            <a:prstDash val="solid"/>
          </a:ln>
        </p:spPr>
      </p:sp>
      <p:sp>
        <p:nvSpPr>
          <p:cNvPr id="18" name="s3_dependence-leg-0"/>
          <p:cNvSpPr txBox="1"/>
          <p:nvPr/>
        </p:nvSpPr>
        <p:spPr>
          <a:xfrm>
            <a:off x="344728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9" name="s3_dependence-dot-1"/>
          <p:cNvSpPr/>
          <p:nvPr/>
        </p:nvSpPr>
        <p:spPr>
          <a:xfrm>
            <a:off x="4614062" y="4914900"/>
            <a:ext cx="109728" cy="109728"/>
          </a:xfrm>
          <a:prstGeom prst="ellipse">
            <a:avLst/>
          </a:prstGeom>
          <a:solidFill>
            <a:srgbClr val="C2551C"/>
          </a:solidFill>
          <a:ln w="12700">
            <a:solidFill>
              <a:srgbClr val="C2551C"/>
            </a:solidFill>
            <a:prstDash val="solid"/>
          </a:ln>
        </p:spPr>
      </p:sp>
      <p:sp>
        <p:nvSpPr>
          <p:cNvPr id="20" name="s3_dependence-leg-1"/>
          <p:cNvSpPr txBox="1"/>
          <p:nvPr/>
        </p:nvSpPr>
        <p:spPr>
          <a:xfrm>
            <a:off x="476951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1" name="s3_dependence-dot-2"/>
          <p:cNvSpPr/>
          <p:nvPr/>
        </p:nvSpPr>
        <p:spPr>
          <a:xfrm>
            <a:off x="5475427" y="4914900"/>
            <a:ext cx="109728" cy="109728"/>
          </a:xfrm>
          <a:prstGeom prst="ellipse">
            <a:avLst/>
          </a:prstGeom>
          <a:solidFill>
            <a:srgbClr val="1F6FB2"/>
          </a:solidFill>
          <a:ln w="12700">
            <a:solidFill>
              <a:srgbClr val="1F6FB2"/>
            </a:solidFill>
            <a:prstDash val="solid"/>
          </a:ln>
        </p:spPr>
      </p:sp>
      <p:sp>
        <p:nvSpPr>
          <p:cNvPr id="22" name="s3_dependence-leg-2"/>
          <p:cNvSpPr txBox="1"/>
          <p:nvPr/>
        </p:nvSpPr>
        <p:spPr>
          <a:xfrm>
            <a:off x="563087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3" name="s3_dependence-dot-3"/>
          <p:cNvSpPr/>
          <p:nvPr/>
        </p:nvSpPr>
        <p:spPr>
          <a:xfrm>
            <a:off x="6468466" y="4914900"/>
            <a:ext cx="109728" cy="109728"/>
          </a:xfrm>
          <a:prstGeom prst="ellipse">
            <a:avLst/>
          </a:prstGeom>
          <a:solidFill>
            <a:srgbClr val="2E7D32"/>
          </a:solidFill>
          <a:ln w="12700">
            <a:solidFill>
              <a:srgbClr val="2E7D32"/>
            </a:solidFill>
            <a:prstDash val="solid"/>
          </a:ln>
        </p:spPr>
      </p:sp>
      <p:sp>
        <p:nvSpPr>
          <p:cNvPr id="24" name="s3_dependence-leg-3"/>
          <p:cNvSpPr txBox="1"/>
          <p:nvPr/>
        </p:nvSpPr>
        <p:spPr>
          <a:xfrm>
            <a:off x="662391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5" name="s3_dependence-dot-4"/>
          <p:cNvSpPr/>
          <p:nvPr/>
        </p:nvSpPr>
        <p:spPr>
          <a:xfrm>
            <a:off x="7659014" y="4914900"/>
            <a:ext cx="109728" cy="109728"/>
          </a:xfrm>
          <a:prstGeom prst="ellipse">
            <a:avLst/>
          </a:prstGeom>
          <a:solidFill>
            <a:srgbClr val="7B3FA0"/>
          </a:solidFill>
          <a:ln w="12700">
            <a:solidFill>
              <a:srgbClr val="7B3FA0"/>
            </a:solidFill>
            <a:prstDash val="solid"/>
          </a:ln>
        </p:spPr>
      </p:sp>
      <p:sp>
        <p:nvSpPr>
          <p:cNvPr id="26" name="s3_dependence-leg-4"/>
          <p:cNvSpPr txBox="1"/>
          <p:nvPr/>
        </p:nvSpPr>
        <p:spPr>
          <a:xfrm>
            <a:off x="781446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7" name="s3_dependence-dot-5"/>
          <p:cNvSpPr/>
          <p:nvPr/>
        </p:nvSpPr>
        <p:spPr>
          <a:xfrm>
            <a:off x="8981237" y="4914900"/>
            <a:ext cx="109728" cy="109728"/>
          </a:xfrm>
          <a:prstGeom prst="ellipse">
            <a:avLst/>
          </a:prstGeom>
          <a:solidFill>
            <a:srgbClr val="B3B2AE"/>
          </a:solidFill>
          <a:ln w="12700">
            <a:solidFill>
              <a:srgbClr val="B3B2AE"/>
            </a:solidFill>
            <a:prstDash val="solid"/>
          </a:ln>
        </p:spPr>
      </p:sp>
      <p:sp>
        <p:nvSpPr>
          <p:cNvPr id="28" name="s3_dependence-leg-5"/>
          <p:cNvSpPr txBox="1"/>
          <p:nvPr/>
        </p:nvSpPr>
        <p:spPr>
          <a:xfrm>
            <a:off x="913668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9" name="s3_dependence-key"/>
          <p:cNvSpPr txBox="1"/>
          <p:nvPr/>
        </p:nvSpPr>
        <p:spPr>
          <a:xfrm>
            <a:off x="3291840" y="5148072"/>
            <a:ext cx="836676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20 tests on this figure.   *** p&lt;0.001   ** p&lt;0.01   * p&lt;0.05   ns ≥ 0.05</a:t>
            </a:r>
            <a:endParaRPr lang="en-US" sz="900" dirty="0"/>
          </a:p>
        </p:txBody>
      </p:sp>
      <p:sp>
        <p:nvSpPr>
          <p:cNvPr id="30"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same shift in every class and on all three measures — strongest in Age Up and Exercise Down, absent only in Age Down</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Position is a dial, and a moved motif never replaces the original</a:t>
            </a:r>
            <a:endParaRPr lang="en-US" sz="2800" dirty="0"/>
          </a:p>
        </p:txBody>
      </p:sp>
      <p:sp>
        <p:nvSpPr>
          <p:cNvPr id="3" name="copy-title"/>
          <p:cNvSpPr txBox="1"/>
          <p:nvPr/>
        </p:nvSpPr>
        <p:spPr>
          <a:xfrm>
            <a:off x="502920" y="102412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Where the added copy works best</a:t>
            </a:r>
            <a:endParaRPr lang="en-US" sz="1250" dirty="0"/>
          </a:p>
        </p:txBody>
      </p:sp>
      <p:pic>
        <p:nvPicPr>
          <p:cNvPr id="4" name="Image 0" descr="/Users/z5162865/WongLab/AlphaGenome_Ap1/Analysis/slide_figures/panels/d_addcopy.png">    </p:cNvPr>
          <p:cNvPicPr>
            <a:picLocks noChangeAspect="1"/>
          </p:cNvPicPr>
          <p:nvPr/>
        </p:nvPicPr>
        <p:blipFill>
          <a:blip r:embed="rId1"/>
          <a:stretch>
            <a:fillRect/>
          </a:stretch>
        </p:blipFill>
        <p:spPr>
          <a:xfrm>
            <a:off x="709758" y="1325880"/>
            <a:ext cx="2420965" cy="1783080"/>
          </a:xfrm>
          <a:prstGeom prst="rect">
            <a:avLst/>
          </a:prstGeom>
        </p:spPr>
      </p:pic>
      <p:sp>
        <p:nvSpPr>
          <p:cNvPr id="5" name="move-title"/>
          <p:cNvSpPr txBox="1"/>
          <p:nvPr/>
        </p:nvSpPr>
        <p:spPr>
          <a:xfrm>
            <a:off x="502920" y="321868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...and where it lands when moved</a:t>
            </a:r>
            <a:endParaRPr lang="en-US" sz="1250" dirty="0"/>
          </a:p>
        </p:txBody>
      </p:sp>
      <p:pic>
        <p:nvPicPr>
          <p:cNvPr id="6" name="Image 1" descr="/Users/z5162865/WongLab/AlphaGenome_Ap1/Analysis/slide_figures/panels/d_relocate.png">    </p:cNvPr>
          <p:cNvPicPr>
            <a:picLocks noChangeAspect="1"/>
          </p:cNvPicPr>
          <p:nvPr/>
        </p:nvPicPr>
        <p:blipFill>
          <a:blip r:embed="rId2"/>
          <a:stretch>
            <a:fillRect/>
          </a:stretch>
        </p:blipFill>
        <p:spPr>
          <a:xfrm>
            <a:off x="662666" y="3520440"/>
            <a:ext cx="2515149" cy="1783080"/>
          </a:xfrm>
          <a:prstGeom prst="rect">
            <a:avLst/>
          </a:prstGeom>
        </p:spPr>
      </p:pic>
      <p:sp>
        <p:nvSpPr>
          <p:cNvPr id="7" name="curve-caption"/>
          <p:cNvSpPr txBox="1"/>
          <p:nvPr/>
        </p:nvSpPr>
        <p:spPr>
          <a:xfrm>
            <a:off x="502920" y="5349240"/>
            <a:ext cx="2926080" cy="457200"/>
          </a:xfrm>
          <a:prstGeom prst="rect">
            <a:avLst/>
          </a:prstGeom>
          <a:noFill/>
          <a:ln/>
        </p:spPr>
        <p:txBody>
          <a:bodyPr wrap="square" lIns="0" tIns="0" rIns="0" bIns="0" rtlCol="0" anchor="ctr"/>
          <a:lstStyle/>
          <a:p>
            <a:pPr indent="0" marL="0">
              <a:buNone/>
            </a:pPr>
            <a:r>
              <a:rPr lang="en-US" sz="950" dirty="0">
                <a:solidFill>
                  <a:srgbClr val="595959"/>
                </a:solidFill>
              </a:rPr>
              <a:t>both curves drawn once per class; colours as in the legend</a:t>
            </a:r>
            <a:endParaRPr lang="en-US" sz="950" dirty="0"/>
          </a:p>
        </p:txBody>
      </p:sp>
      <p:sp>
        <p:nvSpPr>
          <p:cNvPr id="8" name="s4_titration-title-0"/>
          <p:cNvSpPr txBox="1"/>
          <p:nvPr/>
        </p:nvSpPr>
        <p:spPr>
          <a:xfrm>
            <a:off x="4041648"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A second copy added</a:t>
            </a:r>
            <a:endParaRPr lang="en-US" sz="1250" dirty="0"/>
          </a:p>
        </p:txBody>
      </p:sp>
      <p:sp>
        <p:nvSpPr>
          <p:cNvPr id="9" name="s4_titration-sub-0"/>
          <p:cNvSpPr txBox="1"/>
          <p:nvPr/>
        </p:nvSpPr>
        <p:spPr>
          <a:xfrm>
            <a:off x="4041648"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net of a shuffled-sequence control</a:t>
            </a:r>
            <a:endParaRPr lang="en-US" sz="950" dirty="0"/>
          </a:p>
        </p:txBody>
      </p:sp>
      <p:pic>
        <p:nvPicPr>
          <p:cNvPr id="10" name="Image 2" descr="/Users/z5162865/WongLab/AlphaGenome_Ap1/Analysis/slide_figures/panels/s4_titration_c0_r0.png">    </p:cNvPr>
          <p:cNvPicPr>
            <a:picLocks noChangeAspect="1"/>
          </p:cNvPicPr>
          <p:nvPr/>
        </p:nvPicPr>
        <p:blipFill>
          <a:blip r:embed="rId3"/>
          <a:stretch>
            <a:fillRect/>
          </a:stretch>
        </p:blipFill>
        <p:spPr>
          <a:xfrm>
            <a:off x="4360316" y="1892808"/>
            <a:ext cx="3097987" cy="2816352"/>
          </a:xfrm>
          <a:prstGeom prst="rect">
            <a:avLst/>
          </a:prstGeom>
        </p:spPr>
      </p:pic>
      <p:sp>
        <p:nvSpPr>
          <p:cNvPr id="11" name="s4_titration-title-1"/>
          <p:cNvSpPr txBox="1"/>
          <p:nvPr/>
        </p:nvSpPr>
        <p:spPr>
          <a:xfrm>
            <a:off x="7850124"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The motif moved elsewhere</a:t>
            </a:r>
            <a:endParaRPr lang="en-US" sz="1250" dirty="0"/>
          </a:p>
        </p:txBody>
      </p:sp>
      <p:sp>
        <p:nvSpPr>
          <p:cNvPr id="12" name="s4_titration-sub-1"/>
          <p:cNvSpPr txBox="1"/>
          <p:nvPr/>
        </p:nvSpPr>
        <p:spPr>
          <a:xfrm>
            <a:off x="7850124"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the motif destroyed and re-inserted, net of the same control</a:t>
            </a:r>
            <a:endParaRPr lang="en-US" sz="950" dirty="0"/>
          </a:p>
        </p:txBody>
      </p:sp>
      <p:pic>
        <p:nvPicPr>
          <p:cNvPr id="13" name="Image 3" descr="/Users/z5162865/WongLab/AlphaGenome_Ap1/Analysis/slide_figures/panels/s4_titration_c1_r0.png">    </p:cNvPr>
          <p:cNvPicPr>
            <a:picLocks noChangeAspect="1"/>
          </p:cNvPicPr>
          <p:nvPr/>
        </p:nvPicPr>
        <p:blipFill>
          <a:blip r:embed="rId4"/>
          <a:stretch>
            <a:fillRect/>
          </a:stretch>
        </p:blipFill>
        <p:spPr>
          <a:xfrm>
            <a:off x="8168792" y="1892808"/>
            <a:ext cx="3097987" cy="2816352"/>
          </a:xfrm>
          <a:prstGeom prst="rect">
            <a:avLst/>
          </a:prstGeom>
        </p:spPr>
      </p:pic>
      <p:sp>
        <p:nvSpPr>
          <p:cNvPr id="14" name="s4_titration-dot-0"/>
          <p:cNvSpPr/>
          <p:nvPr/>
        </p:nvSpPr>
        <p:spPr>
          <a:xfrm>
            <a:off x="3931920" y="4914900"/>
            <a:ext cx="109728" cy="109728"/>
          </a:xfrm>
          <a:prstGeom prst="ellipse">
            <a:avLst/>
          </a:prstGeom>
          <a:solidFill>
            <a:srgbClr val="4F4F4F"/>
          </a:solidFill>
          <a:ln w="12700">
            <a:solidFill>
              <a:srgbClr val="4F4F4F"/>
            </a:solidFill>
            <a:prstDash val="solid"/>
          </a:ln>
        </p:spPr>
      </p:sp>
      <p:sp>
        <p:nvSpPr>
          <p:cNvPr id="15" name="s4_titration-leg-0"/>
          <p:cNvSpPr txBox="1"/>
          <p:nvPr/>
        </p:nvSpPr>
        <p:spPr>
          <a:xfrm>
            <a:off x="408736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6" name="s4_titration-dot-1"/>
          <p:cNvSpPr/>
          <p:nvPr/>
        </p:nvSpPr>
        <p:spPr>
          <a:xfrm>
            <a:off x="5254142" y="4914900"/>
            <a:ext cx="109728" cy="109728"/>
          </a:xfrm>
          <a:prstGeom prst="ellipse">
            <a:avLst/>
          </a:prstGeom>
          <a:solidFill>
            <a:srgbClr val="C2551C"/>
          </a:solidFill>
          <a:ln w="12700">
            <a:solidFill>
              <a:srgbClr val="C2551C"/>
            </a:solidFill>
            <a:prstDash val="solid"/>
          </a:ln>
        </p:spPr>
      </p:sp>
      <p:sp>
        <p:nvSpPr>
          <p:cNvPr id="17" name="s4_titration-leg-1"/>
          <p:cNvSpPr txBox="1"/>
          <p:nvPr/>
        </p:nvSpPr>
        <p:spPr>
          <a:xfrm>
            <a:off x="540959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8" name="s4_titration-dot-2"/>
          <p:cNvSpPr/>
          <p:nvPr/>
        </p:nvSpPr>
        <p:spPr>
          <a:xfrm>
            <a:off x="6115507" y="4914900"/>
            <a:ext cx="109728" cy="109728"/>
          </a:xfrm>
          <a:prstGeom prst="ellipse">
            <a:avLst/>
          </a:prstGeom>
          <a:solidFill>
            <a:srgbClr val="1F6FB2"/>
          </a:solidFill>
          <a:ln w="12700">
            <a:solidFill>
              <a:srgbClr val="1F6FB2"/>
            </a:solidFill>
            <a:prstDash val="solid"/>
          </a:ln>
        </p:spPr>
      </p:sp>
      <p:sp>
        <p:nvSpPr>
          <p:cNvPr id="19" name="s4_titration-leg-2"/>
          <p:cNvSpPr txBox="1"/>
          <p:nvPr/>
        </p:nvSpPr>
        <p:spPr>
          <a:xfrm>
            <a:off x="627095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0" name="s4_titration-dot-3"/>
          <p:cNvSpPr/>
          <p:nvPr/>
        </p:nvSpPr>
        <p:spPr>
          <a:xfrm>
            <a:off x="7108546" y="4914900"/>
            <a:ext cx="109728" cy="109728"/>
          </a:xfrm>
          <a:prstGeom prst="ellipse">
            <a:avLst/>
          </a:prstGeom>
          <a:solidFill>
            <a:srgbClr val="2E7D32"/>
          </a:solidFill>
          <a:ln w="12700">
            <a:solidFill>
              <a:srgbClr val="2E7D32"/>
            </a:solidFill>
            <a:prstDash val="solid"/>
          </a:ln>
        </p:spPr>
      </p:sp>
      <p:sp>
        <p:nvSpPr>
          <p:cNvPr id="21" name="s4_titration-leg-3"/>
          <p:cNvSpPr txBox="1"/>
          <p:nvPr/>
        </p:nvSpPr>
        <p:spPr>
          <a:xfrm>
            <a:off x="726399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2" name="s4_titration-dot-4"/>
          <p:cNvSpPr/>
          <p:nvPr/>
        </p:nvSpPr>
        <p:spPr>
          <a:xfrm>
            <a:off x="8299094" y="4914900"/>
            <a:ext cx="109728" cy="109728"/>
          </a:xfrm>
          <a:prstGeom prst="ellipse">
            <a:avLst/>
          </a:prstGeom>
          <a:solidFill>
            <a:srgbClr val="7B3FA0"/>
          </a:solidFill>
          <a:ln w="12700">
            <a:solidFill>
              <a:srgbClr val="7B3FA0"/>
            </a:solidFill>
            <a:prstDash val="solid"/>
          </a:ln>
        </p:spPr>
      </p:sp>
      <p:sp>
        <p:nvSpPr>
          <p:cNvPr id="23" name="s4_titration-leg-4"/>
          <p:cNvSpPr txBox="1"/>
          <p:nvPr/>
        </p:nvSpPr>
        <p:spPr>
          <a:xfrm>
            <a:off x="845454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4" name="s4_titration-dot-5"/>
          <p:cNvSpPr/>
          <p:nvPr/>
        </p:nvSpPr>
        <p:spPr>
          <a:xfrm>
            <a:off x="9621317" y="4914900"/>
            <a:ext cx="109728" cy="109728"/>
          </a:xfrm>
          <a:prstGeom prst="ellipse">
            <a:avLst/>
          </a:prstGeom>
          <a:solidFill>
            <a:srgbClr val="B3B2AE"/>
          </a:solidFill>
          <a:ln w="12700">
            <a:solidFill>
              <a:srgbClr val="B3B2AE"/>
            </a:solidFill>
            <a:prstDash val="solid"/>
          </a:ln>
        </p:spPr>
      </p:sp>
      <p:sp>
        <p:nvSpPr>
          <p:cNvPr id="25" name="s4_titration-leg-5"/>
          <p:cNvSpPr txBox="1"/>
          <p:nvPr/>
        </p:nvSpPr>
        <p:spPr>
          <a:xfrm>
            <a:off x="977676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6" name="s4_titration-key"/>
          <p:cNvSpPr txBox="1"/>
          <p:nvPr/>
        </p:nvSpPr>
        <p:spPr>
          <a:xfrm>
            <a:off x="3931920" y="5148072"/>
            <a:ext cx="7726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10 tests on this figure.   *** p&lt;0.001   ** p&lt;0.01   * p&lt;0.05   ns ≥ 0.05</a:t>
            </a:r>
            <a:endParaRPr lang="en-US" sz="900" dirty="0"/>
          </a:p>
        </p:txBody>
      </p:sp>
      <p:sp>
        <p:nvSpPr>
          <p:cNvPr id="27"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 second copy is worth most at ±20–40 bp and a moved motif recovers only a third of what destroying it cost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sp>
        <p:nvSpPr>
          <p:cNvPr id="3" name="ag-t1"/>
          <p:cNvSpPr txBox="1"/>
          <p:nvPr/>
        </p:nvSpPr>
        <p:spPr>
          <a:xfrm>
            <a:off x="731520" y="1051560"/>
            <a:ext cx="7315200" cy="292608"/>
          </a:xfrm>
          <a:prstGeom prst="rect">
            <a:avLst/>
          </a:prstGeom>
          <a:noFill/>
          <a:ln/>
        </p:spPr>
        <p:txBody>
          <a:bodyPr wrap="square" lIns="0" tIns="0" rIns="0" bIns="0" rtlCol="0" anchor="ctr"/>
          <a:lstStyle/>
          <a:p>
            <a:pPr indent="0" marL="0">
              <a:buNone/>
            </a:pPr>
            <a:r>
              <a:rPr lang="en-US" sz="1350" b="1" dirty="0">
                <a:solidFill>
                  <a:srgbClr val="111111"/>
                </a:solidFill>
              </a:rPr>
              <a:t>Age-gained sites respond more to AP-1 dosage, both ways</a:t>
            </a:r>
            <a:endParaRPr lang="en-US" sz="1350" dirty="0"/>
          </a:p>
        </p:txBody>
      </p:sp>
      <p:sp>
        <p:nvSpPr>
          <p:cNvPr id="4" name="ag-s1"/>
          <p:cNvSpPr txBox="1"/>
          <p:nvPr/>
        </p:nvSpPr>
        <p:spPr>
          <a:xfrm>
            <a:off x="731520" y="1344168"/>
            <a:ext cx="7315200" cy="292608"/>
          </a:xfrm>
          <a:prstGeom prst="rect">
            <a:avLst/>
          </a:prstGeom>
          <a:noFill/>
          <a:ln/>
        </p:spPr>
        <p:txBody>
          <a:bodyPr wrap="square" lIns="0" tIns="0" rIns="0" bIns="0" rtlCol="0" anchor="ctr"/>
          <a:lstStyle/>
          <a:p>
            <a:pPr indent="0" marL="0">
              <a:buNone/>
            </a:pPr>
            <a:r>
              <a:rPr lang="en-US" sz="1050" dirty="0">
                <a:solidFill>
                  <a:srgbClr val="595959"/>
                </a:solidFill>
              </a:rPr>
              <a:t>Δscore definition: the top fifth of the change in TOBIAS binding score with age, against matched Unchanged sites</a:t>
            </a:r>
            <a:endParaRPr lang="en-US" sz="1050" dirty="0"/>
          </a:p>
        </p:txBody>
      </p:sp>
      <p:pic>
        <p:nvPicPr>
          <p:cNvPr id="5" name="Image 0" descr="/Users/z5162865/WongLab/AlphaGenome_Ap1/Analysis/slide_figures/panels/s5_age_gained.png">    </p:cNvPr>
          <p:cNvPicPr>
            <a:picLocks noChangeAspect="1"/>
          </p:cNvPicPr>
          <p:nvPr/>
        </p:nvPicPr>
        <p:blipFill>
          <a:blip r:embed="rId1"/>
          <a:stretch>
            <a:fillRect/>
          </a:stretch>
        </p:blipFill>
        <p:spPr>
          <a:xfrm>
            <a:off x="1429175" y="1737360"/>
            <a:ext cx="5919890" cy="3017520"/>
          </a:xfrm>
          <a:prstGeom prst="rect">
            <a:avLst/>
          </a:prstGeom>
        </p:spPr>
      </p:pic>
      <p:sp>
        <p:nvSpPr>
          <p:cNvPr id="6" name="lg-dot-5.3-0"/>
          <p:cNvSpPr/>
          <p:nvPr/>
        </p:nvSpPr>
        <p:spPr>
          <a:xfrm>
            <a:off x="731520" y="4887468"/>
            <a:ext cx="109728" cy="109728"/>
          </a:xfrm>
          <a:prstGeom prst="ellipse">
            <a:avLst/>
          </a:prstGeom>
          <a:solidFill>
            <a:srgbClr val="B3B2AE"/>
          </a:solidFill>
          <a:ln w="12700">
            <a:solidFill>
              <a:srgbClr val="B3B2AE"/>
            </a:solidFill>
            <a:prstDash val="solid"/>
          </a:ln>
        </p:spPr>
      </p:sp>
      <p:sp>
        <p:nvSpPr>
          <p:cNvPr id="7" name="lg-txt-5.3-0"/>
          <p:cNvSpPr txBox="1"/>
          <p:nvPr/>
        </p:nvSpPr>
        <p:spPr>
          <a:xfrm>
            <a:off x="886968" y="4846320"/>
            <a:ext cx="1320394" cy="201168"/>
          </a:xfrm>
          <a:prstGeom prst="rect">
            <a:avLst/>
          </a:prstGeom>
          <a:noFill/>
          <a:ln/>
        </p:spPr>
        <p:txBody>
          <a:bodyPr wrap="square" lIns="0" tIns="0" rIns="0" bIns="0" rtlCol="0" anchor="ctr"/>
          <a:lstStyle/>
          <a:p>
            <a:pPr indent="0" marL="0">
              <a:buNone/>
            </a:pPr>
            <a:r>
              <a:rPr lang="en-US" sz="1050" dirty="0">
                <a:solidFill>
                  <a:srgbClr val="111111"/>
                </a:solidFill>
              </a:rPr>
              <a:t>Matched Unchanged</a:t>
            </a:r>
            <a:endParaRPr lang="en-US" sz="1050" dirty="0"/>
          </a:p>
        </p:txBody>
      </p:sp>
      <p:sp>
        <p:nvSpPr>
          <p:cNvPr id="8" name="lg-dot-5.3-1"/>
          <p:cNvSpPr/>
          <p:nvPr/>
        </p:nvSpPr>
        <p:spPr>
          <a:xfrm>
            <a:off x="2317090" y="4887468"/>
            <a:ext cx="109728" cy="109728"/>
          </a:xfrm>
          <a:prstGeom prst="ellipse">
            <a:avLst/>
          </a:prstGeom>
          <a:solidFill>
            <a:srgbClr val="C2551C"/>
          </a:solidFill>
          <a:ln w="12700">
            <a:solidFill>
              <a:srgbClr val="C2551C"/>
            </a:solidFill>
            <a:prstDash val="solid"/>
          </a:ln>
        </p:spPr>
      </p:sp>
      <p:sp>
        <p:nvSpPr>
          <p:cNvPr id="9" name="lg-txt-5.3-1"/>
          <p:cNvSpPr txBox="1"/>
          <p:nvPr/>
        </p:nvSpPr>
        <p:spPr>
          <a:xfrm>
            <a:off x="2472538" y="4846320"/>
            <a:ext cx="1452067" cy="201168"/>
          </a:xfrm>
          <a:prstGeom prst="rect">
            <a:avLst/>
          </a:prstGeom>
          <a:noFill/>
          <a:ln/>
        </p:spPr>
        <p:txBody>
          <a:bodyPr wrap="square" lIns="0" tIns="0" rIns="0" bIns="0" rtlCol="0" anchor="ctr"/>
          <a:lstStyle/>
          <a:p>
            <a:pPr indent="0" marL="0">
              <a:buNone/>
            </a:pPr>
            <a:r>
              <a:rPr lang="en-US" sz="1050" dirty="0">
                <a:solidFill>
                  <a:srgbClr val="111111"/>
                </a:solidFill>
              </a:rPr>
              <a:t>Age-gained (Δscore)</a:t>
            </a:r>
            <a:endParaRPr lang="en-US" sz="1050" dirty="0"/>
          </a:p>
        </p:txBody>
      </p:sp>
      <p:sp>
        <p:nvSpPr>
          <p:cNvPr id="10"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1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sp>
        <p:nvSpPr>
          <p:cNvPr id="3" name="mp-t1"/>
          <p:cNvSpPr txBox="1"/>
          <p:nvPr/>
        </p:nvSpPr>
        <p:spPr>
          <a:xfrm>
            <a:off x="731520" y="2331720"/>
            <a:ext cx="4937760" cy="274320"/>
          </a:xfrm>
          <a:prstGeom prst="rect">
            <a:avLst/>
          </a:prstGeom>
          <a:noFill/>
          <a:ln/>
        </p:spPr>
        <p:txBody>
          <a:bodyPr wrap="square" lIns="0" tIns="0" rIns="0" bIns="0" rtlCol="0" anchor="ctr"/>
          <a:lstStyle/>
          <a:p>
            <a:pPr indent="0" marL="0">
              <a:buNone/>
            </a:pPr>
            <a:r>
              <a:rPr lang="en-US" sz="1300" b="1" dirty="0">
                <a:solidFill>
                  <a:srgbClr val="111111"/>
                </a:solidFill>
              </a:rPr>
              <a:t>Same answer: the motif is a small part</a:t>
            </a:r>
            <a:endParaRPr lang="en-US" sz="1300" dirty="0"/>
          </a:p>
        </p:txBody>
      </p:sp>
      <p:pic>
        <p:nvPicPr>
          <p:cNvPr id="4" name="Image 0" descr="/Users/z5162865/WongLab/AlphaGenome_Ap1/Analysis/slide_figures/panels/s6_share.png">    </p:cNvPr>
          <p:cNvPicPr>
            <a:picLocks noChangeAspect="1"/>
          </p:cNvPicPr>
          <p:nvPr/>
        </p:nvPicPr>
        <p:blipFill>
          <a:blip r:embed="rId1"/>
          <a:stretch>
            <a:fillRect/>
          </a:stretch>
        </p:blipFill>
        <p:spPr>
          <a:xfrm>
            <a:off x="1352676" y="2651760"/>
            <a:ext cx="3695447" cy="2651760"/>
          </a:xfrm>
          <a:prstGeom prst="rect">
            <a:avLst/>
          </a:prstGeom>
        </p:spPr>
      </p:pic>
      <p:sp>
        <p:nvSpPr>
          <p:cNvPr id="5" name="mp-t2"/>
          <p:cNvSpPr txBox="1"/>
          <p:nvPr/>
        </p:nvSpPr>
        <p:spPr>
          <a:xfrm>
            <a:off x="6309360" y="2331720"/>
            <a:ext cx="5120640" cy="274320"/>
          </a:xfrm>
          <a:prstGeom prst="rect">
            <a:avLst/>
          </a:prstGeom>
          <a:noFill/>
          <a:ln/>
        </p:spPr>
        <p:txBody>
          <a:bodyPr wrap="square" lIns="0" tIns="0" rIns="0" bIns="0" rtlCol="0" anchor="ctr"/>
          <a:lstStyle/>
          <a:p>
            <a:pPr indent="0" marL="0">
              <a:buNone/>
            </a:pPr>
            <a:r>
              <a:rPr lang="en-US" sz="1300" b="1" dirty="0">
                <a:solidFill>
                  <a:srgbClr val="111111"/>
                </a:solidFill>
              </a:rPr>
              <a:t>But they disagree on which elements depend more</a:t>
            </a:r>
            <a:endParaRPr lang="en-US" sz="1300" dirty="0"/>
          </a:p>
        </p:txBody>
      </p:sp>
      <p:pic>
        <p:nvPicPr>
          <p:cNvPr id="6" name="Image 1" descr="/Users/z5162865/WongLab/AlphaGenome_Ap1/Analysis/slide_figures/panels/s6_direction.png">    </p:cNvPr>
          <p:cNvPicPr>
            <a:picLocks noChangeAspect="1"/>
          </p:cNvPicPr>
          <p:nvPr/>
        </p:nvPicPr>
        <p:blipFill>
          <a:blip r:embed="rId2"/>
          <a:stretch>
            <a:fillRect/>
          </a:stretch>
        </p:blipFill>
        <p:spPr>
          <a:xfrm>
            <a:off x="7044645" y="2651760"/>
            <a:ext cx="3650070" cy="2651760"/>
          </a:xfrm>
          <a:prstGeom prst="rect">
            <a:avLst/>
          </a:prstGeom>
        </p:spPr>
      </p:pic>
      <p:sp>
        <p:nvSpPr>
          <p:cNvPr id="7" name="mp-key"/>
          <p:cNvSpPr txBox="1"/>
          <p:nvPr/>
        </p:nvSpPr>
        <p:spPr>
          <a:xfrm>
            <a:off x="731520" y="5349240"/>
            <a:ext cx="10698480" cy="274320"/>
          </a:xfrm>
          <a:prstGeom prst="rect">
            <a:avLst/>
          </a:prstGeom>
          <a:noFill/>
          <a:ln/>
        </p:spPr>
        <p:txBody>
          <a:bodyPr wrap="square" lIns="0" tIns="0" rIns="0" bIns="0" rtlCol="0" anchor="ctr"/>
          <a:lstStyle/>
          <a:p>
            <a:pPr indent="0" marL="0">
              <a:buNone/>
            </a:pPr>
            <a:r>
              <a:rPr lang="en-US" sz="950" dirty="0">
                <a:solidFill>
                  <a:srgbClr val="595959"/>
                </a:solidFill>
              </a:rPr>
              <a:t>below 1×: responsive elements lose less than Stable ones   ·   above 1×: they lose more   ·   both p &lt; 0.001</a:t>
            </a:r>
            <a:endParaRPr lang="en-US" sz="950" dirty="0"/>
          </a:p>
        </p:txBody>
      </p:sp>
      <p:sp>
        <p:nvSpPr>
          <p:cNvPr id="8"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9" name="Text 5"/>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10" name="Text 6"/>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11"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12" name="Text 8"/>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13" name="Text 9"/>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2026-10-23T01:22:24Z</dcterms:created>
  <dcterms:modified xsi:type="dcterms:W3CDTF">2026-10-23T01:22:24Z</dcterms:modified>
</cp:coreProperties>
</file>