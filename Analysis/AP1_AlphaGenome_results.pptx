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4db3d7-22e7-10d6-2505-8d49fb1ea033}">
          <p14:sldIdLst>
            <p14:sldId id="256"/>
          </p14:sldIdLst>
        </p14:section>
        <p14:section name="Design" id="{080ae629-67bb-fef2-95cc-fb9184ce68d2}">
          <p14:sldIdLst>
            <p14:sldId id="257"/>
            <p14:sldId id="258"/>
            <p14:sldId id="259"/>
          </p14:sldIdLst>
        </p14:section>
        <p14:section name="Findings" id="{86cc99e6-2e11-4d3c-d21c-5c0f12d4359f}">
          <p14:sldIdLst>
            <p14:sldId id="260"/>
            <p14:sldId id="261"/>
            <p14:sldId id="262"/>
            <p14:sldId id="263"/>
            <p14:sldId id="264"/>
            <p14:sldId id="265"/>
            <p14:sldId id="266"/>
            <p14:sldId id="267"/>
            <p14:sldId id="268"/>
            <p14:sldId id="269"/>
          </p14:sldIdLst>
        </p14:section>
        <p14:section name="Conclusion" id="{9c43fa31-9e8e-3214-85d5-c61e7b6a6edf}">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demonstration, not a result: this element was chosen for legibility, not because it is typical. The footprint lane is what lets a window be attributed to a factor; families are stacked into lanes only where their footprints would otherwise overlap. The same scan is also read over the 11 bp motif and over the whole peak, and the titration and single-base experiments run on the same 3,678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profiles on the left are what the four measures are read off. At the core (within 15 bp) every class loses less than Stable sites do: Age Down 0.73x, Exercise Up 0.76x, Exercise Down 0.78x, Dynamic 0.80x, Age Up 0.90x, all FDR &lt;= 0.016. Normalised to each site’s own total, the core share is barely different (0.93-1.00) but the flank share beyond 85 bp is higher in Age Up 1.31x, Exercise Down 1.29x and Dynamic 1.21x, all FDR &lt;= 0.0002, while Age Down is 0.99x. So Age Down is not a redistribution, it is a weaker element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thing at one real element</a:t>
            </a:r>
            <a:endParaRPr lang="en-US" sz="2800" dirty="0"/>
          </a:p>
        </p:txBody>
      </p:sp>
      <p:sp>
        <p:nvSpPr>
          <p:cNvPr id="3" name="ml-intro"/>
          <p:cNvSpPr txBox="1"/>
          <p:nvPr/>
        </p:nvSpPr>
        <p:spPr>
          <a:xfrm>
            <a:off x="731520" y="1024128"/>
            <a:ext cx="10881360" cy="475488"/>
          </a:xfrm>
          <a:prstGeom prst="rect">
            <a:avLst/>
          </a:prstGeom>
          <a:noFill/>
          <a:ln/>
        </p:spPr>
        <p:txBody>
          <a:bodyPr wrap="square" lIns="0" tIns="0" rIns="0" bIns="0" rtlCol="0" anchor="ctr"/>
          <a:lstStyle/>
          <a:p>
            <a:pPr indent="0" marL="0">
              <a:buNone/>
            </a:pPr>
            <a:r>
              <a:rPr lang="en-US" sz="1150" dirty="0">
                <a:solidFill>
                  <a:srgbClr val="595959"/>
                </a:solidFill>
              </a:rPr>
              <a:t>Every 10 bp window from −300 to +300 bp is replaced by random bases in turn, three times, and the bar is what the prediction loses over the surrounding 170 bp. Gold is the called AP-1 motif. The lane below is every other footprinted motif TOBIAS calls in this element, which is what the windows are read against.</a:t>
            </a:r>
            <a:endParaRPr lang="en-US" sz="1150" dirty="0"/>
          </a:p>
        </p:txBody>
      </p:sp>
      <p:pic>
        <p:nvPicPr>
          <p:cNvPr id="4" name="Image 0" descr="/Users/z5162865/WongLab/AlphaGenome_Ap1/Analysis/slide_figures/panels/s11_method_locus.png">    </p:cNvPr>
          <p:cNvPicPr>
            <a:picLocks noChangeAspect="1"/>
          </p:cNvPicPr>
          <p:nvPr/>
        </p:nvPicPr>
        <p:blipFill>
          <a:blip r:embed="rId1"/>
          <a:stretch>
            <a:fillRect/>
          </a:stretch>
        </p:blipFill>
        <p:spPr>
          <a:xfrm>
            <a:off x="594360" y="1737360"/>
            <a:ext cx="10972800" cy="3200400"/>
          </a:xfrm>
          <a:prstGeom prst="rect">
            <a:avLst/>
          </a:prstGeom>
        </p:spPr>
      </p:pic>
      <p:sp>
        <p:nvSpPr>
          <p:cNvPr id="5" name="ml-cap"/>
          <p:cNvSpPr txBox="1"/>
          <p:nvPr/>
        </p:nvSpPr>
        <p:spPr>
          <a:xfrm>
            <a:off x="731520" y="5074920"/>
            <a:ext cx="10881360" cy="274320"/>
          </a:xfrm>
          <a:prstGeom prst="rect">
            <a:avLst/>
          </a:prstGeom>
          <a:noFill/>
          <a:ln/>
        </p:spPr>
        <p:txBody>
          <a:bodyPr wrap="square" lIns="0" tIns="0" rIns="0" bIns="0" rtlCol="0" anchor="ctr"/>
          <a:lstStyle/>
          <a:p>
            <a:pPr indent="0" marL="0">
              <a:buNone/>
            </a:pPr>
            <a:r>
              <a:rPr lang="en-US" sz="1050" dirty="0">
                <a:solidFill>
                  <a:srgbClr val="111111"/>
                </a:solidFill>
              </a:rPr>
              <a:t>chr14:77,485,003 · a Stable cardiomyocyte AP-1 site · the motif window costs −1.71, the deepest of the 60</a:t>
            </a:r>
            <a:endParaRPr lang="en-US" sz="105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element, 60 windows, five footprinted families — everything that follows is this, repeated over 3,678 sites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s2_matched_null-title-0"/>
          <p:cNvSpPr txBox="1"/>
          <p:nvPr/>
        </p:nvSpPr>
        <p:spPr>
          <a:xfrm>
            <a:off x="612648"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612648"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612648" y="2079013"/>
            <a:ext cx="2688336" cy="2443942"/>
          </a:xfrm>
          <a:prstGeom prst="rect">
            <a:avLst/>
          </a:prstGeom>
        </p:spPr>
      </p:pic>
      <p:sp>
        <p:nvSpPr>
          <p:cNvPr id="6" name="s2_matched_null-title-1"/>
          <p:cNvSpPr txBox="1"/>
          <p:nvPr/>
        </p:nvSpPr>
        <p:spPr>
          <a:xfrm>
            <a:off x="3374136"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7" name="s2_matched_null-sub-1"/>
          <p:cNvSpPr txBox="1"/>
          <p:nvPr/>
        </p:nvSpPr>
        <p:spPr>
          <a:xfrm>
            <a:off x="3374136"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8" name="Image 1" descr="/Users/z5162865/WongLab/AlphaGenome_Ap1/Analysis/slide_figures/panels/s2_matched_null_c1_r0.png">    </p:cNvPr>
          <p:cNvPicPr>
            <a:picLocks noChangeAspect="1"/>
          </p:cNvPicPr>
          <p:nvPr/>
        </p:nvPicPr>
        <p:blipFill>
          <a:blip r:embed="rId2"/>
          <a:stretch>
            <a:fillRect/>
          </a:stretch>
        </p:blipFill>
        <p:spPr>
          <a:xfrm>
            <a:off x="3374136" y="2079013"/>
            <a:ext cx="2688336" cy="2443942"/>
          </a:xfrm>
          <a:prstGeom prst="rect">
            <a:avLst/>
          </a:prstGeom>
        </p:spPr>
      </p:pic>
      <p:sp>
        <p:nvSpPr>
          <p:cNvPr id="9" name="s2_matched_null-title-2"/>
          <p:cNvSpPr txBox="1"/>
          <p:nvPr/>
        </p:nvSpPr>
        <p:spPr>
          <a:xfrm>
            <a:off x="6135624"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0" name="s2_matched_null-sub-2"/>
          <p:cNvSpPr txBox="1"/>
          <p:nvPr/>
        </p:nvSpPr>
        <p:spPr>
          <a:xfrm>
            <a:off x="6135624"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1" name="Image 2" descr="/Users/z5162865/WongLab/AlphaGenome_Ap1/Analysis/slide_figures/panels/s2_matched_null_c2_r0.png">    </p:cNvPr>
          <p:cNvPicPr>
            <a:picLocks noChangeAspect="1"/>
          </p:cNvPicPr>
          <p:nvPr/>
        </p:nvPicPr>
        <p:blipFill>
          <a:blip r:embed="rId3"/>
          <a:stretch>
            <a:fillRect/>
          </a:stretch>
        </p:blipFill>
        <p:spPr>
          <a:xfrm>
            <a:off x="6135624" y="2079013"/>
            <a:ext cx="2688336" cy="2443942"/>
          </a:xfrm>
          <a:prstGeom prst="rect">
            <a:avLst/>
          </a:prstGeom>
        </p:spPr>
      </p:pic>
      <p:sp>
        <p:nvSpPr>
          <p:cNvPr id="12" name="s2_matched_null-title-3"/>
          <p:cNvSpPr txBox="1"/>
          <p:nvPr/>
        </p:nvSpPr>
        <p:spPr>
          <a:xfrm>
            <a:off x="8897112"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3" name="s2_matched_null-sub-3"/>
          <p:cNvSpPr txBox="1"/>
          <p:nvPr/>
        </p:nvSpPr>
        <p:spPr>
          <a:xfrm>
            <a:off x="8897112"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4" name="Image 3" descr="/Users/z5162865/WongLab/AlphaGenome_Ap1/Analysis/slide_figures/panels/s2_matched_null_c3_r0.png">    </p:cNvPr>
          <p:cNvPicPr>
            <a:picLocks noChangeAspect="1"/>
          </p:cNvPicPr>
          <p:nvPr/>
        </p:nvPicPr>
        <p:blipFill>
          <a:blip r:embed="rId4"/>
          <a:stretch>
            <a:fillRect/>
          </a:stretch>
        </p:blipFill>
        <p:spPr>
          <a:xfrm>
            <a:off x="8897112" y="2079013"/>
            <a:ext cx="2688336" cy="2443942"/>
          </a:xfrm>
          <a:prstGeom prst="rect">
            <a:avLst/>
          </a:prstGeom>
        </p:spPr>
      </p:pic>
      <p:sp>
        <p:nvSpPr>
          <p:cNvPr id="15" name="s2_matched_null-dot-0"/>
          <p:cNvSpPr/>
          <p:nvPr/>
        </p:nvSpPr>
        <p:spPr>
          <a:xfrm>
            <a:off x="502920" y="4914900"/>
            <a:ext cx="109728" cy="109728"/>
          </a:xfrm>
          <a:prstGeom prst="ellipse">
            <a:avLst/>
          </a:prstGeom>
          <a:solidFill>
            <a:srgbClr val="4F4F4F"/>
          </a:solidFill>
          <a:ln w="12700">
            <a:solidFill>
              <a:srgbClr val="4F4F4F"/>
            </a:solidFill>
            <a:prstDash val="solid"/>
          </a:ln>
        </p:spPr>
      </p:sp>
      <p:sp>
        <p:nvSpPr>
          <p:cNvPr id="16" name="s2_matched_null-leg-0"/>
          <p:cNvSpPr txBox="1"/>
          <p:nvPr/>
        </p:nvSpPr>
        <p:spPr>
          <a:xfrm>
            <a:off x="658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2_matched_null-dot-1"/>
          <p:cNvSpPr/>
          <p:nvPr/>
        </p:nvSpPr>
        <p:spPr>
          <a:xfrm>
            <a:off x="1825142" y="4914900"/>
            <a:ext cx="109728" cy="109728"/>
          </a:xfrm>
          <a:prstGeom prst="ellipse">
            <a:avLst/>
          </a:prstGeom>
          <a:solidFill>
            <a:srgbClr val="C2551C"/>
          </a:solidFill>
          <a:ln w="12700">
            <a:solidFill>
              <a:srgbClr val="C2551C"/>
            </a:solidFill>
            <a:prstDash val="solid"/>
          </a:ln>
        </p:spPr>
      </p:sp>
      <p:sp>
        <p:nvSpPr>
          <p:cNvPr id="18" name="s2_matched_null-leg-1"/>
          <p:cNvSpPr txBox="1"/>
          <p:nvPr/>
        </p:nvSpPr>
        <p:spPr>
          <a:xfrm>
            <a:off x="1980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2_matched_null-dot-2"/>
          <p:cNvSpPr/>
          <p:nvPr/>
        </p:nvSpPr>
        <p:spPr>
          <a:xfrm>
            <a:off x="2686507" y="4914900"/>
            <a:ext cx="109728" cy="109728"/>
          </a:xfrm>
          <a:prstGeom prst="ellipse">
            <a:avLst/>
          </a:prstGeom>
          <a:solidFill>
            <a:srgbClr val="1F6FB2"/>
          </a:solidFill>
          <a:ln w="12700">
            <a:solidFill>
              <a:srgbClr val="1F6FB2"/>
            </a:solidFill>
            <a:prstDash val="solid"/>
          </a:ln>
        </p:spPr>
      </p:sp>
      <p:sp>
        <p:nvSpPr>
          <p:cNvPr id="20" name="s2_matched_null-leg-2"/>
          <p:cNvSpPr txBox="1"/>
          <p:nvPr/>
        </p:nvSpPr>
        <p:spPr>
          <a:xfrm>
            <a:off x="2841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2_matched_null-dot-3"/>
          <p:cNvSpPr/>
          <p:nvPr/>
        </p:nvSpPr>
        <p:spPr>
          <a:xfrm>
            <a:off x="3679546" y="4914900"/>
            <a:ext cx="109728" cy="109728"/>
          </a:xfrm>
          <a:prstGeom prst="ellipse">
            <a:avLst/>
          </a:prstGeom>
          <a:solidFill>
            <a:srgbClr val="2E7D32"/>
          </a:solidFill>
          <a:ln w="12700">
            <a:solidFill>
              <a:srgbClr val="2E7D32"/>
            </a:solidFill>
            <a:prstDash val="solid"/>
          </a:ln>
        </p:spPr>
      </p:sp>
      <p:sp>
        <p:nvSpPr>
          <p:cNvPr id="22" name="s2_matched_null-leg-3"/>
          <p:cNvSpPr txBox="1"/>
          <p:nvPr/>
        </p:nvSpPr>
        <p:spPr>
          <a:xfrm>
            <a:off x="3834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2_matched_null-dot-4"/>
          <p:cNvSpPr/>
          <p:nvPr/>
        </p:nvSpPr>
        <p:spPr>
          <a:xfrm>
            <a:off x="4870094" y="4914900"/>
            <a:ext cx="109728" cy="109728"/>
          </a:xfrm>
          <a:prstGeom prst="ellipse">
            <a:avLst/>
          </a:prstGeom>
          <a:solidFill>
            <a:srgbClr val="7B3FA0"/>
          </a:solidFill>
          <a:ln w="12700">
            <a:solidFill>
              <a:srgbClr val="7B3FA0"/>
            </a:solidFill>
            <a:prstDash val="solid"/>
          </a:ln>
        </p:spPr>
      </p:sp>
      <p:sp>
        <p:nvSpPr>
          <p:cNvPr id="24" name="s2_matched_null-leg-4"/>
          <p:cNvSpPr txBox="1"/>
          <p:nvPr/>
        </p:nvSpPr>
        <p:spPr>
          <a:xfrm>
            <a:off x="5025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2_matched_null-dot-5"/>
          <p:cNvSpPr/>
          <p:nvPr/>
        </p:nvSpPr>
        <p:spPr>
          <a:xfrm>
            <a:off x="6192317" y="4914900"/>
            <a:ext cx="109728" cy="109728"/>
          </a:xfrm>
          <a:prstGeom prst="ellipse">
            <a:avLst/>
          </a:prstGeom>
          <a:solidFill>
            <a:srgbClr val="B3B2AE"/>
          </a:solidFill>
          <a:ln w="12700">
            <a:solidFill>
              <a:srgbClr val="B3B2AE"/>
            </a:solidFill>
            <a:prstDash val="solid"/>
          </a:ln>
        </p:spPr>
      </p:sp>
      <p:sp>
        <p:nvSpPr>
          <p:cNvPr id="26" name="s2_matched_null-leg-5"/>
          <p:cNvSpPr txBox="1"/>
          <p:nvPr/>
        </p:nvSpPr>
        <p:spPr>
          <a:xfrm>
            <a:off x="6347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s2_matched_null-key"/>
          <p:cNvSpPr txBox="1"/>
          <p:nvPr/>
        </p:nvSpPr>
        <p:spPr>
          <a:xfrm>
            <a:off x="502920" y="514807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28"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sp>
        <p:nvSpPr>
          <p:cNvPr id="3" name="prof-t1"/>
          <p:cNvSpPr txBox="1"/>
          <p:nvPr/>
        </p:nvSpPr>
        <p:spPr>
          <a:xfrm>
            <a:off x="502920" y="1143000"/>
            <a:ext cx="2743200" cy="256032"/>
          </a:xfrm>
          <a:prstGeom prst="rect">
            <a:avLst/>
          </a:prstGeom>
          <a:noFill/>
          <a:ln/>
        </p:spPr>
        <p:txBody>
          <a:bodyPr wrap="square" lIns="0" tIns="0" rIns="0" bIns="0" rtlCol="0" anchor="ctr"/>
          <a:lstStyle/>
          <a:p>
            <a:pPr indent="0" marL="0">
              <a:buNone/>
            </a:pPr>
            <a:r>
              <a:rPr lang="en-US" sz="1250" b="1" dirty="0">
                <a:solidFill>
                  <a:srgbClr val="111111"/>
                </a:solidFill>
              </a:rPr>
              <a:t>Where the dependence sits</a:t>
            </a:r>
            <a:endParaRPr lang="en-US" sz="1250" dirty="0"/>
          </a:p>
        </p:txBody>
      </p:sp>
      <p:pic>
        <p:nvPicPr>
          <p:cNvPr id="4" name="Image 0" descr="/Users/z5162865/WongLab/AlphaGenome_Ap1/Analysis/slide_figures/panels/s12_profile_absolute.png">    </p:cNvPr>
          <p:cNvPicPr>
            <a:picLocks noChangeAspect="1"/>
          </p:cNvPicPr>
          <p:nvPr/>
        </p:nvPicPr>
        <p:blipFill>
          <a:blip r:embed="rId1"/>
          <a:stretch>
            <a:fillRect/>
          </a:stretch>
        </p:blipFill>
        <p:spPr>
          <a:xfrm>
            <a:off x="502920" y="1544496"/>
            <a:ext cx="2743200" cy="1455576"/>
          </a:xfrm>
          <a:prstGeom prst="rect">
            <a:avLst/>
          </a:prstGeom>
        </p:spPr>
      </p:pic>
      <p:sp>
        <p:nvSpPr>
          <p:cNvPr id="5" name="prof-t2"/>
          <p:cNvSpPr txBox="1"/>
          <p:nvPr/>
        </p:nvSpPr>
        <p:spPr>
          <a:xfrm>
            <a:off x="502920" y="3200400"/>
            <a:ext cx="2743200" cy="256032"/>
          </a:xfrm>
          <a:prstGeom prst="rect">
            <a:avLst/>
          </a:prstGeom>
          <a:noFill/>
          <a:ln/>
        </p:spPr>
        <p:txBody>
          <a:bodyPr wrap="square" lIns="0" tIns="0" rIns="0" bIns="0" rtlCol="0" anchor="ctr"/>
          <a:lstStyle/>
          <a:p>
            <a:pPr indent="0" marL="0">
              <a:buNone/>
            </a:pPr>
            <a:r>
              <a:rPr lang="en-US" sz="1250" b="1" dirty="0">
                <a:solidFill>
                  <a:srgbClr val="111111"/>
                </a:solidFill>
              </a:rPr>
              <a:t>...as a share of each site’s own total</a:t>
            </a:r>
            <a:endParaRPr lang="en-US" sz="1250" dirty="0"/>
          </a:p>
        </p:txBody>
      </p:sp>
      <p:pic>
        <p:nvPicPr>
          <p:cNvPr id="6" name="Image 1" descr="/Users/z5162865/WongLab/AlphaGenome_Ap1/Analysis/slide_figures/panels/s12_profile_shape.png">    </p:cNvPr>
          <p:cNvPicPr>
            <a:picLocks noChangeAspect="1"/>
          </p:cNvPicPr>
          <p:nvPr/>
        </p:nvPicPr>
        <p:blipFill>
          <a:blip r:embed="rId2"/>
          <a:stretch>
            <a:fillRect/>
          </a:stretch>
        </p:blipFill>
        <p:spPr>
          <a:xfrm>
            <a:off x="502920" y="3601896"/>
            <a:ext cx="2743200" cy="1455576"/>
          </a:xfrm>
          <a:prstGeom prst="rect">
            <a:avLst/>
          </a:prstGeom>
        </p:spPr>
      </p:pic>
      <p:sp>
        <p:nvSpPr>
          <p:cNvPr id="7" name="prof-cap"/>
          <p:cNvSpPr txBox="1"/>
          <p:nvPr/>
        </p:nvSpPr>
        <p:spPr>
          <a:xfrm>
            <a:off x="502920" y="5230368"/>
            <a:ext cx="2743200" cy="548640"/>
          </a:xfrm>
          <a:prstGeom prst="rect">
            <a:avLst/>
          </a:prstGeom>
          <a:noFill/>
          <a:ln/>
        </p:spPr>
        <p:txBody>
          <a:bodyPr wrap="square" lIns="0" tIns="0" rIns="0" bIns="0" rtlCol="0" anchor="ctr"/>
          <a:lstStyle/>
          <a:p>
            <a:pPr indent="0" marL="0">
              <a:buNone/>
            </a:pPr>
            <a:r>
              <a:rPr lang="en-US" sz="850" dirty="0">
                <a:solidFill>
                  <a:srgbClr val="595959"/>
                </a:solidFill>
              </a:rPr>
              <a:t>median over sites, smoothed over 3 windows; gold band = the ±15 bp core. Stable sites peak highest at the core; Age Up, Exercise Down and Dynamic carry 1.2–1.3× more of their total beyond ±85 bp.</a:t>
            </a:r>
            <a:endParaRPr lang="en-US" sz="850" dirty="0"/>
          </a:p>
        </p:txBody>
      </p:sp>
      <p:sp>
        <p:nvSpPr>
          <p:cNvPr id="8" name="s3_dependence-title-0"/>
          <p:cNvSpPr txBox="1"/>
          <p:nvPr/>
        </p:nvSpPr>
        <p:spPr>
          <a:xfrm>
            <a:off x="3401568"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9" name="s3_dependence-sub-0"/>
          <p:cNvSpPr txBox="1"/>
          <p:nvPr/>
        </p:nvSpPr>
        <p:spPr>
          <a:xfrm>
            <a:off x="3401568"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10" name="Image 2" descr="/Users/z5162865/WongLab/AlphaGenome_Ap1/Analysis/slide_figures/panels/s3_dependence_c0_r0.png">    </p:cNvPr>
          <p:cNvPicPr>
            <a:picLocks noChangeAspect="1"/>
          </p:cNvPicPr>
          <p:nvPr/>
        </p:nvPicPr>
        <p:blipFill>
          <a:blip r:embed="rId3"/>
          <a:stretch>
            <a:fillRect/>
          </a:stretch>
        </p:blipFill>
        <p:spPr>
          <a:xfrm>
            <a:off x="3401568" y="2395936"/>
            <a:ext cx="1991106" cy="1810096"/>
          </a:xfrm>
          <a:prstGeom prst="rect">
            <a:avLst/>
          </a:prstGeom>
        </p:spPr>
      </p:pic>
      <p:sp>
        <p:nvSpPr>
          <p:cNvPr id="11" name="s3_dependence-title-1"/>
          <p:cNvSpPr txBox="1"/>
          <p:nvPr/>
        </p:nvSpPr>
        <p:spPr>
          <a:xfrm>
            <a:off x="5465826"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12" name="s3_dependence-sub-1"/>
          <p:cNvSpPr txBox="1"/>
          <p:nvPr/>
        </p:nvSpPr>
        <p:spPr>
          <a:xfrm>
            <a:off x="5465826"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3" name="Image 3" descr="/Users/z5162865/WongLab/AlphaGenome_Ap1/Analysis/slide_figures/panels/s3_dependence_c1_r0.png">    </p:cNvPr>
          <p:cNvPicPr>
            <a:picLocks noChangeAspect="1"/>
          </p:cNvPicPr>
          <p:nvPr/>
        </p:nvPicPr>
        <p:blipFill>
          <a:blip r:embed="rId4"/>
          <a:stretch>
            <a:fillRect/>
          </a:stretch>
        </p:blipFill>
        <p:spPr>
          <a:xfrm>
            <a:off x="5465826" y="2395936"/>
            <a:ext cx="1991106" cy="1810096"/>
          </a:xfrm>
          <a:prstGeom prst="rect">
            <a:avLst/>
          </a:prstGeom>
        </p:spPr>
      </p:pic>
      <p:sp>
        <p:nvSpPr>
          <p:cNvPr id="14" name="s3_dependence-title-2"/>
          <p:cNvSpPr txBox="1"/>
          <p:nvPr/>
        </p:nvSpPr>
        <p:spPr>
          <a:xfrm>
            <a:off x="7530084"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5" name="s3_dependence-sub-2"/>
          <p:cNvSpPr txBox="1"/>
          <p:nvPr/>
        </p:nvSpPr>
        <p:spPr>
          <a:xfrm>
            <a:off x="7530084"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6" name="Image 4" descr="/Users/z5162865/WongLab/AlphaGenome_Ap1/Analysis/slide_figures/panels/s3_dependence_c2_r0.png">    </p:cNvPr>
          <p:cNvPicPr>
            <a:picLocks noChangeAspect="1"/>
          </p:cNvPicPr>
          <p:nvPr/>
        </p:nvPicPr>
        <p:blipFill>
          <a:blip r:embed="rId5"/>
          <a:stretch>
            <a:fillRect/>
          </a:stretch>
        </p:blipFill>
        <p:spPr>
          <a:xfrm>
            <a:off x="7530084" y="2395936"/>
            <a:ext cx="1991106" cy="1810096"/>
          </a:xfrm>
          <a:prstGeom prst="rect">
            <a:avLst/>
          </a:prstGeom>
        </p:spPr>
      </p:pic>
      <p:sp>
        <p:nvSpPr>
          <p:cNvPr id="17" name="s3_dependence-title-3"/>
          <p:cNvSpPr txBox="1"/>
          <p:nvPr/>
        </p:nvSpPr>
        <p:spPr>
          <a:xfrm>
            <a:off x="9594342"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8" name="s3_dependence-sub-3"/>
          <p:cNvSpPr txBox="1"/>
          <p:nvPr/>
        </p:nvSpPr>
        <p:spPr>
          <a:xfrm>
            <a:off x="9594342"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9" name="Image 5" descr="/Users/z5162865/WongLab/AlphaGenome_Ap1/Analysis/slide_figures/panels/s3_dependence_c3_r0.png">    </p:cNvPr>
          <p:cNvPicPr>
            <a:picLocks noChangeAspect="1"/>
          </p:cNvPicPr>
          <p:nvPr/>
        </p:nvPicPr>
        <p:blipFill>
          <a:blip r:embed="rId6"/>
          <a:stretch>
            <a:fillRect/>
          </a:stretch>
        </p:blipFill>
        <p:spPr>
          <a:xfrm>
            <a:off x="9594342" y="2395936"/>
            <a:ext cx="1991106" cy="1810096"/>
          </a:xfrm>
          <a:prstGeom prst="rect">
            <a:avLst/>
          </a:prstGeom>
        </p:spPr>
      </p:pic>
      <p:sp>
        <p:nvSpPr>
          <p:cNvPr id="20" name="s3_dependence-dot-0"/>
          <p:cNvSpPr/>
          <p:nvPr/>
        </p:nvSpPr>
        <p:spPr>
          <a:xfrm>
            <a:off x="3291840" y="4914900"/>
            <a:ext cx="109728" cy="109728"/>
          </a:xfrm>
          <a:prstGeom prst="ellipse">
            <a:avLst/>
          </a:prstGeom>
          <a:solidFill>
            <a:srgbClr val="4F4F4F"/>
          </a:solidFill>
          <a:ln w="12700">
            <a:solidFill>
              <a:srgbClr val="4F4F4F"/>
            </a:solidFill>
            <a:prstDash val="solid"/>
          </a:ln>
        </p:spPr>
      </p:sp>
      <p:sp>
        <p:nvSpPr>
          <p:cNvPr id="21" name="s3_dependence-leg-0"/>
          <p:cNvSpPr txBox="1"/>
          <p:nvPr/>
        </p:nvSpPr>
        <p:spPr>
          <a:xfrm>
            <a:off x="34472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2" name="s3_dependence-dot-1"/>
          <p:cNvSpPr/>
          <p:nvPr/>
        </p:nvSpPr>
        <p:spPr>
          <a:xfrm>
            <a:off x="4614062" y="4914900"/>
            <a:ext cx="109728" cy="109728"/>
          </a:xfrm>
          <a:prstGeom prst="ellipse">
            <a:avLst/>
          </a:prstGeom>
          <a:solidFill>
            <a:srgbClr val="C2551C"/>
          </a:solidFill>
          <a:ln w="12700">
            <a:solidFill>
              <a:srgbClr val="C2551C"/>
            </a:solidFill>
            <a:prstDash val="solid"/>
          </a:ln>
        </p:spPr>
      </p:sp>
      <p:sp>
        <p:nvSpPr>
          <p:cNvPr id="23" name="s3_dependence-leg-1"/>
          <p:cNvSpPr txBox="1"/>
          <p:nvPr/>
        </p:nvSpPr>
        <p:spPr>
          <a:xfrm>
            <a:off x="47695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4" name="s3_dependence-dot-2"/>
          <p:cNvSpPr/>
          <p:nvPr/>
        </p:nvSpPr>
        <p:spPr>
          <a:xfrm>
            <a:off x="5475427" y="4914900"/>
            <a:ext cx="109728" cy="109728"/>
          </a:xfrm>
          <a:prstGeom prst="ellipse">
            <a:avLst/>
          </a:prstGeom>
          <a:solidFill>
            <a:srgbClr val="1F6FB2"/>
          </a:solidFill>
          <a:ln w="12700">
            <a:solidFill>
              <a:srgbClr val="1F6FB2"/>
            </a:solidFill>
            <a:prstDash val="solid"/>
          </a:ln>
        </p:spPr>
      </p:sp>
      <p:sp>
        <p:nvSpPr>
          <p:cNvPr id="25" name="s3_dependence-leg-2"/>
          <p:cNvSpPr txBox="1"/>
          <p:nvPr/>
        </p:nvSpPr>
        <p:spPr>
          <a:xfrm>
            <a:off x="56308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6" name="s3_dependence-dot-3"/>
          <p:cNvSpPr/>
          <p:nvPr/>
        </p:nvSpPr>
        <p:spPr>
          <a:xfrm>
            <a:off x="6468466" y="4914900"/>
            <a:ext cx="109728" cy="109728"/>
          </a:xfrm>
          <a:prstGeom prst="ellipse">
            <a:avLst/>
          </a:prstGeom>
          <a:solidFill>
            <a:srgbClr val="2E7D32"/>
          </a:solidFill>
          <a:ln w="12700">
            <a:solidFill>
              <a:srgbClr val="2E7D32"/>
            </a:solidFill>
            <a:prstDash val="solid"/>
          </a:ln>
        </p:spPr>
      </p:sp>
      <p:sp>
        <p:nvSpPr>
          <p:cNvPr id="27" name="s3_dependence-leg-3"/>
          <p:cNvSpPr txBox="1"/>
          <p:nvPr/>
        </p:nvSpPr>
        <p:spPr>
          <a:xfrm>
            <a:off x="66239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8" name="s3_dependence-dot-4"/>
          <p:cNvSpPr/>
          <p:nvPr/>
        </p:nvSpPr>
        <p:spPr>
          <a:xfrm>
            <a:off x="7659014" y="4914900"/>
            <a:ext cx="109728" cy="109728"/>
          </a:xfrm>
          <a:prstGeom prst="ellipse">
            <a:avLst/>
          </a:prstGeom>
          <a:solidFill>
            <a:srgbClr val="7B3FA0"/>
          </a:solidFill>
          <a:ln w="12700">
            <a:solidFill>
              <a:srgbClr val="7B3FA0"/>
            </a:solidFill>
            <a:prstDash val="solid"/>
          </a:ln>
        </p:spPr>
      </p:sp>
      <p:sp>
        <p:nvSpPr>
          <p:cNvPr id="29" name="s3_dependence-leg-4"/>
          <p:cNvSpPr txBox="1"/>
          <p:nvPr/>
        </p:nvSpPr>
        <p:spPr>
          <a:xfrm>
            <a:off x="78144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0" name="s3_dependence-dot-5"/>
          <p:cNvSpPr/>
          <p:nvPr/>
        </p:nvSpPr>
        <p:spPr>
          <a:xfrm>
            <a:off x="8981237" y="4914900"/>
            <a:ext cx="109728" cy="109728"/>
          </a:xfrm>
          <a:prstGeom prst="ellipse">
            <a:avLst/>
          </a:prstGeom>
          <a:solidFill>
            <a:srgbClr val="B3B2AE"/>
          </a:solidFill>
          <a:ln w="12700">
            <a:solidFill>
              <a:srgbClr val="B3B2AE"/>
            </a:solidFill>
            <a:prstDash val="solid"/>
          </a:ln>
        </p:spPr>
      </p:sp>
      <p:sp>
        <p:nvSpPr>
          <p:cNvPr id="31" name="s3_dependence-leg-5"/>
          <p:cNvSpPr txBox="1"/>
          <p:nvPr/>
        </p:nvSpPr>
        <p:spPr>
          <a:xfrm>
            <a:off x="91366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32" name="s3_dependence-key"/>
          <p:cNvSpPr txBox="1"/>
          <p:nvPr/>
        </p:nvSpPr>
        <p:spPr>
          <a:xfrm>
            <a:off x="3291840" y="5148072"/>
            <a:ext cx="83667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Stable sites peak highest at the core; Age Up, Exercise Down and Dynamic carry more of their dependence out in the flanks — Age Down simply has less of everything</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2026-10-23T01:39:37Z</dcterms:created>
  <dcterms:modified xsi:type="dcterms:W3CDTF">2026-10-23T01:39:37Z</dcterms:modified>
</cp:coreProperties>
</file>