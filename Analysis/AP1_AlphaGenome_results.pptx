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448975b8-ac3e-4efe-f95f-ab45b2feecbf}">
          <p14:sldIdLst>
            <p14:sldId id="256"/>
          </p14:sldIdLst>
        </p14:section>
        <p14:section name="Design" id="{7b400548-adce-797a-2158-b22833177468}">
          <p14:sldIdLst>
            <p14:sldId id="257"/>
            <p14:sldId id="258"/>
          </p14:sldIdLst>
        </p14:section>
        <p14:section name="Findings" id="{59c579fd-2353-7f93-d2fc-d5830a213de7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Conclusion" id="{884b4574-6906-0da0-bab7-0e37e59b21eb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Mouse cardiomyocytes, young sedentary / aged sedentary / aged exercise. Sites defined by TOBIAS footprints of Fos motifs.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two definitions pick out largely different sites. Report every result labelled by which definition it comes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131 kb window is what AlphaGenome takes as input; we only ever edit the middle 600 bp. Each tile is 3 replicate random replacements, averaged. Effects are log2(edited / native).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Raw, Dynamic sites lose less to every wide edit. After matching on predicted accessibility, peak width and TSS distance, nothing survives. A classifier on the whole response profile is at chance, AUC 0.49.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Importance is the loss from replacing a 10 bp tile over that factor's footprint, measured against the site's own footprint-free tiles, holding under five adjustments. The class comparison is at site level inside the 442 matched pairs; nothing survives BH correction. AP-1's own footprints are the one uncorrected p &lt; 0.05, and Dynamic sites lean slightly MORE on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MEF2 is enriched 2.67x at 11-25 bp against 1.47x for KLF/SP, modal spacing 14 bp between centres. No 10-11 bp repeat survives correction, so no fixed protein-protein register.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Top: a Stable site, 85% of its dependence on the AP-1 motif. Bottom: an age-gained site where the AP-1 motif is worth -0.18 and the strongest other window -1.48. Tnfaip8 rises with age, matching the AP-1 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of 16 scan features separate Dynamic from matched Stable. Share of dependence within 85 bp 0.63 vs 0.74, spread 94 vs 86 bp, largest single-base effect 0.74 vs 0.90. Age Up is the most diffuse class of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dose-response slope tracks core quality measured independently from the genome sequence, rho 0.30. Orientation is irrelevant, as expected for a near-palindrome.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titration experiment was designed before this hypothesis existed, so this is a prediction rather than a fit. Caveat: the motif-sensitivity result does not survive matching on measured accessibility; the core-quality result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comparable quantity is a ratio within each element, so assay scale cancels. The class direction disagrees: in the MPRA responsive elements depend MORE on their sequence, which separates intrinsic potential from what sets accessibility in the genome.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negative result is well controlled and is itself the point: responsiveness is not encoded in local sequence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 open: whether the MEF2 deficit at Dynamic sites is detection or genuine differential occupancy of equally-present motifs.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10312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 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0332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 </a:t>
            </a:r>
            <a:endParaRPr lang="en-US" sz="1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FIG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 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 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 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1031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What makes an AP-1 site respond to ageing?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033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In-silico mutagenesis of every cardiomyocyte AP-1 element with AlphaGenome</a:t>
            </a:r>
            <a:endParaRPr lang="en-US" sz="17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</a:rPr>
              <a:t>3,678 sites · 364 mutations each · validated against snATAC, RNA and a fibroblast MPRA</a:t>
            </a:r>
            <a:endParaRPr lang="en-US" sz="1700" dirty="0"/>
          </a:p>
        </p:txBody>
      </p:sp>
      <p:sp>
        <p:nvSpPr>
          <p:cNvPr id="4" name="rule"/>
          <p:cNvSpPr/>
          <p:nvPr/>
        </p:nvSpPr>
        <p:spPr>
          <a:xfrm>
            <a:off x="896112" y="3493008"/>
            <a:ext cx="2011680" cy="0"/>
          </a:xfrm>
          <a:prstGeom prst="line">
            <a:avLst/>
          </a:prstGeom>
          <a:noFill/>
          <a:ln w="31750">
            <a:solidFill>
              <a:srgbClr val="111111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Two ways to call a site responsive, and they disagree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34440"/>
            <a:ext cx="57607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</a:rPr>
              <a:t>Threshold (binary call)</a:t>
            </a:r>
            <a:endParaRPr lang="en-US" sz="17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11111"/>
                </a:solidFill>
              </a:rPr>
              <a:t>The TOBIAS footprint is absent in young and called in aged. 396 Age Up sites, 179 Age Down. Stable = called in all three conditions.</a:t>
            </a:r>
            <a:endParaRPr lang="en-US" sz="17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</a:rPr>
              <a:t>Δscore (graded)</a:t>
            </a:r>
            <a:endParaRPr lang="en-US" sz="17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11111"/>
                </a:solidFill>
              </a:rPr>
              <a:t>The top fifth of the change in binding score, whether or not the call ever crossed the line. 736 sites each way.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</a:rPr>
              <a:t>Only 22% of Δscore-Up sites ever cross the threshold, and 40% of threshold-Stable sites show a large score change.</a:t>
            </a:r>
            <a:endParaRPr lang="en-US" sz="1700" dirty="0"/>
          </a:p>
        </p:txBody>
      </p:sp>
      <p:sp>
        <p:nvSpPr>
          <p:cNvPr id="4" name="stat-0"/>
          <p:cNvSpPr/>
          <p:nvPr/>
        </p:nvSpPr>
        <p:spPr>
          <a:xfrm>
            <a:off x="502920" y="5074920"/>
            <a:ext cx="5440680" cy="1234440"/>
          </a:xfrm>
          <a:prstGeom prst="roundRect">
            <a:avLst>
              <a:gd name="adj" fmla="val 4444"/>
            </a:avLst>
          </a:prstGeom>
          <a:solidFill>
            <a:srgbClr val="F2F2F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" y="5166360"/>
            <a:ext cx="5221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2551C"/>
                </a:solidFill>
              </a:rPr>
              <a:t>0.57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12648" y="5733288"/>
            <a:ext cx="5221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Δscore vs measured snATAC change (age)</a:t>
            </a:r>
            <a:endParaRPr lang="en-US" sz="1200" dirty="0"/>
          </a:p>
        </p:txBody>
      </p:sp>
      <p:sp>
        <p:nvSpPr>
          <p:cNvPr id="7" name="stat-1"/>
          <p:cNvSpPr/>
          <p:nvPr/>
        </p:nvSpPr>
        <p:spPr>
          <a:xfrm>
            <a:off x="6217920" y="5074920"/>
            <a:ext cx="5440680" cy="1234440"/>
          </a:xfrm>
          <a:prstGeom prst="roundRect">
            <a:avLst>
              <a:gd name="adj" fmla="val 4444"/>
            </a:avLst>
          </a:prstGeom>
          <a:solidFill>
            <a:srgbClr val="F2F2F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27648" y="5166360"/>
            <a:ext cx="5221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6FB2"/>
                </a:solidFill>
              </a:rPr>
              <a:t>0.31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327648" y="5733288"/>
            <a:ext cx="5221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threshold class vs measured change</a:t>
            </a:r>
            <a:endParaRPr lang="en-US" sz="1200" dirty="0"/>
          </a:p>
        </p:txBody>
      </p:sp>
      <p:sp>
        <p:nvSpPr>
          <p:cNvPr id="10" name="matching-note"/>
          <p:cNvSpPr txBox="1"/>
          <p:nvPr/>
        </p:nvSpPr>
        <p:spPr>
          <a:xfrm>
            <a:off x="6492240" y="1371600"/>
            <a:ext cx="5166360" cy="1371600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Every comparison below matches each responsive site to a Stable site on predicted accessibility, peak width, TSS distance and measured accessibility.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971800"/>
            <a:ext cx="5166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95959"/>
                </a:solidFill>
              </a:rPr>
              <a:t>The Δscore definition tracks the measured data about twice as well.</a:t>
            </a:r>
            <a:endParaRPr lang="en-US" sz="1500" dirty="0"/>
          </a:p>
        </p:txBody>
      </p:sp>
      <p:sp>
        <p:nvSpPr>
          <p:cNvPr id="13" name="Text 0"/>
          <p:cNvSpPr/>
          <p:nvPr>
            <p:ph idx="101" type="body" hasCustomPrompt="1"/>
          </p:nvPr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What we did to every site</a:t>
            </a:r>
            <a:endParaRPr lang="en-US" sz="2800" dirty="0"/>
          </a:p>
        </p:txBody>
      </p:sp>
      <p:pic>
        <p:nvPicPr>
          <p:cNvPr id="3" name="Image 0" descr="/Users/z5162865/WongLab/AlphaGenome_Ap1/Analysis/slide_figures/s1_method_schemat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066" y="1097280"/>
            <a:ext cx="10915388" cy="466344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2551C"/>
                </a:solidFill>
              </a:rPr>
              <a:t>Takeaway   </a:t>
            </a:r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3,678 sites × 364 edits each, every edit read as the change in predicted accessibility over the surrounding 170 bp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Most of the difference is chromatin, not sequence</a:t>
            </a:r>
            <a:endParaRPr lang="en-US" sz="2800" dirty="0"/>
          </a:p>
        </p:txBody>
      </p:sp>
      <p:pic>
        <p:nvPicPr>
          <p:cNvPr id="3" name="Image 0" descr="/Users/z5162865/WongLab/AlphaGenome_Ap1/Analysis/slide_figures/s2_matched_n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3702" y="1097280"/>
            <a:ext cx="10834117" cy="466344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2551C"/>
                </a:solidFill>
              </a:rPr>
              <a:t>Takeaway   </a:t>
            </a:r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the motif and the whole peak behave the same once context is matched; a residual 170 bp difference survives, and the next slide shows what it is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Both classes lean on the same partners</a:t>
            </a:r>
            <a:endParaRPr lang="en-US" sz="2800" dirty="0"/>
          </a:p>
        </p:txBody>
      </p:sp>
      <p:pic>
        <p:nvPicPr>
          <p:cNvPr id="3" name="Image 0" descr="/Users/z5162865/WongLab/AlphaGenome_Ap1/Analysis/slide_figures/s8_partn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35951"/>
            <a:ext cx="8229600" cy="409465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915400" y="1371600"/>
            <a:ext cx="27432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2551C"/>
                </a:solidFill>
              </a:rPr>
              <a:t>2.49 million</a:t>
            </a:r>
            <a:endParaRPr lang="en-US" sz="22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595959"/>
                </a:solidFill>
              </a:rPr>
              <a:t>footprinted cardiomyocyte TFBS mapped onto the scan</a:t>
            </a:r>
            <a:endParaRPr lang="en-US" sz="22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50" dirty="0">
                <a:solidFill>
                  <a:srgbClr val="000000"/>
                </a:solidFill>
              </a:rPr>
              <a:t>The ranking is the validation: MEF2, GATA, NFI and TEAD come out on top, and the model was never told any of them.</a:t>
            </a:r>
            <a:endParaRPr lang="en-US" sz="22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50" dirty="0">
                <a:solidFill>
                  <a:srgbClr val="000000"/>
                </a:solidFill>
              </a:rPr>
              <a:t>The class split is the question, and the answer is no. Not one family matters more to a Dynamic site than to its matched Stable partner.</a:t>
            </a:r>
            <a:endParaRPr lang="en-US" sz="2200" dirty="0"/>
          </a:p>
          <a:p>
            <a:pPr indent="0" marL="0">
              <a:buNone/>
            </a:pPr>
            <a:r>
              <a:rPr lang="en-US" sz="1450" i="1" dirty="0">
                <a:solidFill>
                  <a:srgbClr val="595959"/>
                </a:solidFill>
              </a:rPr>
              <a:t>Whatever makes a site responsive, it is not a different cast of neighbours.</a:t>
            </a:r>
            <a:endParaRPr lang="en-US" sz="2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2551C"/>
                </a:solidFill>
              </a:rPr>
              <a:t>Takeaway   </a:t>
            </a:r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the cast of partners is identical in both classes — what differs is how the dependence is spread across them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The partner that matters is the one that sits closest</a:t>
            </a:r>
            <a:endParaRPr lang="en-US" sz="2800" dirty="0"/>
          </a:p>
        </p:txBody>
      </p:sp>
      <p:pic>
        <p:nvPicPr>
          <p:cNvPr id="3" name="Image 0" descr="/Users/z5162865/WongLab/AlphaGenome_Ap1/Analysis/slide_figures/s7_spac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43849"/>
            <a:ext cx="11155680" cy="457030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2551C"/>
                </a:solidFill>
              </a:rPr>
              <a:t>Takeaway   </a:t>
            </a:r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MEF2 is 2.67× enriched immediately beside the motif (FDR 0.004); KLF/SP, the commonest factor, is not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One locus, two architectures</a:t>
            </a:r>
            <a:endParaRPr lang="en-US" sz="2800" dirty="0"/>
          </a:p>
        </p:txBody>
      </p:sp>
      <p:pic>
        <p:nvPicPr>
          <p:cNvPr id="3" name="Image 0" descr="/Users/z5162865/WongLab/AlphaGenome_Ap1/Analysis/example_track/example_scan_tr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2961" y="1051560"/>
            <a:ext cx="9755599" cy="475488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2551C"/>
                </a:solidFill>
              </a:rPr>
              <a:t>Takeaway   </a:t>
            </a:r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at the age-gained site every cardiac cofactor is bound in all three conditions — only AP-1 switches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Responsive sites spread their dependence out</a:t>
            </a:r>
            <a:endParaRPr lang="en-US" sz="2800" dirty="0"/>
          </a:p>
        </p:txBody>
      </p:sp>
      <p:pic>
        <p:nvPicPr>
          <p:cNvPr id="3" name="Image 0" descr="/Users/z5162865/WongLab/AlphaGenome_Ap1/Analysis/slide_figures/s3_depend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49013"/>
            <a:ext cx="11155680" cy="3959974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2551C"/>
                </a:solidFill>
              </a:rPr>
              <a:t>Takeaway   </a:t>
            </a:r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this is the part that survives matching: a responsive site has no single anchor holding it open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Motif strength is a switch; position is a dial</a:t>
            </a:r>
            <a:endParaRPr lang="en-US" sz="2800" dirty="0"/>
          </a:p>
        </p:txBody>
      </p:sp>
      <p:pic>
        <p:nvPicPr>
          <p:cNvPr id="3" name="Image 0" descr="/Users/z5162865/WongLab/AlphaGenome_Ap1/Analysis/slide_figures/s4_tit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7695" y="1097280"/>
            <a:ext cx="7006130" cy="3429000"/>
          </a:xfrm>
          <a:prstGeom prst="rect">
            <a:avLst/>
          </a:prstGeom>
        </p:spPr>
      </p:pic>
      <p:sp>
        <p:nvSpPr>
          <p:cNvPr id="4" name="stat-0"/>
          <p:cNvSpPr/>
          <p:nvPr/>
        </p:nvSpPr>
        <p:spPr>
          <a:xfrm>
            <a:off x="502920" y="4709160"/>
            <a:ext cx="2583180" cy="105156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12648" y="4800600"/>
            <a:ext cx="2363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11111"/>
                </a:solidFill>
              </a:rPr>
              <a:t>−0.45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5367528"/>
            <a:ext cx="23637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cost of changing one core base</a:t>
            </a:r>
            <a:endParaRPr lang="en-US" sz="1200" dirty="0"/>
          </a:p>
        </p:txBody>
      </p:sp>
      <p:sp>
        <p:nvSpPr>
          <p:cNvPr id="7" name="stat-1"/>
          <p:cNvSpPr/>
          <p:nvPr/>
        </p:nvSpPr>
        <p:spPr>
          <a:xfrm>
            <a:off x="3360420" y="4709160"/>
            <a:ext cx="2583180" cy="105156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470148" y="4800600"/>
            <a:ext cx="2363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11111"/>
                </a:solidFill>
              </a:rPr>
              <a:t>−0.56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3470148" y="5367528"/>
            <a:ext cx="23637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cost of changing all seven</a:t>
            </a:r>
            <a:endParaRPr lang="en-US" sz="1200" dirty="0"/>
          </a:p>
        </p:txBody>
      </p:sp>
      <p:sp>
        <p:nvSpPr>
          <p:cNvPr id="10" name="stat-2"/>
          <p:cNvSpPr/>
          <p:nvPr/>
        </p:nvSpPr>
        <p:spPr>
          <a:xfrm>
            <a:off x="6217920" y="4709160"/>
            <a:ext cx="2583180" cy="105156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27648" y="4800600"/>
            <a:ext cx="2363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11111"/>
                </a:solidFill>
              </a:rPr>
              <a:t>−0.29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327648" y="5367528"/>
            <a:ext cx="23637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destroyed, re-inserted nearby</a:t>
            </a:r>
            <a:endParaRPr lang="en-US" sz="1200" dirty="0"/>
          </a:p>
        </p:txBody>
      </p:sp>
      <p:sp>
        <p:nvSpPr>
          <p:cNvPr id="13" name="stat-3"/>
          <p:cNvSpPr/>
          <p:nvPr/>
        </p:nvSpPr>
        <p:spPr>
          <a:xfrm>
            <a:off x="9075420" y="4709160"/>
            <a:ext cx="2583180" cy="105156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85148" y="4800600"/>
            <a:ext cx="2363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2551C"/>
                </a:solidFill>
              </a:rPr>
              <a:t>±20–40 bp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9185148" y="5367528"/>
            <a:ext cx="23637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where a motif works best</a:t>
            </a:r>
            <a:endParaRPr lang="en-US" sz="1200" dirty="0"/>
          </a:p>
        </p:txBody>
      </p:sp>
      <p:sp>
        <p:nvSpPr>
          <p:cNvPr id="16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2551C"/>
                </a:solidFill>
              </a:rPr>
              <a:t>Takeaway   </a:t>
            </a:r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a motif moved elsewhere recovers only a third of what destroying it cost — position matters, not just presence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Age-gained sites read AP-1 dosage more sharply</a:t>
            </a:r>
            <a:endParaRPr lang="en-US" sz="2800" dirty="0"/>
          </a:p>
        </p:txBody>
      </p:sp>
      <p:pic>
        <p:nvPicPr>
          <p:cNvPr id="3" name="Image 0" descr="/Users/z5162865/WongLab/AlphaGenome_Ap1/Analysis/slide_figures/s5_age_gai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5222" y="1097280"/>
            <a:ext cx="10551077" cy="3794760"/>
          </a:xfrm>
          <a:prstGeom prst="rect">
            <a:avLst/>
          </a:prstGeom>
        </p:spPr>
      </p:pic>
      <p:sp>
        <p:nvSpPr>
          <p:cNvPr id="4" name="massaction"/>
          <p:cNvSpPr txBox="1"/>
          <p:nvPr/>
        </p:nvSpPr>
        <p:spPr>
          <a:xfrm>
            <a:off x="502920" y="5029200"/>
            <a:ext cx="11155680" cy="914400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551C"/>
                </a:solidFill>
              </a:rPr>
              <a:t>Mass action   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if ageing raises AP-1 activity, occupancy rises first at the highest-affinity motifs — exactly the sites that gain. Losing binding is not the reverse: age-lost sites show no sequence signature at all.</a:t>
            </a:r>
            <a:endParaRPr lang="en-US" sz="17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An independent reporter assay agrees</a:t>
            </a:r>
            <a:endParaRPr lang="en-US" sz="2800" dirty="0"/>
          </a:p>
        </p:txBody>
      </p:sp>
      <p:pic>
        <p:nvPicPr>
          <p:cNvPr id="3" name="Image 0" descr="/Users/z5162865/WongLab/AlphaGenome_Ap1/Analysis/slide_figures/s6_mp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1113" y="2240280"/>
            <a:ext cx="9779295" cy="3520440"/>
          </a:xfrm>
          <a:prstGeom prst="rect">
            <a:avLst/>
          </a:prstGeom>
        </p:spPr>
      </p:pic>
      <p:sp>
        <p:nvSpPr>
          <p:cNvPr id="4" name="stat-0"/>
          <p:cNvSpPr/>
          <p:nvPr/>
        </p:nvSpPr>
        <p:spPr>
          <a:xfrm>
            <a:off x="502920" y="1097280"/>
            <a:ext cx="5440680" cy="105156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12648" y="1188720"/>
            <a:ext cx="5221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6FB2"/>
                </a:solidFill>
              </a:rPr>
              <a:t>7.5%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1755648"/>
            <a:ext cx="5221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AlphaGenome: the motif's share of local dependence</a:t>
            </a:r>
            <a:endParaRPr lang="en-US" sz="1200" dirty="0"/>
          </a:p>
        </p:txBody>
      </p:sp>
      <p:sp>
        <p:nvSpPr>
          <p:cNvPr id="7" name="stat-1"/>
          <p:cNvSpPr/>
          <p:nvPr/>
        </p:nvSpPr>
        <p:spPr>
          <a:xfrm>
            <a:off x="6217920" y="1097280"/>
            <a:ext cx="5440680" cy="105156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27648" y="1188720"/>
            <a:ext cx="5221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2551C"/>
                </a:solidFill>
              </a:rPr>
              <a:t>9.3%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327648" y="1755648"/>
            <a:ext cx="5221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fibroblast MPRA: the same quantity, measured in the lab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2551C"/>
                </a:solidFill>
              </a:rPr>
              <a:t>Takeaway   </a:t>
            </a:r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two assays, different cell types and readouts, both put the AP-1 motif under a tenth of its 170 bp surroundings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What this changes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 responsive AP-1 site is a marginal one, not a differently-built one</a:t>
            </a:r>
            <a:endParaRPr lang="en-US" sz="1700" dirty="0"/>
          </a:p>
          <a:p>
            <a:pPr algn="l" indent="0" marL="0">
              <a:spcAft>
                <a:spcPts val="1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Weaker AP-1 motif, fewer AP-1 motifs around it, sparser and less MEF2-rich neighbourhood, dependence spread thinly across the element. Nothing about how it responds to mutation differs.</a:t>
            </a:r>
            <a:endParaRPr lang="en-US" sz="1700" dirty="0"/>
          </a:p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That is why it fluctuates</a:t>
            </a:r>
            <a:endParaRPr lang="en-US" sz="1700" dirty="0"/>
          </a:p>
          <a:p>
            <a:pPr algn="l" indent="0" marL="0">
              <a:spcAft>
                <a:spcPts val="1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 weak motif in a poorly-supported enhancer sits near the occupancy threshold, so its binding tracks how much AP-1 protein is available — which is what ageing changes.</a:t>
            </a:r>
            <a:endParaRPr lang="en-US" sz="1700" dirty="0"/>
          </a:p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Gain and loss are different events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Age-gained sites have better cores and read dosage more sharply. Age-lost sites are MEF2-rich, high-scoring sites drifting down, with no sequence signature of their own.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Where this goes next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Fine-tuned condition-aware head</a:t>
            </a:r>
            <a:endParaRPr lang="en-US" sz="17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 frozen-trunk probe on our own cardiomyocyte and fibroblast ATAC already reaches profile r = 0.65 against 0.59 for the built-in heart head, training 0.01% of the model. Next: 1 bp insertion targets, then LoRA.</a:t>
            </a:r>
            <a:endParaRPr lang="en-US" sz="1700" dirty="0"/>
          </a:p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Does AP-1 activity actually rise with age?</a:t>
            </a:r>
            <a:endParaRPr lang="en-US" sz="17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The mass-action reading rests on it. One check against the RNA.</a:t>
            </a:r>
            <a:endParaRPr lang="en-US" sz="1700" dirty="0"/>
          </a:p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Fibroblast scan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If MEF2 also tops the partner ranking in fibroblasts, the ranking is a model artefact rather than cardiac biology. This is the sharpest available control.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P1 Mono">
  <a:themeElements>
    <a:clrScheme name="AP1 Mono">
      <a:dk1>
        <a:srgbClr val="111111"/>
      </a:dk1>
      <a:lt1>
        <a:srgbClr val="FFFFFF"/>
      </a:lt1>
      <a:dk2>
        <a:srgbClr val="595959"/>
      </a:dk2>
      <a:lt2>
        <a:srgbClr val="F2F2F2"/>
      </a:lt2>
      <a:accent1>
        <a:srgbClr val="C2551C"/>
      </a:accent1>
      <a:accent2>
        <a:srgbClr val="1F6FB2"/>
      </a:accent2>
      <a:accent3>
        <a:srgbClr val="111111"/>
      </a:accent3>
      <a:accent4>
        <a:srgbClr val="8C8C8C"/>
      </a:accent4>
      <a:accent5>
        <a:srgbClr val="D9D9D9"/>
      </a:accent5>
      <a:accent6>
        <a:srgbClr val="595959"/>
      </a:accent6>
      <a:hlink>
        <a:srgbClr val="1F6FB2"/>
      </a:hlink>
      <a:folHlink>
        <a:srgbClr val="595959"/>
      </a:folHlink>
    </a:clrScheme>
    <a:fontScheme name="AP1 Mon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AlphaGenome perturbation of AP-1 sites</dc:title>
  <dc:subject>PptxGenJS Presentation</dc:subject>
  <dc:creator>Jack</dc:creator>
  <cp:lastModifiedBy>Jack</cp:lastModifiedBy>
  <cp:revision>1</cp:revision>
  <dcterms:created xsi:type="dcterms:W3CDTF">2026-10-22T23:54:22Z</dcterms:created>
  <dcterms:modified xsi:type="dcterms:W3CDTF">2026-10-22T23:54:22Z</dcterms:modified>
</cp:coreProperties>
</file>