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2abd594-245a-463d-cd41-341592016d74}">
          <p14:sldIdLst>
            <p14:sldId id="256"/>
          </p14:sldIdLst>
        </p14:section>
        <p14:section name="Design" id="{5c2093be-d6b4-0c66-b714-fbd22f3e45ff}">
          <p14:sldIdLst>
            <p14:sldId id="257"/>
            <p14:sldId id="258"/>
          </p14:sldIdLst>
        </p14:section>
        <p14:section name="Findings" id="{e636c28f-c5a8-6903-8fd0-0c68ed002e0a}">
          <p14:sldIdLst>
            <p14:sldId id="259"/>
            <p14:sldId id="260"/>
            <p14:sldId id="261"/>
            <p14:sldId id="262"/>
            <p14:sldId id="263"/>
            <p14:sldId id="264"/>
            <p14:sldId id="265"/>
            <p14:sldId id="266"/>
            <p14:sldId id="267"/>
          </p14:sldIdLst>
        </p14:section>
        <p14:section name="Conclusion" id="{74930897-9547-5649-6038-27796074696c}">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sp>
        <p:nvSpPr>
          <p:cNvPr id="3" name="s2_matched_null-title-0"/>
          <p:cNvSpPr txBox="1"/>
          <p:nvPr/>
        </p:nvSpPr>
        <p:spPr>
          <a:xfrm>
            <a:off x="1618488"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1618488"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1685171" y="1755648"/>
            <a:ext cx="2303510" cy="1463040"/>
          </a:xfrm>
          <a:prstGeom prst="rect">
            <a:avLst/>
          </a:prstGeom>
        </p:spPr>
      </p:pic>
      <p:pic>
        <p:nvPicPr>
          <p:cNvPr id="6" name="Image 1" descr="/Users/z5162865/WongLab/AlphaGenome_Ap1/Analysis/slide_figures/panels/s2_matched_null_c0_r1.png">    </p:cNvPr>
          <p:cNvPicPr>
            <a:picLocks noChangeAspect="1"/>
          </p:cNvPicPr>
          <p:nvPr/>
        </p:nvPicPr>
        <p:blipFill>
          <a:blip r:embed="rId2"/>
          <a:stretch>
            <a:fillRect/>
          </a:stretch>
        </p:blipFill>
        <p:spPr>
          <a:xfrm>
            <a:off x="1685171" y="3291840"/>
            <a:ext cx="2303510" cy="1463040"/>
          </a:xfrm>
          <a:prstGeom prst="rect">
            <a:avLst/>
          </a:prstGeom>
        </p:spPr>
      </p:pic>
      <p:sp>
        <p:nvSpPr>
          <p:cNvPr id="7" name="s2_matched_null-title-1"/>
          <p:cNvSpPr txBox="1"/>
          <p:nvPr/>
        </p:nvSpPr>
        <p:spPr>
          <a:xfrm>
            <a:off x="4128516"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8" name="s2_matched_null-sub-1"/>
          <p:cNvSpPr txBox="1"/>
          <p:nvPr/>
        </p:nvSpPr>
        <p:spPr>
          <a:xfrm>
            <a:off x="4128516"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9" name="Image 2" descr="/Users/z5162865/WongLab/AlphaGenome_Ap1/Analysis/slide_figures/panels/s2_matched_null_c1_r0.png">    </p:cNvPr>
          <p:cNvPicPr>
            <a:picLocks noChangeAspect="1"/>
          </p:cNvPicPr>
          <p:nvPr/>
        </p:nvPicPr>
        <p:blipFill>
          <a:blip r:embed="rId3"/>
          <a:stretch>
            <a:fillRect/>
          </a:stretch>
        </p:blipFill>
        <p:spPr>
          <a:xfrm>
            <a:off x="4195199" y="1755648"/>
            <a:ext cx="2303510" cy="1463040"/>
          </a:xfrm>
          <a:prstGeom prst="rect">
            <a:avLst/>
          </a:prstGeom>
        </p:spPr>
      </p:pic>
      <p:pic>
        <p:nvPicPr>
          <p:cNvPr id="10" name="Image 3" descr="/Users/z5162865/WongLab/AlphaGenome_Ap1/Analysis/slide_figures/panels/s2_matched_null_c1_r1.png">    </p:cNvPr>
          <p:cNvPicPr>
            <a:picLocks noChangeAspect="1"/>
          </p:cNvPicPr>
          <p:nvPr/>
        </p:nvPicPr>
        <p:blipFill>
          <a:blip r:embed="rId4"/>
          <a:stretch>
            <a:fillRect/>
          </a:stretch>
        </p:blipFill>
        <p:spPr>
          <a:xfrm>
            <a:off x="4195199" y="3291840"/>
            <a:ext cx="2303510" cy="1463040"/>
          </a:xfrm>
          <a:prstGeom prst="rect">
            <a:avLst/>
          </a:prstGeom>
        </p:spPr>
      </p:pic>
      <p:sp>
        <p:nvSpPr>
          <p:cNvPr id="11" name="s2_matched_null-title-2"/>
          <p:cNvSpPr txBox="1"/>
          <p:nvPr/>
        </p:nvSpPr>
        <p:spPr>
          <a:xfrm>
            <a:off x="6638544"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638544"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4" descr="/Users/z5162865/WongLab/AlphaGenome_Ap1/Analysis/slide_figures/panels/s2_matched_null_c2_r0.png">    </p:cNvPr>
          <p:cNvPicPr>
            <a:picLocks noChangeAspect="1"/>
          </p:cNvPicPr>
          <p:nvPr/>
        </p:nvPicPr>
        <p:blipFill>
          <a:blip r:embed="rId5"/>
          <a:stretch>
            <a:fillRect/>
          </a:stretch>
        </p:blipFill>
        <p:spPr>
          <a:xfrm>
            <a:off x="6705227" y="1755648"/>
            <a:ext cx="2303510" cy="1463040"/>
          </a:xfrm>
          <a:prstGeom prst="rect">
            <a:avLst/>
          </a:prstGeom>
        </p:spPr>
      </p:pic>
      <p:pic>
        <p:nvPicPr>
          <p:cNvPr id="14" name="Image 5" descr="/Users/z5162865/WongLab/AlphaGenome_Ap1/Analysis/slide_figures/panels/s2_matched_null_c2_r1.png">    </p:cNvPr>
          <p:cNvPicPr>
            <a:picLocks noChangeAspect="1"/>
          </p:cNvPicPr>
          <p:nvPr/>
        </p:nvPicPr>
        <p:blipFill>
          <a:blip r:embed="rId6"/>
          <a:stretch>
            <a:fillRect/>
          </a:stretch>
        </p:blipFill>
        <p:spPr>
          <a:xfrm>
            <a:off x="6705227" y="3291840"/>
            <a:ext cx="2303510" cy="1463040"/>
          </a:xfrm>
          <a:prstGeom prst="rect">
            <a:avLst/>
          </a:prstGeom>
        </p:spPr>
      </p:pic>
      <p:sp>
        <p:nvSpPr>
          <p:cNvPr id="15" name="s2_matched_null-title-3"/>
          <p:cNvSpPr txBox="1"/>
          <p:nvPr/>
        </p:nvSpPr>
        <p:spPr>
          <a:xfrm>
            <a:off x="9148572"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6" name="s2_matched_null-sub-3"/>
          <p:cNvSpPr txBox="1"/>
          <p:nvPr/>
        </p:nvSpPr>
        <p:spPr>
          <a:xfrm>
            <a:off x="9148572"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7" name="Image 6" descr="/Users/z5162865/WongLab/AlphaGenome_Ap1/Analysis/slide_figures/panels/s2_matched_null_c3_r0.png">    </p:cNvPr>
          <p:cNvPicPr>
            <a:picLocks noChangeAspect="1"/>
          </p:cNvPicPr>
          <p:nvPr/>
        </p:nvPicPr>
        <p:blipFill>
          <a:blip r:embed="rId7"/>
          <a:stretch>
            <a:fillRect/>
          </a:stretch>
        </p:blipFill>
        <p:spPr>
          <a:xfrm>
            <a:off x="9215255" y="1755648"/>
            <a:ext cx="2303510" cy="1463040"/>
          </a:xfrm>
          <a:prstGeom prst="rect">
            <a:avLst/>
          </a:prstGeom>
        </p:spPr>
      </p:pic>
      <p:pic>
        <p:nvPicPr>
          <p:cNvPr id="18" name="Image 7" descr="/Users/z5162865/WongLab/AlphaGenome_Ap1/Analysis/slide_figures/panels/s2_matched_null_c3_r1.png">    </p:cNvPr>
          <p:cNvPicPr>
            <a:picLocks noChangeAspect="1"/>
          </p:cNvPicPr>
          <p:nvPr/>
        </p:nvPicPr>
        <p:blipFill>
          <a:blip r:embed="rId8"/>
          <a:stretch>
            <a:fillRect/>
          </a:stretch>
        </p:blipFill>
        <p:spPr>
          <a:xfrm>
            <a:off x="9215255" y="3291840"/>
            <a:ext cx="2303510" cy="1463040"/>
          </a:xfrm>
          <a:prstGeom prst="rect">
            <a:avLst/>
          </a:prstGeom>
        </p:spPr>
      </p:pic>
      <p:sp>
        <p:nvSpPr>
          <p:cNvPr id="19" name="s2_matched_null-row-0"/>
          <p:cNvSpPr txBox="1"/>
          <p:nvPr/>
        </p:nvSpPr>
        <p:spPr>
          <a:xfrm rot="16200000">
            <a:off x="48463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0" name="s2_matched_null-row-1"/>
          <p:cNvSpPr txBox="1"/>
          <p:nvPr/>
        </p:nvSpPr>
        <p:spPr>
          <a:xfrm rot="16200000">
            <a:off x="48463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1" name="s2_matched_null-dot-0"/>
          <p:cNvSpPr/>
          <p:nvPr/>
        </p:nvSpPr>
        <p:spPr>
          <a:xfrm>
            <a:off x="960120" y="4960620"/>
            <a:ext cx="109728" cy="109728"/>
          </a:xfrm>
          <a:prstGeom prst="ellipse">
            <a:avLst/>
          </a:prstGeom>
          <a:solidFill>
            <a:srgbClr val="4F4F4F"/>
          </a:solidFill>
          <a:ln w="12700">
            <a:solidFill>
              <a:srgbClr val="4F4F4F"/>
            </a:solidFill>
            <a:prstDash val="solid"/>
          </a:ln>
        </p:spPr>
      </p:sp>
      <p:sp>
        <p:nvSpPr>
          <p:cNvPr id="22" name="s2_matched_null-leg-0"/>
          <p:cNvSpPr txBox="1"/>
          <p:nvPr/>
        </p:nvSpPr>
        <p:spPr>
          <a:xfrm>
            <a:off x="111556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3" name="s2_matched_null-dot-1"/>
          <p:cNvSpPr/>
          <p:nvPr/>
        </p:nvSpPr>
        <p:spPr>
          <a:xfrm>
            <a:off x="2282342" y="4960620"/>
            <a:ext cx="109728" cy="109728"/>
          </a:xfrm>
          <a:prstGeom prst="ellipse">
            <a:avLst/>
          </a:prstGeom>
          <a:solidFill>
            <a:srgbClr val="C2551C"/>
          </a:solidFill>
          <a:ln w="12700">
            <a:solidFill>
              <a:srgbClr val="C2551C"/>
            </a:solidFill>
            <a:prstDash val="solid"/>
          </a:ln>
        </p:spPr>
      </p:sp>
      <p:sp>
        <p:nvSpPr>
          <p:cNvPr id="24" name="s2_matched_null-leg-1"/>
          <p:cNvSpPr txBox="1"/>
          <p:nvPr/>
        </p:nvSpPr>
        <p:spPr>
          <a:xfrm>
            <a:off x="243779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5" name="s2_matched_null-dot-2"/>
          <p:cNvSpPr/>
          <p:nvPr/>
        </p:nvSpPr>
        <p:spPr>
          <a:xfrm>
            <a:off x="3143707" y="4960620"/>
            <a:ext cx="109728" cy="109728"/>
          </a:xfrm>
          <a:prstGeom prst="ellipse">
            <a:avLst/>
          </a:prstGeom>
          <a:solidFill>
            <a:srgbClr val="1F6FB2"/>
          </a:solidFill>
          <a:ln w="12700">
            <a:solidFill>
              <a:srgbClr val="1F6FB2"/>
            </a:solidFill>
            <a:prstDash val="solid"/>
          </a:ln>
        </p:spPr>
      </p:sp>
      <p:sp>
        <p:nvSpPr>
          <p:cNvPr id="26" name="s2_matched_null-leg-2"/>
          <p:cNvSpPr txBox="1"/>
          <p:nvPr/>
        </p:nvSpPr>
        <p:spPr>
          <a:xfrm>
            <a:off x="329915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7" name="s2_matched_null-dot-3"/>
          <p:cNvSpPr/>
          <p:nvPr/>
        </p:nvSpPr>
        <p:spPr>
          <a:xfrm>
            <a:off x="4136746" y="4960620"/>
            <a:ext cx="109728" cy="109728"/>
          </a:xfrm>
          <a:prstGeom prst="ellipse">
            <a:avLst/>
          </a:prstGeom>
          <a:solidFill>
            <a:srgbClr val="2E7D32"/>
          </a:solidFill>
          <a:ln w="12700">
            <a:solidFill>
              <a:srgbClr val="2E7D32"/>
            </a:solidFill>
            <a:prstDash val="solid"/>
          </a:ln>
        </p:spPr>
      </p:sp>
      <p:sp>
        <p:nvSpPr>
          <p:cNvPr id="28" name="s2_matched_null-leg-3"/>
          <p:cNvSpPr txBox="1"/>
          <p:nvPr/>
        </p:nvSpPr>
        <p:spPr>
          <a:xfrm>
            <a:off x="429219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9" name="s2_matched_null-dot-4"/>
          <p:cNvSpPr/>
          <p:nvPr/>
        </p:nvSpPr>
        <p:spPr>
          <a:xfrm>
            <a:off x="5327294" y="4960620"/>
            <a:ext cx="109728" cy="109728"/>
          </a:xfrm>
          <a:prstGeom prst="ellipse">
            <a:avLst/>
          </a:prstGeom>
          <a:solidFill>
            <a:srgbClr val="7B3FA0"/>
          </a:solidFill>
          <a:ln w="12700">
            <a:solidFill>
              <a:srgbClr val="7B3FA0"/>
            </a:solidFill>
            <a:prstDash val="solid"/>
          </a:ln>
        </p:spPr>
      </p:sp>
      <p:sp>
        <p:nvSpPr>
          <p:cNvPr id="30" name="s2_matched_null-leg-4"/>
          <p:cNvSpPr txBox="1"/>
          <p:nvPr/>
        </p:nvSpPr>
        <p:spPr>
          <a:xfrm>
            <a:off x="548274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1" name="s2_matched_null-dot-5"/>
          <p:cNvSpPr/>
          <p:nvPr/>
        </p:nvSpPr>
        <p:spPr>
          <a:xfrm>
            <a:off x="6649517" y="4960620"/>
            <a:ext cx="109728" cy="109728"/>
          </a:xfrm>
          <a:prstGeom prst="ellipse">
            <a:avLst/>
          </a:prstGeom>
          <a:solidFill>
            <a:srgbClr val="B3B2AE"/>
          </a:solidFill>
          <a:ln w="12700">
            <a:solidFill>
              <a:srgbClr val="B3B2AE"/>
            </a:solidFill>
            <a:prstDash val="solid"/>
          </a:ln>
        </p:spPr>
      </p:sp>
      <p:sp>
        <p:nvSpPr>
          <p:cNvPr id="32" name="s2_matched_null-leg-5"/>
          <p:cNvSpPr txBox="1"/>
          <p:nvPr/>
        </p:nvSpPr>
        <p:spPr>
          <a:xfrm>
            <a:off x="680496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3" name="s2_matched_null-key"/>
          <p:cNvSpPr txBox="1"/>
          <p:nvPr/>
        </p:nvSpPr>
        <p:spPr>
          <a:xfrm>
            <a:off x="960120" y="5193792"/>
            <a:ext cx="106984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behaves the same way: the motif and the whole peak close up under matching, the 170 bp element does not — except Age Down, which closes up everywhere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sp>
        <p:nvSpPr>
          <p:cNvPr id="4" name="pa-t1"/>
          <p:cNvSpPr txBox="1"/>
          <p:nvPr/>
        </p:nvSpPr>
        <p:spPr>
          <a:xfrm>
            <a:off x="731520" y="205740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All sites, nothing controlled</a:t>
            </a:r>
            <a:endParaRPr lang="en-US" sz="1300" dirty="0"/>
          </a:p>
        </p:txBody>
      </p:sp>
      <p:pic>
        <p:nvPicPr>
          <p:cNvPr id="5" name="Image 1" descr="/Users/z5162865/WongLab/AlphaGenome_Ap1/Analysis/slide_figures/panels/s8_partners_all.png">    </p:cNvPr>
          <p:cNvPicPr>
            <a:picLocks noChangeAspect="1"/>
          </p:cNvPicPr>
          <p:nvPr/>
        </p:nvPicPr>
        <p:blipFill>
          <a:blip r:embed="rId2"/>
          <a:stretch>
            <a:fillRect/>
          </a:stretch>
        </p:blipFill>
        <p:spPr>
          <a:xfrm>
            <a:off x="1295400" y="2377440"/>
            <a:ext cx="3810000" cy="2743200"/>
          </a:xfrm>
          <a:prstGeom prst="rect">
            <a:avLst/>
          </a:prstGeom>
        </p:spPr>
      </p:pic>
      <p:sp>
        <p:nvSpPr>
          <p:cNvPr id="6" name="pa-t2"/>
          <p:cNvSpPr txBox="1"/>
          <p:nvPr/>
        </p:nvSpPr>
        <p:spPr>
          <a:xfrm>
            <a:off x="6309360" y="205740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Each class against its own matched Stable controls</a:t>
            </a:r>
            <a:endParaRPr lang="en-US" sz="1300" dirty="0"/>
          </a:p>
        </p:txBody>
      </p:sp>
      <p:pic>
        <p:nvPicPr>
          <p:cNvPr id="7" name="Image 2" descr="/Users/z5162865/WongLab/AlphaGenome_Ap1/Analysis/slide_figures/panels/s8_partners_matched.png">    </p:cNvPr>
          <p:cNvPicPr>
            <a:picLocks noChangeAspect="1"/>
          </p:cNvPicPr>
          <p:nvPr/>
        </p:nvPicPr>
        <p:blipFill>
          <a:blip r:embed="rId3"/>
          <a:stretch>
            <a:fillRect/>
          </a:stretch>
        </p:blipFill>
        <p:spPr>
          <a:xfrm>
            <a:off x="6964680" y="2377440"/>
            <a:ext cx="3810000" cy="2743200"/>
          </a:xfrm>
          <a:prstGeom prst="rect">
            <a:avLst/>
          </a:prstGeom>
        </p:spPr>
      </p:pic>
      <p:sp>
        <p:nvSpPr>
          <p:cNvPr id="8" name="lg-dot-5.68-0"/>
          <p:cNvSpPr/>
          <p:nvPr/>
        </p:nvSpPr>
        <p:spPr>
          <a:xfrm>
            <a:off x="731520" y="5234940"/>
            <a:ext cx="109728" cy="109728"/>
          </a:xfrm>
          <a:prstGeom prst="ellipse">
            <a:avLst/>
          </a:prstGeom>
          <a:solidFill>
            <a:srgbClr val="B3B2AE"/>
          </a:solidFill>
          <a:ln w="12700">
            <a:solidFill>
              <a:srgbClr val="B3B2AE"/>
            </a:solidFill>
            <a:prstDash val="solid"/>
          </a:ln>
        </p:spPr>
      </p:sp>
      <p:sp>
        <p:nvSpPr>
          <p:cNvPr id="9" name="lg-txt-5.68-0"/>
          <p:cNvSpPr txBox="1"/>
          <p:nvPr/>
        </p:nvSpPr>
        <p:spPr>
          <a:xfrm>
            <a:off x="886968" y="5193792"/>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10" name="lg-dot-5.68-1"/>
          <p:cNvSpPr/>
          <p:nvPr/>
        </p:nvSpPr>
        <p:spPr>
          <a:xfrm>
            <a:off x="1592885" y="5234940"/>
            <a:ext cx="109728" cy="109728"/>
          </a:xfrm>
          <a:prstGeom prst="ellipse">
            <a:avLst/>
          </a:prstGeom>
          <a:solidFill>
            <a:srgbClr val="C2551C"/>
          </a:solidFill>
          <a:ln w="12700">
            <a:solidFill>
              <a:srgbClr val="C2551C"/>
            </a:solidFill>
            <a:prstDash val="solid"/>
          </a:ln>
        </p:spPr>
      </p:sp>
      <p:sp>
        <p:nvSpPr>
          <p:cNvPr id="11" name="lg-txt-5.68-1"/>
          <p:cNvSpPr txBox="1"/>
          <p:nvPr/>
        </p:nvSpPr>
        <p:spPr>
          <a:xfrm>
            <a:off x="1748333" y="519379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2" name="lg-dot-5.68-2"/>
          <p:cNvSpPr/>
          <p:nvPr/>
        </p:nvSpPr>
        <p:spPr>
          <a:xfrm>
            <a:off x="2454250" y="5234940"/>
            <a:ext cx="109728" cy="109728"/>
          </a:xfrm>
          <a:prstGeom prst="ellipse">
            <a:avLst/>
          </a:prstGeom>
          <a:solidFill>
            <a:srgbClr val="1F6FB2"/>
          </a:solidFill>
          <a:ln w="12700">
            <a:solidFill>
              <a:srgbClr val="1F6FB2"/>
            </a:solidFill>
            <a:prstDash val="solid"/>
          </a:ln>
        </p:spPr>
      </p:sp>
      <p:sp>
        <p:nvSpPr>
          <p:cNvPr id="13" name="lg-txt-5.68-2"/>
          <p:cNvSpPr txBox="1"/>
          <p:nvPr/>
        </p:nvSpPr>
        <p:spPr>
          <a:xfrm>
            <a:off x="2609698" y="519379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4" name="lg-dot-5.68-3"/>
          <p:cNvSpPr/>
          <p:nvPr/>
        </p:nvSpPr>
        <p:spPr>
          <a:xfrm>
            <a:off x="3447288" y="5234940"/>
            <a:ext cx="109728" cy="109728"/>
          </a:xfrm>
          <a:prstGeom prst="ellipse">
            <a:avLst/>
          </a:prstGeom>
          <a:solidFill>
            <a:srgbClr val="2E7D32"/>
          </a:solidFill>
          <a:ln w="12700">
            <a:solidFill>
              <a:srgbClr val="2E7D32"/>
            </a:solidFill>
            <a:prstDash val="solid"/>
          </a:ln>
        </p:spPr>
      </p:sp>
      <p:sp>
        <p:nvSpPr>
          <p:cNvPr id="15" name="lg-txt-5.68-3"/>
          <p:cNvSpPr txBox="1"/>
          <p:nvPr/>
        </p:nvSpPr>
        <p:spPr>
          <a:xfrm>
            <a:off x="3602736" y="519379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6" name="lg-dot-5.68-4"/>
          <p:cNvSpPr/>
          <p:nvPr/>
        </p:nvSpPr>
        <p:spPr>
          <a:xfrm>
            <a:off x="4637837" y="5234940"/>
            <a:ext cx="109728" cy="109728"/>
          </a:xfrm>
          <a:prstGeom prst="ellipse">
            <a:avLst/>
          </a:prstGeom>
          <a:solidFill>
            <a:srgbClr val="7B3FA0"/>
          </a:solidFill>
          <a:ln w="12700">
            <a:solidFill>
              <a:srgbClr val="7B3FA0"/>
            </a:solidFill>
            <a:prstDash val="solid"/>
          </a:ln>
        </p:spPr>
      </p:sp>
      <p:sp>
        <p:nvSpPr>
          <p:cNvPr id="17" name="lg-txt-5.68-4"/>
          <p:cNvSpPr txBox="1"/>
          <p:nvPr/>
        </p:nvSpPr>
        <p:spPr>
          <a:xfrm>
            <a:off x="4793285" y="519379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8" name="pa-key"/>
          <p:cNvSpPr txBox="1"/>
          <p:nvPr/>
        </p:nvSpPr>
        <p:spPr>
          <a:xfrm>
            <a:off x="731520" y="5468112"/>
            <a:ext cx="1069848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40 class-by-family comparisons; smallest FDR 0.04, and only before matching</a:t>
            </a:r>
            <a:endParaRPr lang="en-US" sz="950" dirty="0"/>
          </a:p>
        </p:txBody>
      </p:sp>
      <p:sp>
        <p:nvSpPr>
          <p:cNvPr id="1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670048" y="1005840"/>
            <a:ext cx="38953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670048" y="1435608"/>
            <a:ext cx="38953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3465965" y="1755648"/>
            <a:ext cx="2303510" cy="1463040"/>
          </a:xfrm>
          <a:prstGeom prst="rect">
            <a:avLst/>
          </a:prstGeom>
        </p:spPr>
      </p:pic>
      <p:pic>
        <p:nvPicPr>
          <p:cNvPr id="6" name="Image 1" descr="/Users/z5162865/WongLab/AlphaGenome_Ap1/Analysis/slide_figures/panels/s9_mef2_by_class_c0_r1.png">    </p:cNvPr>
          <p:cNvPicPr>
            <a:picLocks noChangeAspect="1"/>
          </p:cNvPicPr>
          <p:nvPr/>
        </p:nvPicPr>
        <p:blipFill>
          <a:blip r:embed="rId2"/>
          <a:stretch>
            <a:fillRect/>
          </a:stretch>
        </p:blipFill>
        <p:spPr>
          <a:xfrm>
            <a:off x="3465965" y="3291840"/>
            <a:ext cx="2303510" cy="1463040"/>
          </a:xfrm>
          <a:prstGeom prst="rect">
            <a:avLst/>
          </a:prstGeom>
        </p:spPr>
      </p:pic>
      <p:sp>
        <p:nvSpPr>
          <p:cNvPr id="7" name="s9_mef2_by_class-title-1"/>
          <p:cNvSpPr txBox="1"/>
          <p:nvPr/>
        </p:nvSpPr>
        <p:spPr>
          <a:xfrm>
            <a:off x="6638544" y="1005840"/>
            <a:ext cx="38953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8" name="s9_mef2_by_class-sub-1"/>
          <p:cNvSpPr txBox="1"/>
          <p:nvPr/>
        </p:nvSpPr>
        <p:spPr>
          <a:xfrm>
            <a:off x="6638544" y="1435608"/>
            <a:ext cx="38953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9" name="Image 2" descr="/Users/z5162865/WongLab/AlphaGenome_Ap1/Analysis/slide_figures/panels/s9_mef2_by_class_c1_r0.png">    </p:cNvPr>
          <p:cNvPicPr>
            <a:picLocks noChangeAspect="1"/>
          </p:cNvPicPr>
          <p:nvPr/>
        </p:nvPicPr>
        <p:blipFill>
          <a:blip r:embed="rId3"/>
          <a:stretch>
            <a:fillRect/>
          </a:stretch>
        </p:blipFill>
        <p:spPr>
          <a:xfrm>
            <a:off x="7434461" y="1755648"/>
            <a:ext cx="2303510" cy="1463040"/>
          </a:xfrm>
          <a:prstGeom prst="rect">
            <a:avLst/>
          </a:prstGeom>
        </p:spPr>
      </p:pic>
      <p:pic>
        <p:nvPicPr>
          <p:cNvPr id="10" name="Image 3" descr="/Users/z5162865/WongLab/AlphaGenome_Ap1/Analysis/slide_figures/panels/s9_mef2_by_class_c1_r1.png">    </p:cNvPr>
          <p:cNvPicPr>
            <a:picLocks noChangeAspect="1"/>
          </p:cNvPicPr>
          <p:nvPr/>
        </p:nvPicPr>
        <p:blipFill>
          <a:blip r:embed="rId4"/>
          <a:stretch>
            <a:fillRect/>
          </a:stretch>
        </p:blipFill>
        <p:spPr>
          <a:xfrm>
            <a:off x="7434461" y="3291840"/>
            <a:ext cx="2303510" cy="1463040"/>
          </a:xfrm>
          <a:prstGeom prst="rect">
            <a:avLst/>
          </a:prstGeom>
        </p:spPr>
      </p:pic>
      <p:sp>
        <p:nvSpPr>
          <p:cNvPr id="11" name="s9_mef2_by_class-row-0"/>
          <p:cNvSpPr txBox="1"/>
          <p:nvPr/>
        </p:nvSpPr>
        <p:spPr>
          <a:xfrm rot="16200000">
            <a:off x="153619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12" name="s9_mef2_by_class-row-1"/>
          <p:cNvSpPr txBox="1"/>
          <p:nvPr/>
        </p:nvSpPr>
        <p:spPr>
          <a:xfrm rot="16200000">
            <a:off x="153619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13" name="s9_mef2_by_class-dot-0"/>
          <p:cNvSpPr/>
          <p:nvPr/>
        </p:nvSpPr>
        <p:spPr>
          <a:xfrm>
            <a:off x="2011680" y="4960620"/>
            <a:ext cx="109728" cy="109728"/>
          </a:xfrm>
          <a:prstGeom prst="ellipse">
            <a:avLst/>
          </a:prstGeom>
          <a:solidFill>
            <a:srgbClr val="4F4F4F"/>
          </a:solidFill>
          <a:ln w="12700">
            <a:solidFill>
              <a:srgbClr val="4F4F4F"/>
            </a:solidFill>
            <a:prstDash val="solid"/>
          </a:ln>
        </p:spPr>
      </p:sp>
      <p:sp>
        <p:nvSpPr>
          <p:cNvPr id="14" name="s9_mef2_by_class-leg-0"/>
          <p:cNvSpPr txBox="1"/>
          <p:nvPr/>
        </p:nvSpPr>
        <p:spPr>
          <a:xfrm>
            <a:off x="216712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5" name="s9_mef2_by_class-dot-1"/>
          <p:cNvSpPr/>
          <p:nvPr/>
        </p:nvSpPr>
        <p:spPr>
          <a:xfrm>
            <a:off x="3333902" y="4960620"/>
            <a:ext cx="109728" cy="109728"/>
          </a:xfrm>
          <a:prstGeom prst="ellipse">
            <a:avLst/>
          </a:prstGeom>
          <a:solidFill>
            <a:srgbClr val="C2551C"/>
          </a:solidFill>
          <a:ln w="12700">
            <a:solidFill>
              <a:srgbClr val="C2551C"/>
            </a:solidFill>
            <a:prstDash val="solid"/>
          </a:ln>
        </p:spPr>
      </p:sp>
      <p:sp>
        <p:nvSpPr>
          <p:cNvPr id="16" name="s9_mef2_by_class-leg-1"/>
          <p:cNvSpPr txBox="1"/>
          <p:nvPr/>
        </p:nvSpPr>
        <p:spPr>
          <a:xfrm>
            <a:off x="348935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7" name="s9_mef2_by_class-dot-2"/>
          <p:cNvSpPr/>
          <p:nvPr/>
        </p:nvSpPr>
        <p:spPr>
          <a:xfrm>
            <a:off x="4195267" y="4960620"/>
            <a:ext cx="109728" cy="109728"/>
          </a:xfrm>
          <a:prstGeom prst="ellipse">
            <a:avLst/>
          </a:prstGeom>
          <a:solidFill>
            <a:srgbClr val="1F6FB2"/>
          </a:solidFill>
          <a:ln w="12700">
            <a:solidFill>
              <a:srgbClr val="1F6FB2"/>
            </a:solidFill>
            <a:prstDash val="solid"/>
          </a:ln>
        </p:spPr>
      </p:sp>
      <p:sp>
        <p:nvSpPr>
          <p:cNvPr id="18" name="s9_mef2_by_class-leg-2"/>
          <p:cNvSpPr txBox="1"/>
          <p:nvPr/>
        </p:nvSpPr>
        <p:spPr>
          <a:xfrm>
            <a:off x="435071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9" name="s9_mef2_by_class-dot-3"/>
          <p:cNvSpPr/>
          <p:nvPr/>
        </p:nvSpPr>
        <p:spPr>
          <a:xfrm>
            <a:off x="5188306" y="4960620"/>
            <a:ext cx="109728" cy="109728"/>
          </a:xfrm>
          <a:prstGeom prst="ellipse">
            <a:avLst/>
          </a:prstGeom>
          <a:solidFill>
            <a:srgbClr val="2E7D32"/>
          </a:solidFill>
          <a:ln w="12700">
            <a:solidFill>
              <a:srgbClr val="2E7D32"/>
            </a:solidFill>
            <a:prstDash val="solid"/>
          </a:ln>
        </p:spPr>
      </p:sp>
      <p:sp>
        <p:nvSpPr>
          <p:cNvPr id="20" name="s9_mef2_by_class-leg-3"/>
          <p:cNvSpPr txBox="1"/>
          <p:nvPr/>
        </p:nvSpPr>
        <p:spPr>
          <a:xfrm>
            <a:off x="534375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1" name="s9_mef2_by_class-dot-4"/>
          <p:cNvSpPr/>
          <p:nvPr/>
        </p:nvSpPr>
        <p:spPr>
          <a:xfrm>
            <a:off x="6378854" y="4960620"/>
            <a:ext cx="109728" cy="109728"/>
          </a:xfrm>
          <a:prstGeom prst="ellipse">
            <a:avLst/>
          </a:prstGeom>
          <a:solidFill>
            <a:srgbClr val="7B3FA0"/>
          </a:solidFill>
          <a:ln w="12700">
            <a:solidFill>
              <a:srgbClr val="7B3FA0"/>
            </a:solidFill>
            <a:prstDash val="solid"/>
          </a:ln>
        </p:spPr>
      </p:sp>
      <p:sp>
        <p:nvSpPr>
          <p:cNvPr id="22" name="s9_mef2_by_class-leg-4"/>
          <p:cNvSpPr txBox="1"/>
          <p:nvPr/>
        </p:nvSpPr>
        <p:spPr>
          <a:xfrm>
            <a:off x="653430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3" name="s9_mef2_by_class-dot-5"/>
          <p:cNvSpPr/>
          <p:nvPr/>
        </p:nvSpPr>
        <p:spPr>
          <a:xfrm>
            <a:off x="7701077" y="4960620"/>
            <a:ext cx="109728" cy="109728"/>
          </a:xfrm>
          <a:prstGeom prst="ellipse">
            <a:avLst/>
          </a:prstGeom>
          <a:solidFill>
            <a:srgbClr val="B3B2AE"/>
          </a:solidFill>
          <a:ln w="12700">
            <a:solidFill>
              <a:srgbClr val="B3B2AE"/>
            </a:solidFill>
            <a:prstDash val="solid"/>
          </a:ln>
        </p:spPr>
      </p:sp>
      <p:sp>
        <p:nvSpPr>
          <p:cNvPr id="24" name="s9_mef2_by_class-leg-5"/>
          <p:cNvSpPr txBox="1"/>
          <p:nvPr/>
        </p:nvSpPr>
        <p:spPr>
          <a:xfrm>
            <a:off x="785652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25" name="s9_mef2_by_class-key"/>
          <p:cNvSpPr txBox="1"/>
          <p:nvPr/>
        </p:nvSpPr>
        <p:spPr>
          <a:xfrm>
            <a:off x="2011680" y="5193792"/>
            <a:ext cx="85953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with a 95% bootstrap CI.   grey dots (bottom row): that class's own matched controls.   Fisher on all sites, exact McNemar on matched pairs, BH across all 20 tests.   *** p&lt;0.001   ** p&lt;0.01   * p&lt;0.05   ns ≥ 0.05</a:t>
            </a:r>
            <a:endParaRPr lang="en-US" sz="900" dirty="0"/>
          </a:p>
        </p:txBody>
      </p:sp>
      <p:sp>
        <p:nvSpPr>
          <p:cNvPr id="2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3.2% against 10.5% of its matched controls, Exercise Down 1.2% against 9.8% — and the deficit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panels/d_profile.png">    </p:cNvPr>
          <p:cNvPicPr>
            <a:picLocks noChangeAspect="1"/>
          </p:cNvPicPr>
          <p:nvPr/>
        </p:nvPicPr>
        <p:blipFill>
          <a:blip r:embed="rId1"/>
          <a:stretch>
            <a:fillRect/>
          </a:stretch>
        </p:blipFill>
        <p:spPr>
          <a:xfrm>
            <a:off x="502920" y="1373869"/>
            <a:ext cx="2286000" cy="1915702"/>
          </a:xfrm>
          <a:prstGeom prst="rect">
            <a:avLst/>
          </a:prstGeom>
        </p:spPr>
      </p:pic>
      <p:sp>
        <p:nvSpPr>
          <p:cNvPr id="4" name="profile-caption"/>
          <p:cNvSpPr txBox="1"/>
          <p:nvPr/>
        </p:nvSpPr>
        <p:spPr>
          <a:xfrm>
            <a:off x="502920" y="3337560"/>
            <a:ext cx="2286000" cy="822960"/>
          </a:xfrm>
          <a:prstGeom prst="rect">
            <a:avLst/>
          </a:prstGeom>
          <a:noFill/>
          <a:ln/>
        </p:spPr>
        <p:txBody>
          <a:bodyPr wrap="square" lIns="0" tIns="0" rIns="0" bIns="0" rtlCol="0" anchor="ctr"/>
          <a:lstStyle/>
          <a:p>
            <a:pPr indent="0" marL="0">
              <a:buNone/>
            </a:pPr>
            <a:r>
              <a:rPr lang="en-US" sz="950" dirty="0">
                <a:solidFill>
                  <a:srgbClr val="595959"/>
                </a:solidFill>
              </a:rPr>
              <a:t>one site’s sliding-window profile: each bar is a 10 bp window replaced, shaded band = within ±85 bp of the motif</a:t>
            </a:r>
            <a:endParaRPr lang="en-US" sz="950" dirty="0"/>
          </a:p>
        </p:txBody>
      </p:sp>
      <p:sp>
        <p:nvSpPr>
          <p:cNvPr id="5" name="s3_dependence-title-0"/>
          <p:cNvSpPr txBox="1"/>
          <p:nvPr/>
        </p:nvSpPr>
        <p:spPr>
          <a:xfrm>
            <a:off x="3995928"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6" name="s3_dependence-sub-0"/>
          <p:cNvSpPr txBox="1"/>
          <p:nvPr/>
        </p:nvSpPr>
        <p:spPr>
          <a:xfrm>
            <a:off x="3995928"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7" name="Image 1" descr="/Users/z5162865/WongLab/AlphaGenome_Ap1/Analysis/slide_figures/panels/s3_dependence_c0_r0.png">    </p:cNvPr>
          <p:cNvPicPr>
            <a:picLocks noChangeAspect="1"/>
          </p:cNvPicPr>
          <p:nvPr/>
        </p:nvPicPr>
        <p:blipFill>
          <a:blip r:embed="rId2"/>
          <a:stretch>
            <a:fillRect/>
          </a:stretch>
        </p:blipFill>
        <p:spPr>
          <a:xfrm>
            <a:off x="3995928" y="1902045"/>
            <a:ext cx="1842516" cy="1170247"/>
          </a:xfrm>
          <a:prstGeom prst="rect">
            <a:avLst/>
          </a:prstGeom>
        </p:spPr>
      </p:pic>
      <p:pic>
        <p:nvPicPr>
          <p:cNvPr id="8" name="Image 2" descr="/Users/z5162865/WongLab/AlphaGenome_Ap1/Analysis/slide_figures/panels/s3_dependence_c0_r1.png">    </p:cNvPr>
          <p:cNvPicPr>
            <a:picLocks noChangeAspect="1"/>
          </p:cNvPicPr>
          <p:nvPr/>
        </p:nvPicPr>
        <p:blipFill>
          <a:blip r:embed="rId3"/>
          <a:stretch>
            <a:fillRect/>
          </a:stretch>
        </p:blipFill>
        <p:spPr>
          <a:xfrm>
            <a:off x="3995928" y="3438237"/>
            <a:ext cx="1842516" cy="1170247"/>
          </a:xfrm>
          <a:prstGeom prst="rect">
            <a:avLst/>
          </a:prstGeom>
        </p:spPr>
      </p:pic>
      <p:sp>
        <p:nvSpPr>
          <p:cNvPr id="9" name="s3_dependence-title-1"/>
          <p:cNvSpPr txBox="1"/>
          <p:nvPr/>
        </p:nvSpPr>
        <p:spPr>
          <a:xfrm>
            <a:off x="5911596"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10" name="s3_dependence-sub-1"/>
          <p:cNvSpPr txBox="1"/>
          <p:nvPr/>
        </p:nvSpPr>
        <p:spPr>
          <a:xfrm>
            <a:off x="5911596"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1" name="Image 3" descr="/Users/z5162865/WongLab/AlphaGenome_Ap1/Analysis/slide_figures/panels/s3_dependence_c1_r0.png">    </p:cNvPr>
          <p:cNvPicPr>
            <a:picLocks noChangeAspect="1"/>
          </p:cNvPicPr>
          <p:nvPr/>
        </p:nvPicPr>
        <p:blipFill>
          <a:blip r:embed="rId4"/>
          <a:stretch>
            <a:fillRect/>
          </a:stretch>
        </p:blipFill>
        <p:spPr>
          <a:xfrm>
            <a:off x="5911596" y="1902045"/>
            <a:ext cx="1842516" cy="1170247"/>
          </a:xfrm>
          <a:prstGeom prst="rect">
            <a:avLst/>
          </a:prstGeom>
        </p:spPr>
      </p:pic>
      <p:pic>
        <p:nvPicPr>
          <p:cNvPr id="12" name="Image 4" descr="/Users/z5162865/WongLab/AlphaGenome_Ap1/Analysis/slide_figures/panels/s3_dependence_c1_r1.png">    </p:cNvPr>
          <p:cNvPicPr>
            <a:picLocks noChangeAspect="1"/>
          </p:cNvPicPr>
          <p:nvPr/>
        </p:nvPicPr>
        <p:blipFill>
          <a:blip r:embed="rId5"/>
          <a:stretch>
            <a:fillRect/>
          </a:stretch>
        </p:blipFill>
        <p:spPr>
          <a:xfrm>
            <a:off x="5911596" y="3438237"/>
            <a:ext cx="1842516" cy="1170247"/>
          </a:xfrm>
          <a:prstGeom prst="rect">
            <a:avLst/>
          </a:prstGeom>
        </p:spPr>
      </p:pic>
      <p:sp>
        <p:nvSpPr>
          <p:cNvPr id="13" name="s3_dependence-title-2"/>
          <p:cNvSpPr txBox="1"/>
          <p:nvPr/>
        </p:nvSpPr>
        <p:spPr>
          <a:xfrm>
            <a:off x="7827264"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4" name="s3_dependence-sub-2"/>
          <p:cNvSpPr txBox="1"/>
          <p:nvPr/>
        </p:nvSpPr>
        <p:spPr>
          <a:xfrm>
            <a:off x="7827264"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5" name="Image 5" descr="/Users/z5162865/WongLab/AlphaGenome_Ap1/Analysis/slide_figures/panels/s3_dependence_c2_r0.png">    </p:cNvPr>
          <p:cNvPicPr>
            <a:picLocks noChangeAspect="1"/>
          </p:cNvPicPr>
          <p:nvPr/>
        </p:nvPicPr>
        <p:blipFill>
          <a:blip r:embed="rId6"/>
          <a:stretch>
            <a:fillRect/>
          </a:stretch>
        </p:blipFill>
        <p:spPr>
          <a:xfrm>
            <a:off x="7827264" y="1902045"/>
            <a:ext cx="1842516" cy="1170247"/>
          </a:xfrm>
          <a:prstGeom prst="rect">
            <a:avLst/>
          </a:prstGeom>
        </p:spPr>
      </p:pic>
      <p:pic>
        <p:nvPicPr>
          <p:cNvPr id="16" name="Image 6" descr="/Users/z5162865/WongLab/AlphaGenome_Ap1/Analysis/slide_figures/panels/s3_dependence_c2_r1.png">    </p:cNvPr>
          <p:cNvPicPr>
            <a:picLocks noChangeAspect="1"/>
          </p:cNvPicPr>
          <p:nvPr/>
        </p:nvPicPr>
        <p:blipFill>
          <a:blip r:embed="rId7"/>
          <a:stretch>
            <a:fillRect/>
          </a:stretch>
        </p:blipFill>
        <p:spPr>
          <a:xfrm>
            <a:off x="7827264" y="3438237"/>
            <a:ext cx="1842516" cy="1170247"/>
          </a:xfrm>
          <a:prstGeom prst="rect">
            <a:avLst/>
          </a:prstGeom>
        </p:spPr>
      </p:pic>
      <p:sp>
        <p:nvSpPr>
          <p:cNvPr id="17" name="s3_dependence-title-3"/>
          <p:cNvSpPr txBox="1"/>
          <p:nvPr/>
        </p:nvSpPr>
        <p:spPr>
          <a:xfrm>
            <a:off x="9742932"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8" name="s3_dependence-sub-3"/>
          <p:cNvSpPr txBox="1"/>
          <p:nvPr/>
        </p:nvSpPr>
        <p:spPr>
          <a:xfrm>
            <a:off x="9742932"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9" name="Image 7" descr="/Users/z5162865/WongLab/AlphaGenome_Ap1/Analysis/slide_figures/panels/s3_dependence_c3_r0.png">    </p:cNvPr>
          <p:cNvPicPr>
            <a:picLocks noChangeAspect="1"/>
          </p:cNvPicPr>
          <p:nvPr/>
        </p:nvPicPr>
        <p:blipFill>
          <a:blip r:embed="rId8"/>
          <a:stretch>
            <a:fillRect/>
          </a:stretch>
        </p:blipFill>
        <p:spPr>
          <a:xfrm>
            <a:off x="9742932" y="1902045"/>
            <a:ext cx="1842516" cy="1170247"/>
          </a:xfrm>
          <a:prstGeom prst="rect">
            <a:avLst/>
          </a:prstGeom>
        </p:spPr>
      </p:pic>
      <p:pic>
        <p:nvPicPr>
          <p:cNvPr id="20" name="Image 8" descr="/Users/z5162865/WongLab/AlphaGenome_Ap1/Analysis/slide_figures/panels/s3_dependence_c3_r1.png">    </p:cNvPr>
          <p:cNvPicPr>
            <a:picLocks noChangeAspect="1"/>
          </p:cNvPicPr>
          <p:nvPr/>
        </p:nvPicPr>
        <p:blipFill>
          <a:blip r:embed="rId9"/>
          <a:stretch>
            <a:fillRect/>
          </a:stretch>
        </p:blipFill>
        <p:spPr>
          <a:xfrm>
            <a:off x="9742932" y="3438237"/>
            <a:ext cx="1842516" cy="1170247"/>
          </a:xfrm>
          <a:prstGeom prst="rect">
            <a:avLst/>
          </a:prstGeom>
        </p:spPr>
      </p:pic>
      <p:sp>
        <p:nvSpPr>
          <p:cNvPr id="21" name="s3_dependence-row-0"/>
          <p:cNvSpPr txBox="1"/>
          <p:nvPr/>
        </p:nvSpPr>
        <p:spPr>
          <a:xfrm rot="16200000">
            <a:off x="295351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2" name="s3_dependence-row-1"/>
          <p:cNvSpPr txBox="1"/>
          <p:nvPr/>
        </p:nvSpPr>
        <p:spPr>
          <a:xfrm rot="16200000">
            <a:off x="295351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3" name="s3_dependence-dot-0"/>
          <p:cNvSpPr/>
          <p:nvPr/>
        </p:nvSpPr>
        <p:spPr>
          <a:xfrm>
            <a:off x="3429000" y="4960620"/>
            <a:ext cx="109728" cy="109728"/>
          </a:xfrm>
          <a:prstGeom prst="ellipse">
            <a:avLst/>
          </a:prstGeom>
          <a:solidFill>
            <a:srgbClr val="4F4F4F"/>
          </a:solidFill>
          <a:ln w="12700">
            <a:solidFill>
              <a:srgbClr val="4F4F4F"/>
            </a:solidFill>
            <a:prstDash val="solid"/>
          </a:ln>
        </p:spPr>
      </p:sp>
      <p:sp>
        <p:nvSpPr>
          <p:cNvPr id="24" name="s3_dependence-leg-0"/>
          <p:cNvSpPr txBox="1"/>
          <p:nvPr/>
        </p:nvSpPr>
        <p:spPr>
          <a:xfrm>
            <a:off x="358444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5" name="s3_dependence-dot-1"/>
          <p:cNvSpPr/>
          <p:nvPr/>
        </p:nvSpPr>
        <p:spPr>
          <a:xfrm>
            <a:off x="4751222" y="4960620"/>
            <a:ext cx="109728" cy="109728"/>
          </a:xfrm>
          <a:prstGeom prst="ellipse">
            <a:avLst/>
          </a:prstGeom>
          <a:solidFill>
            <a:srgbClr val="C2551C"/>
          </a:solidFill>
          <a:ln w="12700">
            <a:solidFill>
              <a:srgbClr val="C2551C"/>
            </a:solidFill>
            <a:prstDash val="solid"/>
          </a:ln>
        </p:spPr>
      </p:sp>
      <p:sp>
        <p:nvSpPr>
          <p:cNvPr id="26" name="s3_dependence-leg-1"/>
          <p:cNvSpPr txBox="1"/>
          <p:nvPr/>
        </p:nvSpPr>
        <p:spPr>
          <a:xfrm>
            <a:off x="490667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7" name="s3_dependence-dot-2"/>
          <p:cNvSpPr/>
          <p:nvPr/>
        </p:nvSpPr>
        <p:spPr>
          <a:xfrm>
            <a:off x="5612587" y="4960620"/>
            <a:ext cx="109728" cy="109728"/>
          </a:xfrm>
          <a:prstGeom prst="ellipse">
            <a:avLst/>
          </a:prstGeom>
          <a:solidFill>
            <a:srgbClr val="1F6FB2"/>
          </a:solidFill>
          <a:ln w="12700">
            <a:solidFill>
              <a:srgbClr val="1F6FB2"/>
            </a:solidFill>
            <a:prstDash val="solid"/>
          </a:ln>
        </p:spPr>
      </p:sp>
      <p:sp>
        <p:nvSpPr>
          <p:cNvPr id="28" name="s3_dependence-leg-2"/>
          <p:cNvSpPr txBox="1"/>
          <p:nvPr/>
        </p:nvSpPr>
        <p:spPr>
          <a:xfrm>
            <a:off x="576803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9" name="s3_dependence-dot-3"/>
          <p:cNvSpPr/>
          <p:nvPr/>
        </p:nvSpPr>
        <p:spPr>
          <a:xfrm>
            <a:off x="6605626" y="4960620"/>
            <a:ext cx="109728" cy="109728"/>
          </a:xfrm>
          <a:prstGeom prst="ellipse">
            <a:avLst/>
          </a:prstGeom>
          <a:solidFill>
            <a:srgbClr val="2E7D32"/>
          </a:solidFill>
          <a:ln w="12700">
            <a:solidFill>
              <a:srgbClr val="2E7D32"/>
            </a:solidFill>
            <a:prstDash val="solid"/>
          </a:ln>
        </p:spPr>
      </p:sp>
      <p:sp>
        <p:nvSpPr>
          <p:cNvPr id="30" name="s3_dependence-leg-3"/>
          <p:cNvSpPr txBox="1"/>
          <p:nvPr/>
        </p:nvSpPr>
        <p:spPr>
          <a:xfrm>
            <a:off x="676107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31" name="s3_dependence-dot-4"/>
          <p:cNvSpPr/>
          <p:nvPr/>
        </p:nvSpPr>
        <p:spPr>
          <a:xfrm>
            <a:off x="7796174" y="4960620"/>
            <a:ext cx="109728" cy="109728"/>
          </a:xfrm>
          <a:prstGeom prst="ellipse">
            <a:avLst/>
          </a:prstGeom>
          <a:solidFill>
            <a:srgbClr val="7B3FA0"/>
          </a:solidFill>
          <a:ln w="12700">
            <a:solidFill>
              <a:srgbClr val="7B3FA0"/>
            </a:solidFill>
            <a:prstDash val="solid"/>
          </a:ln>
        </p:spPr>
      </p:sp>
      <p:sp>
        <p:nvSpPr>
          <p:cNvPr id="32" name="s3_dependence-leg-4"/>
          <p:cNvSpPr txBox="1"/>
          <p:nvPr/>
        </p:nvSpPr>
        <p:spPr>
          <a:xfrm>
            <a:off x="795162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3" name="s3_dependence-dot-5"/>
          <p:cNvSpPr/>
          <p:nvPr/>
        </p:nvSpPr>
        <p:spPr>
          <a:xfrm>
            <a:off x="9118397" y="4960620"/>
            <a:ext cx="109728" cy="109728"/>
          </a:xfrm>
          <a:prstGeom prst="ellipse">
            <a:avLst/>
          </a:prstGeom>
          <a:solidFill>
            <a:srgbClr val="B3B2AE"/>
          </a:solidFill>
          <a:ln w="12700">
            <a:solidFill>
              <a:srgbClr val="B3B2AE"/>
            </a:solidFill>
            <a:prstDash val="solid"/>
          </a:ln>
        </p:spPr>
      </p:sp>
      <p:sp>
        <p:nvSpPr>
          <p:cNvPr id="34" name="s3_dependence-leg-5"/>
          <p:cNvSpPr txBox="1"/>
          <p:nvPr/>
        </p:nvSpPr>
        <p:spPr>
          <a:xfrm>
            <a:off x="927384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5" name="s3_dependence-key"/>
          <p:cNvSpPr txBox="1"/>
          <p:nvPr/>
        </p:nvSpPr>
        <p:spPr>
          <a:xfrm>
            <a:off x="3429000" y="5193792"/>
            <a:ext cx="822960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681728" y="1005840"/>
            <a:ext cx="343814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681728" y="1435608"/>
            <a:ext cx="343814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5249045" y="1755648"/>
            <a:ext cx="2303510" cy="1463040"/>
          </a:xfrm>
          <a:prstGeom prst="rect">
            <a:avLst/>
          </a:prstGeom>
        </p:spPr>
      </p:pic>
      <p:pic>
        <p:nvPicPr>
          <p:cNvPr id="11" name="Image 3" descr="/Users/z5162865/WongLab/AlphaGenome_Ap1/Analysis/slide_figures/panels/s4_titration_c0_r1.png">    </p:cNvPr>
          <p:cNvPicPr>
            <a:picLocks noChangeAspect="1"/>
          </p:cNvPicPr>
          <p:nvPr/>
        </p:nvPicPr>
        <p:blipFill>
          <a:blip r:embed="rId4"/>
          <a:stretch>
            <a:fillRect/>
          </a:stretch>
        </p:blipFill>
        <p:spPr>
          <a:xfrm>
            <a:off x="5249045" y="3291840"/>
            <a:ext cx="2303510" cy="1463040"/>
          </a:xfrm>
          <a:prstGeom prst="rect">
            <a:avLst/>
          </a:prstGeom>
        </p:spPr>
      </p:pic>
      <p:sp>
        <p:nvSpPr>
          <p:cNvPr id="12" name="s4_titration-title-1"/>
          <p:cNvSpPr txBox="1"/>
          <p:nvPr/>
        </p:nvSpPr>
        <p:spPr>
          <a:xfrm>
            <a:off x="8193024" y="1005840"/>
            <a:ext cx="343814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3" name="s4_titration-sub-1"/>
          <p:cNvSpPr txBox="1"/>
          <p:nvPr/>
        </p:nvSpPr>
        <p:spPr>
          <a:xfrm>
            <a:off x="8193024" y="1435608"/>
            <a:ext cx="343814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4" name="Image 4" descr="/Users/z5162865/WongLab/AlphaGenome_Ap1/Analysis/slide_figures/panels/s4_titration_c1_r0.png">    </p:cNvPr>
          <p:cNvPicPr>
            <a:picLocks noChangeAspect="1"/>
          </p:cNvPicPr>
          <p:nvPr/>
        </p:nvPicPr>
        <p:blipFill>
          <a:blip r:embed="rId5"/>
          <a:stretch>
            <a:fillRect/>
          </a:stretch>
        </p:blipFill>
        <p:spPr>
          <a:xfrm>
            <a:off x="8760341" y="1755648"/>
            <a:ext cx="2303510" cy="1463040"/>
          </a:xfrm>
          <a:prstGeom prst="rect">
            <a:avLst/>
          </a:prstGeom>
        </p:spPr>
      </p:pic>
      <p:pic>
        <p:nvPicPr>
          <p:cNvPr id="15" name="Image 5" descr="/Users/z5162865/WongLab/AlphaGenome_Ap1/Analysis/slide_figures/panels/s4_titration_c1_r1.png">    </p:cNvPr>
          <p:cNvPicPr>
            <a:picLocks noChangeAspect="1"/>
          </p:cNvPicPr>
          <p:nvPr/>
        </p:nvPicPr>
        <p:blipFill>
          <a:blip r:embed="rId6"/>
          <a:stretch>
            <a:fillRect/>
          </a:stretch>
        </p:blipFill>
        <p:spPr>
          <a:xfrm>
            <a:off x="8760341" y="3291840"/>
            <a:ext cx="2303510" cy="1463040"/>
          </a:xfrm>
          <a:prstGeom prst="rect">
            <a:avLst/>
          </a:prstGeom>
        </p:spPr>
      </p:pic>
      <p:sp>
        <p:nvSpPr>
          <p:cNvPr id="16" name="s4_titration-row-0"/>
          <p:cNvSpPr txBox="1"/>
          <p:nvPr/>
        </p:nvSpPr>
        <p:spPr>
          <a:xfrm rot="16200000">
            <a:off x="363931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17" name="s4_titration-row-1"/>
          <p:cNvSpPr txBox="1"/>
          <p:nvPr/>
        </p:nvSpPr>
        <p:spPr>
          <a:xfrm rot="16200000">
            <a:off x="363931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18" name="s4_titration-dot-0"/>
          <p:cNvSpPr/>
          <p:nvPr/>
        </p:nvSpPr>
        <p:spPr>
          <a:xfrm>
            <a:off x="4114800" y="4960620"/>
            <a:ext cx="109728" cy="109728"/>
          </a:xfrm>
          <a:prstGeom prst="ellipse">
            <a:avLst/>
          </a:prstGeom>
          <a:solidFill>
            <a:srgbClr val="4F4F4F"/>
          </a:solidFill>
          <a:ln w="12700">
            <a:solidFill>
              <a:srgbClr val="4F4F4F"/>
            </a:solidFill>
            <a:prstDash val="solid"/>
          </a:ln>
        </p:spPr>
      </p:sp>
      <p:sp>
        <p:nvSpPr>
          <p:cNvPr id="19" name="s4_titration-leg-0"/>
          <p:cNvSpPr txBox="1"/>
          <p:nvPr/>
        </p:nvSpPr>
        <p:spPr>
          <a:xfrm>
            <a:off x="4270248"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0" name="s4_titration-dot-1"/>
          <p:cNvSpPr/>
          <p:nvPr/>
        </p:nvSpPr>
        <p:spPr>
          <a:xfrm>
            <a:off x="5437022" y="4960620"/>
            <a:ext cx="109728" cy="109728"/>
          </a:xfrm>
          <a:prstGeom prst="ellipse">
            <a:avLst/>
          </a:prstGeom>
          <a:solidFill>
            <a:srgbClr val="C2551C"/>
          </a:solidFill>
          <a:ln w="12700">
            <a:solidFill>
              <a:srgbClr val="C2551C"/>
            </a:solidFill>
            <a:prstDash val="solid"/>
          </a:ln>
        </p:spPr>
      </p:sp>
      <p:sp>
        <p:nvSpPr>
          <p:cNvPr id="21" name="s4_titration-leg-1"/>
          <p:cNvSpPr txBox="1"/>
          <p:nvPr/>
        </p:nvSpPr>
        <p:spPr>
          <a:xfrm>
            <a:off x="5592470"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2" name="s4_titration-dot-2"/>
          <p:cNvSpPr/>
          <p:nvPr/>
        </p:nvSpPr>
        <p:spPr>
          <a:xfrm>
            <a:off x="6298387" y="4960620"/>
            <a:ext cx="109728" cy="109728"/>
          </a:xfrm>
          <a:prstGeom prst="ellipse">
            <a:avLst/>
          </a:prstGeom>
          <a:solidFill>
            <a:srgbClr val="1F6FB2"/>
          </a:solidFill>
          <a:ln w="12700">
            <a:solidFill>
              <a:srgbClr val="1F6FB2"/>
            </a:solidFill>
            <a:prstDash val="solid"/>
          </a:ln>
        </p:spPr>
      </p:sp>
      <p:sp>
        <p:nvSpPr>
          <p:cNvPr id="23" name="s4_titration-leg-2"/>
          <p:cNvSpPr txBox="1"/>
          <p:nvPr/>
        </p:nvSpPr>
        <p:spPr>
          <a:xfrm>
            <a:off x="6453835"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4" name="s4_titration-dot-3"/>
          <p:cNvSpPr/>
          <p:nvPr/>
        </p:nvSpPr>
        <p:spPr>
          <a:xfrm>
            <a:off x="7291426" y="4960620"/>
            <a:ext cx="109728" cy="109728"/>
          </a:xfrm>
          <a:prstGeom prst="ellipse">
            <a:avLst/>
          </a:prstGeom>
          <a:solidFill>
            <a:srgbClr val="2E7D32"/>
          </a:solidFill>
          <a:ln w="12700">
            <a:solidFill>
              <a:srgbClr val="2E7D32"/>
            </a:solidFill>
            <a:prstDash val="solid"/>
          </a:ln>
        </p:spPr>
      </p:sp>
      <p:sp>
        <p:nvSpPr>
          <p:cNvPr id="25" name="s4_titration-leg-3"/>
          <p:cNvSpPr txBox="1"/>
          <p:nvPr/>
        </p:nvSpPr>
        <p:spPr>
          <a:xfrm>
            <a:off x="7446874"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6" name="s4_titration-dot-4"/>
          <p:cNvSpPr/>
          <p:nvPr/>
        </p:nvSpPr>
        <p:spPr>
          <a:xfrm>
            <a:off x="8481974" y="4960620"/>
            <a:ext cx="109728" cy="109728"/>
          </a:xfrm>
          <a:prstGeom prst="ellipse">
            <a:avLst/>
          </a:prstGeom>
          <a:solidFill>
            <a:srgbClr val="7B3FA0"/>
          </a:solidFill>
          <a:ln w="12700">
            <a:solidFill>
              <a:srgbClr val="7B3FA0"/>
            </a:solidFill>
            <a:prstDash val="solid"/>
          </a:ln>
        </p:spPr>
      </p:sp>
      <p:sp>
        <p:nvSpPr>
          <p:cNvPr id="27" name="s4_titration-leg-4"/>
          <p:cNvSpPr txBox="1"/>
          <p:nvPr/>
        </p:nvSpPr>
        <p:spPr>
          <a:xfrm>
            <a:off x="8637422"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8" name="s4_titration-dot-5"/>
          <p:cNvSpPr/>
          <p:nvPr/>
        </p:nvSpPr>
        <p:spPr>
          <a:xfrm>
            <a:off x="9804197" y="4960620"/>
            <a:ext cx="109728" cy="109728"/>
          </a:xfrm>
          <a:prstGeom prst="ellipse">
            <a:avLst/>
          </a:prstGeom>
          <a:solidFill>
            <a:srgbClr val="B3B2AE"/>
          </a:solidFill>
          <a:ln w="12700">
            <a:solidFill>
              <a:srgbClr val="B3B2AE"/>
            </a:solidFill>
            <a:prstDash val="solid"/>
          </a:ln>
        </p:spPr>
      </p:sp>
      <p:sp>
        <p:nvSpPr>
          <p:cNvPr id="29" name="s4_titration-leg-5"/>
          <p:cNvSpPr txBox="1"/>
          <p:nvPr/>
        </p:nvSpPr>
        <p:spPr>
          <a:xfrm>
            <a:off x="9959645"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0" name="s4_titration-key"/>
          <p:cNvSpPr txBox="1"/>
          <p:nvPr/>
        </p:nvSpPr>
        <p:spPr>
          <a:xfrm>
            <a:off x="4114800" y="519379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20 tests.   *** p&lt;0.001   ** p&lt;0.01   * p&lt;0.05   ns ≥ 0.05</a:t>
            </a:r>
            <a:endParaRPr lang="en-US" sz="900" dirty="0"/>
          </a:p>
        </p:txBody>
      </p:sp>
      <p:sp>
        <p:nvSpPr>
          <p:cNvPr id="31"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 — and no class differs once context is matched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2026-10-23T01:07:47Z</dcterms:created>
  <dcterms:modified xsi:type="dcterms:W3CDTF">2026-10-23T01:07:47Z</dcterms:modified>
</cp:coreProperties>
</file>