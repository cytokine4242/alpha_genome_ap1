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2cd2afe-29fd-82c3-7880-fec3fa0d9a32}">
          <p14:sldIdLst>
            <p14:sldId id="256"/>
          </p14:sldIdLst>
        </p14:section>
        <p14:section name="Design" id="{9a105811-a1f9-2cd7-e5f3-533e4b6e9255}">
          <p14:sldIdLst>
            <p14:sldId id="257"/>
            <p14:sldId id="258"/>
            <p14:sldId id="259"/>
          </p14:sldIdLst>
        </p14:section>
        <p14:section name="Findings" id="{da75b2ea-f503-3ffa-21b8-538ca9e5d235}">
          <p14:sldIdLst>
            <p14:sldId id="260"/>
            <p14:sldId id="261"/>
            <p14:sldId id="262"/>
            <p14:sldId id="263"/>
            <p14:sldId id="264"/>
            <p14:sldId id="265"/>
            <p14:sldId id="266"/>
            <p14:sldId id="267"/>
            <p14:sldId id="268"/>
            <p14:sldId id="269"/>
          </p14:sldIdLst>
        </p14:section>
        <p14:section name="Conclusion" id="{e8f4fd0c-1965-5a89-4862-22e2524a15d0}">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demonstration, not a result: this element was chosen for legibility, not because it is typical. The footprint lane is what lets a window be attributed to a factor; families are stacked into lanes only where their footprints would otherwise overlap. The same scan is also read over the 11 bp motif and over the whole peak, and the titration and single-base experiments run on the same 3,678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does the element have one: Dynamic OR 0.58, Age Up 0.45, Exercise Down 0.56, all surviving BH. Given a MEF2 is present, every class ranks it in the top three about equally often (0.87-2.03, nothing significant). AP-1 given present: Dynamic 1.45x, FDR 0.036, with the direction repeating in all four directional classes (1.43-1.62). CTCF is the reason to keep the matched analysis in the report even though it is off the slides: OR 3.0-6.5 here with FDR &lt; 0.001, and exactly 1.0 once accessibility is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profiles on the left are what the four measures are read off. At the core (within 15 bp) every class loses less than Stable sites do: Age Down 0.73x, Exercise Up 0.76x, Exercise Down 0.78x, Dynamic 0.80x, Age Up 0.90x, all FDR &lt;= 0.016. Normalised to each site’s own total, the core share is barely different (0.93-1.00) but the flank share beyond 85 bp is higher in Age Up 1.31x, Exercise Down 1.29x and Dynamic 1.21x, all FDR &lt;= 0.0002, while Age Down is 0.99x. So Age Down is not a redistribution, it is a weaker element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thing at one real element</a:t>
            </a:r>
            <a:endParaRPr lang="en-US" sz="2800" dirty="0"/>
          </a:p>
        </p:txBody>
      </p:sp>
      <p:sp>
        <p:nvSpPr>
          <p:cNvPr id="3" name="ml-intro"/>
          <p:cNvSpPr txBox="1"/>
          <p:nvPr/>
        </p:nvSpPr>
        <p:spPr>
          <a:xfrm>
            <a:off x="731520" y="1024128"/>
            <a:ext cx="10881360" cy="475488"/>
          </a:xfrm>
          <a:prstGeom prst="rect">
            <a:avLst/>
          </a:prstGeom>
          <a:noFill/>
          <a:ln/>
        </p:spPr>
        <p:txBody>
          <a:bodyPr wrap="square" lIns="0" tIns="0" rIns="0" bIns="0" rtlCol="0" anchor="ctr"/>
          <a:lstStyle/>
          <a:p>
            <a:pPr indent="0" marL="0">
              <a:buNone/>
            </a:pPr>
            <a:r>
              <a:rPr lang="en-US" sz="1150" dirty="0">
                <a:solidFill>
                  <a:srgbClr val="595959"/>
                </a:solidFill>
              </a:rPr>
              <a:t>Every 10 bp window from −300 to +300 bp is replaced by random bases in turn, three times, and the bar is what the prediction loses over the surrounding 170 bp. Gold is the called AP-1 motif. The lane below is every other footprinted motif TOBIAS calls in this element, which is what the windows are read against.</a:t>
            </a:r>
            <a:endParaRPr lang="en-US" sz="1150" dirty="0"/>
          </a:p>
        </p:txBody>
      </p:sp>
      <p:pic>
        <p:nvPicPr>
          <p:cNvPr id="4" name="Image 0" descr="/Users/z5162865/WongLab/AlphaGenome_Ap1/Analysis/slide_figures/panels/s11_method_locus.png">    </p:cNvPr>
          <p:cNvPicPr>
            <a:picLocks noChangeAspect="1"/>
          </p:cNvPicPr>
          <p:nvPr/>
        </p:nvPicPr>
        <p:blipFill>
          <a:blip r:embed="rId1"/>
          <a:stretch>
            <a:fillRect/>
          </a:stretch>
        </p:blipFill>
        <p:spPr>
          <a:xfrm>
            <a:off x="594360" y="1737360"/>
            <a:ext cx="10972800" cy="3200400"/>
          </a:xfrm>
          <a:prstGeom prst="rect">
            <a:avLst/>
          </a:prstGeom>
        </p:spPr>
      </p:pic>
      <p:sp>
        <p:nvSpPr>
          <p:cNvPr id="5" name="ml-cap"/>
          <p:cNvSpPr txBox="1"/>
          <p:nvPr/>
        </p:nvSpPr>
        <p:spPr>
          <a:xfrm>
            <a:off x="731520" y="5074920"/>
            <a:ext cx="10881360" cy="274320"/>
          </a:xfrm>
          <a:prstGeom prst="rect">
            <a:avLst/>
          </a:prstGeom>
          <a:noFill/>
          <a:ln/>
        </p:spPr>
        <p:txBody>
          <a:bodyPr wrap="square" lIns="0" tIns="0" rIns="0" bIns="0" rtlCol="0" anchor="ctr"/>
          <a:lstStyle/>
          <a:p>
            <a:pPr indent="0" marL="0">
              <a:buNone/>
            </a:pPr>
            <a:r>
              <a:rPr lang="en-US" sz="1050" dirty="0">
                <a:solidFill>
                  <a:srgbClr val="111111"/>
                </a:solidFill>
              </a:rPr>
              <a:t>chr14:77,485,003 · a Stable cardiomyocyte AP-1 site · the motif window costs −1.71, the deepest of the 60</a:t>
            </a:r>
            <a:endParaRPr lang="en-US" sz="105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element, 60 windows, five footprinted families — everything that follows is this, repeated over 3,678 sites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lose less to every edit of their element</a:t>
            </a:r>
            <a:endParaRPr lang="en-US" sz="2800" dirty="0"/>
          </a:p>
        </p:txBody>
      </p:sp>
      <p:sp>
        <p:nvSpPr>
          <p:cNvPr id="3" name="ed-t"/>
          <p:cNvSpPr txBox="1"/>
          <p:nvPr/>
        </p:nvSpPr>
        <p:spPr>
          <a:xfrm>
            <a:off x="502920" y="987552"/>
            <a:ext cx="4937760" cy="256032"/>
          </a:xfrm>
          <a:prstGeom prst="rect">
            <a:avLst/>
          </a:prstGeom>
          <a:noFill/>
          <a:ln/>
        </p:spPr>
        <p:txBody>
          <a:bodyPr wrap="square" lIns="0" tIns="0" rIns="0" bIns="0" rtlCol="0" anchor="ctr"/>
          <a:lstStyle/>
          <a:p>
            <a:pPr indent="0" marL="0">
              <a:buNone/>
            </a:pPr>
            <a:r>
              <a:rPr lang="en-US" sz="1250" b="1" dirty="0">
                <a:solidFill>
                  <a:srgbClr val="111111"/>
                </a:solidFill>
              </a:rPr>
              <a:t>The three edits, and the control</a:t>
            </a:r>
            <a:endParaRPr lang="en-US" sz="1250" dirty="0"/>
          </a:p>
        </p:txBody>
      </p:sp>
      <p:pic>
        <p:nvPicPr>
          <p:cNvPr id="4" name="Image 0" descr="/Users/z5162865/WongLab/AlphaGenome_Ap1/Analysis/slide_figures/panels/d_edits.png">    </p:cNvPr>
          <p:cNvPicPr>
            <a:picLocks noChangeAspect="1"/>
          </p:cNvPicPr>
          <p:nvPr/>
        </p:nvPicPr>
        <p:blipFill>
          <a:blip r:embed="rId1"/>
          <a:stretch>
            <a:fillRect/>
          </a:stretch>
        </p:blipFill>
        <p:spPr>
          <a:xfrm>
            <a:off x="1008944" y="1261872"/>
            <a:ext cx="3925711" cy="1188720"/>
          </a:xfrm>
          <a:prstGeom prst="rect">
            <a:avLst/>
          </a:prstGeom>
        </p:spPr>
      </p:pic>
      <p:sp>
        <p:nvSpPr>
          <p:cNvPr id="5" name="s2_matched_null-title-0"/>
          <p:cNvSpPr txBox="1"/>
          <p:nvPr/>
        </p:nvSpPr>
        <p:spPr>
          <a:xfrm>
            <a:off x="612648"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6" name="s2_matched_null-sub-0"/>
          <p:cNvSpPr txBox="1"/>
          <p:nvPr/>
        </p:nvSpPr>
        <p:spPr>
          <a:xfrm>
            <a:off x="612648"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7" name="Image 1" descr="/Users/z5162865/WongLab/AlphaGenome_Ap1/Analysis/slide_figures/panels/s2_matched_null_c0_r0.png">    </p:cNvPr>
          <p:cNvPicPr>
            <a:picLocks noChangeAspect="1"/>
          </p:cNvPicPr>
          <p:nvPr/>
        </p:nvPicPr>
        <p:blipFill>
          <a:blip r:embed="rId2"/>
          <a:stretch>
            <a:fillRect/>
          </a:stretch>
        </p:blipFill>
        <p:spPr>
          <a:xfrm>
            <a:off x="1222553" y="3328416"/>
            <a:ext cx="1468526" cy="1335024"/>
          </a:xfrm>
          <a:prstGeom prst="rect">
            <a:avLst/>
          </a:prstGeom>
        </p:spPr>
      </p:pic>
      <p:sp>
        <p:nvSpPr>
          <p:cNvPr id="8" name="s2_matched_null-title-1"/>
          <p:cNvSpPr txBox="1"/>
          <p:nvPr/>
        </p:nvSpPr>
        <p:spPr>
          <a:xfrm>
            <a:off x="3374136"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9" name="s2_matched_null-sub-1"/>
          <p:cNvSpPr txBox="1"/>
          <p:nvPr/>
        </p:nvSpPr>
        <p:spPr>
          <a:xfrm>
            <a:off x="3374136"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10" name="Image 2" descr="/Users/z5162865/WongLab/AlphaGenome_Ap1/Analysis/slide_figures/panels/s2_matched_null_c1_r0.png">    </p:cNvPr>
          <p:cNvPicPr>
            <a:picLocks noChangeAspect="1"/>
          </p:cNvPicPr>
          <p:nvPr/>
        </p:nvPicPr>
        <p:blipFill>
          <a:blip r:embed="rId3"/>
          <a:stretch>
            <a:fillRect/>
          </a:stretch>
        </p:blipFill>
        <p:spPr>
          <a:xfrm>
            <a:off x="3984041" y="3328416"/>
            <a:ext cx="1468526" cy="1335024"/>
          </a:xfrm>
          <a:prstGeom prst="rect">
            <a:avLst/>
          </a:prstGeom>
        </p:spPr>
      </p:pic>
      <p:sp>
        <p:nvSpPr>
          <p:cNvPr id="11" name="s2_matched_null-title-2"/>
          <p:cNvSpPr txBox="1"/>
          <p:nvPr/>
        </p:nvSpPr>
        <p:spPr>
          <a:xfrm>
            <a:off x="6135624"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2" name="s2_matched_null-sub-2"/>
          <p:cNvSpPr txBox="1"/>
          <p:nvPr/>
        </p:nvSpPr>
        <p:spPr>
          <a:xfrm>
            <a:off x="6135624"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3" name="Image 3" descr="/Users/z5162865/WongLab/AlphaGenome_Ap1/Analysis/slide_figures/panels/s2_matched_null_c2_r0.png">    </p:cNvPr>
          <p:cNvPicPr>
            <a:picLocks noChangeAspect="1"/>
          </p:cNvPicPr>
          <p:nvPr/>
        </p:nvPicPr>
        <p:blipFill>
          <a:blip r:embed="rId4"/>
          <a:stretch>
            <a:fillRect/>
          </a:stretch>
        </p:blipFill>
        <p:spPr>
          <a:xfrm>
            <a:off x="6745529" y="3328416"/>
            <a:ext cx="1468526" cy="1335024"/>
          </a:xfrm>
          <a:prstGeom prst="rect">
            <a:avLst/>
          </a:prstGeom>
        </p:spPr>
      </p:pic>
      <p:sp>
        <p:nvSpPr>
          <p:cNvPr id="14" name="s2_matched_null-title-3"/>
          <p:cNvSpPr txBox="1"/>
          <p:nvPr/>
        </p:nvSpPr>
        <p:spPr>
          <a:xfrm>
            <a:off x="8897112"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5" name="s2_matched_null-sub-3"/>
          <p:cNvSpPr txBox="1"/>
          <p:nvPr/>
        </p:nvSpPr>
        <p:spPr>
          <a:xfrm>
            <a:off x="8897112"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6" name="Image 4" descr="/Users/z5162865/WongLab/AlphaGenome_Ap1/Analysis/slide_figures/panels/s2_matched_null_c3_r0.png">    </p:cNvPr>
          <p:cNvPicPr>
            <a:picLocks noChangeAspect="1"/>
          </p:cNvPicPr>
          <p:nvPr/>
        </p:nvPicPr>
        <p:blipFill>
          <a:blip r:embed="rId5"/>
          <a:stretch>
            <a:fillRect/>
          </a:stretch>
        </p:blipFill>
        <p:spPr>
          <a:xfrm>
            <a:off x="9507017" y="3328416"/>
            <a:ext cx="1468526" cy="1335024"/>
          </a:xfrm>
          <a:prstGeom prst="rect">
            <a:avLst/>
          </a:prstGeom>
        </p:spPr>
      </p:pic>
      <p:sp>
        <p:nvSpPr>
          <p:cNvPr id="17" name="s2_matched_null-dot-0"/>
          <p:cNvSpPr/>
          <p:nvPr/>
        </p:nvSpPr>
        <p:spPr>
          <a:xfrm>
            <a:off x="502920" y="4869180"/>
            <a:ext cx="109728" cy="109728"/>
          </a:xfrm>
          <a:prstGeom prst="ellipse">
            <a:avLst/>
          </a:prstGeom>
          <a:solidFill>
            <a:srgbClr val="4F4F4F"/>
          </a:solidFill>
          <a:ln w="12700">
            <a:solidFill>
              <a:srgbClr val="4F4F4F"/>
            </a:solidFill>
            <a:prstDash val="solid"/>
          </a:ln>
        </p:spPr>
      </p:sp>
      <p:sp>
        <p:nvSpPr>
          <p:cNvPr id="18" name="s2_matched_null-leg-0"/>
          <p:cNvSpPr txBox="1"/>
          <p:nvPr/>
        </p:nvSpPr>
        <p:spPr>
          <a:xfrm>
            <a:off x="658368" y="482803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9" name="s2_matched_null-dot-1"/>
          <p:cNvSpPr/>
          <p:nvPr/>
        </p:nvSpPr>
        <p:spPr>
          <a:xfrm>
            <a:off x="1825142" y="4869180"/>
            <a:ext cx="109728" cy="109728"/>
          </a:xfrm>
          <a:prstGeom prst="ellipse">
            <a:avLst/>
          </a:prstGeom>
          <a:solidFill>
            <a:srgbClr val="C2551C"/>
          </a:solidFill>
          <a:ln w="12700">
            <a:solidFill>
              <a:srgbClr val="C2551C"/>
            </a:solidFill>
            <a:prstDash val="solid"/>
          </a:ln>
        </p:spPr>
      </p:sp>
      <p:sp>
        <p:nvSpPr>
          <p:cNvPr id="20" name="s2_matched_null-leg-1"/>
          <p:cNvSpPr txBox="1"/>
          <p:nvPr/>
        </p:nvSpPr>
        <p:spPr>
          <a:xfrm>
            <a:off x="1980590" y="482803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1" name="s2_matched_null-dot-2"/>
          <p:cNvSpPr/>
          <p:nvPr/>
        </p:nvSpPr>
        <p:spPr>
          <a:xfrm>
            <a:off x="2686507" y="4869180"/>
            <a:ext cx="109728" cy="109728"/>
          </a:xfrm>
          <a:prstGeom prst="ellipse">
            <a:avLst/>
          </a:prstGeom>
          <a:solidFill>
            <a:srgbClr val="1F6FB2"/>
          </a:solidFill>
          <a:ln w="12700">
            <a:solidFill>
              <a:srgbClr val="1F6FB2"/>
            </a:solidFill>
            <a:prstDash val="solid"/>
          </a:ln>
        </p:spPr>
      </p:sp>
      <p:sp>
        <p:nvSpPr>
          <p:cNvPr id="22" name="s2_matched_null-leg-2"/>
          <p:cNvSpPr txBox="1"/>
          <p:nvPr/>
        </p:nvSpPr>
        <p:spPr>
          <a:xfrm>
            <a:off x="2841955" y="482803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3" name="s2_matched_null-dot-3"/>
          <p:cNvSpPr/>
          <p:nvPr/>
        </p:nvSpPr>
        <p:spPr>
          <a:xfrm>
            <a:off x="3679546" y="4869180"/>
            <a:ext cx="109728" cy="109728"/>
          </a:xfrm>
          <a:prstGeom prst="ellipse">
            <a:avLst/>
          </a:prstGeom>
          <a:solidFill>
            <a:srgbClr val="2E7D32"/>
          </a:solidFill>
          <a:ln w="12700">
            <a:solidFill>
              <a:srgbClr val="2E7D32"/>
            </a:solidFill>
            <a:prstDash val="solid"/>
          </a:ln>
        </p:spPr>
      </p:sp>
      <p:sp>
        <p:nvSpPr>
          <p:cNvPr id="24" name="s2_matched_null-leg-3"/>
          <p:cNvSpPr txBox="1"/>
          <p:nvPr/>
        </p:nvSpPr>
        <p:spPr>
          <a:xfrm>
            <a:off x="3834994" y="482803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5" name="s2_matched_null-dot-4"/>
          <p:cNvSpPr/>
          <p:nvPr/>
        </p:nvSpPr>
        <p:spPr>
          <a:xfrm>
            <a:off x="4870094" y="4869180"/>
            <a:ext cx="109728" cy="109728"/>
          </a:xfrm>
          <a:prstGeom prst="ellipse">
            <a:avLst/>
          </a:prstGeom>
          <a:solidFill>
            <a:srgbClr val="7B3FA0"/>
          </a:solidFill>
          <a:ln w="12700">
            <a:solidFill>
              <a:srgbClr val="7B3FA0"/>
            </a:solidFill>
            <a:prstDash val="solid"/>
          </a:ln>
        </p:spPr>
      </p:sp>
      <p:sp>
        <p:nvSpPr>
          <p:cNvPr id="26" name="s2_matched_null-leg-4"/>
          <p:cNvSpPr txBox="1"/>
          <p:nvPr/>
        </p:nvSpPr>
        <p:spPr>
          <a:xfrm>
            <a:off x="5025542" y="482803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7" name="s2_matched_null-dot-5"/>
          <p:cNvSpPr/>
          <p:nvPr/>
        </p:nvSpPr>
        <p:spPr>
          <a:xfrm>
            <a:off x="6192317" y="4869180"/>
            <a:ext cx="109728" cy="109728"/>
          </a:xfrm>
          <a:prstGeom prst="ellipse">
            <a:avLst/>
          </a:prstGeom>
          <a:solidFill>
            <a:srgbClr val="B3B2AE"/>
          </a:solidFill>
          <a:ln w="12700">
            <a:solidFill>
              <a:srgbClr val="B3B2AE"/>
            </a:solidFill>
            <a:prstDash val="solid"/>
          </a:ln>
        </p:spPr>
      </p:sp>
      <p:sp>
        <p:nvSpPr>
          <p:cNvPr id="28" name="s2_matched_null-leg-5"/>
          <p:cNvSpPr txBox="1"/>
          <p:nvPr/>
        </p:nvSpPr>
        <p:spPr>
          <a:xfrm>
            <a:off x="6347765" y="482803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9" name="s2_matched_null-key"/>
          <p:cNvSpPr txBox="1"/>
          <p:nvPr/>
        </p:nvSpPr>
        <p:spPr>
          <a:xfrm>
            <a:off x="502920" y="5102352"/>
            <a:ext cx="11155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3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loses less than Stable sites do at every scale, and the 300 bp control shows it is not a global offset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panels/s8_partners_all.png">    </p:cNvPr>
          <p:cNvPicPr>
            <a:picLocks noChangeAspect="1"/>
          </p:cNvPicPr>
          <p:nvPr/>
        </p:nvPicPr>
        <p:blipFill>
          <a:blip r:embed="rId2"/>
          <a:stretch>
            <a:fillRect/>
          </a:stretch>
        </p:blipFill>
        <p:spPr>
          <a:xfrm>
            <a:off x="3953510" y="2103120"/>
            <a:ext cx="4254500" cy="3063240"/>
          </a:xfrm>
          <a:prstGeom prst="rect">
            <a:avLst/>
          </a:prstGeom>
        </p:spPr>
      </p:pic>
      <p:sp>
        <p:nvSpPr>
          <p:cNvPr id="5" name="lg-dot-5.72-0"/>
          <p:cNvSpPr/>
          <p:nvPr/>
        </p:nvSpPr>
        <p:spPr>
          <a:xfrm>
            <a:off x="1280160" y="5271516"/>
            <a:ext cx="109728" cy="109728"/>
          </a:xfrm>
          <a:prstGeom prst="ellipse">
            <a:avLst/>
          </a:prstGeom>
          <a:solidFill>
            <a:srgbClr val="B3B2AE"/>
          </a:solidFill>
          <a:ln w="12700">
            <a:solidFill>
              <a:srgbClr val="B3B2AE"/>
            </a:solidFill>
            <a:prstDash val="solid"/>
          </a:ln>
        </p:spPr>
      </p:sp>
      <p:sp>
        <p:nvSpPr>
          <p:cNvPr id="6" name="lg-txt-5.72-0"/>
          <p:cNvSpPr txBox="1"/>
          <p:nvPr/>
        </p:nvSpPr>
        <p:spPr>
          <a:xfrm>
            <a:off x="1435608"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7" name="lg-dot-5.72-1"/>
          <p:cNvSpPr/>
          <p:nvPr/>
        </p:nvSpPr>
        <p:spPr>
          <a:xfrm>
            <a:off x="2141525" y="5271516"/>
            <a:ext cx="109728" cy="109728"/>
          </a:xfrm>
          <a:prstGeom prst="ellipse">
            <a:avLst/>
          </a:prstGeom>
          <a:solidFill>
            <a:srgbClr val="C2551C"/>
          </a:solidFill>
          <a:ln w="12700">
            <a:solidFill>
              <a:srgbClr val="C2551C"/>
            </a:solidFill>
            <a:prstDash val="solid"/>
          </a:ln>
        </p:spPr>
      </p:sp>
      <p:sp>
        <p:nvSpPr>
          <p:cNvPr id="8" name="lg-txt-5.72-1"/>
          <p:cNvSpPr txBox="1"/>
          <p:nvPr/>
        </p:nvSpPr>
        <p:spPr>
          <a:xfrm>
            <a:off x="2296973"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9" name="lg-dot-5.72-2"/>
          <p:cNvSpPr/>
          <p:nvPr/>
        </p:nvSpPr>
        <p:spPr>
          <a:xfrm>
            <a:off x="3002890" y="5271516"/>
            <a:ext cx="109728" cy="109728"/>
          </a:xfrm>
          <a:prstGeom prst="ellipse">
            <a:avLst/>
          </a:prstGeom>
          <a:solidFill>
            <a:srgbClr val="1F6FB2"/>
          </a:solidFill>
          <a:ln w="12700">
            <a:solidFill>
              <a:srgbClr val="1F6FB2"/>
            </a:solidFill>
            <a:prstDash val="solid"/>
          </a:ln>
        </p:spPr>
      </p:sp>
      <p:sp>
        <p:nvSpPr>
          <p:cNvPr id="10" name="lg-txt-5.72-2"/>
          <p:cNvSpPr txBox="1"/>
          <p:nvPr/>
        </p:nvSpPr>
        <p:spPr>
          <a:xfrm>
            <a:off x="3158338" y="5230368"/>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1" name="lg-dot-5.72-3"/>
          <p:cNvSpPr/>
          <p:nvPr/>
        </p:nvSpPr>
        <p:spPr>
          <a:xfrm>
            <a:off x="3995928" y="5271516"/>
            <a:ext cx="109728" cy="109728"/>
          </a:xfrm>
          <a:prstGeom prst="ellipse">
            <a:avLst/>
          </a:prstGeom>
          <a:solidFill>
            <a:srgbClr val="2E7D32"/>
          </a:solidFill>
          <a:ln w="12700">
            <a:solidFill>
              <a:srgbClr val="2E7D32"/>
            </a:solidFill>
            <a:prstDash val="solid"/>
          </a:ln>
        </p:spPr>
      </p:sp>
      <p:sp>
        <p:nvSpPr>
          <p:cNvPr id="12" name="lg-txt-5.72-3"/>
          <p:cNvSpPr txBox="1"/>
          <p:nvPr/>
        </p:nvSpPr>
        <p:spPr>
          <a:xfrm>
            <a:off x="4151376" y="5230368"/>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3" name="lg-dot-5.72-4"/>
          <p:cNvSpPr/>
          <p:nvPr/>
        </p:nvSpPr>
        <p:spPr>
          <a:xfrm>
            <a:off x="5186477" y="5271516"/>
            <a:ext cx="109728" cy="109728"/>
          </a:xfrm>
          <a:prstGeom prst="ellipse">
            <a:avLst/>
          </a:prstGeom>
          <a:solidFill>
            <a:srgbClr val="7B3FA0"/>
          </a:solidFill>
          <a:ln w="12700">
            <a:solidFill>
              <a:srgbClr val="7B3FA0"/>
            </a:solidFill>
            <a:prstDash val="solid"/>
          </a:ln>
        </p:spPr>
      </p:sp>
      <p:sp>
        <p:nvSpPr>
          <p:cNvPr id="14" name="lg-txt-5.72-4"/>
          <p:cNvSpPr txBox="1"/>
          <p:nvPr/>
        </p:nvSpPr>
        <p:spPr>
          <a:xfrm>
            <a:off x="5341925" y="5230368"/>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5" name="pa-key"/>
          <p:cNvSpPr txBox="1"/>
          <p:nvPr/>
        </p:nvSpPr>
        <p:spPr>
          <a:xfrm>
            <a:off x="1280160" y="5504688"/>
            <a:ext cx="1014984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20 class-by-family comparisons, smallest FDR 0.02</a:t>
            </a:r>
            <a:endParaRPr lang="en-US" sz="950" dirty="0"/>
          </a:p>
        </p:txBody>
      </p:sp>
      <p:sp>
        <p:nvSpPr>
          <p:cNvPr id="1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487168"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487168"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2771546" y="1892808"/>
            <a:ext cx="3097987" cy="2816352"/>
          </a:xfrm>
          <a:prstGeom prst="rect">
            <a:avLst/>
          </a:prstGeom>
        </p:spPr>
      </p:pic>
      <p:sp>
        <p:nvSpPr>
          <p:cNvPr id="6" name="s9_mef2_by_class-title-1"/>
          <p:cNvSpPr txBox="1"/>
          <p:nvPr/>
        </p:nvSpPr>
        <p:spPr>
          <a:xfrm>
            <a:off x="6227064"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7" name="s9_mef2_by_class-sub-1"/>
          <p:cNvSpPr txBox="1"/>
          <p:nvPr/>
        </p:nvSpPr>
        <p:spPr>
          <a:xfrm>
            <a:off x="6227064"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8" name="Image 1" descr="/Users/z5162865/WongLab/AlphaGenome_Ap1/Analysis/slide_figures/panels/s9_mef2_by_class_c1_r0.png">    </p:cNvPr>
          <p:cNvPicPr>
            <a:picLocks noChangeAspect="1"/>
          </p:cNvPicPr>
          <p:nvPr/>
        </p:nvPicPr>
        <p:blipFill>
          <a:blip r:embed="rId2"/>
          <a:stretch>
            <a:fillRect/>
          </a:stretch>
        </p:blipFill>
        <p:spPr>
          <a:xfrm>
            <a:off x="6511442" y="1892808"/>
            <a:ext cx="3097987" cy="2816352"/>
          </a:xfrm>
          <a:prstGeom prst="rect">
            <a:avLst/>
          </a:prstGeom>
        </p:spPr>
      </p:pic>
      <p:sp>
        <p:nvSpPr>
          <p:cNvPr id="9" name="s9_mef2_by_class-dot-0"/>
          <p:cNvSpPr/>
          <p:nvPr/>
        </p:nvSpPr>
        <p:spPr>
          <a:xfrm>
            <a:off x="2377440" y="4914900"/>
            <a:ext cx="109728" cy="109728"/>
          </a:xfrm>
          <a:prstGeom prst="ellipse">
            <a:avLst/>
          </a:prstGeom>
          <a:solidFill>
            <a:srgbClr val="4F4F4F"/>
          </a:solidFill>
          <a:ln w="12700">
            <a:solidFill>
              <a:srgbClr val="4F4F4F"/>
            </a:solidFill>
            <a:prstDash val="solid"/>
          </a:ln>
        </p:spPr>
      </p:sp>
      <p:sp>
        <p:nvSpPr>
          <p:cNvPr id="10" name="s9_mef2_by_class-leg-0"/>
          <p:cNvSpPr txBox="1"/>
          <p:nvPr/>
        </p:nvSpPr>
        <p:spPr>
          <a:xfrm>
            <a:off x="25328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1" name="s9_mef2_by_class-dot-1"/>
          <p:cNvSpPr/>
          <p:nvPr/>
        </p:nvSpPr>
        <p:spPr>
          <a:xfrm>
            <a:off x="3699662" y="4914900"/>
            <a:ext cx="109728" cy="109728"/>
          </a:xfrm>
          <a:prstGeom prst="ellipse">
            <a:avLst/>
          </a:prstGeom>
          <a:solidFill>
            <a:srgbClr val="C2551C"/>
          </a:solidFill>
          <a:ln w="12700">
            <a:solidFill>
              <a:srgbClr val="C2551C"/>
            </a:solidFill>
            <a:prstDash val="solid"/>
          </a:ln>
        </p:spPr>
      </p:sp>
      <p:sp>
        <p:nvSpPr>
          <p:cNvPr id="12" name="s9_mef2_by_class-leg-1"/>
          <p:cNvSpPr txBox="1"/>
          <p:nvPr/>
        </p:nvSpPr>
        <p:spPr>
          <a:xfrm>
            <a:off x="38551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3" name="s9_mef2_by_class-dot-2"/>
          <p:cNvSpPr/>
          <p:nvPr/>
        </p:nvSpPr>
        <p:spPr>
          <a:xfrm>
            <a:off x="4561027" y="4914900"/>
            <a:ext cx="109728" cy="109728"/>
          </a:xfrm>
          <a:prstGeom prst="ellipse">
            <a:avLst/>
          </a:prstGeom>
          <a:solidFill>
            <a:srgbClr val="1F6FB2"/>
          </a:solidFill>
          <a:ln w="12700">
            <a:solidFill>
              <a:srgbClr val="1F6FB2"/>
            </a:solidFill>
            <a:prstDash val="solid"/>
          </a:ln>
        </p:spPr>
      </p:sp>
      <p:sp>
        <p:nvSpPr>
          <p:cNvPr id="14" name="s9_mef2_by_class-leg-2"/>
          <p:cNvSpPr txBox="1"/>
          <p:nvPr/>
        </p:nvSpPr>
        <p:spPr>
          <a:xfrm>
            <a:off x="47164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5" name="s9_mef2_by_class-dot-3"/>
          <p:cNvSpPr/>
          <p:nvPr/>
        </p:nvSpPr>
        <p:spPr>
          <a:xfrm>
            <a:off x="5554066" y="4914900"/>
            <a:ext cx="109728" cy="109728"/>
          </a:xfrm>
          <a:prstGeom prst="ellipse">
            <a:avLst/>
          </a:prstGeom>
          <a:solidFill>
            <a:srgbClr val="2E7D32"/>
          </a:solidFill>
          <a:ln w="12700">
            <a:solidFill>
              <a:srgbClr val="2E7D32"/>
            </a:solidFill>
            <a:prstDash val="solid"/>
          </a:ln>
        </p:spPr>
      </p:sp>
      <p:sp>
        <p:nvSpPr>
          <p:cNvPr id="16" name="s9_mef2_by_class-leg-3"/>
          <p:cNvSpPr txBox="1"/>
          <p:nvPr/>
        </p:nvSpPr>
        <p:spPr>
          <a:xfrm>
            <a:off x="57095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7" name="s9_mef2_by_class-dot-4"/>
          <p:cNvSpPr/>
          <p:nvPr/>
        </p:nvSpPr>
        <p:spPr>
          <a:xfrm>
            <a:off x="6744614" y="4914900"/>
            <a:ext cx="109728" cy="109728"/>
          </a:xfrm>
          <a:prstGeom prst="ellipse">
            <a:avLst/>
          </a:prstGeom>
          <a:solidFill>
            <a:srgbClr val="7B3FA0"/>
          </a:solidFill>
          <a:ln w="12700">
            <a:solidFill>
              <a:srgbClr val="7B3FA0"/>
            </a:solidFill>
            <a:prstDash val="solid"/>
          </a:ln>
        </p:spPr>
      </p:sp>
      <p:sp>
        <p:nvSpPr>
          <p:cNvPr id="18" name="s9_mef2_by_class-leg-4"/>
          <p:cNvSpPr txBox="1"/>
          <p:nvPr/>
        </p:nvSpPr>
        <p:spPr>
          <a:xfrm>
            <a:off x="69000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9" name="s9_mef2_by_class-dot-5"/>
          <p:cNvSpPr/>
          <p:nvPr/>
        </p:nvSpPr>
        <p:spPr>
          <a:xfrm>
            <a:off x="8066837" y="4914900"/>
            <a:ext cx="109728" cy="109728"/>
          </a:xfrm>
          <a:prstGeom prst="ellipse">
            <a:avLst/>
          </a:prstGeom>
          <a:solidFill>
            <a:srgbClr val="B3B2AE"/>
          </a:solidFill>
          <a:ln w="12700">
            <a:solidFill>
              <a:srgbClr val="B3B2AE"/>
            </a:solidFill>
            <a:prstDash val="solid"/>
          </a:ln>
        </p:spPr>
      </p:sp>
      <p:sp>
        <p:nvSpPr>
          <p:cNvPr id="20" name="s9_mef2_by_class-leg-5"/>
          <p:cNvSpPr txBox="1"/>
          <p:nvPr/>
        </p:nvSpPr>
        <p:spPr>
          <a:xfrm>
            <a:off x="82222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1" name="s9_mef2_by_class-key"/>
          <p:cNvSpPr txBox="1"/>
          <p:nvPr/>
        </p:nvSpPr>
        <p:spPr>
          <a:xfrm>
            <a:off x="2377440" y="514807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with a 95% bootstrap CI.   Fisher's exact test against that reference, BH across all 10 tests on this figure.   *** p&lt;0.001   ** p&lt;0.01   * p&lt;0.05   ns ≥ 0.05</a:t>
            </a:r>
            <a:endParaRPr lang="en-US" sz="900" dirty="0"/>
          </a:p>
        </p:txBody>
      </p:sp>
      <p:sp>
        <p:nvSpPr>
          <p:cNvPr id="2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5.8% and Exercise Down 5.4% carry a close MEF2, against 8.5% of Stable sites — and the gap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13716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MEF2</a:t>
            </a:r>
            <a:endParaRPr lang="en-US" sz="135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1730862" y="1883664"/>
            <a:ext cx="3853476" cy="3017520"/>
          </a:xfrm>
          <a:prstGeom prst="rect">
            <a:avLst/>
          </a:prstGeom>
        </p:spPr>
      </p:pic>
      <p:sp>
        <p:nvSpPr>
          <p:cNvPr id="6" name="or-t2"/>
          <p:cNvSpPr txBox="1"/>
          <p:nvPr/>
        </p:nvSpPr>
        <p:spPr>
          <a:xfrm>
            <a:off x="64008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A second AP-1 footprint</a:t>
            </a:r>
            <a:endParaRPr lang="en-US" sz="1350" dirty="0"/>
          </a:p>
        </p:txBody>
      </p:sp>
      <p:pic>
        <p:nvPicPr>
          <p:cNvPr id="7" name="Image 1" descr="/Users/z5162865/WongLab/AlphaGenome_Ap1/Analysis/slide_figures/panels/s10_ap1.png">    </p:cNvPr>
          <p:cNvPicPr>
            <a:picLocks noChangeAspect="1"/>
          </p:cNvPicPr>
          <p:nvPr/>
        </p:nvPicPr>
        <p:blipFill>
          <a:blip r:embed="rId2"/>
          <a:stretch>
            <a:fillRect/>
          </a:stretch>
        </p:blipFill>
        <p:spPr>
          <a:xfrm>
            <a:off x="6760062" y="1883664"/>
            <a:ext cx="3853476" cy="3017520"/>
          </a:xfrm>
          <a:prstGeom prst="rect">
            <a:avLst/>
          </a:prstGeom>
        </p:spPr>
      </p:pic>
      <p:sp>
        <p:nvSpPr>
          <p:cNvPr id="8" name="lg-dot-5.5-0"/>
          <p:cNvSpPr/>
          <p:nvPr/>
        </p:nvSpPr>
        <p:spPr>
          <a:xfrm>
            <a:off x="1371600" y="5070348"/>
            <a:ext cx="109728" cy="109728"/>
          </a:xfrm>
          <a:prstGeom prst="ellipse">
            <a:avLst/>
          </a:prstGeom>
          <a:solidFill>
            <a:srgbClr val="C2551C"/>
          </a:solidFill>
          <a:ln w="12700">
            <a:solidFill>
              <a:srgbClr val="C2551C"/>
            </a:solidFill>
            <a:prstDash val="solid"/>
          </a:ln>
        </p:spPr>
      </p:sp>
      <p:sp>
        <p:nvSpPr>
          <p:cNvPr id="9" name="lg-txt-5.5-0"/>
          <p:cNvSpPr txBox="1"/>
          <p:nvPr/>
        </p:nvSpPr>
        <p:spPr>
          <a:xfrm>
            <a:off x="1527048" y="5029200"/>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5-1"/>
          <p:cNvSpPr/>
          <p:nvPr/>
        </p:nvSpPr>
        <p:spPr>
          <a:xfrm>
            <a:off x="3944722" y="5070348"/>
            <a:ext cx="109728" cy="109728"/>
          </a:xfrm>
          <a:prstGeom prst="ellipse">
            <a:avLst/>
          </a:prstGeom>
          <a:solidFill>
            <a:srgbClr val="4F4F4F"/>
          </a:solidFill>
          <a:ln w="12700">
            <a:solidFill>
              <a:srgbClr val="4F4F4F"/>
            </a:solidFill>
            <a:prstDash val="solid"/>
          </a:ln>
        </p:spPr>
      </p:sp>
      <p:sp>
        <p:nvSpPr>
          <p:cNvPr id="11" name="lg-txt-5.5-1"/>
          <p:cNvSpPr txBox="1"/>
          <p:nvPr/>
        </p:nvSpPr>
        <p:spPr>
          <a:xfrm>
            <a:off x="4100170" y="5029200"/>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key"/>
          <p:cNvSpPr txBox="1"/>
          <p:nvPr/>
        </p:nvSpPr>
        <p:spPr>
          <a:xfrm>
            <a:off x="731520" y="5376672"/>
            <a:ext cx="10881360" cy="457200"/>
          </a:xfrm>
          <a:prstGeom prst="rect">
            <a:avLst/>
          </a:prstGeom>
          <a:noFill/>
          <a:ln/>
        </p:spPr>
        <p:txBody>
          <a:bodyPr wrap="square" lIns="0" tIns="0" rIns="0" bIns="0" rtlCol="0" anchor="ctr"/>
          <a:lstStyle/>
          <a:p>
            <a:pPr indent="0" marL="0">
              <a:buNone/>
            </a:pPr>
            <a:r>
              <a:rPr lang="en-US" sz="950" dirty="0">
                <a:solidFill>
                  <a:srgbClr val="595959"/>
                </a:solidFill>
              </a:rPr>
              <a:t>log2 odds ratio against all Stable sites with a 95% CI; dotted line = no difference, so −1 is half the odds and +1 is double.   MEF2, does it have one: Age Up OR 0.45, Exercise Down 0.56, Dynamic 0.58, all FDR ≤ 0.005.   AP-1, when it has one: Dynamic OR 1.45, FDR 0.036.</a:t>
            </a:r>
            <a:endParaRPr lang="en-US" sz="95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sp>
        <p:nvSpPr>
          <p:cNvPr id="3" name="prof-t1"/>
          <p:cNvSpPr txBox="1"/>
          <p:nvPr/>
        </p:nvSpPr>
        <p:spPr>
          <a:xfrm>
            <a:off x="502920" y="1042416"/>
            <a:ext cx="6949440" cy="274320"/>
          </a:xfrm>
          <a:prstGeom prst="rect">
            <a:avLst/>
          </a:prstGeom>
          <a:noFill/>
          <a:ln/>
        </p:spPr>
        <p:txBody>
          <a:bodyPr wrap="square" lIns="0" tIns="0" rIns="0" bIns="0" rtlCol="0" anchor="ctr"/>
          <a:lstStyle/>
          <a:p>
            <a:pPr indent="0" marL="0">
              <a:buNone/>
            </a:pPr>
            <a:r>
              <a:rPr lang="en-US" sz="1350" b="1" dirty="0">
                <a:solidFill>
                  <a:srgbClr val="111111"/>
                </a:solidFill>
              </a:rPr>
              <a:t>Where the dependence sits across the element</a:t>
            </a:r>
            <a:endParaRPr lang="en-US" sz="1350" dirty="0"/>
          </a:p>
        </p:txBody>
      </p:sp>
      <p:sp>
        <p:nvSpPr>
          <p:cNvPr id="4" name="prof-s1"/>
          <p:cNvSpPr txBox="1"/>
          <p:nvPr/>
        </p:nvSpPr>
        <p:spPr>
          <a:xfrm>
            <a:off x="502920" y="1325880"/>
            <a:ext cx="6949440" cy="274320"/>
          </a:xfrm>
          <a:prstGeom prst="rect">
            <a:avLst/>
          </a:prstGeom>
          <a:noFill/>
          <a:ln/>
        </p:spPr>
        <p:txBody>
          <a:bodyPr wrap="square" lIns="0" tIns="0" rIns="0" bIns="0" rtlCol="0" anchor="ctr"/>
          <a:lstStyle/>
          <a:p>
            <a:pPr indent="0" marL="0">
              <a:buNone/>
            </a:pPr>
            <a:r>
              <a:rPr lang="en-US" sz="1050" dirty="0">
                <a:solidFill>
                  <a:srgbClr val="595959"/>
                </a:solidFill>
              </a:rPr>
              <a:t>median loss at each of the 60 windows, smoothed over 3; gold band = the ±15 bp core</a:t>
            </a:r>
            <a:endParaRPr lang="en-US" sz="1050" dirty="0"/>
          </a:p>
        </p:txBody>
      </p:sp>
      <p:pic>
        <p:nvPicPr>
          <p:cNvPr id="5" name="Image 0" descr="/Users/z5162865/WongLab/AlphaGenome_Ap1/Analysis/slide_figures/panels/s12_profile_absolute.png">    </p:cNvPr>
          <p:cNvPicPr>
            <a:picLocks noChangeAspect="1"/>
          </p:cNvPicPr>
          <p:nvPr/>
        </p:nvPicPr>
        <p:blipFill>
          <a:blip r:embed="rId1"/>
          <a:stretch>
            <a:fillRect/>
          </a:stretch>
        </p:blipFill>
        <p:spPr>
          <a:xfrm>
            <a:off x="1139268" y="1609344"/>
            <a:ext cx="5676744" cy="1783080"/>
          </a:xfrm>
          <a:prstGeom prst="rect">
            <a:avLst/>
          </a:prstGeom>
        </p:spPr>
      </p:pic>
      <p:sp>
        <p:nvSpPr>
          <p:cNvPr id="6" name="prof-t2"/>
          <p:cNvSpPr txBox="1"/>
          <p:nvPr/>
        </p:nvSpPr>
        <p:spPr>
          <a:xfrm>
            <a:off x="502920" y="3456432"/>
            <a:ext cx="6949440" cy="274320"/>
          </a:xfrm>
          <a:prstGeom prst="rect">
            <a:avLst/>
          </a:prstGeom>
          <a:noFill/>
          <a:ln/>
        </p:spPr>
        <p:txBody>
          <a:bodyPr wrap="square" lIns="0" tIns="0" rIns="0" bIns="0" rtlCol="0" anchor="ctr"/>
          <a:lstStyle/>
          <a:p>
            <a:pPr indent="0" marL="0">
              <a:buNone/>
            </a:pPr>
            <a:r>
              <a:rPr lang="en-US" sz="1350" b="1" dirty="0">
                <a:solidFill>
                  <a:srgbClr val="111111"/>
                </a:solidFill>
              </a:rPr>
              <a:t>...and the same as a share of each site’s own total</a:t>
            </a:r>
            <a:endParaRPr lang="en-US" sz="1350" dirty="0"/>
          </a:p>
        </p:txBody>
      </p:sp>
      <p:sp>
        <p:nvSpPr>
          <p:cNvPr id="7" name="prof-s2"/>
          <p:cNvSpPr txBox="1"/>
          <p:nvPr/>
        </p:nvSpPr>
        <p:spPr>
          <a:xfrm>
            <a:off x="502920" y="3721608"/>
            <a:ext cx="6949440" cy="274320"/>
          </a:xfrm>
          <a:prstGeom prst="rect">
            <a:avLst/>
          </a:prstGeom>
          <a:noFill/>
          <a:ln/>
        </p:spPr>
        <p:txBody>
          <a:bodyPr wrap="square" lIns="0" tIns="0" rIns="0" bIns="0" rtlCol="0" anchor="ctr"/>
          <a:lstStyle/>
          <a:p>
            <a:pPr indent="0" marL="0">
              <a:buNone/>
            </a:pPr>
            <a:r>
              <a:rPr lang="en-US" sz="1050" dirty="0">
                <a:solidFill>
                  <a:srgbClr val="595959"/>
                </a:solidFill>
              </a:rPr>
              <a:t>depth divided out, so only the shape is compared</a:t>
            </a:r>
            <a:endParaRPr lang="en-US" sz="1050" dirty="0"/>
          </a:p>
        </p:txBody>
      </p:sp>
      <p:pic>
        <p:nvPicPr>
          <p:cNvPr id="8" name="Image 1" descr="/Users/z5162865/WongLab/AlphaGenome_Ap1/Analysis/slide_figures/panels/s12_profile_shape.png">    </p:cNvPr>
          <p:cNvPicPr>
            <a:picLocks noChangeAspect="1"/>
          </p:cNvPicPr>
          <p:nvPr/>
        </p:nvPicPr>
        <p:blipFill>
          <a:blip r:embed="rId2"/>
          <a:stretch>
            <a:fillRect/>
          </a:stretch>
        </p:blipFill>
        <p:spPr>
          <a:xfrm>
            <a:off x="1284825" y="3950208"/>
            <a:ext cx="5385629" cy="1691640"/>
          </a:xfrm>
          <a:prstGeom prst="rect">
            <a:avLst/>
          </a:prstGeom>
        </p:spPr>
      </p:pic>
      <p:sp>
        <p:nvSpPr>
          <p:cNvPr id="9" name="s3_dependence-title-0"/>
          <p:cNvSpPr txBox="1"/>
          <p:nvPr/>
        </p:nvSpPr>
        <p:spPr>
          <a:xfrm>
            <a:off x="7653528" y="104241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Dependence near the motif</a:t>
            </a:r>
            <a:endParaRPr lang="en-US" sz="1150" dirty="0"/>
          </a:p>
        </p:txBody>
      </p:sp>
      <p:pic>
        <p:nvPicPr>
          <p:cNvPr id="10" name="Image 2" descr="/Users/z5162865/WongLab/AlphaGenome_Ap1/Analysis/slide_figures/panels/s3_dependence_c0_r0.png">    </p:cNvPr>
          <p:cNvPicPr>
            <a:picLocks noChangeAspect="1"/>
          </p:cNvPicPr>
          <p:nvPr/>
        </p:nvPicPr>
        <p:blipFill>
          <a:blip r:embed="rId3"/>
          <a:stretch>
            <a:fillRect/>
          </a:stretch>
        </p:blipFill>
        <p:spPr>
          <a:xfrm>
            <a:off x="7653963" y="1298448"/>
            <a:ext cx="4004201" cy="1274064"/>
          </a:xfrm>
          <a:prstGeom prst="rect">
            <a:avLst/>
          </a:prstGeom>
        </p:spPr>
      </p:pic>
      <p:sp>
        <p:nvSpPr>
          <p:cNvPr id="11" name="s3_dependence-title-1"/>
          <p:cNvSpPr txBox="1"/>
          <p:nvPr/>
        </p:nvSpPr>
        <p:spPr>
          <a:xfrm>
            <a:off x="7653528" y="262737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Dependence out in the context</a:t>
            </a:r>
            <a:endParaRPr lang="en-US" sz="1150" dirty="0"/>
          </a:p>
        </p:txBody>
      </p:sp>
      <p:pic>
        <p:nvPicPr>
          <p:cNvPr id="12" name="Image 3" descr="/Users/z5162865/WongLab/AlphaGenome_Ap1/Analysis/slide_figures/panels/s3_dependence_c1_r0.png">    </p:cNvPr>
          <p:cNvPicPr>
            <a:picLocks noChangeAspect="1"/>
          </p:cNvPicPr>
          <p:nvPr/>
        </p:nvPicPr>
        <p:blipFill>
          <a:blip r:embed="rId4"/>
          <a:stretch>
            <a:fillRect/>
          </a:stretch>
        </p:blipFill>
        <p:spPr>
          <a:xfrm>
            <a:off x="7653963" y="2883408"/>
            <a:ext cx="4004201" cy="1274064"/>
          </a:xfrm>
          <a:prstGeom prst="rect">
            <a:avLst/>
          </a:prstGeom>
        </p:spPr>
      </p:pic>
      <p:sp>
        <p:nvSpPr>
          <p:cNvPr id="13" name="s3_dependence-title-2"/>
          <p:cNvSpPr txBox="1"/>
          <p:nvPr/>
        </p:nvSpPr>
        <p:spPr>
          <a:xfrm>
            <a:off x="7653528" y="421233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Spread along the element</a:t>
            </a:r>
            <a:endParaRPr lang="en-US" sz="1150" dirty="0"/>
          </a:p>
        </p:txBody>
      </p:sp>
      <p:pic>
        <p:nvPicPr>
          <p:cNvPr id="14" name="Image 4" descr="/Users/z5162865/WongLab/AlphaGenome_Ap1/Analysis/slide_figures/panels/s3_dependence_c2_r0.png">    </p:cNvPr>
          <p:cNvPicPr>
            <a:picLocks noChangeAspect="1"/>
          </p:cNvPicPr>
          <p:nvPr/>
        </p:nvPicPr>
        <p:blipFill>
          <a:blip r:embed="rId5"/>
          <a:stretch>
            <a:fillRect/>
          </a:stretch>
        </p:blipFill>
        <p:spPr>
          <a:xfrm>
            <a:off x="7653963" y="4468368"/>
            <a:ext cx="4004201" cy="1274064"/>
          </a:xfrm>
          <a:prstGeom prst="rect">
            <a:avLst/>
          </a:prstGeom>
        </p:spPr>
      </p:pic>
      <p:sp>
        <p:nvSpPr>
          <p:cNvPr id="15" name="s3_dependence-dot-0"/>
          <p:cNvSpPr/>
          <p:nvPr/>
        </p:nvSpPr>
        <p:spPr>
          <a:xfrm>
            <a:off x="502920" y="5765292"/>
            <a:ext cx="109728" cy="109728"/>
          </a:xfrm>
          <a:prstGeom prst="ellipse">
            <a:avLst/>
          </a:prstGeom>
          <a:solidFill>
            <a:srgbClr val="4F4F4F"/>
          </a:solidFill>
          <a:ln w="12700">
            <a:solidFill>
              <a:srgbClr val="4F4F4F"/>
            </a:solidFill>
            <a:prstDash val="solid"/>
          </a:ln>
        </p:spPr>
      </p:sp>
      <p:sp>
        <p:nvSpPr>
          <p:cNvPr id="16" name="s3_dependence-leg-0"/>
          <p:cNvSpPr txBox="1"/>
          <p:nvPr/>
        </p:nvSpPr>
        <p:spPr>
          <a:xfrm>
            <a:off x="658368" y="5724144"/>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7" name="s3_dependence-dot-1"/>
          <p:cNvSpPr/>
          <p:nvPr/>
        </p:nvSpPr>
        <p:spPr>
          <a:xfrm>
            <a:off x="1825142" y="5765292"/>
            <a:ext cx="109728" cy="109728"/>
          </a:xfrm>
          <a:prstGeom prst="ellipse">
            <a:avLst/>
          </a:prstGeom>
          <a:solidFill>
            <a:srgbClr val="C2551C"/>
          </a:solidFill>
          <a:ln w="12700">
            <a:solidFill>
              <a:srgbClr val="C2551C"/>
            </a:solidFill>
            <a:prstDash val="solid"/>
          </a:ln>
        </p:spPr>
      </p:sp>
      <p:sp>
        <p:nvSpPr>
          <p:cNvPr id="18" name="s3_dependence-leg-1"/>
          <p:cNvSpPr txBox="1"/>
          <p:nvPr/>
        </p:nvSpPr>
        <p:spPr>
          <a:xfrm>
            <a:off x="1980590" y="5724144"/>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9" name="s3_dependence-dot-2"/>
          <p:cNvSpPr/>
          <p:nvPr/>
        </p:nvSpPr>
        <p:spPr>
          <a:xfrm>
            <a:off x="2686507" y="5765292"/>
            <a:ext cx="109728" cy="109728"/>
          </a:xfrm>
          <a:prstGeom prst="ellipse">
            <a:avLst/>
          </a:prstGeom>
          <a:solidFill>
            <a:srgbClr val="1F6FB2"/>
          </a:solidFill>
          <a:ln w="12700">
            <a:solidFill>
              <a:srgbClr val="1F6FB2"/>
            </a:solidFill>
            <a:prstDash val="solid"/>
          </a:ln>
        </p:spPr>
      </p:sp>
      <p:sp>
        <p:nvSpPr>
          <p:cNvPr id="20" name="s3_dependence-leg-2"/>
          <p:cNvSpPr txBox="1"/>
          <p:nvPr/>
        </p:nvSpPr>
        <p:spPr>
          <a:xfrm>
            <a:off x="2841955" y="5724144"/>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1" name="s3_dependence-dot-3"/>
          <p:cNvSpPr/>
          <p:nvPr/>
        </p:nvSpPr>
        <p:spPr>
          <a:xfrm>
            <a:off x="3679546" y="5765292"/>
            <a:ext cx="109728" cy="109728"/>
          </a:xfrm>
          <a:prstGeom prst="ellipse">
            <a:avLst/>
          </a:prstGeom>
          <a:solidFill>
            <a:srgbClr val="2E7D32"/>
          </a:solidFill>
          <a:ln w="12700">
            <a:solidFill>
              <a:srgbClr val="2E7D32"/>
            </a:solidFill>
            <a:prstDash val="solid"/>
          </a:ln>
        </p:spPr>
      </p:sp>
      <p:sp>
        <p:nvSpPr>
          <p:cNvPr id="22" name="s3_dependence-leg-3"/>
          <p:cNvSpPr txBox="1"/>
          <p:nvPr/>
        </p:nvSpPr>
        <p:spPr>
          <a:xfrm>
            <a:off x="3834994" y="5724144"/>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3" name="s3_dependence-dot-4"/>
          <p:cNvSpPr/>
          <p:nvPr/>
        </p:nvSpPr>
        <p:spPr>
          <a:xfrm>
            <a:off x="4870094" y="5765292"/>
            <a:ext cx="109728" cy="109728"/>
          </a:xfrm>
          <a:prstGeom prst="ellipse">
            <a:avLst/>
          </a:prstGeom>
          <a:solidFill>
            <a:srgbClr val="7B3FA0"/>
          </a:solidFill>
          <a:ln w="12700">
            <a:solidFill>
              <a:srgbClr val="7B3FA0"/>
            </a:solidFill>
            <a:prstDash val="solid"/>
          </a:ln>
        </p:spPr>
      </p:sp>
      <p:sp>
        <p:nvSpPr>
          <p:cNvPr id="24" name="s3_dependence-leg-4"/>
          <p:cNvSpPr txBox="1"/>
          <p:nvPr/>
        </p:nvSpPr>
        <p:spPr>
          <a:xfrm>
            <a:off x="5025542" y="5724144"/>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5" name="s3_dependence-dot-5"/>
          <p:cNvSpPr/>
          <p:nvPr/>
        </p:nvSpPr>
        <p:spPr>
          <a:xfrm>
            <a:off x="6192317" y="5765292"/>
            <a:ext cx="109728" cy="109728"/>
          </a:xfrm>
          <a:prstGeom prst="ellipse">
            <a:avLst/>
          </a:prstGeom>
          <a:solidFill>
            <a:srgbClr val="B3B2AE"/>
          </a:solidFill>
          <a:ln w="12700">
            <a:solidFill>
              <a:srgbClr val="B3B2AE"/>
            </a:solidFill>
            <a:prstDash val="solid"/>
          </a:ln>
        </p:spPr>
      </p:sp>
      <p:sp>
        <p:nvSpPr>
          <p:cNvPr id="26" name="s3_dependence-leg-5"/>
          <p:cNvSpPr txBox="1"/>
          <p:nvPr/>
        </p:nvSpPr>
        <p:spPr>
          <a:xfrm>
            <a:off x="6347765" y="5724144"/>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Stable sites peak highest at the core; Age Up, Exercise Down and Dynamic carry more of their dependence out in the flanks — Age Down simply has less of everything</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041648"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041648"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4360316" y="1892808"/>
            <a:ext cx="3097987" cy="2816352"/>
          </a:xfrm>
          <a:prstGeom prst="rect">
            <a:avLst/>
          </a:prstGeom>
        </p:spPr>
      </p:pic>
      <p:sp>
        <p:nvSpPr>
          <p:cNvPr id="11" name="s4_titration-title-1"/>
          <p:cNvSpPr txBox="1"/>
          <p:nvPr/>
        </p:nvSpPr>
        <p:spPr>
          <a:xfrm>
            <a:off x="7850124"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2" name="s4_titration-sub-1"/>
          <p:cNvSpPr txBox="1"/>
          <p:nvPr/>
        </p:nvSpPr>
        <p:spPr>
          <a:xfrm>
            <a:off x="7850124"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3" name="Image 3" descr="/Users/z5162865/WongLab/AlphaGenome_Ap1/Analysis/slide_figures/panels/s4_titration_c1_r0.png">    </p:cNvPr>
          <p:cNvPicPr>
            <a:picLocks noChangeAspect="1"/>
          </p:cNvPicPr>
          <p:nvPr/>
        </p:nvPicPr>
        <p:blipFill>
          <a:blip r:embed="rId4"/>
          <a:stretch>
            <a:fillRect/>
          </a:stretch>
        </p:blipFill>
        <p:spPr>
          <a:xfrm>
            <a:off x="8168792" y="1892808"/>
            <a:ext cx="3097987" cy="2816352"/>
          </a:xfrm>
          <a:prstGeom prst="rect">
            <a:avLst/>
          </a:prstGeom>
        </p:spPr>
      </p:pic>
      <p:sp>
        <p:nvSpPr>
          <p:cNvPr id="14" name="s4_titration-dot-0"/>
          <p:cNvSpPr/>
          <p:nvPr/>
        </p:nvSpPr>
        <p:spPr>
          <a:xfrm>
            <a:off x="3931920" y="4914900"/>
            <a:ext cx="109728" cy="109728"/>
          </a:xfrm>
          <a:prstGeom prst="ellipse">
            <a:avLst/>
          </a:prstGeom>
          <a:solidFill>
            <a:srgbClr val="4F4F4F"/>
          </a:solidFill>
          <a:ln w="12700">
            <a:solidFill>
              <a:srgbClr val="4F4F4F"/>
            </a:solidFill>
            <a:prstDash val="solid"/>
          </a:ln>
        </p:spPr>
      </p:sp>
      <p:sp>
        <p:nvSpPr>
          <p:cNvPr id="15" name="s4_titration-leg-0"/>
          <p:cNvSpPr txBox="1"/>
          <p:nvPr/>
        </p:nvSpPr>
        <p:spPr>
          <a:xfrm>
            <a:off x="4087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6" name="s4_titration-dot-1"/>
          <p:cNvSpPr/>
          <p:nvPr/>
        </p:nvSpPr>
        <p:spPr>
          <a:xfrm>
            <a:off x="5254142" y="4914900"/>
            <a:ext cx="109728" cy="109728"/>
          </a:xfrm>
          <a:prstGeom prst="ellipse">
            <a:avLst/>
          </a:prstGeom>
          <a:solidFill>
            <a:srgbClr val="C2551C"/>
          </a:solidFill>
          <a:ln w="12700">
            <a:solidFill>
              <a:srgbClr val="C2551C"/>
            </a:solidFill>
            <a:prstDash val="solid"/>
          </a:ln>
        </p:spPr>
      </p:sp>
      <p:sp>
        <p:nvSpPr>
          <p:cNvPr id="17" name="s4_titration-leg-1"/>
          <p:cNvSpPr txBox="1"/>
          <p:nvPr/>
        </p:nvSpPr>
        <p:spPr>
          <a:xfrm>
            <a:off x="5409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8" name="s4_titration-dot-2"/>
          <p:cNvSpPr/>
          <p:nvPr/>
        </p:nvSpPr>
        <p:spPr>
          <a:xfrm>
            <a:off x="6115507" y="4914900"/>
            <a:ext cx="109728" cy="109728"/>
          </a:xfrm>
          <a:prstGeom prst="ellipse">
            <a:avLst/>
          </a:prstGeom>
          <a:solidFill>
            <a:srgbClr val="1F6FB2"/>
          </a:solidFill>
          <a:ln w="12700">
            <a:solidFill>
              <a:srgbClr val="1F6FB2"/>
            </a:solidFill>
            <a:prstDash val="solid"/>
          </a:ln>
        </p:spPr>
      </p:sp>
      <p:sp>
        <p:nvSpPr>
          <p:cNvPr id="19" name="s4_titration-leg-2"/>
          <p:cNvSpPr txBox="1"/>
          <p:nvPr/>
        </p:nvSpPr>
        <p:spPr>
          <a:xfrm>
            <a:off x="6270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0" name="s4_titration-dot-3"/>
          <p:cNvSpPr/>
          <p:nvPr/>
        </p:nvSpPr>
        <p:spPr>
          <a:xfrm>
            <a:off x="7108546" y="4914900"/>
            <a:ext cx="109728" cy="109728"/>
          </a:xfrm>
          <a:prstGeom prst="ellipse">
            <a:avLst/>
          </a:prstGeom>
          <a:solidFill>
            <a:srgbClr val="2E7D32"/>
          </a:solidFill>
          <a:ln w="12700">
            <a:solidFill>
              <a:srgbClr val="2E7D32"/>
            </a:solidFill>
            <a:prstDash val="solid"/>
          </a:ln>
        </p:spPr>
      </p:sp>
      <p:sp>
        <p:nvSpPr>
          <p:cNvPr id="21" name="s4_titration-leg-3"/>
          <p:cNvSpPr txBox="1"/>
          <p:nvPr/>
        </p:nvSpPr>
        <p:spPr>
          <a:xfrm>
            <a:off x="7263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2" name="s4_titration-dot-4"/>
          <p:cNvSpPr/>
          <p:nvPr/>
        </p:nvSpPr>
        <p:spPr>
          <a:xfrm>
            <a:off x="8299094" y="4914900"/>
            <a:ext cx="109728" cy="109728"/>
          </a:xfrm>
          <a:prstGeom prst="ellipse">
            <a:avLst/>
          </a:prstGeom>
          <a:solidFill>
            <a:srgbClr val="7B3FA0"/>
          </a:solidFill>
          <a:ln w="12700">
            <a:solidFill>
              <a:srgbClr val="7B3FA0"/>
            </a:solidFill>
            <a:prstDash val="solid"/>
          </a:ln>
        </p:spPr>
      </p:sp>
      <p:sp>
        <p:nvSpPr>
          <p:cNvPr id="23" name="s4_titration-leg-4"/>
          <p:cNvSpPr txBox="1"/>
          <p:nvPr/>
        </p:nvSpPr>
        <p:spPr>
          <a:xfrm>
            <a:off x="8454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4" name="s4_titration-dot-5"/>
          <p:cNvSpPr/>
          <p:nvPr/>
        </p:nvSpPr>
        <p:spPr>
          <a:xfrm>
            <a:off x="9621317" y="4914900"/>
            <a:ext cx="109728" cy="109728"/>
          </a:xfrm>
          <a:prstGeom prst="ellipse">
            <a:avLst/>
          </a:prstGeom>
          <a:solidFill>
            <a:srgbClr val="B3B2AE"/>
          </a:solidFill>
          <a:ln w="12700">
            <a:solidFill>
              <a:srgbClr val="B3B2AE"/>
            </a:solidFill>
            <a:prstDash val="solid"/>
          </a:ln>
        </p:spPr>
      </p:sp>
      <p:sp>
        <p:nvSpPr>
          <p:cNvPr id="25" name="s4_titration-leg-5"/>
          <p:cNvSpPr txBox="1"/>
          <p:nvPr/>
        </p:nvSpPr>
        <p:spPr>
          <a:xfrm>
            <a:off x="9776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6" name="s4_titration-key"/>
          <p:cNvSpPr txBox="1"/>
          <p:nvPr/>
        </p:nvSpPr>
        <p:spPr>
          <a:xfrm>
            <a:off x="3931920" y="5148072"/>
            <a:ext cx="7726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10 tests on this figure.   *** p&lt;0.001   ** p&lt;0.01   * p&lt;0.05   ns ≥ 0.05</a:t>
            </a:r>
            <a:endParaRPr lang="en-US" sz="90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2026-10-23T01:44:32Z</dcterms:created>
  <dcterms:modified xsi:type="dcterms:W3CDTF">2026-10-23T01:44:32Z</dcterms:modified>
</cp:coreProperties>
</file>