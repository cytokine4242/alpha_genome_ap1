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a33bfdfe-1127-c08a-71ca-71cc907b92dc}">
          <p14:sldIdLst>
            <p14:sldId id="256"/>
          </p14:sldIdLst>
        </p14:section>
        <p14:section name="Design" id="{fc9e2001-5d38-295c-ba9a-dc062a776286}">
          <p14:sldIdLst>
            <p14:sldId id="257"/>
          </p14:sldIdLst>
        </p14:section>
        <p14:section name="Findings" id="{028c7b16-5f1c-943d-d73a-b99a79e97881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Conclusion" id="{19910ed1-e335-6f9d-b935-56d2257b769e}">
          <p14:sldIdLst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Mouse cardiomyocytes, young sedentary / aged sedentary / aged exercise. Sites defined by TOBIAS footprints of Fos motifs.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two definitions pick out largely different sites. Report every result labelled by which definition it comes from.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Raw, Dynamic sites lose less to every wide edit. After matching on predicted accessibility, peak width and TSS distance, nothing survives. A classifier on the whole response profile is at chance, AUC 0.49.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Importance is the loss from replacing a 10 bp tile over that factor's footprint, measured against the site's own footprint-free tiles. Holds under five different adjustments.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MEF2 is enriched 2.67x at 11-25 bp against 1.47x for KLF/SP, modal spacing 14 bp between centres. No 10-11 bp repeat survives correction, so no fixed protein-protein register.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Top: a Stable site, 85% of its dependence on the AP-1 motif. Bottom: an age-gained site where the AP-1 motif is worth -0.18 and the strongest other window -1.48. Tnfaip8 rises with age, matching the AP-1 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 of 16 scan features separate Dynamic from matched Stable. Share of dependence within 85 bp 0.63 vs 0.74, spread 94 vs 86 bp, largest single-base effect 0.74 vs 0.90. Age Up is the most diffuse class of 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dose-response slope tracks core quality measured independently from the genome sequence, rho 0.30. Orientation is irrelevant, as expected for a near-palindrome.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titration experiment was designed before this hypothesis existed, so this is a prediction rather than a fit. Caveat: the motif-sensitivity result does not survive matching on measured accessibility; the core-quality result does.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comparable quantity is a ratio within each element, so assay scale cancels. The class direction disagrees: in the MPRA responsive elements depend MORE on their sequence, which separates intrinsic potential from what sets accessibility in the genome.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negative result is well controlled and is itself the point: responsiveness is not encoded in local sequence architecture.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Also open: whether the MEF2 deficit at Dynamic sites is detection or genuine differential occupancy of equally-present motifs.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103120"/>
            <a:ext cx="1051560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 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611880"/>
            <a:ext cx="1051560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 </a:t>
            </a:r>
            <a:endParaRPr lang="en-US" sz="17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FIGU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301752"/>
            <a:ext cx="1115568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 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02920" y="5943600"/>
            <a:ext cx="11155680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6A6A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BOD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301752"/>
            <a:ext cx="1115568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 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02920" y="1234440"/>
            <a:ext cx="11155680" cy="5120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 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6A6A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6A6A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10312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What makes an AP-1 site respond to ageing?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61188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In-silico mutagenesis of every cardiomyocyte AP-1 element with AlphaGenome</a:t>
            </a:r>
            <a:endParaRPr lang="en-US" sz="17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</a:rPr>
              <a:t>3,678 sites · 364 mutations each · validated against snATAC, RNA and a fibroblast MPRA</a:t>
            </a:r>
            <a:endParaRPr lang="en-US" sz="1700" dirty="0"/>
          </a:p>
        </p:txBody>
      </p:sp>
      <p:sp>
        <p:nvSpPr>
          <p:cNvPr id="4" name="rule"/>
          <p:cNvSpPr/>
          <p:nvPr/>
        </p:nvSpPr>
        <p:spPr>
          <a:xfrm>
            <a:off x="822960" y="2011680"/>
            <a:ext cx="2194560" cy="0"/>
          </a:xfrm>
          <a:prstGeom prst="line">
            <a:avLst/>
          </a:prstGeom>
          <a:noFill/>
          <a:ln w="31750">
            <a:solidFill>
              <a:srgbClr val="111111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301752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Two ways to call a site responsive, and they disagree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02920" y="1234440"/>
            <a:ext cx="11155680" cy="5120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Threshold (binary call)</a:t>
            </a:r>
            <a:endParaRPr lang="en-US" sz="17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The TOBIAS footprint is absent in young and called in aged. 396 Age Up sites, 179 Age Down. Stable = called in all three conditions.</a:t>
            </a:r>
            <a:endParaRPr lang="en-US" sz="1700" dirty="0"/>
          </a:p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Δscore (graded)</a:t>
            </a:r>
            <a:endParaRPr lang="en-US" sz="17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The top fifth of the change in binding score, whether or not the call ever crossed the line. 736 sites each way.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595959"/>
                </a:solidFill>
              </a:rPr>
              <a:t>Only 22% of Δscore-Up sites ever cross the threshold, and 40% of threshold-Stable sites show a large score change.</a:t>
            </a:r>
            <a:endParaRPr lang="en-US" sz="1700" dirty="0"/>
          </a:p>
        </p:txBody>
      </p:sp>
      <p:sp>
        <p:nvSpPr>
          <p:cNvPr id="4" name="stat-0"/>
          <p:cNvSpPr/>
          <p:nvPr/>
        </p:nvSpPr>
        <p:spPr>
          <a:xfrm>
            <a:off x="502920" y="5029200"/>
            <a:ext cx="5440680" cy="1188720"/>
          </a:xfrm>
          <a:prstGeom prst="roundRect">
            <a:avLst>
              <a:gd name="adj" fmla="val 4615"/>
            </a:avLst>
          </a:prstGeom>
          <a:solidFill>
            <a:srgbClr val="F2F2F2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" y="5120640"/>
            <a:ext cx="5221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2551C"/>
                </a:solidFill>
              </a:rPr>
              <a:t>0.57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12648" y="5687568"/>
            <a:ext cx="5221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</a:rPr>
              <a:t>Δscore vs measured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</a:rPr>
              <a:t>snATAC change (age)</a:t>
            </a:r>
            <a:endParaRPr lang="en-US" sz="1200" dirty="0"/>
          </a:p>
        </p:txBody>
      </p:sp>
      <p:sp>
        <p:nvSpPr>
          <p:cNvPr id="7" name="stat-1"/>
          <p:cNvSpPr/>
          <p:nvPr/>
        </p:nvSpPr>
        <p:spPr>
          <a:xfrm>
            <a:off x="6217920" y="5029200"/>
            <a:ext cx="5440680" cy="1188720"/>
          </a:xfrm>
          <a:prstGeom prst="roundRect">
            <a:avLst>
              <a:gd name="adj" fmla="val 4615"/>
            </a:avLst>
          </a:prstGeom>
          <a:solidFill>
            <a:srgbClr val="F2F2F2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27648" y="5120640"/>
            <a:ext cx="5221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6FB2"/>
                </a:solidFill>
              </a:rPr>
              <a:t>0.31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6327648" y="5687568"/>
            <a:ext cx="5221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</a:rPr>
              <a:t>threshold class vs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</a:rPr>
              <a:t>measured change</a:t>
            </a:r>
            <a:endParaRPr lang="en-US" sz="1200" dirty="0"/>
          </a:p>
        </p:txBody>
      </p:sp>
      <p:sp>
        <p:nvSpPr>
          <p:cNvPr id="10" name="matching-note"/>
          <p:cNvSpPr txBox="1"/>
          <p:nvPr/>
        </p:nvSpPr>
        <p:spPr>
          <a:xfrm>
            <a:off x="6492240" y="1371600"/>
            <a:ext cx="5166360" cy="2194560"/>
          </a:xfrm>
          <a:prstGeom prst="rect">
            <a:avLst/>
          </a:prstGeom>
          <a:solidFill>
            <a:srgbClr val="F2F2F2"/>
          </a:solidFill>
          <a:ln/>
        </p:spPr>
        <p:txBody>
          <a:bodyPr wrap="square" lIns="152400" tIns="152400" rIns="152400" bIns="15240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</a:rPr>
              <a:t>Every comparison below matches each responsive site to a Stable site on predicted accessibility, peak width, TSS distance and measured accessibility.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3749040"/>
            <a:ext cx="5166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95959"/>
                </a:solidFill>
              </a:rPr>
              <a:t>The Δscore definition tracks the measured data about twice as well.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6A6A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301752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Responsive sites are not built differently</a:t>
            </a:r>
            <a:endParaRPr lang="en-US" sz="2800" dirty="0"/>
          </a:p>
        </p:txBody>
      </p:sp>
      <p:pic>
        <p:nvPicPr>
          <p:cNvPr id="3" name="Image 0" descr="/Users/z5162865/WongLab/AlphaGenome_Ap1/Analysis/dynamic/figures/y5_mutation_type_prof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5880" y="1051560"/>
            <a:ext cx="9509760" cy="475488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1" type="body" hasCustomPrompt="1"/>
          </p:nvPr>
        </p:nvSpPr>
        <p:spPr>
          <a:xfrm>
            <a:off x="502920" y="5943600"/>
            <a:ext cx="111556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2551C"/>
                </a:solidFill>
              </a:rPr>
              <a:t>Takeaway   </a:t>
            </a:r>
            <a:pPr algn="l" indent="0" marL="0">
              <a:buNone/>
            </a:pPr>
            <a:r>
              <a:rPr lang="en-US" sz="1500" dirty="0">
                <a:solidFill>
                  <a:srgbClr val="111111"/>
                </a:solidFill>
              </a:rPr>
              <a:t>all 21 mutation types agree within 0.14 log2 once chromatin context is matched; the raw gap was context, not sequence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6A6A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301752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What these sites actually depend on is MEF2</a:t>
            </a:r>
            <a:endParaRPr lang="en-US" sz="2800" dirty="0"/>
          </a:p>
        </p:txBody>
      </p:sp>
      <p:pic>
        <p:nvPicPr>
          <p:cNvPr id="3" name="Image 0" descr="/Users/z5162865/WongLab/AlphaGenome_Ap1/Analysis/partners/figures/p1_tile_importance_by_famil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051560"/>
            <a:ext cx="7589520" cy="46177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503920" y="1463040"/>
            <a:ext cx="31546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2551C"/>
                </a:solidFill>
              </a:rPr>
              <a:t>2.49 million</a:t>
            </a:r>
            <a:endParaRPr lang="en-US" sz="22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400" dirty="0">
                <a:solidFill>
                  <a:srgbClr val="595959"/>
                </a:solidFill>
              </a:rPr>
              <a:t>footprinted cardiomyocyte TFBS mapped onto the scan</a:t>
            </a:r>
            <a:endParaRPr lang="en-US" sz="22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000000"/>
                </a:solidFill>
              </a:rPr>
              <a:t>A MEF2 neighbour matters about eight times more than a second AP-1 site.</a:t>
            </a:r>
            <a:endParaRPr lang="en-US" sz="2200" dirty="0"/>
          </a:p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</a:rPr>
              <a:t>The commonest factors — KLF/SP — matter least.</a:t>
            </a:r>
            <a:endParaRPr lang="en-US" sz="2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502920" y="5943600"/>
            <a:ext cx="111556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2551C"/>
                </a:solidFill>
              </a:rPr>
              <a:t>Takeaway   </a:t>
            </a:r>
            <a:pPr algn="l" indent="0" marL="0">
              <a:buNone/>
            </a:pPr>
            <a:r>
              <a:rPr lang="en-US" sz="1500" dirty="0">
                <a:solidFill>
                  <a:srgbClr val="111111"/>
                </a:solidFill>
              </a:rPr>
              <a:t>the model rediscovered the cardiac programme — MEF2, GATA, NFI, TEAD — without being told any of it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6A6A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301752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Partners sit just outside the motif, with no helical phasing</a:t>
            </a:r>
            <a:endParaRPr lang="en-US" sz="2800" dirty="0"/>
          </a:p>
        </p:txBody>
      </p:sp>
      <p:pic>
        <p:nvPicPr>
          <p:cNvPr id="3" name="Image 0" descr="/Users/z5162865/WongLab/AlphaGenome_Ap1/Analysis/distance_rules/figures/r3_close_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3040" y="1371600"/>
            <a:ext cx="9235440" cy="425196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1" type="body" hasCustomPrompt="1"/>
          </p:nvPr>
        </p:nvSpPr>
        <p:spPr>
          <a:xfrm>
            <a:off x="502920" y="5943600"/>
            <a:ext cx="111556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2551C"/>
                </a:solidFill>
              </a:rPr>
              <a:t>Takeaway   </a:t>
            </a:r>
            <a:pPr algn="l" indent="0" marL="0">
              <a:buNone/>
            </a:pPr>
            <a:r>
              <a:rPr lang="en-US" sz="1500" dirty="0">
                <a:solidFill>
                  <a:srgbClr val="111111"/>
                </a:solidFill>
              </a:rPr>
              <a:t>cooperative occupancy across a nucleosome-scale window, not a rigid composite element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6A6A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301752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One locus, two architectures</a:t>
            </a:r>
            <a:endParaRPr lang="en-US" sz="2800" dirty="0"/>
          </a:p>
        </p:txBody>
      </p:sp>
      <p:pic>
        <p:nvPicPr>
          <p:cNvPr id="3" name="Image 0" descr="/Users/z5162865/WongLab/AlphaGenome_Ap1/Analysis/example_track/example_scan_tr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0200" y="1005840"/>
            <a:ext cx="8961120" cy="480060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1" type="body" hasCustomPrompt="1"/>
          </p:nvPr>
        </p:nvSpPr>
        <p:spPr>
          <a:xfrm>
            <a:off x="502920" y="5943600"/>
            <a:ext cx="111556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2551C"/>
                </a:solidFill>
              </a:rPr>
              <a:t>Takeaway   </a:t>
            </a:r>
            <a:pPr algn="l" indent="0" marL="0">
              <a:buNone/>
            </a:pPr>
            <a:r>
              <a:rPr lang="en-US" sz="1500" dirty="0">
                <a:solidFill>
                  <a:srgbClr val="111111"/>
                </a:solidFill>
              </a:rPr>
              <a:t>at the age-gained site every cardiac cofactor is bound in all three conditions — only AP-1 switches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6A6A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301752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Responsive sites spread their dependence out</a:t>
            </a:r>
            <a:endParaRPr lang="en-US" sz="2800" dirty="0"/>
          </a:p>
        </p:txBody>
      </p:sp>
      <p:pic>
        <p:nvPicPr>
          <p:cNvPr id="3" name="Image 0" descr="/Users/z5162865/WongLab/AlphaGenome_Ap1/Analysis/scan_features/figures/y1_scan_features_by_cla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7360" y="1024128"/>
            <a:ext cx="8686800" cy="475488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1" type="body" hasCustomPrompt="1"/>
          </p:nvPr>
        </p:nvSpPr>
        <p:spPr>
          <a:xfrm>
            <a:off x="502920" y="5943600"/>
            <a:ext cx="111556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2551C"/>
                </a:solidFill>
              </a:rPr>
              <a:t>Takeaway   </a:t>
            </a:r>
            <a:pPr algn="l" indent="0" marL="0">
              <a:buNone/>
            </a:pPr>
            <a:r>
              <a:rPr lang="en-US" sz="1500" dirty="0">
                <a:solidFill>
                  <a:srgbClr val="111111"/>
                </a:solidFill>
              </a:rPr>
              <a:t>gaining a binding call goes with diffuse dependence; losing one does not — gain and loss are not mirror images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6A6A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301752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Motif strength is a switch; position is a dial</a:t>
            </a:r>
            <a:endParaRPr lang="en-US" sz="2800" dirty="0"/>
          </a:p>
        </p:txBody>
      </p:sp>
      <p:pic>
        <p:nvPicPr>
          <p:cNvPr id="3" name="Image 0" descr="/Users/z5162865/WongLab/AlphaGenome_Ap1/Analysis/titration/figures/z1_titration_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91640"/>
            <a:ext cx="11155680" cy="3246120"/>
          </a:xfrm>
          <a:prstGeom prst="rect">
            <a:avLst/>
          </a:prstGeom>
        </p:spPr>
      </p:pic>
      <p:sp>
        <p:nvSpPr>
          <p:cNvPr id="4" name="stat-0"/>
          <p:cNvSpPr/>
          <p:nvPr/>
        </p:nvSpPr>
        <p:spPr>
          <a:xfrm>
            <a:off x="502920" y="5074920"/>
            <a:ext cx="2583180" cy="1051560"/>
          </a:xfrm>
          <a:prstGeom prst="roundRect">
            <a:avLst>
              <a:gd name="adj" fmla="val 5217"/>
            </a:avLst>
          </a:prstGeom>
          <a:solidFill>
            <a:srgbClr val="F2F2F2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12648" y="5166360"/>
            <a:ext cx="23637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11111"/>
                </a:solidFill>
              </a:rPr>
              <a:t>−0.45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612648" y="5733288"/>
            <a:ext cx="23637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</a:rPr>
              <a:t>cost of changing one core base</a:t>
            </a:r>
            <a:endParaRPr lang="en-US" sz="1200" dirty="0"/>
          </a:p>
        </p:txBody>
      </p:sp>
      <p:sp>
        <p:nvSpPr>
          <p:cNvPr id="7" name="stat-1"/>
          <p:cNvSpPr/>
          <p:nvPr/>
        </p:nvSpPr>
        <p:spPr>
          <a:xfrm>
            <a:off x="3360420" y="5074920"/>
            <a:ext cx="2583180" cy="1051560"/>
          </a:xfrm>
          <a:prstGeom prst="roundRect">
            <a:avLst>
              <a:gd name="adj" fmla="val 5217"/>
            </a:avLst>
          </a:prstGeom>
          <a:solidFill>
            <a:srgbClr val="F2F2F2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470148" y="5166360"/>
            <a:ext cx="23637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11111"/>
                </a:solidFill>
              </a:rPr>
              <a:t>−0.56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3470148" y="5733288"/>
            <a:ext cx="23637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</a:rPr>
              <a:t>cost of changing all seven</a:t>
            </a:r>
            <a:endParaRPr lang="en-US" sz="1200" dirty="0"/>
          </a:p>
        </p:txBody>
      </p:sp>
      <p:sp>
        <p:nvSpPr>
          <p:cNvPr id="10" name="stat-2"/>
          <p:cNvSpPr/>
          <p:nvPr/>
        </p:nvSpPr>
        <p:spPr>
          <a:xfrm>
            <a:off x="6217920" y="5074920"/>
            <a:ext cx="2583180" cy="1051560"/>
          </a:xfrm>
          <a:prstGeom prst="roundRect">
            <a:avLst>
              <a:gd name="adj" fmla="val 5217"/>
            </a:avLst>
          </a:prstGeom>
          <a:solidFill>
            <a:srgbClr val="F2F2F2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327648" y="5166360"/>
            <a:ext cx="23637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11111"/>
                </a:solidFill>
              </a:rPr>
              <a:t>+0.28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6327648" y="5733288"/>
            <a:ext cx="23637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</a:rPr>
              <a:t>net value of a second copy</a:t>
            </a:r>
            <a:endParaRPr lang="en-US" sz="1200" dirty="0"/>
          </a:p>
        </p:txBody>
      </p:sp>
      <p:sp>
        <p:nvSpPr>
          <p:cNvPr id="13" name="stat-3"/>
          <p:cNvSpPr/>
          <p:nvPr/>
        </p:nvSpPr>
        <p:spPr>
          <a:xfrm>
            <a:off x="9075420" y="5074920"/>
            <a:ext cx="2583180" cy="1051560"/>
          </a:xfrm>
          <a:prstGeom prst="roundRect">
            <a:avLst>
              <a:gd name="adj" fmla="val 5217"/>
            </a:avLst>
          </a:prstGeom>
          <a:solidFill>
            <a:srgbClr val="F2F2F2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185148" y="5166360"/>
            <a:ext cx="23637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2551C"/>
                </a:solidFill>
              </a:rPr>
              <a:t>±40 bp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9185148" y="5733288"/>
            <a:ext cx="23637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</a:rPr>
              <a:t>where that copy helps most</a:t>
            </a:r>
            <a:endParaRPr lang="en-US" sz="1200" dirty="0"/>
          </a:p>
        </p:txBody>
      </p:sp>
      <p:sp>
        <p:nvSpPr>
          <p:cNvPr id="16" name="Text 0"/>
          <p:cNvSpPr/>
          <p:nvPr>
            <p:ph idx="101" type="body" hasCustomPrompt="1"/>
          </p:nvPr>
        </p:nvSpPr>
        <p:spPr>
          <a:xfrm>
            <a:off x="502920" y="5943600"/>
            <a:ext cx="111556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2551C"/>
                </a:solidFill>
              </a:rPr>
              <a:t>Takeaway   </a:t>
            </a:r>
            <a:pPr algn="l" indent="0" marL="0">
              <a:buNone/>
            </a:pPr>
            <a:r>
              <a:rPr lang="en-US" sz="1500" dirty="0">
                <a:solidFill>
                  <a:srgbClr val="111111"/>
                </a:solidFill>
              </a:rPr>
              <a:t>one wrong base costs nearly as much as destroying the motif; a half-site is worth nothing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6A6A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301752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Age-gained sites read AP-1 dosage more sharply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02920" y="1234440"/>
            <a:ext cx="11155680" cy="5120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1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Sites in the top fifth of binding-score gain with age differ from matched controls in four ways, and they all point the same direction:</a:t>
            </a:r>
            <a:endParaRPr lang="en-US" sz="1700" dirty="0"/>
          </a:p>
          <a:p>
            <a:pPr algn="l" marL="342900" indent="-342900"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They gain more from an added motif copy  (+0.38 vs +0.32, FDR &lt; 0.001)</a:t>
            </a:r>
            <a:endParaRPr lang="en-US" sz="1700" dirty="0"/>
          </a:p>
          <a:p>
            <a:pPr algn="l" marL="342900" indent="-342900"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They benefit more when that copy is near  (FDR 0.003)</a:t>
            </a:r>
            <a:endParaRPr lang="en-US" sz="1700" dirty="0"/>
          </a:p>
          <a:p>
            <a:pPr algn="l" marL="342900" indent="-342900"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They lose more from one damaged core base  (−0.60 vs −0.51, FDR 0.023)</a:t>
            </a:r>
            <a:endParaRPr lang="en-US" sz="1700" dirty="0"/>
          </a:p>
          <a:p>
            <a:pPr algn="l" marL="342900" indent="-342900">
              <a:spcAft>
                <a:spcPts val="1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They carry a perfect consensus core more often  (84.5% vs 78.6%, p = 0.02)</a:t>
            </a:r>
            <a:endParaRPr lang="en-US" sz="1700" dirty="0"/>
          </a:p>
        </p:txBody>
      </p:sp>
      <p:sp>
        <p:nvSpPr>
          <p:cNvPr id="4" name="massaction"/>
          <p:cNvSpPr txBox="1"/>
          <p:nvPr/>
        </p:nvSpPr>
        <p:spPr>
          <a:xfrm>
            <a:off x="7498080" y="1371600"/>
            <a:ext cx="4160520" cy="3017520"/>
          </a:xfrm>
          <a:prstGeom prst="rect">
            <a:avLst/>
          </a:prstGeom>
          <a:solidFill>
            <a:srgbClr val="F2F2F2"/>
          </a:solidFill>
          <a:ln/>
        </p:spPr>
        <p:txBody>
          <a:bodyPr wrap="square" lIns="177800" tIns="177800" rIns="177800" bIns="17780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2551C"/>
                </a:solidFill>
              </a:rPr>
              <a:t>Mass action</a:t>
            </a:r>
            <a:endParaRPr lang="en-US" sz="19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000000"/>
                </a:solidFill>
              </a:rPr>
              <a:t>If ageing raises AP-1 activity, occupancy rises first at the highest-affinity motifs. Those are exactly the sites that gain.</a:t>
            </a:r>
            <a:endParaRPr lang="en-US" sz="1900" dirty="0"/>
          </a:p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</a:rPr>
              <a:t>Losing binding is not the reverse: age-lost sites show no sequence signature at all.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512064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11111"/>
                </a:solidFill>
              </a:rPr>
              <a:t>Ageing gains AP-1 sites over losses 2.2 : 1. Exercise reverses it, 0.67 : 1.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6A6A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301752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An independent reporter assay agrees</a:t>
            </a:r>
            <a:endParaRPr lang="en-US" sz="2800" dirty="0"/>
          </a:p>
        </p:txBody>
      </p:sp>
      <p:pic>
        <p:nvPicPr>
          <p:cNvPr id="3" name="Image 0" descr="/Users/z5162865/WongLab/AlphaGenome_Ap1/Analysis/mpra_scan/figures/m1_mpra_vs_sc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828800"/>
            <a:ext cx="11155680" cy="3383280"/>
          </a:xfrm>
          <a:prstGeom prst="rect">
            <a:avLst/>
          </a:prstGeom>
        </p:spPr>
      </p:pic>
      <p:sp>
        <p:nvSpPr>
          <p:cNvPr id="4" name="stat-0"/>
          <p:cNvSpPr/>
          <p:nvPr/>
        </p:nvSpPr>
        <p:spPr>
          <a:xfrm>
            <a:off x="502920" y="1097280"/>
            <a:ext cx="5440680" cy="658368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12648" y="1188720"/>
            <a:ext cx="5221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6FB2"/>
                </a:solidFill>
              </a:rPr>
              <a:t>7.5%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612648" y="1755648"/>
            <a:ext cx="5221224" cy="-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</a:rPr>
              <a:t>AlphaGenome: the motif's share of local dependence</a:t>
            </a:r>
            <a:endParaRPr lang="en-US" sz="1200" dirty="0"/>
          </a:p>
        </p:txBody>
      </p:sp>
      <p:sp>
        <p:nvSpPr>
          <p:cNvPr id="7" name="stat-1"/>
          <p:cNvSpPr/>
          <p:nvPr/>
        </p:nvSpPr>
        <p:spPr>
          <a:xfrm>
            <a:off x="6217920" y="1097280"/>
            <a:ext cx="5440680" cy="658368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327648" y="1188720"/>
            <a:ext cx="5221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2551C"/>
                </a:solidFill>
              </a:rPr>
              <a:t>9.3%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6327648" y="1755648"/>
            <a:ext cx="5221224" cy="-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</a:rPr>
              <a:t>fibroblast MPRA: the same quantity, measured in the lab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1" type="body" hasCustomPrompt="1"/>
          </p:nvPr>
        </p:nvSpPr>
        <p:spPr>
          <a:xfrm>
            <a:off x="502920" y="5943600"/>
            <a:ext cx="111556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2551C"/>
                </a:solidFill>
              </a:rPr>
              <a:t>Takeaway   </a:t>
            </a:r>
            <a:pPr algn="l" indent="0" marL="0">
              <a:buNone/>
            </a:pPr>
            <a:r>
              <a:rPr lang="en-US" sz="1500" dirty="0">
                <a:solidFill>
                  <a:srgbClr val="111111"/>
                </a:solidFill>
              </a:rPr>
              <a:t>two assays, different cell types and readouts, both put the AP-1 motif under a tenth of its 170 bp surroundings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6A6A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301752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What this changes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02920" y="1234440"/>
            <a:ext cx="11155680" cy="5120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A responsive AP-1 site is a marginal one, not a differently-built one</a:t>
            </a:r>
            <a:endParaRPr lang="en-US" sz="1700" dirty="0"/>
          </a:p>
          <a:p>
            <a:pPr algn="l" indent="0" marL="0">
              <a:spcAft>
                <a:spcPts val="1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Weaker AP-1 motif, fewer AP-1 motifs around it, sparser and less MEF2-rich neighbourhood, dependence spread thinly across the element. Nothing about how it responds to mutation differs.</a:t>
            </a:r>
            <a:endParaRPr lang="en-US" sz="1700" dirty="0"/>
          </a:p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That is why it fluctuates</a:t>
            </a:r>
            <a:endParaRPr lang="en-US" sz="1700" dirty="0"/>
          </a:p>
          <a:p>
            <a:pPr algn="l" indent="0" marL="0">
              <a:spcAft>
                <a:spcPts val="1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A weak motif in a poorly-supported enhancer sits near the occupancy threshold, so its binding tracks how much AP-1 protein is available — which is what ageing changes.</a:t>
            </a:r>
            <a:endParaRPr lang="en-US" sz="1700" dirty="0"/>
          </a:p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Gain and loss are different events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Age-gained sites have better cores and read dosage more sharply. Age-lost sites are MEF2-rich, high-scoring sites drifting down, with no sequence signature of their own.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6A6A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301752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Where this goes next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02920" y="1234440"/>
            <a:ext cx="11155680" cy="5120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Fine-tuned condition-aware head</a:t>
            </a:r>
            <a:endParaRPr lang="en-US" sz="17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A frozen-trunk probe on our own cardiomyocyte and fibroblast ATAC already reaches profile r = 0.65 against 0.59 for the built-in heart head, training 0.01% of the model. Next: 1 bp insertion targets, then LoRA.</a:t>
            </a:r>
            <a:endParaRPr lang="en-US" sz="1700" dirty="0"/>
          </a:p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Does AP-1 activity actually rise with age?</a:t>
            </a:r>
            <a:endParaRPr lang="en-US" sz="17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The mass-action reading rests on it. One check against the RNA.</a:t>
            </a:r>
            <a:endParaRPr lang="en-US" sz="1700" dirty="0"/>
          </a:p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Fibroblast scan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If MEF2 also tops the partner ranking in fibroblasts, the ranking is a model artefact rather than cardiac biology. This is the sharpest available control.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6A6A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P1 Mono">
  <a:themeElements>
    <a:clrScheme name="AP1 Mono">
      <a:dk1>
        <a:srgbClr val="111111"/>
      </a:dk1>
      <a:lt1>
        <a:srgbClr val="FFFFFF"/>
      </a:lt1>
      <a:dk2>
        <a:srgbClr val="595959"/>
      </a:dk2>
      <a:lt2>
        <a:srgbClr val="F2F2F2"/>
      </a:lt2>
      <a:accent1>
        <a:srgbClr val="C2551C"/>
      </a:accent1>
      <a:accent2>
        <a:srgbClr val="1F6FB2"/>
      </a:accent2>
      <a:accent3>
        <a:srgbClr val="111111"/>
      </a:accent3>
      <a:accent4>
        <a:srgbClr val="8C8C8C"/>
      </a:accent4>
      <a:accent5>
        <a:srgbClr val="D9D9D9"/>
      </a:accent5>
      <a:accent6>
        <a:srgbClr val="595959"/>
      </a:accent6>
      <a:hlink>
        <a:srgbClr val="1F6FB2"/>
      </a:hlink>
      <a:folHlink>
        <a:srgbClr val="595959"/>
      </a:folHlink>
    </a:clrScheme>
    <a:fontScheme name="AP1 Mon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AlphaGenome perturbation of AP-1 sites</dc:title>
  <dc:subject>PptxGenJS Presentation</dc:subject>
  <dc:creator>Jack</dc:creator>
  <cp:lastModifiedBy>Jack</cp:lastModifiedBy>
  <cp:revision>1</cp:revision>
  <dcterms:created xsi:type="dcterms:W3CDTF">2026-10-22T22:57:48Z</dcterms:created>
  <dcterms:modified xsi:type="dcterms:W3CDTF">2026-10-22T22:57:48Z</dcterms:modified>
</cp:coreProperties>
</file>