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in silico: AlphaGenome's predicted ATAC signal after we edit the sequence. The head was fine-tuned on our own 1 bp Tn5 insertion data with Borzoi fold-3 region-based splits, so the numbers quoted are on held-out regions. Site classes are the TOBIAS categories as given - Stable = bound in all three conditions; Dynamic = anything else; Age Up / Age Down are the directional age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any result, because every number in the deck depends on it.
WHAT IT IS: a sequence-to-function model (Google DeepMind, 2025). Convolutional layers pick up local motif-scale features, a transformer lets every position see the whole 131,072 bp window, and a stack of decoders upsample back to base resolution, where a head per track turns it into predicted signal for thousands of assay x cell-type combinations.
ON THE WINDOW: AlphaGenome takes a variable context and will go up to 1 Mb. We run it at 131,072 bp, which is wide enough to carry the regulatory neighbourhood of a site and cheap enough to repeat tens of thousands of times. Every perturbation in the deck uses that same width, so nothing here turns on the choice.
WHAT IT IS GIVEN: one-hot DNA. No ATAC, no expression, no annotation, no cell-type label beyond our choice of which output track to read. If someone asks whether the model 'already knows' a site is dynamic - it cannot; it never sees the labels, the conditions, or the TOBIAS calls.
WHAT WE READ: the fibroblast ATAC head, fine-tuned on our own Tn5 data. Held-out Spearman 0.68 against 0.27 for the built-in head, which is the reason we fine-tuned rather than using it off the shelf. The FB trackset is the mean of the four conditions.
WHY IT LICENSES THE REST: because the output is a deterministic function of the input sequence, two predictions that differ only in an edit differ only because of the edit. That is the whole logic of the next slide, and of every perturbation in the deck.
THE LIMIT, say it here rather than be asked: these are predictions, not measurements. AlphaGenome is good at ranking sequences on accessibility; it is not a reporter assay. Anything surprising is a hypothesis for the bench, not a result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out loud at the start, because it is what makes the rest defensible: the comparison is always within one window, and the model never sees a label.
The head is ours - fine-tuned on our own 1 bp fibroblast Tn5 insertions with Borzoi fold-3 region-based splits, so 0.68 is on held-out regions. The built-in AlphaGenome ATAC head manages 0.27 on the same data, which is why none of this was run on it.
FB is the mean of the four conditions (young/old x sedentary/exercise), not a single track.
TOBIAS is used only to say WHERE a footprint is and which family it belongs to. No footprint score enters any calculation on these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Hosts are genomic windows with no called ATAC peak. 20 per element, 50 donor elements per class, scored at the whole-peak width.
Why the shuffled control and not an empty host: an empty host still has its own baseline signal, and that baseline differs between hosts. Scoring element against shuffled inside the SAME host removes it.
What this cannot do: the donors are not matched on accessibility. That is handled on the next slide and the caveat line there carries the matched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Per-donor medians over 20 hosts: Stable +4.65 log2 (25x), Dynamic pooled +2.35 (5.1x), p = 1.5e-5.
By class, as plotted: Stable 25x, Age Up 6.3x, Age Down 6.1x, Exercise Down 4.6x, Exercise Up 4.4x. Every Dynamic class sits well below Stable and they are close to each other, which is why pooling them is fair here.
IMPORTANT CAVEAT, be ready for this question: the donors are not matched on accessibility - Stable donors come from loci about 1.8x more accessible (measured ATAC: 32.2 vs 18.0 CPM/kb). Matching on MEASURED fibroblast ATAC (model-independent), the residual Stable advantage is +0.84 +- 0.30 log2, i.e. about 1.8x, p = 0.005 (covariance adjustment, 224 donors). The 47 matched pairs point the same way (+0.99) but are underpowered (p = 0.13). So: direction solid, magnitude about a third to a half of the raw gap. Do not defend 25x vs 5x as a sequence effect.
Also worth knowing: 0 of 50 Stable donors lack a measured ATAC peak, against 5-8 per Dynamic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self-swaps excluded, at two widths: the 170 bp MPRA-sized window and the whole peak.
Each donor appears in about 250 of those rows, so the rows are nowhere near independent. The intervals on the next slide come from a cluster bootstrap over the 250 donors; an OLS standard error on 62,250 rows would be far too small and would make both coefficients look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170 bp: beta(element) 0.24 vs beta(location) 0.61, R2 = 0.20. Whole peak: 0.71 vs 0.20, R2 = 0.46. Transfer fraction 0.29 at 170 bp, 0.83 at peak.
Link to the MPRA, if asked: the MPRA library is 170 bp, and its class difference there is tiny (flank shuffle 0.128 vs 0.016 log2, d = 0.14). Both assays agree that 170 bp is a poor window for this question. They are NOT the same measurement - the MPRA is episomal activity, this is chromatin accessibility in genomic context.
AVOID on a slide: our in-situ 170 bp shuffle has Stable sites losing more (-2.51 vs -1.96, p = 4e-40), which is the opposite direction to the MPRA flank result. Different assay, but it reads as a contradiction. Keep it off unless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control that makes the next two slides immune to the accessibility gap. Dynamic sites are about half as accessible as Stable ones, so any measure that compares a Dynamic number against a Stable number is exposed to that confound. Here both terms come from the same window of the same site.
TOBIAS says only WHERE a footprint is and which family it belongs to. No footprint score enters the calculation; the effect is always AlphaGenome's.
One asymmetry to admit if asked: the site's own AP-1 motif has no matched control, because a control at distance 0 would overlap the motif. That inflates AP-1 relative to the partners in every class equally, so the comparison BETWEEN classes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2,340 sites. Own AP-1 motif, median log2, with BH-adjusted P against Stable:
  Stable -1.21 (n=1179, reference) · Age Up -1.19 (n=605, FDR 0.93) · Age Down -0.78 (n=209, FDR 9.1e-5) · Exercise Up -1.14 (n=233, FDR 0.49) · Exercise Down -0.96 (n=114, FDR 0.043)
Partner motifs, net of control: -0.20 / -0.25 / -0.22 / -0.23 / -0.33. Nothing survives BH (smallest adjusted 0.20), so the deficit is AP-1-specific in both losing classes. So the deficit is AP-1-specific, not general weakness. No single partner family takes over: nothing survives FDR in the per-family split.
Agreement: pooled Stable vs Dynamic at the motif is a null, which matches the manuscript's core-scramble result (no class difference). Age-gained being on par with Stable is the sequence-level version of 'age-gained reporter activity on par with stable'.
Note on the split: a site that is dynamic with both age and exercise is counted under its age class, so the two exercise groups are the sites that are NOT also age-dynamic. Splitting them is what separated the old 'other Dynamic' group (p = 0.055, n = 347) into Exercise Up, which looks like Stable, and Exercise Down, which does not.
Caveat: the own-AP-1 bar has no matched control, because one at distance 0 would overlap the motif. That inflates AP-1 relative to the partners in every class equally, so the class comparison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tiles of 10 bp from -300 to +290, one prediction each; then 61 positions x 3 alternative bases.
The analysis step that matters is on the next slide: each site's profile has its OWN noise floor subtracted (the median |effect| beyond +-200 bp) before being normalised to its own total. Without that, Dynamic sites look more 'distributed' simply because they are less accessible and therefore noisier, and noise is flat across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TO ANNOTATE WITH, strongest first:
  - the peak tile carries 10.8% (Stable) / 9.9% (Dynamic) of a site's importance, against 1.7% for an average tile - about 6x enrichment
  - within +-25 bp (5 of 60 tiles, 8% of the sequence): Stable 33.8% vs Dynamic 30.7%, p = 2.0e-6
  - accessibility-matched, 860 pairs: 33.1% vs 31.3%, paired difference +1.5 points, Wilcoxon p = 0.006
  - only 2 of 60 positions differ at FDR &lt; 0.05, and they are the two tiles over the core (FDR = 0.001). Every other position FDR &gt; 0.8
  - in 56% of Stable and 52% of Dynamic sites the single most important tile IS a core tile, against a chance of 3.3% - 16x. That one does NOT differ by class (Fisher p = 0.063; matched McNemar p = 0.21), so quote it as the shared fact, not as a difference. Figure for it is on disk as r_fb_top_tile.png if anyone wants to see it.
2,359 sites, 60 tiles of 10 bp from -300 to +290, fine-tuned FB head, readout atac_170.
Why the floor subtraction matters, if asked: Dynamic sites are about half as accessible, so their log2 ratios are noisier, and noise is flat across position. Without removing each site's own floor (median |effect| beyond +-200 bp: 0.047 Dynamic, 0.037 Stable) a Dynamic profile looks more distributed whether or not it is. That is exactly the artefact this corrects for.
Agreement: this is the AlphaGenome version of 'attention is more distributed at dynamic enhancers'. Same direction, different model and different readout.
Honest size: the matched difference is 1.5 percentage points on a base of about a third. Real, repeatedly so, but small - do not oversell it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vs Dynamic, cumulative share within ±x bp:
  ±20 bp  33.8% / 30.7%   (the previous slide's number)
  ±40 bp  49.0% / 44.5%
  ±60 bp  62.8% / 57.5%   &lt;- widest gap, 5.3 points
  ±100 bp 80.0% / 75.7%
Half-maximum radius by linear interpolation: Stable 41.4 bp, Dynamic 48.1 bp.
Why this view: the two profiles on the previous slide differ by about a percentage point per position, which is invisible when both are drawn at full height. Integrating makes a real difference legible without inflating it - the quantity at every radius is still a share of the site's own total.
The honest size is unchanged from the previous slide: about 1.5 points once accessibility is matched, on a base of a third. Do not let the separation in this plot be heard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60 positions reach FDR &lt; 0.05 and they are the two core tiles: -10 bp (+0.94 points, FDR 0.0008) and 0 bp (+0.84 points, FDR 0.0007). The next largest difference anywhere is +0.31 points at -20 bp, FDR 0.81; every other position FDR &gt; 0.9.
Use this one if the point you want to land is WHERE the classes differ rather than BY HOW MUCH. It is the most conservative of the three - the whole class difference is two points above a flat line, and the plot says so.
A difference plot hides the shared signal: both classes still put a large spike on the motif, and that spike is the main result of the previous slide. Say it out loud if you show this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within ±25 bp, median per site, with BH-adjusted P against Stable:
  Stable         33.8%  (n=1179, reference)
  Age Up         31.3%  (n=613,  FDR 0.0038)
  Age Down       28.3%  (n=212,  FDR 0.00045)
  Exercise Up    31.5%  (n=240,  FDR 0.0087)
  Exercise Down  28.6%  (n=115,  FDR 0.0084)
This is the only one of the three alternatives that shows something the pooled comparison cannot. It is also the one that connects to the motif-specificity slide: there, the LOSING classes let go of the motif in absolute terms; here, the same two classes are the ones whose dependence is least concentrated on it. Same partition, different measurement.
What it is NOT: this is not accessibility. The matched analysis on the previous slide (860 pairs, p = 0.006) holds for the pooled contrast; the per-class split has not been matched, because the smaller classes do not support it. If pushed, that is the honest answer - the pooled difference survives matching, the ordering within Dynamic is unmatched and n=115 at the bottom.
A site dynamic with both age and exercise is counted under its age class, as everywhere else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0.804 (n=1179) vs Dynamic pooled 0.745 (n=1161), p = 7.2e-11. By class: Age Up 0.755 (p = 7.9e-5), Age Down 0.734 (p = 4.1e-6), Exercise Up 0.726 (p = 1.9e-5), Exercise Down 0.732 (p = 8.7e-6).
Worth contrasting with the previous slide out loud: there, only the LOSING classes moved. Here all four move, including both gaining classes. So the absolute dependence on AP-1 and the share of the total it carries are two different statements, and only the second separates every Dynamic class from Stable.
The 40%: partner share 19.6% for Stable against 24.5 / 26.6 / 27.3% for the Dynamic classes, so 27.3/19.6 = 1.39x. It is the same number as 80 vs 73, read from the other end - say it whichever way, but do not say both as if they were two results.
Detection check, in case it is asked: footprint calling needs signal, so Stable sites carry more detected partners (5.89 vs 5.01 per site, p = 2e-82). Restricting to the 1,808 sites that hit the cap of 6 detected partners, the gap is unchanged: 0.806 vs 0.736, p = 2.1e-13. Not a detection artefact.
Note this is a DIFFERENT statement from the motif-specificity slide. There, only the AP-1-losing class drops in absolute AP-1 dependence. Here, all Dynamic classes are modestly less AP-1-centric in relative terms.
The equivalent tile-scan measure (motif share vs a 10-50 bp collar) does NOT survive accessibility matching (p = 0.11); the collar is mostly noise at low-accessibility sites. This version is better powered because it only scores footprinted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next slide's numbers come from. 2,359 sites; 860 accessibility-matched pairs at caliper 0.1 log10.
The ladder (1 to 7 bases of the core) is what gives a dose-response rather than a single on/off contrast - it is how we can say the Dynamic curve is SHALLOWER rather than just lower.
Two controls worth naming if asked:
  - the second copy is paired with a scrambled insert of the same width at the same distance, so the comparison is 'a motif there' against 'that much sequence there'
  - moving the motif is paired with moving it to a spot that has no footprint
The reverse complement is the sanity check on the head: a TRE is a near-palindrome, only 5 of the 11 bases actually move, and the predicted cost is -0.03 log2 (p = 0.89). If that had come out large, nothing else here would be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fibroblast titration, 2,359 sites, 860 accessibility-matched pairs (caliper 0.1 log10). This slide is the argument for why the matched analysis is worth doing - two of the five largest raw class differences in the titration were entirely explained by the accessibility gap.
Age Down is the outlier again, consistently with the other arms: one base of the core changed -0.62 vs Stable -0.83; motif gone -0.72 vs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flank question comes up: the MPRA destroys the flanks of a 170 bp fragment on a plasmid and reads transcription; we move an intact ~0.8 kb element into closed chromatin and read accessibility. There is no chromatin to open in the MPRA. The honest shared conclusion is that neither assay finds much class information in 170 bp.
Everything here is predicted accessibility from a model fine-tuned on our own fibroblast ATAC, not a measurement, and not the MPRA-trained probe used in the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r>
              <a:rPr lang="en-US" sz="3800" b="1" dirty="0">
                <a:solidFill>
                  <a:schemeClr val="tx1"/>
                </a:solidFill>
              </a:rPr>
              <a:t> </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SU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nchor="b"/>
          <a:lstStyle/>
          <a:p>
            <a:pPr algn="l" indent="0" marL="0">
              <a:buNone/>
            </a:pPr>
            <a:r>
              <a:rPr lang="en-US" sz="3800" b="1" dirty="0">
                <a:solidFill>
                  <a:schemeClr val="tx1"/>
                </a:solidFill>
              </a:rPr>
              <a:t>AP-1 sites in cardiac fibroblasts</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nchor="t"/>
          <a:lstStyle/>
          <a:p>
            <a:pPr algn="l" indent="0" marL="0">
              <a:spcAft>
                <a:spcPts val="1200"/>
              </a:spcAft>
              <a:buNone/>
            </a:pPr>
            <a:r>
              <a:rPr lang="en-US" sz="1900" dirty="0">
                <a:solidFill>
                  <a:srgbClr val="111111"/>
                </a:solidFill>
              </a:rPr>
              <a:t>What AlphaGenome says separates Stable from Dynamic sites</a:t>
            </a:r>
            <a:endParaRPr lang="en-US" sz="1700" dirty="0"/>
          </a:p>
          <a:p>
            <a:pPr algn="l" indent="0" marL="0">
              <a:buNone/>
            </a:pPr>
            <a:r>
              <a:rPr lang="en-US" sz="1350" dirty="0">
                <a:solidFill>
                  <a:srgbClr val="595959"/>
                </a:solidFill>
              </a:rPr>
              <a:t>Fine-tuned 1 bp ATAC head (held-out Spearman 0.68, against 0.27 for the built-in head)  ·  5,018 fibroblast AP-1 sites  ·  all effects are predicted accessibility, not measured</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What AlphaGenome is, and what it is doing here</a:t>
            </a:r>
            <a:endParaRPr lang="en-US" sz="2800" dirty="0"/>
          </a:p>
        </p:txBody>
      </p:sp>
      <p:sp>
        <p:nvSpPr>
          <p:cNvPr id="3" name="Text 1"/>
          <p:cNvSpPr txBox="1"/>
          <p:nvPr/>
        </p:nvSpPr>
        <p:spPr>
          <a:xfrm>
            <a:off x="644901" y="1760386"/>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1   WHAT GOES IN</a:t>
            </a:r>
            <a:endParaRPr lang="en-US" sz="1300" dirty="0"/>
          </a:p>
        </p:txBody>
      </p:sp>
      <p:sp>
        <p:nvSpPr>
          <p:cNvPr id="4" name="Text 2"/>
          <p:cNvSpPr txBox="1"/>
          <p:nvPr/>
        </p:nvSpPr>
        <p:spPr>
          <a:xfrm>
            <a:off x="573911" y="2490576"/>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131,072 bp of mouse genome</a:t>
            </a:r>
            <a:endParaRPr lang="en-US" sz="1100" dirty="0"/>
          </a:p>
        </p:txBody>
      </p:sp>
      <p:sp>
        <p:nvSpPr>
          <p:cNvPr id="5" name="Text 3"/>
          <p:cNvSpPr txBox="1"/>
          <p:nvPr/>
        </p:nvSpPr>
        <p:spPr>
          <a:xfrm>
            <a:off x="573911" y="2652841"/>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one AP-1 site, held in the middle</a:t>
            </a:r>
            <a:endParaRPr lang="en-US" sz="1100" dirty="0"/>
          </a:p>
        </p:txBody>
      </p:sp>
      <p:sp>
        <p:nvSpPr>
          <p:cNvPr id="6" name="Shape 4"/>
          <p:cNvSpPr/>
          <p:nvPr/>
        </p:nvSpPr>
        <p:spPr>
          <a:xfrm>
            <a:off x="705751" y="2997653"/>
            <a:ext cx="2778778" cy="0"/>
          </a:xfrm>
          <a:prstGeom prst="line">
            <a:avLst/>
          </a:prstGeom>
          <a:noFill/>
          <a:ln w="20320">
            <a:solidFill>
              <a:srgbClr val="15181C">
                <a:alpha val="55000"/>
              </a:srgbClr>
            </a:solidFill>
            <a:prstDash val="solid"/>
          </a:ln>
        </p:spPr>
      </p:sp>
      <p:sp>
        <p:nvSpPr>
          <p:cNvPr id="7" name="Shape 5"/>
          <p:cNvSpPr/>
          <p:nvPr/>
        </p:nvSpPr>
        <p:spPr>
          <a:xfrm>
            <a:off x="705751" y="2916520"/>
            <a:ext cx="0" cy="162264"/>
          </a:xfrm>
          <a:prstGeom prst="line">
            <a:avLst/>
          </a:prstGeom>
          <a:noFill/>
          <a:ln w="16510">
            <a:solidFill>
              <a:srgbClr val="15181C">
                <a:alpha val="55000"/>
              </a:srgbClr>
            </a:solidFill>
            <a:prstDash val="solid"/>
          </a:ln>
        </p:spPr>
      </p:sp>
      <p:sp>
        <p:nvSpPr>
          <p:cNvPr id="8" name="Shape 6"/>
          <p:cNvSpPr/>
          <p:nvPr/>
        </p:nvSpPr>
        <p:spPr>
          <a:xfrm>
            <a:off x="3484529" y="2916520"/>
            <a:ext cx="0" cy="162264"/>
          </a:xfrm>
          <a:prstGeom prst="line">
            <a:avLst/>
          </a:prstGeom>
          <a:noFill/>
          <a:ln w="16510">
            <a:solidFill>
              <a:srgbClr val="15181C">
                <a:alpha val="55000"/>
              </a:srgbClr>
            </a:solidFill>
            <a:prstDash val="solid"/>
          </a:ln>
        </p:spPr>
      </p:sp>
      <p:sp>
        <p:nvSpPr>
          <p:cNvPr id="9" name="Shape 7"/>
          <p:cNvSpPr/>
          <p:nvPr/>
        </p:nvSpPr>
        <p:spPr>
          <a:xfrm>
            <a:off x="2014008" y="2931733"/>
            <a:ext cx="162264" cy="131840"/>
          </a:xfrm>
          <a:prstGeom prst="roundRect">
            <a:avLst>
              <a:gd name="adj" fmla="val 13871"/>
            </a:avLst>
          </a:prstGeom>
          <a:solidFill>
            <a:srgbClr val="D9A32B">
              <a:alpha val="85000"/>
            </a:srgbClr>
          </a:solidFill>
          <a:ln w="13970">
            <a:solidFill>
              <a:srgbClr val="D9A32B"/>
            </a:solidFill>
            <a:prstDash val="solid"/>
          </a:ln>
        </p:spPr>
      </p:sp>
      <p:sp>
        <p:nvSpPr>
          <p:cNvPr id="10" name="Shape 8"/>
          <p:cNvSpPr/>
          <p:nvPr/>
        </p:nvSpPr>
        <p:spPr>
          <a:xfrm flipH="1">
            <a:off x="908581" y="3048360"/>
            <a:ext cx="1095285" cy="638916"/>
          </a:xfrm>
          <a:prstGeom prst="line">
            <a:avLst/>
          </a:prstGeom>
          <a:noFill/>
          <a:ln w="11430">
            <a:solidFill>
              <a:srgbClr val="AFB5BD"/>
            </a:solidFill>
            <a:prstDash val="dash"/>
          </a:ln>
        </p:spPr>
      </p:sp>
      <p:sp>
        <p:nvSpPr>
          <p:cNvPr id="11" name="Shape 9"/>
          <p:cNvSpPr/>
          <p:nvPr/>
        </p:nvSpPr>
        <p:spPr>
          <a:xfrm>
            <a:off x="2186414" y="3048360"/>
            <a:ext cx="1095285" cy="638916"/>
          </a:xfrm>
          <a:prstGeom prst="line">
            <a:avLst/>
          </a:prstGeom>
          <a:noFill/>
          <a:ln w="11430">
            <a:solidFill>
              <a:srgbClr val="AFB5BD"/>
            </a:solidFill>
            <a:prstDash val="dash"/>
          </a:ln>
        </p:spPr>
      </p:sp>
      <p:sp>
        <p:nvSpPr>
          <p:cNvPr id="12" name="Shape 10"/>
          <p:cNvSpPr/>
          <p:nvPr/>
        </p:nvSpPr>
        <p:spPr>
          <a:xfrm>
            <a:off x="908581" y="3687276"/>
            <a:ext cx="2373117" cy="446227"/>
          </a:xfrm>
          <a:prstGeom prst="roundRect">
            <a:avLst>
              <a:gd name="adj" fmla="val 4098"/>
            </a:avLst>
          </a:prstGeom>
          <a:solidFill>
            <a:srgbClr val="FFFFFF"/>
          </a:solidFill>
          <a:ln w="12700">
            <a:solidFill>
              <a:srgbClr val="AFB5BD"/>
            </a:solidFill>
            <a:prstDash val="solid"/>
          </a:ln>
        </p:spPr>
      </p:sp>
      <p:sp>
        <p:nvSpPr>
          <p:cNvPr id="13" name="Shape 11"/>
          <p:cNvSpPr/>
          <p:nvPr/>
        </p:nvSpPr>
        <p:spPr>
          <a:xfrm>
            <a:off x="1648913" y="3788692"/>
            <a:ext cx="892454" cy="243397"/>
          </a:xfrm>
          <a:prstGeom prst="roundRect">
            <a:avLst>
              <a:gd name="adj" fmla="val 7514"/>
            </a:avLst>
          </a:prstGeom>
          <a:solidFill>
            <a:srgbClr val="D9A32B">
              <a:alpha val="30000"/>
            </a:srgbClr>
          </a:solidFill>
          <a:ln w="7620">
            <a:solidFill>
              <a:srgbClr val="D9A32B"/>
            </a:solidFill>
            <a:prstDash val="solid"/>
          </a:ln>
        </p:spPr>
      </p:sp>
      <p:sp>
        <p:nvSpPr>
          <p:cNvPr id="14" name="Text 12"/>
          <p:cNvSpPr txBox="1"/>
          <p:nvPr/>
        </p:nvSpPr>
        <p:spPr>
          <a:xfrm>
            <a:off x="928864" y="3808975"/>
            <a:ext cx="2332551" cy="202831"/>
          </a:xfrm>
          <a:prstGeom prst="rect">
            <a:avLst/>
          </a:prstGeom>
          <a:noFill/>
          <a:ln/>
        </p:spPr>
        <p:txBody>
          <a:bodyPr wrap="square" lIns="0" tIns="0" rIns="0" bIns="0" rtlCol="0" anchor="ctr"/>
          <a:lstStyle/>
          <a:p>
            <a:pPr algn="ctr" indent="0" marL="0">
              <a:lnSpc>
                <a:spcPct val="95000"/>
              </a:lnSpc>
              <a:buNone/>
            </a:pPr>
            <a:r>
              <a:rPr lang="en-US" sz="1300" b="1" spc="140" kern="0" dirty="0">
                <a:solidFill>
                  <a:srgbClr val="15181C"/>
                </a:solidFill>
                <a:latin typeface="Consolas" pitchFamily="34" charset="0"/>
                <a:ea typeface="Consolas" pitchFamily="34" charset="-122"/>
                <a:cs typeface="Consolas" pitchFamily="34" charset="-120"/>
              </a:rPr>
              <a:t>ccaTGAGTCAgtt</a:t>
            </a:r>
            <a:endParaRPr lang="en-US" sz="1300" dirty="0"/>
          </a:p>
        </p:txBody>
      </p:sp>
      <p:sp>
        <p:nvSpPr>
          <p:cNvPr id="15" name="Text 13"/>
          <p:cNvSpPr txBox="1"/>
          <p:nvPr/>
        </p:nvSpPr>
        <p:spPr>
          <a:xfrm>
            <a:off x="1283818" y="4194353"/>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8A6400"/>
                </a:solidFill>
                <a:latin typeface="Arial" pitchFamily="34" charset="0"/>
                <a:ea typeface="Arial" pitchFamily="34" charset="-122"/>
                <a:cs typeface="Arial" pitchFamily="34" charset="-120"/>
              </a:rPr>
              <a:t>AP-1 core</a:t>
            </a:r>
            <a:endParaRPr lang="en-US" sz="1100" dirty="0"/>
          </a:p>
        </p:txBody>
      </p:sp>
      <p:sp>
        <p:nvSpPr>
          <p:cNvPr id="16" name="Text 14"/>
          <p:cNvSpPr txBox="1"/>
          <p:nvPr/>
        </p:nvSpPr>
        <p:spPr>
          <a:xfrm>
            <a:off x="644901" y="4458033"/>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one-hot A C G T, and nothing else:</a:t>
            </a:r>
            <a:endParaRPr lang="en-US" sz="1100" dirty="0"/>
          </a:p>
        </p:txBody>
      </p:sp>
      <p:sp>
        <p:nvSpPr>
          <p:cNvPr id="17" name="Text 15"/>
          <p:cNvSpPr txBox="1"/>
          <p:nvPr/>
        </p:nvSpPr>
        <p:spPr>
          <a:xfrm>
            <a:off x="644901" y="4620297"/>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no ATAC, no cell type, no annotation</a:t>
            </a:r>
            <a:endParaRPr lang="en-US" sz="1100" dirty="0"/>
          </a:p>
        </p:txBody>
      </p:sp>
      <p:sp>
        <p:nvSpPr>
          <p:cNvPr id="18" name="Text 16"/>
          <p:cNvSpPr txBox="1"/>
          <p:nvPr/>
        </p:nvSpPr>
        <p:spPr>
          <a:xfrm>
            <a:off x="4072738" y="1760386"/>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2   THE MODEL</a:t>
            </a:r>
            <a:endParaRPr lang="en-US" sz="1300" dirty="0"/>
          </a:p>
        </p:txBody>
      </p:sp>
      <p:sp>
        <p:nvSpPr>
          <p:cNvPr id="19" name="Shape 17"/>
          <p:cNvSpPr/>
          <p:nvPr/>
        </p:nvSpPr>
        <p:spPr>
          <a:xfrm>
            <a:off x="4072738" y="2105198"/>
            <a:ext cx="2474533" cy="2413683"/>
          </a:xfrm>
          <a:prstGeom prst="roundRect">
            <a:avLst>
              <a:gd name="adj" fmla="val 1894"/>
            </a:avLst>
          </a:prstGeom>
          <a:solidFill>
            <a:srgbClr val="15181C">
              <a:alpha val="5000"/>
            </a:srgbClr>
          </a:solidFill>
          <a:ln w="12700">
            <a:solidFill>
              <a:srgbClr val="15181C">
                <a:alpha val="32000"/>
              </a:srgbClr>
            </a:solidFill>
            <a:prstDash val="solid"/>
          </a:ln>
        </p:spPr>
      </p:sp>
      <p:sp>
        <p:nvSpPr>
          <p:cNvPr id="20" name="Text 18"/>
          <p:cNvSpPr txBox="1"/>
          <p:nvPr/>
        </p:nvSpPr>
        <p:spPr>
          <a:xfrm>
            <a:off x="4143728" y="2267463"/>
            <a:ext cx="2332551" cy="202831"/>
          </a:xfrm>
          <a:prstGeom prst="rect">
            <a:avLst/>
          </a:prstGeom>
          <a:noFill/>
          <a:ln/>
        </p:spPr>
        <p:txBody>
          <a:bodyPr wrap="square" lIns="0" tIns="0" rIns="0" bIns="0" rtlCol="0" anchor="ctr"/>
          <a:lstStyle/>
          <a:p>
            <a:pPr algn="ctr" indent="0" marL="0">
              <a:lnSpc>
                <a:spcPct val="95000"/>
              </a:lnSpc>
              <a:buNone/>
            </a:pPr>
            <a:r>
              <a:rPr lang="en-US" sz="1400" b="1" dirty="0">
                <a:solidFill>
                  <a:srgbClr val="15181C"/>
                </a:solidFill>
                <a:latin typeface="Arial" pitchFamily="34" charset="0"/>
                <a:ea typeface="Arial" pitchFamily="34" charset="-122"/>
                <a:cs typeface="Arial" pitchFamily="34" charset="-120"/>
              </a:rPr>
              <a:t>AlphaGenome</a:t>
            </a:r>
            <a:endParaRPr lang="en-US" sz="1400" dirty="0"/>
          </a:p>
        </p:txBody>
      </p:sp>
      <p:sp>
        <p:nvSpPr>
          <p:cNvPr id="21" name="Text 19"/>
          <p:cNvSpPr txBox="1"/>
          <p:nvPr/>
        </p:nvSpPr>
        <p:spPr>
          <a:xfrm>
            <a:off x="4093021" y="2470293"/>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sequence in, signal out</a:t>
            </a:r>
            <a:endParaRPr lang="en-US" sz="1100" dirty="0"/>
          </a:p>
        </p:txBody>
      </p:sp>
      <p:sp>
        <p:nvSpPr>
          <p:cNvPr id="22" name="Shape 20"/>
          <p:cNvSpPr/>
          <p:nvPr/>
        </p:nvSpPr>
        <p:spPr>
          <a:xfrm>
            <a:off x="4295851" y="2815105"/>
            <a:ext cx="2028305" cy="446227"/>
          </a:xfrm>
          <a:prstGeom prst="roundRect">
            <a:avLst>
              <a:gd name="adj" fmla="val 4098"/>
            </a:avLst>
          </a:prstGeom>
          <a:solidFill>
            <a:srgbClr val="55637A">
              <a:alpha val="10000"/>
            </a:srgbClr>
          </a:solidFill>
          <a:ln w="11430">
            <a:solidFill>
              <a:srgbClr val="55637A"/>
            </a:solidFill>
            <a:prstDash val="solid"/>
          </a:ln>
        </p:spPr>
      </p:sp>
      <p:sp>
        <p:nvSpPr>
          <p:cNvPr id="23" name="Text 21"/>
          <p:cNvSpPr txBox="1"/>
          <p:nvPr/>
        </p:nvSpPr>
        <p:spPr>
          <a:xfrm>
            <a:off x="4245144" y="2835388"/>
            <a:ext cx="2129721"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15181C"/>
                </a:solidFill>
                <a:latin typeface="Arial" pitchFamily="34" charset="0"/>
                <a:ea typeface="Arial" pitchFamily="34" charset="-122"/>
                <a:cs typeface="Arial" pitchFamily="34" charset="-120"/>
              </a:rPr>
              <a:t>convolutions</a:t>
            </a:r>
            <a:endParaRPr lang="en-US" sz="1200" dirty="0"/>
          </a:p>
        </p:txBody>
      </p:sp>
      <p:sp>
        <p:nvSpPr>
          <p:cNvPr id="24" name="Text 22"/>
          <p:cNvSpPr txBox="1"/>
          <p:nvPr/>
        </p:nvSpPr>
        <p:spPr>
          <a:xfrm>
            <a:off x="4245144" y="3028077"/>
            <a:ext cx="2129721" cy="202831"/>
          </a:xfrm>
          <a:prstGeom prst="rect">
            <a:avLst/>
          </a:prstGeom>
          <a:noFill/>
          <a:ln/>
        </p:spPr>
        <p:txBody>
          <a:bodyPr wrap="square" lIns="0" tIns="0" rIns="0" bIns="0" rtlCol="0" anchor="ctr"/>
          <a:lstStyle/>
          <a:p>
            <a:pPr algn="ctr" indent="0" marL="0">
              <a:lnSpc>
                <a:spcPct val="95000"/>
              </a:lnSpc>
              <a:buNone/>
            </a:pPr>
            <a:r>
              <a:rPr lang="en-US" sz="1050" dirty="0">
                <a:solidFill>
                  <a:srgbClr val="5A6471"/>
                </a:solidFill>
                <a:latin typeface="Arial" pitchFamily="34" charset="0"/>
                <a:ea typeface="Arial" pitchFamily="34" charset="-122"/>
                <a:cs typeface="Arial" pitchFamily="34" charset="-120"/>
              </a:rPr>
              <a:t>motifs, and how they sit together</a:t>
            </a:r>
            <a:endParaRPr lang="en-US" sz="1050" dirty="0"/>
          </a:p>
        </p:txBody>
      </p:sp>
      <p:sp>
        <p:nvSpPr>
          <p:cNvPr id="25" name="Shape 23"/>
          <p:cNvSpPr/>
          <p:nvPr/>
        </p:nvSpPr>
        <p:spPr>
          <a:xfrm>
            <a:off x="4295851" y="3383031"/>
            <a:ext cx="2028305" cy="446227"/>
          </a:xfrm>
          <a:prstGeom prst="roundRect">
            <a:avLst>
              <a:gd name="adj" fmla="val 4098"/>
            </a:avLst>
          </a:prstGeom>
          <a:solidFill>
            <a:srgbClr val="55637A">
              <a:alpha val="10000"/>
            </a:srgbClr>
          </a:solidFill>
          <a:ln w="11430">
            <a:solidFill>
              <a:srgbClr val="55637A"/>
            </a:solidFill>
            <a:prstDash val="solid"/>
          </a:ln>
        </p:spPr>
      </p:sp>
      <p:sp>
        <p:nvSpPr>
          <p:cNvPr id="26" name="Text 24"/>
          <p:cNvSpPr txBox="1"/>
          <p:nvPr/>
        </p:nvSpPr>
        <p:spPr>
          <a:xfrm>
            <a:off x="4245144" y="3403314"/>
            <a:ext cx="2129721"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15181C"/>
                </a:solidFill>
                <a:latin typeface="Arial" pitchFamily="34" charset="0"/>
                <a:ea typeface="Arial" pitchFamily="34" charset="-122"/>
                <a:cs typeface="Arial" pitchFamily="34" charset="-120"/>
              </a:rPr>
              <a:t>transformer</a:t>
            </a:r>
            <a:endParaRPr lang="en-US" sz="1200" dirty="0"/>
          </a:p>
        </p:txBody>
      </p:sp>
      <p:sp>
        <p:nvSpPr>
          <p:cNvPr id="27" name="Text 25"/>
          <p:cNvSpPr txBox="1"/>
          <p:nvPr/>
        </p:nvSpPr>
        <p:spPr>
          <a:xfrm>
            <a:off x="4245144" y="3596003"/>
            <a:ext cx="2129721" cy="202831"/>
          </a:xfrm>
          <a:prstGeom prst="rect">
            <a:avLst/>
          </a:prstGeom>
          <a:noFill/>
          <a:ln/>
        </p:spPr>
        <p:txBody>
          <a:bodyPr wrap="square" lIns="0" tIns="0" rIns="0" bIns="0" rtlCol="0" anchor="ctr"/>
          <a:lstStyle/>
          <a:p>
            <a:pPr algn="ctr" indent="0" marL="0">
              <a:lnSpc>
                <a:spcPct val="95000"/>
              </a:lnSpc>
              <a:buNone/>
            </a:pPr>
            <a:r>
              <a:rPr lang="en-US" sz="1050" dirty="0">
                <a:solidFill>
                  <a:srgbClr val="5A6471"/>
                </a:solidFill>
                <a:latin typeface="Arial" pitchFamily="34" charset="0"/>
                <a:ea typeface="Arial" pitchFamily="34" charset="-122"/>
                <a:cs typeface="Arial" pitchFamily="34" charset="-120"/>
              </a:rPr>
              <a:t>all 131 kb attended to at once</a:t>
            </a:r>
            <a:endParaRPr lang="en-US" sz="1050" dirty="0"/>
          </a:p>
        </p:txBody>
      </p:sp>
      <p:sp>
        <p:nvSpPr>
          <p:cNvPr id="28" name="Shape 26"/>
          <p:cNvSpPr/>
          <p:nvPr/>
        </p:nvSpPr>
        <p:spPr>
          <a:xfrm>
            <a:off x="4295851" y="3950956"/>
            <a:ext cx="2028305" cy="446227"/>
          </a:xfrm>
          <a:prstGeom prst="roundRect">
            <a:avLst>
              <a:gd name="adj" fmla="val 4098"/>
            </a:avLst>
          </a:prstGeom>
          <a:solidFill>
            <a:srgbClr val="55637A">
              <a:alpha val="10000"/>
            </a:srgbClr>
          </a:solidFill>
          <a:ln w="11430">
            <a:solidFill>
              <a:srgbClr val="55637A"/>
            </a:solidFill>
            <a:prstDash val="solid"/>
          </a:ln>
        </p:spPr>
      </p:sp>
      <p:sp>
        <p:nvSpPr>
          <p:cNvPr id="29" name="Text 27"/>
          <p:cNvSpPr txBox="1"/>
          <p:nvPr/>
        </p:nvSpPr>
        <p:spPr>
          <a:xfrm>
            <a:off x="4245144" y="3971239"/>
            <a:ext cx="2129721"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15181C"/>
                </a:solidFill>
                <a:latin typeface="Arial" pitchFamily="34" charset="0"/>
                <a:ea typeface="Arial" pitchFamily="34" charset="-122"/>
                <a:cs typeface="Arial" pitchFamily="34" charset="-120"/>
              </a:rPr>
              <a:t>decoders and heads</a:t>
            </a:r>
            <a:endParaRPr lang="en-US" sz="1200" dirty="0"/>
          </a:p>
        </p:txBody>
      </p:sp>
      <p:sp>
        <p:nvSpPr>
          <p:cNvPr id="30" name="Text 28"/>
          <p:cNvSpPr txBox="1"/>
          <p:nvPr/>
        </p:nvSpPr>
        <p:spPr>
          <a:xfrm>
            <a:off x="4245144" y="4163928"/>
            <a:ext cx="2129721" cy="202831"/>
          </a:xfrm>
          <a:prstGeom prst="rect">
            <a:avLst/>
          </a:prstGeom>
          <a:noFill/>
          <a:ln/>
        </p:spPr>
        <p:txBody>
          <a:bodyPr wrap="square" lIns="0" tIns="0" rIns="0" bIns="0" rtlCol="0" anchor="ctr"/>
          <a:lstStyle/>
          <a:p>
            <a:pPr algn="ctr" indent="0" marL="0">
              <a:lnSpc>
                <a:spcPct val="95000"/>
              </a:lnSpc>
              <a:buNone/>
            </a:pPr>
            <a:r>
              <a:rPr lang="en-US" sz="1050" dirty="0">
                <a:solidFill>
                  <a:srgbClr val="5A6471"/>
                </a:solidFill>
                <a:latin typeface="Arial" pitchFamily="34" charset="0"/>
                <a:ea typeface="Arial" pitchFamily="34" charset="-122"/>
                <a:cs typeface="Arial" pitchFamily="34" charset="-120"/>
              </a:rPr>
              <a:t>back up to 1 bp, one per track</a:t>
            </a:r>
            <a:endParaRPr lang="en-US" sz="1050" dirty="0"/>
          </a:p>
        </p:txBody>
      </p:sp>
      <p:sp>
        <p:nvSpPr>
          <p:cNvPr id="31" name="Shape 29"/>
          <p:cNvSpPr/>
          <p:nvPr/>
        </p:nvSpPr>
        <p:spPr>
          <a:xfrm>
            <a:off x="5310004" y="3271474"/>
            <a:ext cx="0" cy="111557"/>
          </a:xfrm>
          <a:prstGeom prst="line">
            <a:avLst/>
          </a:prstGeom>
          <a:noFill/>
          <a:ln w="15240">
            <a:solidFill>
              <a:srgbClr val="55637A"/>
            </a:solidFill>
            <a:prstDash val="solid"/>
            <a:tailEnd type="triangle"/>
          </a:ln>
        </p:spPr>
      </p:sp>
      <p:sp>
        <p:nvSpPr>
          <p:cNvPr id="32" name="Shape 30"/>
          <p:cNvSpPr/>
          <p:nvPr/>
        </p:nvSpPr>
        <p:spPr>
          <a:xfrm>
            <a:off x="5310004" y="3839399"/>
            <a:ext cx="0" cy="111557"/>
          </a:xfrm>
          <a:prstGeom prst="line">
            <a:avLst/>
          </a:prstGeom>
          <a:noFill/>
          <a:ln w="15240">
            <a:solidFill>
              <a:srgbClr val="55637A"/>
            </a:solidFill>
            <a:prstDash val="solid"/>
            <a:tailEnd type="triangle"/>
          </a:ln>
        </p:spPr>
      </p:sp>
      <p:sp>
        <p:nvSpPr>
          <p:cNvPr id="33" name="Text 31"/>
          <p:cNvSpPr txBox="1"/>
          <p:nvPr/>
        </p:nvSpPr>
        <p:spPr>
          <a:xfrm>
            <a:off x="4072738" y="4620297"/>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trained on thousands of genomic tracks</a:t>
            </a:r>
            <a:endParaRPr lang="en-US" sz="1100" dirty="0"/>
          </a:p>
        </p:txBody>
      </p:sp>
      <p:sp>
        <p:nvSpPr>
          <p:cNvPr id="34" name="Text 32"/>
          <p:cNvSpPr txBox="1"/>
          <p:nvPr/>
        </p:nvSpPr>
        <p:spPr>
          <a:xfrm>
            <a:off x="7094913" y="1760386"/>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3   WHAT COMES OUT</a:t>
            </a:r>
            <a:endParaRPr lang="en-US" sz="1300" dirty="0"/>
          </a:p>
        </p:txBody>
      </p:sp>
      <p:sp>
        <p:nvSpPr>
          <p:cNvPr id="35" name="Shape 33"/>
          <p:cNvSpPr/>
          <p:nvPr/>
        </p:nvSpPr>
        <p:spPr>
          <a:xfrm>
            <a:off x="7094913" y="2206613"/>
            <a:ext cx="2616514" cy="425944"/>
          </a:xfrm>
          <a:custGeom>
            <a:avLst/>
            <a:gdLst/>
            <a:ahLst/>
            <a:cxnLst/>
            <a:rect l="l" t="t" r="r" b="b"/>
            <a:pathLst>
              <a:path w="2616514" h="425944">
                <a:moveTo>
                  <a:pt x="0" y="425944"/>
                </a:moveTo>
                <a:lnTo>
                  <a:pt x="0" y="399575"/>
                </a:lnTo>
                <a:lnTo>
                  <a:pt x="27255" y="400844"/>
                </a:lnTo>
                <a:lnTo>
                  <a:pt x="54511" y="403604"/>
                </a:lnTo>
                <a:lnTo>
                  <a:pt x="81766" y="402142"/>
                </a:lnTo>
                <a:lnTo>
                  <a:pt x="109021" y="394015"/>
                </a:lnTo>
                <a:lnTo>
                  <a:pt x="136277" y="395670"/>
                </a:lnTo>
                <a:lnTo>
                  <a:pt x="163532" y="404234"/>
                </a:lnTo>
                <a:lnTo>
                  <a:pt x="190787" y="404850"/>
                </a:lnTo>
                <a:lnTo>
                  <a:pt x="218043" y="404432"/>
                </a:lnTo>
                <a:lnTo>
                  <a:pt x="245298" y="396557"/>
                </a:lnTo>
                <a:lnTo>
                  <a:pt x="272554" y="391435"/>
                </a:lnTo>
                <a:lnTo>
                  <a:pt x="299809" y="401660"/>
                </a:lnTo>
                <a:lnTo>
                  <a:pt x="327064" y="402141"/>
                </a:lnTo>
                <a:lnTo>
                  <a:pt x="354320" y="397892"/>
                </a:lnTo>
                <a:lnTo>
                  <a:pt x="381575" y="395991"/>
                </a:lnTo>
                <a:lnTo>
                  <a:pt x="408830" y="385451"/>
                </a:lnTo>
                <a:lnTo>
                  <a:pt x="436086" y="392875"/>
                </a:lnTo>
                <a:lnTo>
                  <a:pt x="463341" y="389874"/>
                </a:lnTo>
                <a:lnTo>
                  <a:pt x="490596" y="384030"/>
                </a:lnTo>
                <a:lnTo>
                  <a:pt x="517852" y="382290"/>
                </a:lnTo>
                <a:lnTo>
                  <a:pt x="545107" y="368226"/>
                </a:lnTo>
                <a:lnTo>
                  <a:pt x="572362" y="368643"/>
                </a:lnTo>
                <a:lnTo>
                  <a:pt x="599618" y="354735"/>
                </a:lnTo>
                <a:lnTo>
                  <a:pt x="626873" y="346918"/>
                </a:lnTo>
                <a:lnTo>
                  <a:pt x="654129" y="337684"/>
                </a:lnTo>
                <a:lnTo>
                  <a:pt x="681384" y="320088"/>
                </a:lnTo>
                <a:lnTo>
                  <a:pt x="708639" y="308595"/>
                </a:lnTo>
                <a:lnTo>
                  <a:pt x="735895" y="278981"/>
                </a:lnTo>
                <a:lnTo>
                  <a:pt x="763150" y="267654"/>
                </a:lnTo>
                <a:lnTo>
                  <a:pt x="790405" y="248415"/>
                </a:lnTo>
                <a:lnTo>
                  <a:pt x="817661" y="228223"/>
                </a:lnTo>
                <a:lnTo>
                  <a:pt x="844916" y="205585"/>
                </a:lnTo>
                <a:lnTo>
                  <a:pt x="872171" y="166575"/>
                </a:lnTo>
                <a:lnTo>
                  <a:pt x="899427" y="155028"/>
                </a:lnTo>
                <a:lnTo>
                  <a:pt x="926682" y="135953"/>
                </a:lnTo>
                <a:lnTo>
                  <a:pt x="953937" y="113000"/>
                </a:lnTo>
                <a:lnTo>
                  <a:pt x="981193" y="98875"/>
                </a:lnTo>
                <a:lnTo>
                  <a:pt x="1008448" y="69222"/>
                </a:lnTo>
                <a:lnTo>
                  <a:pt x="1035703" y="67209"/>
                </a:lnTo>
                <a:lnTo>
                  <a:pt x="1062959" y="62466"/>
                </a:lnTo>
                <a:lnTo>
                  <a:pt x="1090214" y="54820"/>
                </a:lnTo>
                <a:lnTo>
                  <a:pt x="1117470" y="59863"/>
                </a:lnTo>
                <a:lnTo>
                  <a:pt x="1144725" y="56382"/>
                </a:lnTo>
                <a:lnTo>
                  <a:pt x="1171980" y="69034"/>
                </a:lnTo>
                <a:lnTo>
                  <a:pt x="1199236" y="82365"/>
                </a:lnTo>
                <a:lnTo>
                  <a:pt x="1226491" y="97834"/>
                </a:lnTo>
                <a:lnTo>
                  <a:pt x="1253746" y="118813"/>
                </a:lnTo>
                <a:lnTo>
                  <a:pt x="1281002" y="139286"/>
                </a:lnTo>
                <a:lnTo>
                  <a:pt x="1308257" y="157897"/>
                </a:lnTo>
                <a:lnTo>
                  <a:pt x="1335512" y="178471"/>
                </a:lnTo>
                <a:lnTo>
                  <a:pt x="1362768" y="202266"/>
                </a:lnTo>
                <a:lnTo>
                  <a:pt x="1390023" y="224057"/>
                </a:lnTo>
                <a:lnTo>
                  <a:pt x="1417278" y="248865"/>
                </a:lnTo>
                <a:lnTo>
                  <a:pt x="1444534" y="257531"/>
                </a:lnTo>
                <a:lnTo>
                  <a:pt x="1471789" y="266175"/>
                </a:lnTo>
                <a:lnTo>
                  <a:pt x="1499045" y="275378"/>
                </a:lnTo>
                <a:lnTo>
                  <a:pt x="1526300" y="282743"/>
                </a:lnTo>
                <a:lnTo>
                  <a:pt x="1553555" y="285179"/>
                </a:lnTo>
                <a:lnTo>
                  <a:pt x="1580811" y="280359"/>
                </a:lnTo>
                <a:lnTo>
                  <a:pt x="1608066" y="267113"/>
                </a:lnTo>
                <a:lnTo>
                  <a:pt x="1635321" y="253231"/>
                </a:lnTo>
                <a:lnTo>
                  <a:pt x="1662577" y="250272"/>
                </a:lnTo>
                <a:lnTo>
                  <a:pt x="1689832" y="238484"/>
                </a:lnTo>
                <a:lnTo>
                  <a:pt x="1717087" y="230946"/>
                </a:lnTo>
                <a:lnTo>
                  <a:pt x="1744343" y="222831"/>
                </a:lnTo>
                <a:lnTo>
                  <a:pt x="1771598" y="212367"/>
                </a:lnTo>
                <a:lnTo>
                  <a:pt x="1798853" y="228815"/>
                </a:lnTo>
                <a:lnTo>
                  <a:pt x="1826109" y="232495"/>
                </a:lnTo>
                <a:lnTo>
                  <a:pt x="1853364" y="242355"/>
                </a:lnTo>
                <a:lnTo>
                  <a:pt x="1880619" y="264174"/>
                </a:lnTo>
                <a:lnTo>
                  <a:pt x="1907875" y="270898"/>
                </a:lnTo>
                <a:lnTo>
                  <a:pt x="1935130" y="301460"/>
                </a:lnTo>
                <a:lnTo>
                  <a:pt x="1962386" y="315020"/>
                </a:lnTo>
                <a:lnTo>
                  <a:pt x="1989641" y="328910"/>
                </a:lnTo>
                <a:lnTo>
                  <a:pt x="2016896" y="354400"/>
                </a:lnTo>
                <a:lnTo>
                  <a:pt x="2044152" y="358769"/>
                </a:lnTo>
                <a:lnTo>
                  <a:pt x="2071407" y="377358"/>
                </a:lnTo>
                <a:lnTo>
                  <a:pt x="2098662" y="377245"/>
                </a:lnTo>
                <a:lnTo>
                  <a:pt x="2125918" y="382628"/>
                </a:lnTo>
                <a:lnTo>
                  <a:pt x="2153173" y="396614"/>
                </a:lnTo>
                <a:lnTo>
                  <a:pt x="2180428" y="397759"/>
                </a:lnTo>
                <a:lnTo>
                  <a:pt x="2207684" y="401778"/>
                </a:lnTo>
                <a:lnTo>
                  <a:pt x="2234939" y="391597"/>
                </a:lnTo>
                <a:lnTo>
                  <a:pt x="2262194" y="395913"/>
                </a:lnTo>
                <a:lnTo>
                  <a:pt x="2289450" y="403429"/>
                </a:lnTo>
                <a:lnTo>
                  <a:pt x="2316705" y="401305"/>
                </a:lnTo>
                <a:lnTo>
                  <a:pt x="2343960" y="403916"/>
                </a:lnTo>
                <a:lnTo>
                  <a:pt x="2371216" y="392521"/>
                </a:lnTo>
                <a:lnTo>
                  <a:pt x="2398471" y="398404"/>
                </a:lnTo>
                <a:lnTo>
                  <a:pt x="2425727" y="404215"/>
                </a:lnTo>
                <a:lnTo>
                  <a:pt x="2452982" y="396889"/>
                </a:lnTo>
                <a:lnTo>
                  <a:pt x="2480237" y="405135"/>
                </a:lnTo>
                <a:lnTo>
                  <a:pt x="2507493" y="394705"/>
                </a:lnTo>
                <a:lnTo>
                  <a:pt x="2534748" y="398747"/>
                </a:lnTo>
                <a:lnTo>
                  <a:pt x="2562003" y="404995"/>
                </a:lnTo>
                <a:lnTo>
                  <a:pt x="2589259" y="394933"/>
                </a:lnTo>
                <a:lnTo>
                  <a:pt x="2616514" y="403032"/>
                </a:lnTo>
                <a:lnTo>
                  <a:pt x="2616514" y="425944"/>
                </a:lnTo>
                <a:close/>
              </a:path>
            </a:pathLst>
          </a:custGeom>
          <a:solidFill>
            <a:srgbClr val="55637A">
              <a:alpha val="16000"/>
            </a:srgbClr>
          </a:solidFill>
          <a:ln w="16510">
            <a:solidFill>
              <a:srgbClr val="55637A"/>
            </a:solidFill>
            <a:prstDash val="solid"/>
          </a:ln>
        </p:spPr>
      </p:sp>
      <p:sp>
        <p:nvSpPr>
          <p:cNvPr id="36" name="Shape 34"/>
          <p:cNvSpPr/>
          <p:nvPr/>
        </p:nvSpPr>
        <p:spPr>
          <a:xfrm>
            <a:off x="7094913" y="2632558"/>
            <a:ext cx="2616514" cy="0"/>
          </a:xfrm>
          <a:prstGeom prst="line">
            <a:avLst/>
          </a:prstGeom>
          <a:noFill/>
          <a:ln w="20320">
            <a:solidFill>
              <a:srgbClr val="15181C">
                <a:alpha val="55000"/>
              </a:srgbClr>
            </a:solidFill>
            <a:prstDash val="solid"/>
          </a:ln>
        </p:spPr>
      </p:sp>
      <p:sp>
        <p:nvSpPr>
          <p:cNvPr id="37" name="Text 35"/>
          <p:cNvSpPr txBox="1"/>
          <p:nvPr/>
        </p:nvSpPr>
        <p:spPr>
          <a:xfrm>
            <a:off x="9853408" y="2257321"/>
            <a:ext cx="1663210" cy="202831"/>
          </a:xfrm>
          <a:prstGeom prst="rect">
            <a:avLst/>
          </a:prstGeom>
          <a:noFill/>
          <a:ln/>
        </p:spPr>
        <p:txBody>
          <a:bodyPr wrap="square" lIns="0" tIns="0" rIns="0" bIns="0" rtlCol="0" anchor="ctr"/>
          <a:lstStyle/>
          <a:p>
            <a:pPr algn="l" indent="0" marL="0">
              <a:lnSpc>
                <a:spcPct val="95000"/>
              </a:lnSpc>
              <a:buNone/>
            </a:pPr>
            <a:r>
              <a:rPr lang="en-US" sz="1150" b="1" dirty="0">
                <a:solidFill>
                  <a:srgbClr val="15181C"/>
                </a:solidFill>
                <a:latin typeface="Arial" pitchFamily="34" charset="0"/>
                <a:ea typeface="Arial" pitchFamily="34" charset="-122"/>
                <a:cs typeface="Arial" pitchFamily="34" charset="-120"/>
              </a:rPr>
              <a:t>ATAC  ·  fibroblast</a:t>
            </a:r>
            <a:endParaRPr lang="en-US" sz="1150" dirty="0"/>
          </a:p>
        </p:txBody>
      </p:sp>
      <p:sp>
        <p:nvSpPr>
          <p:cNvPr id="38" name="Text 36"/>
          <p:cNvSpPr txBox="1"/>
          <p:nvPr/>
        </p:nvSpPr>
        <p:spPr>
          <a:xfrm>
            <a:off x="9853408" y="2429727"/>
            <a:ext cx="1663210" cy="202831"/>
          </a:xfrm>
          <a:prstGeom prst="rect">
            <a:avLst/>
          </a:prstGeom>
          <a:noFill/>
          <a:ln/>
        </p:spPr>
        <p:txBody>
          <a:bodyPr wrap="square" lIns="0" tIns="0" rIns="0" bIns="0" rtlCol="0" anchor="ctr"/>
          <a:lstStyle/>
          <a:p>
            <a:pPr algn="l" indent="0" marL="0">
              <a:lnSpc>
                <a:spcPct val="95000"/>
              </a:lnSpc>
              <a:buNone/>
            </a:pPr>
            <a:r>
              <a:rPr lang="en-US" sz="1050" dirty="0">
                <a:solidFill>
                  <a:srgbClr val="8A6400"/>
                </a:solidFill>
                <a:latin typeface="Arial" pitchFamily="34" charset="0"/>
                <a:ea typeface="Arial" pitchFamily="34" charset="-122"/>
                <a:cs typeface="Arial" pitchFamily="34" charset="-120"/>
              </a:rPr>
              <a:t>the one we read</a:t>
            </a:r>
            <a:endParaRPr lang="en-US" sz="1050" dirty="0"/>
          </a:p>
        </p:txBody>
      </p:sp>
      <p:sp>
        <p:nvSpPr>
          <p:cNvPr id="39" name="Shape 37"/>
          <p:cNvSpPr/>
          <p:nvPr/>
        </p:nvSpPr>
        <p:spPr>
          <a:xfrm>
            <a:off x="7094913" y="2835388"/>
            <a:ext cx="2616514" cy="425944"/>
          </a:xfrm>
          <a:custGeom>
            <a:avLst/>
            <a:gdLst/>
            <a:ahLst/>
            <a:cxnLst/>
            <a:rect l="l" t="t" r="r" b="b"/>
            <a:pathLst>
              <a:path w="2616514" h="425944">
                <a:moveTo>
                  <a:pt x="0" y="425944"/>
                </a:moveTo>
                <a:lnTo>
                  <a:pt x="0" y="404206"/>
                </a:lnTo>
                <a:lnTo>
                  <a:pt x="27255" y="403608"/>
                </a:lnTo>
                <a:lnTo>
                  <a:pt x="54511" y="392377"/>
                </a:lnTo>
                <a:lnTo>
                  <a:pt x="81766" y="397318"/>
                </a:lnTo>
                <a:lnTo>
                  <a:pt x="109021" y="405476"/>
                </a:lnTo>
                <a:lnTo>
                  <a:pt x="136277" y="402179"/>
                </a:lnTo>
                <a:lnTo>
                  <a:pt x="163532" y="404159"/>
                </a:lnTo>
                <a:lnTo>
                  <a:pt x="190787" y="396206"/>
                </a:lnTo>
                <a:lnTo>
                  <a:pt x="218043" y="394755"/>
                </a:lnTo>
                <a:lnTo>
                  <a:pt x="245298" y="401731"/>
                </a:lnTo>
                <a:lnTo>
                  <a:pt x="272554" y="400870"/>
                </a:lnTo>
                <a:lnTo>
                  <a:pt x="299809" y="400266"/>
                </a:lnTo>
                <a:lnTo>
                  <a:pt x="327064" y="400538"/>
                </a:lnTo>
                <a:lnTo>
                  <a:pt x="354320" y="393535"/>
                </a:lnTo>
                <a:lnTo>
                  <a:pt x="381575" y="398500"/>
                </a:lnTo>
                <a:lnTo>
                  <a:pt x="408830" y="398286"/>
                </a:lnTo>
                <a:lnTo>
                  <a:pt x="436086" y="397032"/>
                </a:lnTo>
                <a:lnTo>
                  <a:pt x="463341" y="402311"/>
                </a:lnTo>
                <a:lnTo>
                  <a:pt x="490596" y="393330"/>
                </a:lnTo>
                <a:lnTo>
                  <a:pt x="517852" y="395080"/>
                </a:lnTo>
                <a:lnTo>
                  <a:pt x="545107" y="390764"/>
                </a:lnTo>
                <a:lnTo>
                  <a:pt x="572362" y="391213"/>
                </a:lnTo>
                <a:lnTo>
                  <a:pt x="599618" y="395614"/>
                </a:lnTo>
                <a:lnTo>
                  <a:pt x="626873" y="387460"/>
                </a:lnTo>
                <a:lnTo>
                  <a:pt x="654129" y="383125"/>
                </a:lnTo>
                <a:lnTo>
                  <a:pt x="681384" y="369454"/>
                </a:lnTo>
                <a:lnTo>
                  <a:pt x="708639" y="370763"/>
                </a:lnTo>
                <a:lnTo>
                  <a:pt x="735895" y="367488"/>
                </a:lnTo>
                <a:lnTo>
                  <a:pt x="763150" y="357394"/>
                </a:lnTo>
                <a:lnTo>
                  <a:pt x="790405" y="346013"/>
                </a:lnTo>
                <a:lnTo>
                  <a:pt x="817661" y="320970"/>
                </a:lnTo>
                <a:lnTo>
                  <a:pt x="844916" y="319517"/>
                </a:lnTo>
                <a:lnTo>
                  <a:pt x="872171" y="306752"/>
                </a:lnTo>
                <a:lnTo>
                  <a:pt x="899427" y="286554"/>
                </a:lnTo>
                <a:lnTo>
                  <a:pt x="926682" y="276724"/>
                </a:lnTo>
                <a:lnTo>
                  <a:pt x="953937" y="247556"/>
                </a:lnTo>
                <a:lnTo>
                  <a:pt x="981193" y="243782"/>
                </a:lnTo>
                <a:lnTo>
                  <a:pt x="1008448" y="228145"/>
                </a:lnTo>
                <a:lnTo>
                  <a:pt x="1035703" y="210245"/>
                </a:lnTo>
                <a:lnTo>
                  <a:pt x="1062959" y="207506"/>
                </a:lnTo>
                <a:lnTo>
                  <a:pt x="1090214" y="190722"/>
                </a:lnTo>
                <a:lnTo>
                  <a:pt x="1117470" y="191574"/>
                </a:lnTo>
                <a:lnTo>
                  <a:pt x="1144725" y="185156"/>
                </a:lnTo>
                <a:lnTo>
                  <a:pt x="1171980" y="184028"/>
                </a:lnTo>
                <a:lnTo>
                  <a:pt x="1199236" y="194336"/>
                </a:lnTo>
                <a:lnTo>
                  <a:pt x="1226491" y="200881"/>
                </a:lnTo>
                <a:lnTo>
                  <a:pt x="1253746" y="209254"/>
                </a:lnTo>
                <a:lnTo>
                  <a:pt x="1281002" y="214941"/>
                </a:lnTo>
                <a:lnTo>
                  <a:pt x="1308257" y="230252"/>
                </a:lnTo>
                <a:lnTo>
                  <a:pt x="1335512" y="249094"/>
                </a:lnTo>
                <a:lnTo>
                  <a:pt x="1362768" y="266843"/>
                </a:lnTo>
                <a:lnTo>
                  <a:pt x="1390023" y="280165"/>
                </a:lnTo>
                <a:lnTo>
                  <a:pt x="1417278" y="287558"/>
                </a:lnTo>
                <a:lnTo>
                  <a:pt x="1444534" y="303987"/>
                </a:lnTo>
                <a:lnTo>
                  <a:pt x="1471789" y="320240"/>
                </a:lnTo>
                <a:lnTo>
                  <a:pt x="1499045" y="328301"/>
                </a:lnTo>
                <a:lnTo>
                  <a:pt x="1526300" y="340157"/>
                </a:lnTo>
                <a:lnTo>
                  <a:pt x="1553555" y="336165"/>
                </a:lnTo>
                <a:lnTo>
                  <a:pt x="1580811" y="336854"/>
                </a:lnTo>
                <a:lnTo>
                  <a:pt x="1608066" y="341962"/>
                </a:lnTo>
                <a:lnTo>
                  <a:pt x="1635321" y="330785"/>
                </a:lnTo>
                <a:lnTo>
                  <a:pt x="1662577" y="327168"/>
                </a:lnTo>
                <a:lnTo>
                  <a:pt x="1689832" y="314717"/>
                </a:lnTo>
                <a:lnTo>
                  <a:pt x="1717087" y="298387"/>
                </a:lnTo>
                <a:lnTo>
                  <a:pt x="1744343" y="297604"/>
                </a:lnTo>
                <a:lnTo>
                  <a:pt x="1771598" y="281944"/>
                </a:lnTo>
                <a:lnTo>
                  <a:pt x="1798853" y="276054"/>
                </a:lnTo>
                <a:lnTo>
                  <a:pt x="1826109" y="280897"/>
                </a:lnTo>
                <a:lnTo>
                  <a:pt x="1853364" y="273742"/>
                </a:lnTo>
                <a:lnTo>
                  <a:pt x="1880619" y="286496"/>
                </a:lnTo>
                <a:lnTo>
                  <a:pt x="1907875" y="291403"/>
                </a:lnTo>
                <a:lnTo>
                  <a:pt x="1935130" y="301145"/>
                </a:lnTo>
                <a:lnTo>
                  <a:pt x="1962386" y="323889"/>
                </a:lnTo>
                <a:lnTo>
                  <a:pt x="1989641" y="333305"/>
                </a:lnTo>
                <a:lnTo>
                  <a:pt x="2016896" y="349782"/>
                </a:lnTo>
                <a:lnTo>
                  <a:pt x="2044152" y="356352"/>
                </a:lnTo>
                <a:lnTo>
                  <a:pt x="2071407" y="365600"/>
                </a:lnTo>
                <a:lnTo>
                  <a:pt x="2098662" y="382434"/>
                </a:lnTo>
                <a:lnTo>
                  <a:pt x="2125918" y="390712"/>
                </a:lnTo>
                <a:lnTo>
                  <a:pt x="2153173" y="393943"/>
                </a:lnTo>
                <a:lnTo>
                  <a:pt x="2180428" y="388380"/>
                </a:lnTo>
                <a:lnTo>
                  <a:pt x="2207684" y="393419"/>
                </a:lnTo>
                <a:lnTo>
                  <a:pt x="2234939" y="401828"/>
                </a:lnTo>
                <a:lnTo>
                  <a:pt x="2262194" y="398485"/>
                </a:lnTo>
                <a:lnTo>
                  <a:pt x="2289450" y="404465"/>
                </a:lnTo>
                <a:lnTo>
                  <a:pt x="2316705" y="393357"/>
                </a:lnTo>
                <a:lnTo>
                  <a:pt x="2343960" y="399607"/>
                </a:lnTo>
                <a:lnTo>
                  <a:pt x="2371216" y="404343"/>
                </a:lnTo>
                <a:lnTo>
                  <a:pt x="2398471" y="394487"/>
                </a:lnTo>
                <a:lnTo>
                  <a:pt x="2425727" y="405540"/>
                </a:lnTo>
                <a:lnTo>
                  <a:pt x="2452982" y="395676"/>
                </a:lnTo>
                <a:lnTo>
                  <a:pt x="2480237" y="401518"/>
                </a:lnTo>
                <a:lnTo>
                  <a:pt x="2507493" y="403325"/>
                </a:lnTo>
                <a:lnTo>
                  <a:pt x="2534748" y="392326"/>
                </a:lnTo>
                <a:lnTo>
                  <a:pt x="2562003" y="403842"/>
                </a:lnTo>
                <a:lnTo>
                  <a:pt x="2589259" y="400448"/>
                </a:lnTo>
                <a:lnTo>
                  <a:pt x="2616514" y="401969"/>
                </a:lnTo>
                <a:lnTo>
                  <a:pt x="2616514" y="425944"/>
                </a:lnTo>
                <a:close/>
              </a:path>
            </a:pathLst>
          </a:custGeom>
          <a:solidFill>
            <a:srgbClr val="AFB5BD">
              <a:alpha val="9000"/>
            </a:srgbClr>
          </a:solidFill>
          <a:ln w="16510">
            <a:solidFill>
              <a:srgbClr val="AFB5BD"/>
            </a:solidFill>
            <a:prstDash val="solid"/>
          </a:ln>
        </p:spPr>
      </p:sp>
      <p:sp>
        <p:nvSpPr>
          <p:cNvPr id="40" name="Shape 38"/>
          <p:cNvSpPr/>
          <p:nvPr/>
        </p:nvSpPr>
        <p:spPr>
          <a:xfrm>
            <a:off x="7094913" y="3261332"/>
            <a:ext cx="2616514" cy="0"/>
          </a:xfrm>
          <a:prstGeom prst="line">
            <a:avLst/>
          </a:prstGeom>
          <a:noFill/>
          <a:ln w="20320">
            <a:solidFill>
              <a:srgbClr val="15181C">
                <a:alpha val="55000"/>
              </a:srgbClr>
            </a:solidFill>
            <a:prstDash val="solid"/>
          </a:ln>
        </p:spPr>
      </p:sp>
      <p:sp>
        <p:nvSpPr>
          <p:cNvPr id="41" name="Text 39"/>
          <p:cNvSpPr txBox="1"/>
          <p:nvPr/>
        </p:nvSpPr>
        <p:spPr>
          <a:xfrm>
            <a:off x="9853408" y="2886096"/>
            <a:ext cx="1663210" cy="202831"/>
          </a:xfrm>
          <a:prstGeom prst="rect">
            <a:avLst/>
          </a:prstGeom>
          <a:noFill/>
          <a:ln/>
        </p:spPr>
        <p:txBody>
          <a:bodyPr wrap="square" lIns="0" tIns="0" rIns="0" bIns="0" rtlCol="0" anchor="ctr"/>
          <a:lstStyle/>
          <a:p>
            <a:pPr algn="l" indent="0" marL="0">
              <a:lnSpc>
                <a:spcPct val="95000"/>
              </a:lnSpc>
              <a:buNone/>
            </a:pPr>
            <a:r>
              <a:rPr lang="en-US" sz="1150" dirty="0">
                <a:solidFill>
                  <a:srgbClr val="5A6471"/>
                </a:solidFill>
                <a:latin typeface="Arial" pitchFamily="34" charset="0"/>
                <a:ea typeface="Arial" pitchFamily="34" charset="-122"/>
                <a:cs typeface="Arial" pitchFamily="34" charset="-120"/>
              </a:rPr>
              <a:t>ATAC  ·  cardiomyocyte</a:t>
            </a:r>
            <a:endParaRPr lang="en-US" sz="1150" dirty="0"/>
          </a:p>
        </p:txBody>
      </p:sp>
      <p:sp>
        <p:nvSpPr>
          <p:cNvPr id="42" name="Text 40"/>
          <p:cNvSpPr txBox="1"/>
          <p:nvPr/>
        </p:nvSpPr>
        <p:spPr>
          <a:xfrm>
            <a:off x="9853408" y="3058502"/>
            <a:ext cx="1663210" cy="202831"/>
          </a:xfrm>
          <a:prstGeom prst="rect">
            <a:avLst/>
          </a:prstGeom>
          <a:noFill/>
          <a:ln/>
        </p:spPr>
        <p:txBody>
          <a:bodyPr wrap="square" lIns="0" tIns="0" rIns="0" bIns="0" rtlCol="0" anchor="ctr"/>
          <a:lstStyle/>
          <a:p>
            <a:pPr algn="l" indent="0" marL="0">
              <a:lnSpc>
                <a:spcPct val="95000"/>
              </a:lnSpc>
              <a:buNone/>
            </a:pPr>
            <a:endParaRPr lang="en-US" sz="1050" dirty="0"/>
          </a:p>
        </p:txBody>
      </p:sp>
      <p:sp>
        <p:nvSpPr>
          <p:cNvPr id="43" name="Shape 41"/>
          <p:cNvSpPr/>
          <p:nvPr/>
        </p:nvSpPr>
        <p:spPr>
          <a:xfrm>
            <a:off x="7094913" y="3464163"/>
            <a:ext cx="2616514" cy="425944"/>
          </a:xfrm>
          <a:custGeom>
            <a:avLst/>
            <a:gdLst/>
            <a:ahLst/>
            <a:cxnLst/>
            <a:rect l="l" t="t" r="r" b="b"/>
            <a:pathLst>
              <a:path w="2616514" h="425944">
                <a:moveTo>
                  <a:pt x="0" y="425944"/>
                </a:moveTo>
                <a:lnTo>
                  <a:pt x="0" y="391736"/>
                </a:lnTo>
                <a:lnTo>
                  <a:pt x="27255" y="399407"/>
                </a:lnTo>
                <a:lnTo>
                  <a:pt x="54511" y="404323"/>
                </a:lnTo>
                <a:lnTo>
                  <a:pt x="81766" y="398528"/>
                </a:lnTo>
                <a:lnTo>
                  <a:pt x="109021" y="404063"/>
                </a:lnTo>
                <a:lnTo>
                  <a:pt x="136277" y="395976"/>
                </a:lnTo>
                <a:lnTo>
                  <a:pt x="163532" y="397792"/>
                </a:lnTo>
                <a:lnTo>
                  <a:pt x="190787" y="400390"/>
                </a:lnTo>
                <a:lnTo>
                  <a:pt x="218043" y="397766"/>
                </a:lnTo>
                <a:lnTo>
                  <a:pt x="245298" y="400770"/>
                </a:lnTo>
                <a:lnTo>
                  <a:pt x="272554" y="401543"/>
                </a:lnTo>
                <a:lnTo>
                  <a:pt x="299809" y="396783"/>
                </a:lnTo>
                <a:lnTo>
                  <a:pt x="327064" y="396717"/>
                </a:lnTo>
                <a:lnTo>
                  <a:pt x="354320" y="395301"/>
                </a:lnTo>
                <a:lnTo>
                  <a:pt x="381575" y="392512"/>
                </a:lnTo>
                <a:lnTo>
                  <a:pt x="408830" y="388905"/>
                </a:lnTo>
                <a:lnTo>
                  <a:pt x="436086" y="361663"/>
                </a:lnTo>
                <a:lnTo>
                  <a:pt x="463341" y="323992"/>
                </a:lnTo>
                <a:lnTo>
                  <a:pt x="490596" y="272173"/>
                </a:lnTo>
                <a:lnTo>
                  <a:pt x="517852" y="216623"/>
                </a:lnTo>
                <a:lnTo>
                  <a:pt x="545107" y="171077"/>
                </a:lnTo>
                <a:lnTo>
                  <a:pt x="572362" y="149373"/>
                </a:lnTo>
                <a:lnTo>
                  <a:pt x="599618" y="159064"/>
                </a:lnTo>
                <a:lnTo>
                  <a:pt x="626873" y="198405"/>
                </a:lnTo>
                <a:lnTo>
                  <a:pt x="654129" y="263328"/>
                </a:lnTo>
                <a:lnTo>
                  <a:pt x="681384" y="317774"/>
                </a:lnTo>
                <a:lnTo>
                  <a:pt x="708639" y="358988"/>
                </a:lnTo>
                <a:lnTo>
                  <a:pt x="735895" y="382114"/>
                </a:lnTo>
                <a:lnTo>
                  <a:pt x="763150" y="384534"/>
                </a:lnTo>
                <a:lnTo>
                  <a:pt x="790405" y="400509"/>
                </a:lnTo>
                <a:lnTo>
                  <a:pt x="817661" y="396508"/>
                </a:lnTo>
                <a:lnTo>
                  <a:pt x="844916" y="381398"/>
                </a:lnTo>
                <a:lnTo>
                  <a:pt x="872171" y="353992"/>
                </a:lnTo>
                <a:lnTo>
                  <a:pt x="899427" y="271719"/>
                </a:lnTo>
                <a:lnTo>
                  <a:pt x="926682" y="187637"/>
                </a:lnTo>
                <a:lnTo>
                  <a:pt x="953937" y="107125"/>
                </a:lnTo>
                <a:lnTo>
                  <a:pt x="981193" y="100232"/>
                </a:lnTo>
                <a:lnTo>
                  <a:pt x="1008448" y="183827"/>
                </a:lnTo>
                <a:lnTo>
                  <a:pt x="1035703" y="272240"/>
                </a:lnTo>
                <a:lnTo>
                  <a:pt x="1062959" y="352597"/>
                </a:lnTo>
                <a:lnTo>
                  <a:pt x="1090214" y="380483"/>
                </a:lnTo>
                <a:lnTo>
                  <a:pt x="1117470" y="390382"/>
                </a:lnTo>
                <a:lnTo>
                  <a:pt x="1144725" y="404098"/>
                </a:lnTo>
                <a:lnTo>
                  <a:pt x="1171980" y="403660"/>
                </a:lnTo>
                <a:lnTo>
                  <a:pt x="1199236" y="404353"/>
                </a:lnTo>
                <a:lnTo>
                  <a:pt x="1226491" y="394652"/>
                </a:lnTo>
                <a:lnTo>
                  <a:pt x="1253746" y="395942"/>
                </a:lnTo>
                <a:lnTo>
                  <a:pt x="1281002" y="403266"/>
                </a:lnTo>
                <a:lnTo>
                  <a:pt x="1308257" y="400770"/>
                </a:lnTo>
                <a:lnTo>
                  <a:pt x="1335512" y="403255"/>
                </a:lnTo>
                <a:lnTo>
                  <a:pt x="1362768" y="392235"/>
                </a:lnTo>
                <a:lnTo>
                  <a:pt x="1390023" y="393950"/>
                </a:lnTo>
                <a:lnTo>
                  <a:pt x="1417278" y="394853"/>
                </a:lnTo>
                <a:lnTo>
                  <a:pt x="1444534" y="379531"/>
                </a:lnTo>
                <a:lnTo>
                  <a:pt x="1471789" y="374099"/>
                </a:lnTo>
                <a:lnTo>
                  <a:pt x="1499045" y="342539"/>
                </a:lnTo>
                <a:lnTo>
                  <a:pt x="1526300" y="315419"/>
                </a:lnTo>
                <a:lnTo>
                  <a:pt x="1553555" y="286647"/>
                </a:lnTo>
                <a:lnTo>
                  <a:pt x="1580811" y="240274"/>
                </a:lnTo>
                <a:lnTo>
                  <a:pt x="1608066" y="218509"/>
                </a:lnTo>
                <a:lnTo>
                  <a:pt x="1635321" y="199484"/>
                </a:lnTo>
                <a:lnTo>
                  <a:pt x="1662577" y="197854"/>
                </a:lnTo>
                <a:lnTo>
                  <a:pt x="1689832" y="220338"/>
                </a:lnTo>
                <a:lnTo>
                  <a:pt x="1717087" y="242085"/>
                </a:lnTo>
                <a:lnTo>
                  <a:pt x="1744343" y="281486"/>
                </a:lnTo>
                <a:lnTo>
                  <a:pt x="1771598" y="324064"/>
                </a:lnTo>
                <a:lnTo>
                  <a:pt x="1798853" y="346730"/>
                </a:lnTo>
                <a:lnTo>
                  <a:pt x="1826109" y="370033"/>
                </a:lnTo>
                <a:lnTo>
                  <a:pt x="1853364" y="379699"/>
                </a:lnTo>
                <a:lnTo>
                  <a:pt x="1880619" y="387375"/>
                </a:lnTo>
                <a:lnTo>
                  <a:pt x="1907875" y="397978"/>
                </a:lnTo>
                <a:lnTo>
                  <a:pt x="1935130" y="400123"/>
                </a:lnTo>
                <a:lnTo>
                  <a:pt x="1962386" y="399092"/>
                </a:lnTo>
                <a:lnTo>
                  <a:pt x="1989641" y="396211"/>
                </a:lnTo>
                <a:lnTo>
                  <a:pt x="2016896" y="395159"/>
                </a:lnTo>
                <a:lnTo>
                  <a:pt x="2044152" y="399877"/>
                </a:lnTo>
                <a:lnTo>
                  <a:pt x="2071407" y="404613"/>
                </a:lnTo>
                <a:lnTo>
                  <a:pt x="2098662" y="401038"/>
                </a:lnTo>
                <a:lnTo>
                  <a:pt x="2125918" y="395981"/>
                </a:lnTo>
                <a:lnTo>
                  <a:pt x="2153173" y="397706"/>
                </a:lnTo>
                <a:lnTo>
                  <a:pt x="2180428" y="400399"/>
                </a:lnTo>
                <a:lnTo>
                  <a:pt x="2207684" y="398346"/>
                </a:lnTo>
                <a:lnTo>
                  <a:pt x="2234939" y="403577"/>
                </a:lnTo>
                <a:lnTo>
                  <a:pt x="2262194" y="395911"/>
                </a:lnTo>
                <a:lnTo>
                  <a:pt x="2289450" y="401316"/>
                </a:lnTo>
                <a:lnTo>
                  <a:pt x="2316705" y="401520"/>
                </a:lnTo>
                <a:lnTo>
                  <a:pt x="2343960" y="393112"/>
                </a:lnTo>
                <a:lnTo>
                  <a:pt x="2371216" y="405405"/>
                </a:lnTo>
                <a:lnTo>
                  <a:pt x="2398471" y="397733"/>
                </a:lnTo>
                <a:lnTo>
                  <a:pt x="2425727" y="404227"/>
                </a:lnTo>
                <a:lnTo>
                  <a:pt x="2452982" y="401658"/>
                </a:lnTo>
                <a:lnTo>
                  <a:pt x="2480237" y="390759"/>
                </a:lnTo>
                <a:lnTo>
                  <a:pt x="2507493" y="405232"/>
                </a:lnTo>
                <a:lnTo>
                  <a:pt x="2534748" y="402144"/>
                </a:lnTo>
                <a:lnTo>
                  <a:pt x="2562003" y="405522"/>
                </a:lnTo>
                <a:lnTo>
                  <a:pt x="2589259" y="400304"/>
                </a:lnTo>
                <a:lnTo>
                  <a:pt x="2616514" y="391711"/>
                </a:lnTo>
                <a:lnTo>
                  <a:pt x="2616514" y="425944"/>
                </a:lnTo>
                <a:close/>
              </a:path>
            </a:pathLst>
          </a:custGeom>
          <a:solidFill>
            <a:srgbClr val="AFB5BD">
              <a:alpha val="9000"/>
            </a:srgbClr>
          </a:solidFill>
          <a:ln w="16510">
            <a:solidFill>
              <a:srgbClr val="AFB5BD"/>
            </a:solidFill>
            <a:prstDash val="solid"/>
          </a:ln>
        </p:spPr>
      </p:sp>
      <p:sp>
        <p:nvSpPr>
          <p:cNvPr id="44" name="Shape 42"/>
          <p:cNvSpPr/>
          <p:nvPr/>
        </p:nvSpPr>
        <p:spPr>
          <a:xfrm>
            <a:off x="7094913" y="3890107"/>
            <a:ext cx="2616514" cy="0"/>
          </a:xfrm>
          <a:prstGeom prst="line">
            <a:avLst/>
          </a:prstGeom>
          <a:noFill/>
          <a:ln w="20320">
            <a:solidFill>
              <a:srgbClr val="15181C">
                <a:alpha val="55000"/>
              </a:srgbClr>
            </a:solidFill>
            <a:prstDash val="solid"/>
          </a:ln>
        </p:spPr>
      </p:sp>
      <p:sp>
        <p:nvSpPr>
          <p:cNvPr id="45" name="Text 43"/>
          <p:cNvSpPr txBox="1"/>
          <p:nvPr/>
        </p:nvSpPr>
        <p:spPr>
          <a:xfrm>
            <a:off x="9853408" y="3514870"/>
            <a:ext cx="1663210" cy="202831"/>
          </a:xfrm>
          <a:prstGeom prst="rect">
            <a:avLst/>
          </a:prstGeom>
          <a:noFill/>
          <a:ln/>
        </p:spPr>
        <p:txBody>
          <a:bodyPr wrap="square" lIns="0" tIns="0" rIns="0" bIns="0" rtlCol="0" anchor="ctr"/>
          <a:lstStyle/>
          <a:p>
            <a:pPr algn="l" indent="0" marL="0">
              <a:lnSpc>
                <a:spcPct val="95000"/>
              </a:lnSpc>
              <a:buNone/>
            </a:pPr>
            <a:r>
              <a:rPr lang="en-US" sz="1150" dirty="0">
                <a:solidFill>
                  <a:srgbClr val="5A6471"/>
                </a:solidFill>
                <a:latin typeface="Arial" pitchFamily="34" charset="0"/>
                <a:ea typeface="Arial" pitchFamily="34" charset="-122"/>
                <a:cs typeface="Arial" pitchFamily="34" charset="-120"/>
              </a:rPr>
              <a:t>RNA-seq</a:t>
            </a:r>
            <a:endParaRPr lang="en-US" sz="1150" dirty="0"/>
          </a:p>
        </p:txBody>
      </p:sp>
      <p:sp>
        <p:nvSpPr>
          <p:cNvPr id="46" name="Text 44"/>
          <p:cNvSpPr txBox="1"/>
          <p:nvPr/>
        </p:nvSpPr>
        <p:spPr>
          <a:xfrm>
            <a:off x="9853408" y="3687276"/>
            <a:ext cx="1663210" cy="202831"/>
          </a:xfrm>
          <a:prstGeom prst="rect">
            <a:avLst/>
          </a:prstGeom>
          <a:noFill/>
          <a:ln/>
        </p:spPr>
        <p:txBody>
          <a:bodyPr wrap="square" lIns="0" tIns="0" rIns="0" bIns="0" rtlCol="0" anchor="ctr"/>
          <a:lstStyle/>
          <a:p>
            <a:pPr algn="l" indent="0" marL="0">
              <a:lnSpc>
                <a:spcPct val="95000"/>
              </a:lnSpc>
              <a:buNone/>
            </a:pPr>
            <a:r>
              <a:rPr lang="en-US" sz="1050" dirty="0">
                <a:solidFill>
                  <a:srgbClr val="AFB5BD"/>
                </a:solidFill>
                <a:latin typeface="Arial" pitchFamily="34" charset="0"/>
                <a:ea typeface="Arial" pitchFamily="34" charset="-122"/>
                <a:cs typeface="Arial" pitchFamily="34" charset="-120"/>
              </a:rPr>
              <a:t>exon by exon</a:t>
            </a:r>
            <a:endParaRPr lang="en-US" sz="1050" dirty="0"/>
          </a:p>
        </p:txBody>
      </p:sp>
      <p:sp>
        <p:nvSpPr>
          <p:cNvPr id="47" name="Shape 45"/>
          <p:cNvSpPr/>
          <p:nvPr/>
        </p:nvSpPr>
        <p:spPr>
          <a:xfrm>
            <a:off x="7094913" y="4092938"/>
            <a:ext cx="2616514" cy="425944"/>
          </a:xfrm>
          <a:custGeom>
            <a:avLst/>
            <a:gdLst/>
            <a:ahLst/>
            <a:cxnLst/>
            <a:rect l="l" t="t" r="r" b="b"/>
            <a:pathLst>
              <a:path w="2616514" h="425944">
                <a:moveTo>
                  <a:pt x="0" y="425944"/>
                </a:moveTo>
                <a:lnTo>
                  <a:pt x="0" y="402481"/>
                </a:lnTo>
                <a:lnTo>
                  <a:pt x="27255" y="395535"/>
                </a:lnTo>
                <a:lnTo>
                  <a:pt x="54511" y="404608"/>
                </a:lnTo>
                <a:lnTo>
                  <a:pt x="81766" y="396602"/>
                </a:lnTo>
                <a:lnTo>
                  <a:pt x="109021" y="401193"/>
                </a:lnTo>
                <a:lnTo>
                  <a:pt x="136277" y="399201"/>
                </a:lnTo>
                <a:lnTo>
                  <a:pt x="163532" y="395133"/>
                </a:lnTo>
                <a:lnTo>
                  <a:pt x="190787" y="402129"/>
                </a:lnTo>
                <a:lnTo>
                  <a:pt x="218043" y="402822"/>
                </a:lnTo>
                <a:lnTo>
                  <a:pt x="245298" y="400379"/>
                </a:lnTo>
                <a:lnTo>
                  <a:pt x="272554" y="396178"/>
                </a:lnTo>
                <a:lnTo>
                  <a:pt x="299809" y="395872"/>
                </a:lnTo>
                <a:lnTo>
                  <a:pt x="327064" y="399970"/>
                </a:lnTo>
                <a:lnTo>
                  <a:pt x="354320" y="402570"/>
                </a:lnTo>
                <a:lnTo>
                  <a:pt x="381575" y="401001"/>
                </a:lnTo>
                <a:lnTo>
                  <a:pt x="408830" y="394989"/>
                </a:lnTo>
                <a:lnTo>
                  <a:pt x="436086" y="395782"/>
                </a:lnTo>
                <a:lnTo>
                  <a:pt x="463341" y="398776"/>
                </a:lnTo>
                <a:lnTo>
                  <a:pt x="490596" y="396799"/>
                </a:lnTo>
                <a:lnTo>
                  <a:pt x="517852" y="400323"/>
                </a:lnTo>
                <a:lnTo>
                  <a:pt x="545107" y="389774"/>
                </a:lnTo>
                <a:lnTo>
                  <a:pt x="572362" y="382933"/>
                </a:lnTo>
                <a:lnTo>
                  <a:pt x="599618" y="380596"/>
                </a:lnTo>
                <a:lnTo>
                  <a:pt x="626873" y="363879"/>
                </a:lnTo>
                <a:lnTo>
                  <a:pt x="654129" y="351114"/>
                </a:lnTo>
                <a:lnTo>
                  <a:pt x="681384" y="328137"/>
                </a:lnTo>
                <a:lnTo>
                  <a:pt x="708639" y="295723"/>
                </a:lnTo>
                <a:lnTo>
                  <a:pt x="735895" y="276314"/>
                </a:lnTo>
                <a:lnTo>
                  <a:pt x="763150" y="238927"/>
                </a:lnTo>
                <a:lnTo>
                  <a:pt x="790405" y="210422"/>
                </a:lnTo>
                <a:lnTo>
                  <a:pt x="817661" y="197151"/>
                </a:lnTo>
                <a:lnTo>
                  <a:pt x="844916" y="175250"/>
                </a:lnTo>
                <a:lnTo>
                  <a:pt x="872171" y="180692"/>
                </a:lnTo>
                <a:lnTo>
                  <a:pt x="899427" y="183800"/>
                </a:lnTo>
                <a:lnTo>
                  <a:pt x="926682" y="197906"/>
                </a:lnTo>
                <a:lnTo>
                  <a:pt x="953937" y="233142"/>
                </a:lnTo>
                <a:lnTo>
                  <a:pt x="981193" y="257679"/>
                </a:lnTo>
                <a:lnTo>
                  <a:pt x="1008448" y="289793"/>
                </a:lnTo>
                <a:lnTo>
                  <a:pt x="1035703" y="310002"/>
                </a:lnTo>
                <a:lnTo>
                  <a:pt x="1062959" y="328108"/>
                </a:lnTo>
                <a:lnTo>
                  <a:pt x="1090214" y="353799"/>
                </a:lnTo>
                <a:lnTo>
                  <a:pt x="1117470" y="365631"/>
                </a:lnTo>
                <a:lnTo>
                  <a:pt x="1144725" y="368277"/>
                </a:lnTo>
                <a:lnTo>
                  <a:pt x="1171980" y="359360"/>
                </a:lnTo>
                <a:lnTo>
                  <a:pt x="1199236" y="355486"/>
                </a:lnTo>
                <a:lnTo>
                  <a:pt x="1226491" y="356680"/>
                </a:lnTo>
                <a:lnTo>
                  <a:pt x="1253746" y="340627"/>
                </a:lnTo>
                <a:lnTo>
                  <a:pt x="1281002" y="334533"/>
                </a:lnTo>
                <a:lnTo>
                  <a:pt x="1308257" y="310409"/>
                </a:lnTo>
                <a:lnTo>
                  <a:pt x="1335512" y="300123"/>
                </a:lnTo>
                <a:lnTo>
                  <a:pt x="1362768" y="292322"/>
                </a:lnTo>
                <a:lnTo>
                  <a:pt x="1390023" y="266764"/>
                </a:lnTo>
                <a:lnTo>
                  <a:pt x="1417278" y="265664"/>
                </a:lnTo>
                <a:lnTo>
                  <a:pt x="1444534" y="246812"/>
                </a:lnTo>
                <a:lnTo>
                  <a:pt x="1471789" y="243823"/>
                </a:lnTo>
                <a:lnTo>
                  <a:pt x="1499045" y="243345"/>
                </a:lnTo>
                <a:lnTo>
                  <a:pt x="1526300" y="229750"/>
                </a:lnTo>
                <a:lnTo>
                  <a:pt x="1553555" y="243950"/>
                </a:lnTo>
                <a:lnTo>
                  <a:pt x="1580811" y="248273"/>
                </a:lnTo>
                <a:lnTo>
                  <a:pt x="1608066" y="258444"/>
                </a:lnTo>
                <a:lnTo>
                  <a:pt x="1635321" y="270522"/>
                </a:lnTo>
                <a:lnTo>
                  <a:pt x="1662577" y="274351"/>
                </a:lnTo>
                <a:lnTo>
                  <a:pt x="1689832" y="295759"/>
                </a:lnTo>
                <a:lnTo>
                  <a:pt x="1717087" y="315070"/>
                </a:lnTo>
                <a:lnTo>
                  <a:pt x="1744343" y="327538"/>
                </a:lnTo>
                <a:lnTo>
                  <a:pt x="1771598" y="338003"/>
                </a:lnTo>
                <a:lnTo>
                  <a:pt x="1798853" y="345585"/>
                </a:lnTo>
                <a:lnTo>
                  <a:pt x="1826109" y="358065"/>
                </a:lnTo>
                <a:lnTo>
                  <a:pt x="1853364" y="369402"/>
                </a:lnTo>
                <a:lnTo>
                  <a:pt x="1880619" y="381935"/>
                </a:lnTo>
                <a:lnTo>
                  <a:pt x="1907875" y="381967"/>
                </a:lnTo>
                <a:lnTo>
                  <a:pt x="1935130" y="385374"/>
                </a:lnTo>
                <a:lnTo>
                  <a:pt x="1962386" y="388202"/>
                </a:lnTo>
                <a:lnTo>
                  <a:pt x="1989641" y="390985"/>
                </a:lnTo>
                <a:lnTo>
                  <a:pt x="2016896" y="399161"/>
                </a:lnTo>
                <a:lnTo>
                  <a:pt x="2044152" y="397185"/>
                </a:lnTo>
                <a:lnTo>
                  <a:pt x="2071407" y="396708"/>
                </a:lnTo>
                <a:lnTo>
                  <a:pt x="2098662" y="397854"/>
                </a:lnTo>
                <a:lnTo>
                  <a:pt x="2125918" y="396290"/>
                </a:lnTo>
                <a:lnTo>
                  <a:pt x="2153173" y="397282"/>
                </a:lnTo>
                <a:lnTo>
                  <a:pt x="2180428" y="402500"/>
                </a:lnTo>
                <a:lnTo>
                  <a:pt x="2207684" y="398870"/>
                </a:lnTo>
                <a:lnTo>
                  <a:pt x="2234939" y="402787"/>
                </a:lnTo>
                <a:lnTo>
                  <a:pt x="2262194" y="398638"/>
                </a:lnTo>
                <a:lnTo>
                  <a:pt x="2289450" y="392746"/>
                </a:lnTo>
                <a:lnTo>
                  <a:pt x="2316705" y="405582"/>
                </a:lnTo>
                <a:lnTo>
                  <a:pt x="2343960" y="400659"/>
                </a:lnTo>
                <a:lnTo>
                  <a:pt x="2371216" y="404745"/>
                </a:lnTo>
                <a:lnTo>
                  <a:pt x="2398471" y="400186"/>
                </a:lnTo>
                <a:lnTo>
                  <a:pt x="2425727" y="390379"/>
                </a:lnTo>
                <a:lnTo>
                  <a:pt x="2452982" y="404285"/>
                </a:lnTo>
                <a:lnTo>
                  <a:pt x="2480237" y="404430"/>
                </a:lnTo>
                <a:lnTo>
                  <a:pt x="2507493" y="402733"/>
                </a:lnTo>
                <a:lnTo>
                  <a:pt x="2534748" y="400331"/>
                </a:lnTo>
                <a:lnTo>
                  <a:pt x="2562003" y="391438"/>
                </a:lnTo>
                <a:lnTo>
                  <a:pt x="2589259" y="405175"/>
                </a:lnTo>
                <a:lnTo>
                  <a:pt x="2616514" y="401278"/>
                </a:lnTo>
                <a:lnTo>
                  <a:pt x="2616514" y="425944"/>
                </a:lnTo>
                <a:close/>
              </a:path>
            </a:pathLst>
          </a:custGeom>
          <a:solidFill>
            <a:srgbClr val="AFB5BD">
              <a:alpha val="9000"/>
            </a:srgbClr>
          </a:solidFill>
          <a:ln w="16510">
            <a:solidFill>
              <a:srgbClr val="AFB5BD"/>
            </a:solidFill>
            <a:prstDash val="solid"/>
          </a:ln>
        </p:spPr>
      </p:sp>
      <p:sp>
        <p:nvSpPr>
          <p:cNvPr id="48" name="Shape 46"/>
          <p:cNvSpPr/>
          <p:nvPr/>
        </p:nvSpPr>
        <p:spPr>
          <a:xfrm>
            <a:off x="7094913" y="4518882"/>
            <a:ext cx="2616514" cy="0"/>
          </a:xfrm>
          <a:prstGeom prst="line">
            <a:avLst/>
          </a:prstGeom>
          <a:noFill/>
          <a:ln w="20320">
            <a:solidFill>
              <a:srgbClr val="15181C">
                <a:alpha val="55000"/>
              </a:srgbClr>
            </a:solidFill>
            <a:prstDash val="solid"/>
          </a:ln>
        </p:spPr>
      </p:sp>
      <p:sp>
        <p:nvSpPr>
          <p:cNvPr id="49" name="Text 47"/>
          <p:cNvSpPr txBox="1"/>
          <p:nvPr/>
        </p:nvSpPr>
        <p:spPr>
          <a:xfrm>
            <a:off x="9853408" y="4143645"/>
            <a:ext cx="1663210" cy="202831"/>
          </a:xfrm>
          <a:prstGeom prst="rect">
            <a:avLst/>
          </a:prstGeom>
          <a:noFill/>
          <a:ln/>
        </p:spPr>
        <p:txBody>
          <a:bodyPr wrap="square" lIns="0" tIns="0" rIns="0" bIns="0" rtlCol="0" anchor="ctr"/>
          <a:lstStyle/>
          <a:p>
            <a:pPr algn="l" indent="0" marL="0">
              <a:lnSpc>
                <a:spcPct val="95000"/>
              </a:lnSpc>
              <a:buNone/>
            </a:pPr>
            <a:r>
              <a:rPr lang="en-US" sz="1150" dirty="0">
                <a:solidFill>
                  <a:srgbClr val="5A6471"/>
                </a:solidFill>
                <a:latin typeface="Arial" pitchFamily="34" charset="0"/>
                <a:ea typeface="Arial" pitchFamily="34" charset="-122"/>
                <a:cs typeface="Arial" pitchFamily="34" charset="-120"/>
              </a:rPr>
              <a:t>ChIP-seq  ·  CAGE</a:t>
            </a:r>
            <a:endParaRPr lang="en-US" sz="1150" dirty="0"/>
          </a:p>
        </p:txBody>
      </p:sp>
      <p:sp>
        <p:nvSpPr>
          <p:cNvPr id="50" name="Text 48"/>
          <p:cNvSpPr txBox="1"/>
          <p:nvPr/>
        </p:nvSpPr>
        <p:spPr>
          <a:xfrm>
            <a:off x="9853408" y="4316051"/>
            <a:ext cx="1663210" cy="202831"/>
          </a:xfrm>
          <a:prstGeom prst="rect">
            <a:avLst/>
          </a:prstGeom>
          <a:noFill/>
          <a:ln/>
        </p:spPr>
        <p:txBody>
          <a:bodyPr wrap="square" lIns="0" tIns="0" rIns="0" bIns="0" rtlCol="0" anchor="ctr"/>
          <a:lstStyle/>
          <a:p>
            <a:pPr algn="l" indent="0" marL="0">
              <a:lnSpc>
                <a:spcPct val="95000"/>
              </a:lnSpc>
              <a:buNone/>
            </a:pPr>
            <a:r>
              <a:rPr lang="en-US" sz="1050" dirty="0">
                <a:solidFill>
                  <a:srgbClr val="AFB5BD"/>
                </a:solidFill>
                <a:latin typeface="Arial" pitchFamily="34" charset="0"/>
                <a:ea typeface="Arial" pitchFamily="34" charset="-122"/>
                <a:cs typeface="Arial" pitchFamily="34" charset="-120"/>
              </a:rPr>
              <a:t>and more</a:t>
            </a:r>
            <a:endParaRPr lang="en-US" sz="1050" dirty="0"/>
          </a:p>
        </p:txBody>
      </p:sp>
      <p:sp>
        <p:nvSpPr>
          <p:cNvPr id="51" name="Shape 49"/>
          <p:cNvSpPr/>
          <p:nvPr/>
        </p:nvSpPr>
        <p:spPr>
          <a:xfrm>
            <a:off x="7013781" y="2206613"/>
            <a:ext cx="0" cy="425944"/>
          </a:xfrm>
          <a:prstGeom prst="line">
            <a:avLst/>
          </a:prstGeom>
          <a:noFill/>
          <a:ln w="38100">
            <a:solidFill>
              <a:srgbClr val="8A6400"/>
            </a:solidFill>
            <a:prstDash val="solid"/>
          </a:ln>
        </p:spPr>
      </p:sp>
      <p:sp>
        <p:nvSpPr>
          <p:cNvPr id="52" name="Text 50"/>
          <p:cNvSpPr txBox="1"/>
          <p:nvPr/>
        </p:nvSpPr>
        <p:spPr>
          <a:xfrm>
            <a:off x="7094913" y="4620297"/>
            <a:ext cx="324528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1 bp resolution, right across the window</a:t>
            </a:r>
            <a:endParaRPr lang="en-US" sz="1100" dirty="0"/>
          </a:p>
        </p:txBody>
      </p:sp>
      <p:sp>
        <p:nvSpPr>
          <p:cNvPr id="53" name="Text 51"/>
          <p:cNvSpPr txBox="1"/>
          <p:nvPr/>
        </p:nvSpPr>
        <p:spPr>
          <a:xfrm>
            <a:off x="7094913" y="4782561"/>
            <a:ext cx="324528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plus contact maps and splicing</a:t>
            </a:r>
            <a:endParaRPr lang="en-US" sz="1100" dirty="0"/>
          </a:p>
        </p:txBody>
      </p:sp>
      <p:sp>
        <p:nvSpPr>
          <p:cNvPr id="54" name="Shape 52"/>
          <p:cNvSpPr/>
          <p:nvPr/>
        </p:nvSpPr>
        <p:spPr>
          <a:xfrm>
            <a:off x="3626510" y="3322181"/>
            <a:ext cx="365095" cy="0"/>
          </a:xfrm>
          <a:prstGeom prst="line">
            <a:avLst/>
          </a:prstGeom>
          <a:noFill/>
          <a:ln w="17780">
            <a:solidFill>
              <a:srgbClr val="15181C"/>
            </a:solidFill>
            <a:prstDash val="solid"/>
            <a:tailEnd type="triangle"/>
          </a:ln>
        </p:spPr>
      </p:sp>
      <p:sp>
        <p:nvSpPr>
          <p:cNvPr id="55" name="Shape 53"/>
          <p:cNvSpPr/>
          <p:nvPr/>
        </p:nvSpPr>
        <p:spPr>
          <a:xfrm>
            <a:off x="6628402" y="3322181"/>
            <a:ext cx="304246" cy="0"/>
          </a:xfrm>
          <a:prstGeom prst="line">
            <a:avLst/>
          </a:prstGeom>
          <a:noFill/>
          <a:ln w="17780">
            <a:solidFill>
              <a:srgbClr val="15181C"/>
            </a:solidFill>
            <a:prstDash val="solid"/>
            <a:tailEnd type="triangle"/>
          </a:ln>
        </p:spPr>
      </p:sp>
      <p:sp>
        <p:nvSpPr>
          <p:cNvPr id="56" name="Shape 54"/>
          <p:cNvSpPr/>
          <p:nvPr/>
        </p:nvSpPr>
        <p:spPr>
          <a:xfrm>
            <a:off x="644901" y="5127373"/>
            <a:ext cx="10871717" cy="0"/>
          </a:xfrm>
          <a:prstGeom prst="line">
            <a:avLst/>
          </a:prstGeom>
          <a:noFill/>
          <a:ln w="12700">
            <a:solidFill>
              <a:srgbClr val="AFB5BD"/>
            </a:solidFill>
            <a:prstDash val="dash"/>
          </a:ln>
        </p:spPr>
      </p:sp>
      <p:sp>
        <p:nvSpPr>
          <p:cNvPr id="57" name="Text 55"/>
          <p:cNvSpPr txBox="1"/>
          <p:nvPr/>
        </p:nvSpPr>
        <p:spPr>
          <a:xfrm>
            <a:off x="644901" y="5249072"/>
            <a:ext cx="1075001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The prediction is a function of the sequence alone: change a base, predict again, and the difference is caused by the change.</a:t>
            </a:r>
            <a:endParaRPr lang="en-US" sz="1200" dirty="0"/>
          </a:p>
        </p:txBody>
      </p:sp>
      <p:sp>
        <p:nvSpPr>
          <p:cNvPr id="58" name="Shape 56"/>
          <p:cNvSpPr/>
          <p:nvPr/>
        </p:nvSpPr>
        <p:spPr>
          <a:xfrm>
            <a:off x="502920" y="5989320"/>
            <a:ext cx="50292" cy="566928"/>
          </a:xfrm>
          <a:prstGeom prst="rect">
            <a:avLst/>
          </a:prstGeom>
          <a:solidFill>
            <a:srgbClr val="3F3F3F"/>
          </a:solidFill>
          <a:ln w="12700">
            <a:solidFill>
              <a:srgbClr val="333333"/>
            </a:solidFill>
            <a:prstDash val="solid"/>
          </a:ln>
        </p:spPr>
      </p:sp>
      <p:sp>
        <p:nvSpPr>
          <p:cNvPr id="59" name="Text 57"/>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A network that reads 131 kb of raw sequence and returns predicted assay signal at every base. It is given no experimental data at prediction time — which is exactly why editing the sequence and predicting again counts as an experiment.</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Everything here is one prediction minus another</a:t>
            </a:r>
            <a:endParaRPr lang="en-US" sz="2800" dirty="0"/>
          </a:p>
        </p:txBody>
      </p:sp>
      <p:sp>
        <p:nvSpPr>
          <p:cNvPr id="3" name="Text 1"/>
          <p:cNvSpPr txBox="1"/>
          <p:nvPr/>
        </p:nvSpPr>
        <p:spPr>
          <a:xfrm>
            <a:off x="644901" y="2480435"/>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NATIVE</a:t>
            </a:r>
            <a:endParaRPr lang="en-US" sz="1300" dirty="0"/>
          </a:p>
        </p:txBody>
      </p:sp>
      <p:sp>
        <p:nvSpPr>
          <p:cNvPr id="4" name="Text 2"/>
          <p:cNvSpPr txBox="1"/>
          <p:nvPr/>
        </p:nvSpPr>
        <p:spPr>
          <a:xfrm>
            <a:off x="644901" y="2662982"/>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as it is</a:t>
            </a:r>
            <a:endParaRPr lang="en-US" sz="1100" dirty="0"/>
          </a:p>
        </p:txBody>
      </p:sp>
      <p:sp>
        <p:nvSpPr>
          <p:cNvPr id="5" name="Shape 3"/>
          <p:cNvSpPr/>
          <p:nvPr/>
        </p:nvSpPr>
        <p:spPr>
          <a:xfrm>
            <a:off x="1882168" y="2926662"/>
            <a:ext cx="2352834" cy="0"/>
          </a:xfrm>
          <a:prstGeom prst="line">
            <a:avLst/>
          </a:prstGeom>
          <a:noFill/>
          <a:ln w="20320">
            <a:solidFill>
              <a:srgbClr val="15181C">
                <a:alpha val="55000"/>
              </a:srgbClr>
            </a:solidFill>
            <a:prstDash val="solid"/>
          </a:ln>
        </p:spPr>
      </p:sp>
      <p:sp>
        <p:nvSpPr>
          <p:cNvPr id="6" name="Shape 4"/>
          <p:cNvSpPr/>
          <p:nvPr/>
        </p:nvSpPr>
        <p:spPr>
          <a:xfrm>
            <a:off x="2926745" y="2870883"/>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2450093" y="2581850"/>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Text 6"/>
          <p:cNvSpPr txBox="1"/>
          <p:nvPr/>
        </p:nvSpPr>
        <p:spPr>
          <a:xfrm>
            <a:off x="644901" y="3717701"/>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EDITED</a:t>
            </a:r>
            <a:endParaRPr lang="en-US" sz="1300" dirty="0"/>
          </a:p>
        </p:txBody>
      </p:sp>
      <p:sp>
        <p:nvSpPr>
          <p:cNvPr id="9" name="Text 7"/>
          <p:cNvSpPr txBox="1"/>
          <p:nvPr/>
        </p:nvSpPr>
        <p:spPr>
          <a:xfrm>
            <a:off x="644901" y="3900249"/>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 thing changed</a:t>
            </a:r>
            <a:endParaRPr lang="en-US" sz="1100" dirty="0"/>
          </a:p>
        </p:txBody>
      </p:sp>
      <p:sp>
        <p:nvSpPr>
          <p:cNvPr id="10" name="Shape 8"/>
          <p:cNvSpPr/>
          <p:nvPr/>
        </p:nvSpPr>
        <p:spPr>
          <a:xfrm>
            <a:off x="1882168" y="4163928"/>
            <a:ext cx="2352834" cy="0"/>
          </a:xfrm>
          <a:prstGeom prst="line">
            <a:avLst/>
          </a:prstGeom>
          <a:noFill/>
          <a:ln w="20320">
            <a:solidFill>
              <a:srgbClr val="15181C">
                <a:alpha val="55000"/>
              </a:srgbClr>
            </a:solidFill>
            <a:prstDash val="solid"/>
          </a:ln>
        </p:spPr>
      </p:sp>
      <p:sp>
        <p:nvSpPr>
          <p:cNvPr id="11" name="Shape 9"/>
          <p:cNvSpPr/>
          <p:nvPr/>
        </p:nvSpPr>
        <p:spPr>
          <a:xfrm>
            <a:off x="2906462" y="4098008"/>
            <a:ext cx="304246" cy="131840"/>
          </a:xfrm>
          <a:prstGeom prst="roundRect">
            <a:avLst>
              <a:gd name="adj" fmla="val 13871"/>
            </a:avLst>
          </a:prstGeom>
          <a:solidFill>
            <a:srgbClr val="E2622F">
              <a:alpha val="14000"/>
            </a:srgbClr>
          </a:solidFill>
          <a:ln w="9525">
            <a:solidFill>
              <a:srgbClr val="E2622F"/>
            </a:solidFill>
            <a:prstDash val="solid"/>
          </a:ln>
        </p:spPr>
      </p:sp>
      <p:sp>
        <p:nvSpPr>
          <p:cNvPr id="12" name="Shape 10"/>
          <p:cNvSpPr/>
          <p:nvPr/>
        </p:nvSpPr>
        <p:spPr>
          <a:xfrm>
            <a:off x="2906462" y="4113221"/>
            <a:ext cx="304246" cy="101415"/>
          </a:xfrm>
          <a:custGeom>
            <a:avLst/>
            <a:gdLst/>
            <a:ahLst/>
            <a:cxnLst/>
            <a:rect l="l" t="t" r="r" b="b"/>
            <a:pathLst>
              <a:path w="304246" h="101415">
                <a:moveTo>
                  <a:pt x="0" y="10142"/>
                </a:moveTo>
                <a:lnTo>
                  <a:pt x="50708" y="91274"/>
                </a:lnTo>
                <a:lnTo>
                  <a:pt x="101415" y="10142"/>
                </a:lnTo>
                <a:lnTo>
                  <a:pt x="152123" y="91274"/>
                </a:lnTo>
                <a:lnTo>
                  <a:pt x="202831" y="10142"/>
                </a:lnTo>
                <a:lnTo>
                  <a:pt x="253538" y="91274"/>
                </a:lnTo>
                <a:lnTo>
                  <a:pt x="304246" y="10142"/>
                </a:lnTo>
              </a:path>
            </a:pathLst>
          </a:custGeom>
          <a:ln w="17780">
            <a:solidFill>
              <a:srgbClr val="E2622F"/>
            </a:solidFill>
            <a:prstDash val="solid"/>
          </a:ln>
        </p:spPr>
      </p:sp>
      <p:sp>
        <p:nvSpPr>
          <p:cNvPr id="13" name="Shape 11"/>
          <p:cNvSpPr/>
          <p:nvPr/>
        </p:nvSpPr>
        <p:spPr>
          <a:xfrm>
            <a:off x="4884060" y="2358736"/>
            <a:ext cx="1338682" cy="2170287"/>
          </a:xfrm>
          <a:prstGeom prst="roundRect">
            <a:avLst>
              <a:gd name="adj" fmla="val 4098"/>
            </a:avLst>
          </a:prstGeom>
          <a:solidFill>
            <a:srgbClr val="15181C">
              <a:alpha val="5000"/>
            </a:srgbClr>
          </a:solidFill>
          <a:ln w="12700">
            <a:solidFill>
              <a:srgbClr val="15181C">
                <a:alpha val="32000"/>
              </a:srgbClr>
            </a:solidFill>
            <a:prstDash val="solid"/>
          </a:ln>
        </p:spPr>
      </p:sp>
      <p:sp>
        <p:nvSpPr>
          <p:cNvPr id="14" name="Text 12"/>
          <p:cNvSpPr txBox="1"/>
          <p:nvPr/>
        </p:nvSpPr>
        <p:spPr>
          <a:xfrm>
            <a:off x="4742078" y="3312040"/>
            <a:ext cx="1622644" cy="202831"/>
          </a:xfrm>
          <a:prstGeom prst="rect">
            <a:avLst/>
          </a:prstGeom>
          <a:noFill/>
          <a:ln/>
        </p:spPr>
        <p:txBody>
          <a:bodyPr wrap="square" lIns="0" tIns="0" rIns="0" bIns="0" rtlCol="0" anchor="ctr"/>
          <a:lstStyle/>
          <a:p>
            <a:pPr algn="ctr" indent="0" marL="0">
              <a:lnSpc>
                <a:spcPct val="95000"/>
              </a:lnSpc>
              <a:buNone/>
            </a:pPr>
            <a:r>
              <a:rPr lang="en-US" sz="1300" b="1" dirty="0">
                <a:solidFill>
                  <a:srgbClr val="15181C"/>
                </a:solidFill>
                <a:latin typeface="Arial" pitchFamily="34" charset="0"/>
                <a:ea typeface="Arial" pitchFamily="34" charset="-122"/>
                <a:cs typeface="Arial" pitchFamily="34" charset="-120"/>
              </a:rPr>
              <a:t>AlphaGenome</a:t>
            </a:r>
            <a:endParaRPr lang="en-US" sz="1300" dirty="0"/>
          </a:p>
        </p:txBody>
      </p:sp>
      <p:sp>
        <p:nvSpPr>
          <p:cNvPr id="15" name="Text 13"/>
          <p:cNvSpPr txBox="1"/>
          <p:nvPr/>
        </p:nvSpPr>
        <p:spPr>
          <a:xfrm>
            <a:off x="4742078" y="3555437"/>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 bp ATAC head,</a:t>
            </a:r>
            <a:endParaRPr lang="en-US" sz="1100" dirty="0"/>
          </a:p>
        </p:txBody>
      </p:sp>
      <p:sp>
        <p:nvSpPr>
          <p:cNvPr id="16" name="Text 14"/>
          <p:cNvSpPr txBox="1"/>
          <p:nvPr/>
        </p:nvSpPr>
        <p:spPr>
          <a:xfrm>
            <a:off x="4742078" y="3707559"/>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fine-tuned on our</a:t>
            </a:r>
            <a:endParaRPr lang="en-US" sz="1100" dirty="0"/>
          </a:p>
        </p:txBody>
      </p:sp>
      <p:sp>
        <p:nvSpPr>
          <p:cNvPr id="17" name="Text 15"/>
          <p:cNvSpPr txBox="1"/>
          <p:nvPr/>
        </p:nvSpPr>
        <p:spPr>
          <a:xfrm>
            <a:off x="4691371" y="3859682"/>
            <a:ext cx="1724060"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own fibroblast Tn5</a:t>
            </a:r>
            <a:endParaRPr lang="en-US" sz="1100" dirty="0"/>
          </a:p>
        </p:txBody>
      </p:sp>
      <p:sp>
        <p:nvSpPr>
          <p:cNvPr id="18" name="Shape 16"/>
          <p:cNvSpPr/>
          <p:nvPr/>
        </p:nvSpPr>
        <p:spPr>
          <a:xfrm>
            <a:off x="4376983" y="2926662"/>
            <a:ext cx="446227" cy="0"/>
          </a:xfrm>
          <a:prstGeom prst="line">
            <a:avLst/>
          </a:prstGeom>
          <a:noFill/>
          <a:ln w="17780">
            <a:solidFill>
              <a:srgbClr val="15181C"/>
            </a:solidFill>
            <a:prstDash val="solid"/>
            <a:tailEnd type="triangle"/>
          </a:ln>
        </p:spPr>
      </p:sp>
      <p:sp>
        <p:nvSpPr>
          <p:cNvPr id="19" name="Shape 17"/>
          <p:cNvSpPr/>
          <p:nvPr/>
        </p:nvSpPr>
        <p:spPr>
          <a:xfrm>
            <a:off x="4376983" y="4163928"/>
            <a:ext cx="446227" cy="0"/>
          </a:xfrm>
          <a:prstGeom prst="line">
            <a:avLst/>
          </a:prstGeom>
          <a:noFill/>
          <a:ln w="17780">
            <a:solidFill>
              <a:srgbClr val="E2622F"/>
            </a:solidFill>
            <a:prstDash val="solid"/>
            <a:tailEnd type="triangle"/>
          </a:ln>
        </p:spPr>
      </p:sp>
      <p:sp>
        <p:nvSpPr>
          <p:cNvPr id="20" name="Shape 18"/>
          <p:cNvSpPr/>
          <p:nvPr/>
        </p:nvSpPr>
        <p:spPr>
          <a:xfrm>
            <a:off x="6303874" y="2926662"/>
            <a:ext cx="324529" cy="0"/>
          </a:xfrm>
          <a:prstGeom prst="line">
            <a:avLst/>
          </a:prstGeom>
          <a:noFill/>
          <a:ln w="17780">
            <a:solidFill>
              <a:srgbClr val="15181C"/>
            </a:solidFill>
            <a:prstDash val="solid"/>
            <a:tailEnd type="triangle"/>
          </a:ln>
        </p:spPr>
      </p:sp>
      <p:sp>
        <p:nvSpPr>
          <p:cNvPr id="21" name="Shape 19"/>
          <p:cNvSpPr/>
          <p:nvPr/>
        </p:nvSpPr>
        <p:spPr>
          <a:xfrm>
            <a:off x="6303874" y="4163928"/>
            <a:ext cx="324529" cy="0"/>
          </a:xfrm>
          <a:prstGeom prst="line">
            <a:avLst/>
          </a:prstGeom>
          <a:noFill/>
          <a:ln w="17780">
            <a:solidFill>
              <a:srgbClr val="E2622F"/>
            </a:solidFill>
            <a:prstDash val="solid"/>
            <a:tailEnd type="triangle"/>
          </a:ln>
        </p:spPr>
      </p:sp>
      <p:sp>
        <p:nvSpPr>
          <p:cNvPr id="22" name="Text 20"/>
          <p:cNvSpPr txBox="1"/>
          <p:nvPr/>
        </p:nvSpPr>
        <p:spPr>
          <a:xfrm>
            <a:off x="6750101" y="2196472"/>
            <a:ext cx="263679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predicted accessibility</a:t>
            </a:r>
            <a:endParaRPr lang="en-US" sz="1100" dirty="0"/>
          </a:p>
        </p:txBody>
      </p:sp>
      <p:sp>
        <p:nvSpPr>
          <p:cNvPr id="23" name="Shape 21"/>
          <p:cNvSpPr/>
          <p:nvPr/>
        </p:nvSpPr>
        <p:spPr>
          <a:xfrm>
            <a:off x="6750101" y="2297887"/>
            <a:ext cx="2961326" cy="628775"/>
          </a:xfrm>
          <a:custGeom>
            <a:avLst/>
            <a:gdLst/>
            <a:ahLst/>
            <a:cxnLst/>
            <a:rect l="l" t="t" r="r" b="b"/>
            <a:pathLst>
              <a:path w="2961326" h="628775">
                <a:moveTo>
                  <a:pt x="0" y="628775"/>
                </a:moveTo>
                <a:lnTo>
                  <a:pt x="0" y="601956"/>
                </a:lnTo>
                <a:lnTo>
                  <a:pt x="30847" y="602741"/>
                </a:lnTo>
                <a:lnTo>
                  <a:pt x="61694" y="607429"/>
                </a:lnTo>
                <a:lnTo>
                  <a:pt x="92541" y="602979"/>
                </a:lnTo>
                <a:lnTo>
                  <a:pt x="123389" y="597223"/>
                </a:lnTo>
                <a:lnTo>
                  <a:pt x="154236" y="598859"/>
                </a:lnTo>
                <a:lnTo>
                  <a:pt x="185083" y="605140"/>
                </a:lnTo>
                <a:lnTo>
                  <a:pt x="215930" y="607584"/>
                </a:lnTo>
                <a:lnTo>
                  <a:pt x="246777" y="607287"/>
                </a:lnTo>
                <a:lnTo>
                  <a:pt x="277624" y="600180"/>
                </a:lnTo>
                <a:lnTo>
                  <a:pt x="308471" y="595594"/>
                </a:lnTo>
                <a:lnTo>
                  <a:pt x="339319" y="608444"/>
                </a:lnTo>
                <a:lnTo>
                  <a:pt x="370166" y="606225"/>
                </a:lnTo>
                <a:lnTo>
                  <a:pt x="401013" y="604742"/>
                </a:lnTo>
                <a:lnTo>
                  <a:pt x="431860" y="603621"/>
                </a:lnTo>
                <a:lnTo>
                  <a:pt x="462707" y="593858"/>
                </a:lnTo>
                <a:lnTo>
                  <a:pt x="493554" y="605592"/>
                </a:lnTo>
                <a:lnTo>
                  <a:pt x="524401" y="603576"/>
                </a:lnTo>
                <a:lnTo>
                  <a:pt x="555249" y="600440"/>
                </a:lnTo>
                <a:lnTo>
                  <a:pt x="586096" y="604688"/>
                </a:lnTo>
                <a:lnTo>
                  <a:pt x="616943" y="593568"/>
                </a:lnTo>
                <a:lnTo>
                  <a:pt x="647790" y="602394"/>
                </a:lnTo>
                <a:lnTo>
                  <a:pt x="678637" y="596063"/>
                </a:lnTo>
                <a:lnTo>
                  <a:pt x="709484" y="593733"/>
                </a:lnTo>
                <a:lnTo>
                  <a:pt x="740331" y="597391"/>
                </a:lnTo>
                <a:lnTo>
                  <a:pt x="771179" y="587622"/>
                </a:lnTo>
                <a:lnTo>
                  <a:pt x="802026" y="589547"/>
                </a:lnTo>
                <a:lnTo>
                  <a:pt x="832873" y="573001"/>
                </a:lnTo>
                <a:lnTo>
                  <a:pt x="863720" y="569832"/>
                </a:lnTo>
                <a:lnTo>
                  <a:pt x="894567" y="565320"/>
                </a:lnTo>
                <a:lnTo>
                  <a:pt x="925414" y="553954"/>
                </a:lnTo>
                <a:lnTo>
                  <a:pt x="956262" y="540396"/>
                </a:lnTo>
                <a:lnTo>
                  <a:pt x="987109" y="509571"/>
                </a:lnTo>
                <a:lnTo>
                  <a:pt x="1017956" y="498094"/>
                </a:lnTo>
                <a:lnTo>
                  <a:pt x="1048803" y="479440"/>
                </a:lnTo>
                <a:lnTo>
                  <a:pt x="1079650" y="451261"/>
                </a:lnTo>
                <a:lnTo>
                  <a:pt x="1110497" y="425560"/>
                </a:lnTo>
                <a:lnTo>
                  <a:pt x="1141344" y="381427"/>
                </a:lnTo>
                <a:lnTo>
                  <a:pt x="1172192" y="356980"/>
                </a:lnTo>
                <a:lnTo>
                  <a:pt x="1203039" y="328558"/>
                </a:lnTo>
                <a:lnTo>
                  <a:pt x="1233886" y="286868"/>
                </a:lnTo>
                <a:lnTo>
                  <a:pt x="1264733" y="259842"/>
                </a:lnTo>
                <a:lnTo>
                  <a:pt x="1295580" y="217031"/>
                </a:lnTo>
                <a:lnTo>
                  <a:pt x="1326427" y="191131"/>
                </a:lnTo>
                <a:lnTo>
                  <a:pt x="1357274" y="168371"/>
                </a:lnTo>
                <a:lnTo>
                  <a:pt x="1388122" y="142158"/>
                </a:lnTo>
                <a:lnTo>
                  <a:pt x="1418969" y="131069"/>
                </a:lnTo>
                <a:lnTo>
                  <a:pt x="1449816" y="119557"/>
                </a:lnTo>
                <a:lnTo>
                  <a:pt x="1480663" y="113453"/>
                </a:lnTo>
                <a:lnTo>
                  <a:pt x="1511510" y="117698"/>
                </a:lnTo>
                <a:lnTo>
                  <a:pt x="1542357" y="126060"/>
                </a:lnTo>
                <a:lnTo>
                  <a:pt x="1573204" y="144096"/>
                </a:lnTo>
                <a:lnTo>
                  <a:pt x="1604052" y="172152"/>
                </a:lnTo>
                <a:lnTo>
                  <a:pt x="1634899" y="190626"/>
                </a:lnTo>
                <a:lnTo>
                  <a:pt x="1665746" y="219014"/>
                </a:lnTo>
                <a:lnTo>
                  <a:pt x="1696593" y="250973"/>
                </a:lnTo>
                <a:lnTo>
                  <a:pt x="1727440" y="286762"/>
                </a:lnTo>
                <a:lnTo>
                  <a:pt x="1758287" y="325278"/>
                </a:lnTo>
                <a:lnTo>
                  <a:pt x="1789134" y="358689"/>
                </a:lnTo>
                <a:lnTo>
                  <a:pt x="1819982" y="387904"/>
                </a:lnTo>
                <a:lnTo>
                  <a:pt x="1850829" y="415824"/>
                </a:lnTo>
                <a:lnTo>
                  <a:pt x="1881676" y="449316"/>
                </a:lnTo>
                <a:lnTo>
                  <a:pt x="1912523" y="476273"/>
                </a:lnTo>
                <a:lnTo>
                  <a:pt x="1943370" y="502796"/>
                </a:lnTo>
                <a:lnTo>
                  <a:pt x="1974217" y="519276"/>
                </a:lnTo>
                <a:lnTo>
                  <a:pt x="2005064" y="528615"/>
                </a:lnTo>
                <a:lnTo>
                  <a:pt x="2035912" y="552349"/>
                </a:lnTo>
                <a:lnTo>
                  <a:pt x="2066759" y="562262"/>
                </a:lnTo>
                <a:lnTo>
                  <a:pt x="2097606" y="569851"/>
                </a:lnTo>
                <a:lnTo>
                  <a:pt x="2128453" y="583237"/>
                </a:lnTo>
                <a:lnTo>
                  <a:pt x="2159300" y="578377"/>
                </a:lnTo>
                <a:lnTo>
                  <a:pt x="2190147" y="594824"/>
                </a:lnTo>
                <a:lnTo>
                  <a:pt x="2220994" y="593440"/>
                </a:lnTo>
                <a:lnTo>
                  <a:pt x="2251842" y="590638"/>
                </a:lnTo>
                <a:lnTo>
                  <a:pt x="2282689" y="603407"/>
                </a:lnTo>
                <a:lnTo>
                  <a:pt x="2313536" y="595859"/>
                </a:lnTo>
                <a:lnTo>
                  <a:pt x="2344383" y="606031"/>
                </a:lnTo>
                <a:lnTo>
                  <a:pt x="2375230" y="599586"/>
                </a:lnTo>
                <a:lnTo>
                  <a:pt x="2406077" y="595315"/>
                </a:lnTo>
                <a:lnTo>
                  <a:pt x="2436924" y="607743"/>
                </a:lnTo>
                <a:lnTo>
                  <a:pt x="2467772" y="604524"/>
                </a:lnTo>
                <a:lnTo>
                  <a:pt x="2498619" y="607663"/>
                </a:lnTo>
                <a:lnTo>
                  <a:pt x="2529466" y="598490"/>
                </a:lnTo>
                <a:lnTo>
                  <a:pt x="2560313" y="597586"/>
                </a:lnTo>
                <a:lnTo>
                  <a:pt x="2591160" y="606769"/>
                </a:lnTo>
                <a:lnTo>
                  <a:pt x="2622007" y="605168"/>
                </a:lnTo>
                <a:lnTo>
                  <a:pt x="2652855" y="607057"/>
                </a:lnTo>
                <a:lnTo>
                  <a:pt x="2683702" y="597110"/>
                </a:lnTo>
                <a:lnTo>
                  <a:pt x="2714549" y="599843"/>
                </a:lnTo>
                <a:lnTo>
                  <a:pt x="2745396" y="605818"/>
                </a:lnTo>
                <a:lnTo>
                  <a:pt x="2776243" y="599655"/>
                </a:lnTo>
                <a:lnTo>
                  <a:pt x="2807090" y="607739"/>
                </a:lnTo>
                <a:lnTo>
                  <a:pt x="2837937" y="598045"/>
                </a:lnTo>
                <a:lnTo>
                  <a:pt x="2868785" y="601306"/>
                </a:lnTo>
                <a:lnTo>
                  <a:pt x="2899632" y="606703"/>
                </a:lnTo>
                <a:lnTo>
                  <a:pt x="2930479" y="596896"/>
                </a:lnTo>
                <a:lnTo>
                  <a:pt x="2961326" y="606382"/>
                </a:lnTo>
                <a:lnTo>
                  <a:pt x="2961326" y="628775"/>
                </a:lnTo>
                <a:close/>
              </a:path>
            </a:pathLst>
          </a:custGeom>
          <a:solidFill>
            <a:srgbClr val="55637A">
              <a:alpha val="14000"/>
            </a:srgbClr>
          </a:solidFill>
          <a:ln w="16510">
            <a:solidFill>
              <a:srgbClr val="55637A"/>
            </a:solidFill>
            <a:prstDash val="solid"/>
          </a:ln>
        </p:spPr>
      </p:sp>
      <p:sp>
        <p:nvSpPr>
          <p:cNvPr id="24" name="Shape 22"/>
          <p:cNvSpPr/>
          <p:nvPr/>
        </p:nvSpPr>
        <p:spPr>
          <a:xfrm>
            <a:off x="6750101" y="2926662"/>
            <a:ext cx="2961326" cy="0"/>
          </a:xfrm>
          <a:prstGeom prst="line">
            <a:avLst/>
          </a:prstGeom>
          <a:noFill/>
          <a:ln w="20320">
            <a:solidFill>
              <a:srgbClr val="15181C">
                <a:alpha val="55000"/>
              </a:srgbClr>
            </a:solidFill>
            <a:prstDash val="solid"/>
          </a:ln>
        </p:spPr>
      </p:sp>
      <p:sp>
        <p:nvSpPr>
          <p:cNvPr id="25" name="Shape 23"/>
          <p:cNvSpPr/>
          <p:nvPr/>
        </p:nvSpPr>
        <p:spPr>
          <a:xfrm>
            <a:off x="6750101" y="3535154"/>
            <a:ext cx="2961326" cy="628775"/>
          </a:xfrm>
          <a:custGeom>
            <a:avLst/>
            <a:gdLst/>
            <a:ahLst/>
            <a:cxnLst/>
            <a:rect l="l" t="t" r="r" b="b"/>
            <a:pathLst>
              <a:path w="2961326" h="628775">
                <a:moveTo>
                  <a:pt x="0" y="628775"/>
                </a:moveTo>
                <a:lnTo>
                  <a:pt x="0" y="601956"/>
                </a:lnTo>
                <a:lnTo>
                  <a:pt x="30847" y="602741"/>
                </a:lnTo>
                <a:lnTo>
                  <a:pt x="61694" y="607430"/>
                </a:lnTo>
                <a:lnTo>
                  <a:pt x="92541" y="602979"/>
                </a:lnTo>
                <a:lnTo>
                  <a:pt x="123389" y="597224"/>
                </a:lnTo>
                <a:lnTo>
                  <a:pt x="154236" y="598860"/>
                </a:lnTo>
                <a:lnTo>
                  <a:pt x="185083" y="605141"/>
                </a:lnTo>
                <a:lnTo>
                  <a:pt x="215930" y="607587"/>
                </a:lnTo>
                <a:lnTo>
                  <a:pt x="246777" y="607292"/>
                </a:lnTo>
                <a:lnTo>
                  <a:pt x="277624" y="600189"/>
                </a:lnTo>
                <a:lnTo>
                  <a:pt x="308471" y="595610"/>
                </a:lnTo>
                <a:lnTo>
                  <a:pt x="339319" y="608471"/>
                </a:lnTo>
                <a:lnTo>
                  <a:pt x="370166" y="606270"/>
                </a:lnTo>
                <a:lnTo>
                  <a:pt x="401013" y="604814"/>
                </a:lnTo>
                <a:lnTo>
                  <a:pt x="431860" y="603737"/>
                </a:lnTo>
                <a:lnTo>
                  <a:pt x="462707" y="594041"/>
                </a:lnTo>
                <a:lnTo>
                  <a:pt x="493554" y="605876"/>
                </a:lnTo>
                <a:lnTo>
                  <a:pt x="524401" y="604014"/>
                </a:lnTo>
                <a:lnTo>
                  <a:pt x="555249" y="601105"/>
                </a:lnTo>
                <a:lnTo>
                  <a:pt x="586096" y="605684"/>
                </a:lnTo>
                <a:lnTo>
                  <a:pt x="616943" y="595038"/>
                </a:lnTo>
                <a:lnTo>
                  <a:pt x="647790" y="604537"/>
                </a:lnTo>
                <a:lnTo>
                  <a:pt x="678637" y="599143"/>
                </a:lnTo>
                <a:lnTo>
                  <a:pt x="709484" y="598098"/>
                </a:lnTo>
                <a:lnTo>
                  <a:pt x="740331" y="603495"/>
                </a:lnTo>
                <a:lnTo>
                  <a:pt x="771179" y="596043"/>
                </a:lnTo>
                <a:lnTo>
                  <a:pt x="802026" y="601004"/>
                </a:lnTo>
                <a:lnTo>
                  <a:pt x="832873" y="588378"/>
                </a:lnTo>
                <a:lnTo>
                  <a:pt x="863720" y="590189"/>
                </a:lnTo>
                <a:lnTo>
                  <a:pt x="894567" y="591904"/>
                </a:lnTo>
                <a:lnTo>
                  <a:pt x="925414" y="588197"/>
                </a:lnTo>
                <a:lnTo>
                  <a:pt x="956262" y="583907"/>
                </a:lnTo>
                <a:lnTo>
                  <a:pt x="987109" y="564105"/>
                </a:lnTo>
                <a:lnTo>
                  <a:pt x="1017956" y="565515"/>
                </a:lnTo>
                <a:lnTo>
                  <a:pt x="1048803" y="561660"/>
                </a:lnTo>
                <a:lnTo>
                  <a:pt x="1079650" y="550166"/>
                </a:lnTo>
                <a:lnTo>
                  <a:pt x="1110497" y="542919"/>
                </a:lnTo>
                <a:lnTo>
                  <a:pt x="1141344" y="518790"/>
                </a:lnTo>
                <a:lnTo>
                  <a:pt x="1172192" y="515570"/>
                </a:lnTo>
                <a:lnTo>
                  <a:pt x="1203039" y="509169"/>
                </a:lnTo>
                <a:lnTo>
                  <a:pt x="1233886" y="489760"/>
                </a:lnTo>
                <a:lnTo>
                  <a:pt x="1264733" y="484666"/>
                </a:lnTo>
                <a:lnTo>
                  <a:pt x="1295580" y="462772"/>
                </a:lnTo>
                <a:lnTo>
                  <a:pt x="1326427" y="456084"/>
                </a:lnTo>
                <a:lnTo>
                  <a:pt x="1357274" y="450154"/>
                </a:lnTo>
                <a:lnTo>
                  <a:pt x="1388122" y="437767"/>
                </a:lnTo>
                <a:lnTo>
                  <a:pt x="1418969" y="436968"/>
                </a:lnTo>
                <a:lnTo>
                  <a:pt x="1449816" y="431800"/>
                </a:lnTo>
                <a:lnTo>
                  <a:pt x="1480663" y="427840"/>
                </a:lnTo>
                <a:lnTo>
                  <a:pt x="1511510" y="429942"/>
                </a:lnTo>
                <a:lnTo>
                  <a:pt x="1542357" y="431959"/>
                </a:lnTo>
                <a:lnTo>
                  <a:pt x="1573204" y="439705"/>
                </a:lnTo>
                <a:lnTo>
                  <a:pt x="1604052" y="453935"/>
                </a:lnTo>
                <a:lnTo>
                  <a:pt x="1634899" y="455578"/>
                </a:lnTo>
                <a:lnTo>
                  <a:pt x="1665746" y="464755"/>
                </a:lnTo>
                <a:lnTo>
                  <a:pt x="1696593" y="475797"/>
                </a:lnTo>
                <a:lnTo>
                  <a:pt x="1727440" y="489654"/>
                </a:lnTo>
                <a:lnTo>
                  <a:pt x="1758287" y="505889"/>
                </a:lnTo>
                <a:lnTo>
                  <a:pt x="1789134" y="517280"/>
                </a:lnTo>
                <a:lnTo>
                  <a:pt x="1819982" y="525266"/>
                </a:lnTo>
                <a:lnTo>
                  <a:pt x="1850829" y="533183"/>
                </a:lnTo>
                <a:lnTo>
                  <a:pt x="1881676" y="548221"/>
                </a:lnTo>
                <a:lnTo>
                  <a:pt x="1912523" y="558493"/>
                </a:lnTo>
                <a:lnTo>
                  <a:pt x="1943370" y="570217"/>
                </a:lnTo>
                <a:lnTo>
                  <a:pt x="1974217" y="573809"/>
                </a:lnTo>
                <a:lnTo>
                  <a:pt x="2005064" y="572125"/>
                </a:lnTo>
                <a:lnTo>
                  <a:pt x="2035912" y="586592"/>
                </a:lnTo>
                <a:lnTo>
                  <a:pt x="2066759" y="588846"/>
                </a:lnTo>
                <a:lnTo>
                  <a:pt x="2097606" y="590208"/>
                </a:lnTo>
                <a:lnTo>
                  <a:pt x="2128453" y="598614"/>
                </a:lnTo>
                <a:lnTo>
                  <a:pt x="2159300" y="589834"/>
                </a:lnTo>
                <a:lnTo>
                  <a:pt x="2190147" y="603245"/>
                </a:lnTo>
                <a:lnTo>
                  <a:pt x="2220994" y="599545"/>
                </a:lnTo>
                <a:lnTo>
                  <a:pt x="2251842" y="595004"/>
                </a:lnTo>
                <a:lnTo>
                  <a:pt x="2282689" y="606486"/>
                </a:lnTo>
                <a:lnTo>
                  <a:pt x="2313536" y="598002"/>
                </a:lnTo>
                <a:lnTo>
                  <a:pt x="2344383" y="607501"/>
                </a:lnTo>
                <a:lnTo>
                  <a:pt x="2375230" y="600582"/>
                </a:lnTo>
                <a:lnTo>
                  <a:pt x="2406077" y="595980"/>
                </a:lnTo>
                <a:lnTo>
                  <a:pt x="2436924" y="608181"/>
                </a:lnTo>
                <a:lnTo>
                  <a:pt x="2467772" y="604809"/>
                </a:lnTo>
                <a:lnTo>
                  <a:pt x="2498619" y="607845"/>
                </a:lnTo>
                <a:lnTo>
                  <a:pt x="2529466" y="598605"/>
                </a:lnTo>
                <a:lnTo>
                  <a:pt x="2560313" y="597658"/>
                </a:lnTo>
                <a:lnTo>
                  <a:pt x="2591160" y="606813"/>
                </a:lnTo>
                <a:lnTo>
                  <a:pt x="2622007" y="605195"/>
                </a:lnTo>
                <a:lnTo>
                  <a:pt x="2652855" y="607073"/>
                </a:lnTo>
                <a:lnTo>
                  <a:pt x="2683702" y="597120"/>
                </a:lnTo>
                <a:lnTo>
                  <a:pt x="2714549" y="599848"/>
                </a:lnTo>
                <a:lnTo>
                  <a:pt x="2745396" y="605821"/>
                </a:lnTo>
                <a:lnTo>
                  <a:pt x="2776243" y="599656"/>
                </a:lnTo>
                <a:lnTo>
                  <a:pt x="2807090" y="607740"/>
                </a:lnTo>
                <a:lnTo>
                  <a:pt x="2837937" y="598046"/>
                </a:lnTo>
                <a:lnTo>
                  <a:pt x="2868785" y="601306"/>
                </a:lnTo>
                <a:lnTo>
                  <a:pt x="2899632" y="606703"/>
                </a:lnTo>
                <a:lnTo>
                  <a:pt x="2930479" y="596896"/>
                </a:lnTo>
                <a:lnTo>
                  <a:pt x="2961326" y="606383"/>
                </a:lnTo>
                <a:lnTo>
                  <a:pt x="2961326" y="628775"/>
                </a:lnTo>
                <a:close/>
              </a:path>
            </a:pathLst>
          </a:custGeom>
          <a:solidFill>
            <a:srgbClr val="E2622F">
              <a:alpha val="12000"/>
            </a:srgbClr>
          </a:solidFill>
          <a:ln w="16510">
            <a:solidFill>
              <a:srgbClr val="E2622F"/>
            </a:solidFill>
            <a:prstDash val="solid"/>
          </a:ln>
        </p:spPr>
      </p:sp>
      <p:sp>
        <p:nvSpPr>
          <p:cNvPr id="26" name="Shape 24"/>
          <p:cNvSpPr/>
          <p:nvPr/>
        </p:nvSpPr>
        <p:spPr>
          <a:xfrm>
            <a:off x="6750101" y="4163928"/>
            <a:ext cx="2961326" cy="0"/>
          </a:xfrm>
          <a:prstGeom prst="line">
            <a:avLst/>
          </a:prstGeom>
          <a:noFill/>
          <a:ln w="20320">
            <a:solidFill>
              <a:srgbClr val="15181C">
                <a:alpha val="55000"/>
              </a:srgbClr>
            </a:solidFill>
            <a:prstDash val="solid"/>
          </a:ln>
        </p:spPr>
      </p:sp>
      <p:sp>
        <p:nvSpPr>
          <p:cNvPr id="27" name="Shape 25"/>
          <p:cNvSpPr/>
          <p:nvPr/>
        </p:nvSpPr>
        <p:spPr>
          <a:xfrm>
            <a:off x="10035956" y="2439869"/>
            <a:ext cx="0" cy="1551654"/>
          </a:xfrm>
          <a:prstGeom prst="line">
            <a:avLst/>
          </a:prstGeom>
          <a:noFill/>
          <a:ln w="15240">
            <a:solidFill>
              <a:srgbClr val="15181C"/>
            </a:solidFill>
            <a:prstDash val="solid"/>
          </a:ln>
        </p:spPr>
      </p:sp>
      <p:sp>
        <p:nvSpPr>
          <p:cNvPr id="28" name="Shape 26"/>
          <p:cNvSpPr/>
          <p:nvPr/>
        </p:nvSpPr>
        <p:spPr>
          <a:xfrm>
            <a:off x="10035956" y="2439869"/>
            <a:ext cx="70991" cy="0"/>
          </a:xfrm>
          <a:prstGeom prst="line">
            <a:avLst/>
          </a:prstGeom>
          <a:noFill/>
          <a:ln w="15240">
            <a:solidFill>
              <a:srgbClr val="15181C"/>
            </a:solidFill>
            <a:prstDash val="solid"/>
          </a:ln>
        </p:spPr>
      </p:sp>
      <p:sp>
        <p:nvSpPr>
          <p:cNvPr id="29" name="Shape 27"/>
          <p:cNvSpPr/>
          <p:nvPr/>
        </p:nvSpPr>
        <p:spPr>
          <a:xfrm>
            <a:off x="10035956" y="3991522"/>
            <a:ext cx="70991" cy="0"/>
          </a:xfrm>
          <a:prstGeom prst="line">
            <a:avLst/>
          </a:prstGeom>
          <a:noFill/>
          <a:ln w="15240">
            <a:solidFill>
              <a:srgbClr val="15181C"/>
            </a:solidFill>
            <a:prstDash val="solid"/>
          </a:ln>
        </p:spPr>
      </p:sp>
      <p:sp>
        <p:nvSpPr>
          <p:cNvPr id="30" name="Text 28"/>
          <p:cNvSpPr txBox="1"/>
          <p:nvPr/>
        </p:nvSpPr>
        <p:spPr>
          <a:xfrm>
            <a:off x="10167795" y="3114280"/>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log₂ ratio</a:t>
            </a:r>
            <a:endParaRPr lang="en-US" sz="1200" dirty="0"/>
          </a:p>
        </p:txBody>
      </p:sp>
      <p:sp>
        <p:nvSpPr>
          <p:cNvPr id="31" name="Text 29"/>
          <p:cNvSpPr txBox="1"/>
          <p:nvPr/>
        </p:nvSpPr>
        <p:spPr>
          <a:xfrm>
            <a:off x="10167795" y="4123362"/>
            <a:ext cx="1724060"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 number</a:t>
            </a:r>
            <a:endParaRPr lang="en-US" sz="1100" dirty="0"/>
          </a:p>
        </p:txBody>
      </p:sp>
      <p:sp>
        <p:nvSpPr>
          <p:cNvPr id="32" name="Text 30"/>
          <p:cNvSpPr txBox="1"/>
          <p:nvPr/>
        </p:nvSpPr>
        <p:spPr>
          <a:xfrm>
            <a:off x="10167795" y="4275485"/>
            <a:ext cx="1724060"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per site</a:t>
            </a:r>
            <a:endParaRPr lang="en-US" sz="1100" dirty="0"/>
          </a:p>
        </p:txBody>
      </p:sp>
      <p:sp>
        <p:nvSpPr>
          <p:cNvPr id="33" name="Shape 31"/>
          <p:cNvSpPr/>
          <p:nvPr/>
        </p:nvSpPr>
        <p:spPr>
          <a:xfrm>
            <a:off x="644901" y="4752137"/>
            <a:ext cx="10871717" cy="0"/>
          </a:xfrm>
          <a:prstGeom prst="line">
            <a:avLst/>
          </a:prstGeom>
          <a:noFill/>
          <a:ln w="12700">
            <a:solidFill>
              <a:srgbClr val="AFB5BD"/>
            </a:solidFill>
            <a:prstDash val="dash"/>
          </a:ln>
        </p:spPr>
      </p:sp>
      <p:sp>
        <p:nvSpPr>
          <p:cNvPr id="34" name="Text 32"/>
          <p:cNvSpPr txBox="1"/>
          <p:nvPr/>
        </p:nvSpPr>
        <p:spPr>
          <a:xfrm>
            <a:off x="644901" y="4873835"/>
            <a:ext cx="912737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both predictions come from the same 131 kb window, so only the edit can move them</a:t>
            </a:r>
            <a:endParaRPr lang="en-US" sz="1100" dirty="0"/>
          </a:p>
        </p:txBody>
      </p:sp>
      <p:sp>
        <p:nvSpPr>
          <p:cNvPr id="35" name="Shape 33"/>
          <p:cNvSpPr/>
          <p:nvPr/>
        </p:nvSpPr>
        <p:spPr>
          <a:xfrm>
            <a:off x="502920" y="5989320"/>
            <a:ext cx="50292" cy="566928"/>
          </a:xfrm>
          <a:prstGeom prst="rect">
            <a:avLst/>
          </a:prstGeom>
          <a:solidFill>
            <a:srgbClr val="3F3F3F"/>
          </a:solidFill>
          <a:ln w="12700">
            <a:solidFill>
              <a:srgbClr val="333333"/>
            </a:solidFill>
            <a:prstDash val="solid"/>
          </a:ln>
        </p:spPr>
      </p:sp>
      <p:sp>
        <p:nvSpPr>
          <p:cNvPr id="36" name="Text 34"/>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No edit is ever compared against another site. The native and the edited sequence are the same 131 kb window through the same weights, so whatever changes in the prediction came from the edit.</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Transplant: can the element build a site on its own?</a:t>
            </a:r>
            <a:endParaRPr lang="en-US" sz="2800" dirty="0"/>
          </a:p>
        </p:txBody>
      </p:sp>
      <p:sp>
        <p:nvSpPr>
          <p:cNvPr id="3" name="Text 1"/>
          <p:cNvSpPr txBox="1"/>
          <p:nvPr/>
        </p:nvSpPr>
        <p:spPr>
          <a:xfrm>
            <a:off x="949147"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1   A REAL SITE</a:t>
            </a:r>
            <a:endParaRPr lang="en-US" sz="1300" dirty="0"/>
          </a:p>
        </p:txBody>
      </p:sp>
      <p:sp>
        <p:nvSpPr>
          <p:cNvPr id="4" name="Shape 2"/>
          <p:cNvSpPr/>
          <p:nvPr/>
        </p:nvSpPr>
        <p:spPr>
          <a:xfrm>
            <a:off x="949147" y="2358736"/>
            <a:ext cx="2555665" cy="628775"/>
          </a:xfrm>
          <a:custGeom>
            <a:avLst/>
            <a:gdLst/>
            <a:ahLst/>
            <a:cxnLst/>
            <a:rect l="l" t="t" r="r" b="b"/>
            <a:pathLst>
              <a:path w="2555665" h="628775">
                <a:moveTo>
                  <a:pt x="0" y="628775"/>
                </a:moveTo>
                <a:lnTo>
                  <a:pt x="0" y="603439"/>
                </a:lnTo>
                <a:lnTo>
                  <a:pt x="26622" y="608031"/>
                </a:lnTo>
                <a:lnTo>
                  <a:pt x="53243" y="604345"/>
                </a:lnTo>
                <a:lnTo>
                  <a:pt x="79865" y="595464"/>
                </a:lnTo>
                <a:lnTo>
                  <a:pt x="106486" y="598537"/>
                </a:lnTo>
                <a:lnTo>
                  <a:pt x="133108" y="605581"/>
                </a:lnTo>
                <a:lnTo>
                  <a:pt x="159729" y="604897"/>
                </a:lnTo>
                <a:lnTo>
                  <a:pt x="186351" y="606394"/>
                </a:lnTo>
                <a:lnTo>
                  <a:pt x="212972" y="597019"/>
                </a:lnTo>
                <a:lnTo>
                  <a:pt x="239594" y="593290"/>
                </a:lnTo>
                <a:lnTo>
                  <a:pt x="266215" y="602510"/>
                </a:lnTo>
                <a:lnTo>
                  <a:pt x="292837" y="599706"/>
                </a:lnTo>
                <a:lnTo>
                  <a:pt x="319458" y="597170"/>
                </a:lnTo>
                <a:lnTo>
                  <a:pt x="346080" y="594968"/>
                </a:lnTo>
                <a:lnTo>
                  <a:pt x="372701" y="584507"/>
                </a:lnTo>
                <a:lnTo>
                  <a:pt x="399323" y="590447"/>
                </a:lnTo>
                <a:lnTo>
                  <a:pt x="425944" y="586166"/>
                </a:lnTo>
                <a:lnTo>
                  <a:pt x="452566" y="580334"/>
                </a:lnTo>
                <a:lnTo>
                  <a:pt x="479187" y="580918"/>
                </a:lnTo>
                <a:lnTo>
                  <a:pt x="505809" y="566104"/>
                </a:lnTo>
                <a:lnTo>
                  <a:pt x="532430" y="565944"/>
                </a:lnTo>
                <a:lnTo>
                  <a:pt x="559052" y="554329"/>
                </a:lnTo>
                <a:lnTo>
                  <a:pt x="585673" y="546528"/>
                </a:lnTo>
                <a:lnTo>
                  <a:pt x="612295" y="543162"/>
                </a:lnTo>
                <a:lnTo>
                  <a:pt x="638916" y="526226"/>
                </a:lnTo>
                <a:lnTo>
                  <a:pt x="665538" y="516483"/>
                </a:lnTo>
                <a:lnTo>
                  <a:pt x="692159" y="492468"/>
                </a:lnTo>
                <a:lnTo>
                  <a:pt x="718781" y="482590"/>
                </a:lnTo>
                <a:lnTo>
                  <a:pt x="745402" y="470386"/>
                </a:lnTo>
                <a:lnTo>
                  <a:pt x="772024" y="451898"/>
                </a:lnTo>
                <a:lnTo>
                  <a:pt x="798645" y="430409"/>
                </a:lnTo>
                <a:lnTo>
                  <a:pt x="825267" y="394086"/>
                </a:lnTo>
                <a:lnTo>
                  <a:pt x="851888" y="380892"/>
                </a:lnTo>
                <a:lnTo>
                  <a:pt x="878510" y="360984"/>
                </a:lnTo>
                <a:lnTo>
                  <a:pt x="905131" y="330421"/>
                </a:lnTo>
                <a:lnTo>
                  <a:pt x="931753" y="309693"/>
                </a:lnTo>
                <a:lnTo>
                  <a:pt x="958374" y="269225"/>
                </a:lnTo>
                <a:lnTo>
                  <a:pt x="984996" y="253103"/>
                </a:lnTo>
                <a:lnTo>
                  <a:pt x="1011617" y="229640"/>
                </a:lnTo>
                <a:lnTo>
                  <a:pt x="1038239" y="198485"/>
                </a:lnTo>
                <a:lnTo>
                  <a:pt x="1064860" y="182248"/>
                </a:lnTo>
                <a:lnTo>
                  <a:pt x="1091482" y="150748"/>
                </a:lnTo>
                <a:lnTo>
                  <a:pt x="1118103" y="135891"/>
                </a:lnTo>
                <a:lnTo>
                  <a:pt x="1144725" y="117885"/>
                </a:lnTo>
                <a:lnTo>
                  <a:pt x="1171346" y="99512"/>
                </a:lnTo>
                <a:lnTo>
                  <a:pt x="1197968" y="93203"/>
                </a:lnTo>
                <a:lnTo>
                  <a:pt x="1224589" y="83548"/>
                </a:lnTo>
                <a:lnTo>
                  <a:pt x="1251211" y="76395"/>
                </a:lnTo>
                <a:lnTo>
                  <a:pt x="1277832" y="71952"/>
                </a:lnTo>
                <a:lnTo>
                  <a:pt x="1304454" y="73824"/>
                </a:lnTo>
                <a:lnTo>
                  <a:pt x="1331075" y="82263"/>
                </a:lnTo>
                <a:lnTo>
                  <a:pt x="1357697" y="95747"/>
                </a:lnTo>
                <a:lnTo>
                  <a:pt x="1384318" y="102794"/>
                </a:lnTo>
                <a:lnTo>
                  <a:pt x="1410940" y="113162"/>
                </a:lnTo>
                <a:lnTo>
                  <a:pt x="1437561" y="131926"/>
                </a:lnTo>
                <a:lnTo>
                  <a:pt x="1464183" y="155061"/>
                </a:lnTo>
                <a:lnTo>
                  <a:pt x="1490805" y="178372"/>
                </a:lnTo>
                <a:lnTo>
                  <a:pt x="1517426" y="204101"/>
                </a:lnTo>
                <a:lnTo>
                  <a:pt x="1544048" y="222839"/>
                </a:lnTo>
                <a:lnTo>
                  <a:pt x="1570669" y="246915"/>
                </a:lnTo>
                <a:lnTo>
                  <a:pt x="1597291" y="279401"/>
                </a:lnTo>
                <a:lnTo>
                  <a:pt x="1623912" y="303440"/>
                </a:lnTo>
                <a:lnTo>
                  <a:pt x="1650534" y="333427"/>
                </a:lnTo>
                <a:lnTo>
                  <a:pt x="1677155" y="355849"/>
                </a:lnTo>
                <a:lnTo>
                  <a:pt x="1703777" y="373817"/>
                </a:lnTo>
                <a:lnTo>
                  <a:pt x="1730398" y="407976"/>
                </a:lnTo>
                <a:lnTo>
                  <a:pt x="1757020" y="424609"/>
                </a:lnTo>
                <a:lnTo>
                  <a:pt x="1783641" y="444267"/>
                </a:lnTo>
                <a:lnTo>
                  <a:pt x="1810263" y="469841"/>
                </a:lnTo>
                <a:lnTo>
                  <a:pt x="1836884" y="477520"/>
                </a:lnTo>
                <a:lnTo>
                  <a:pt x="1863506" y="503565"/>
                </a:lnTo>
                <a:lnTo>
                  <a:pt x="1890127" y="512483"/>
                </a:lnTo>
                <a:lnTo>
                  <a:pt x="1916749" y="521427"/>
                </a:lnTo>
                <a:lnTo>
                  <a:pt x="1943370" y="543138"/>
                </a:lnTo>
                <a:lnTo>
                  <a:pt x="1969992" y="546179"/>
                </a:lnTo>
                <a:lnTo>
                  <a:pt x="1996613" y="561039"/>
                </a:lnTo>
                <a:lnTo>
                  <a:pt x="2023235" y="562140"/>
                </a:lnTo>
                <a:lnTo>
                  <a:pt x="2049856" y="565698"/>
                </a:lnTo>
                <a:lnTo>
                  <a:pt x="2076478" y="581873"/>
                </a:lnTo>
                <a:lnTo>
                  <a:pt x="2103099" y="585556"/>
                </a:lnTo>
                <a:lnTo>
                  <a:pt x="2129721" y="590671"/>
                </a:lnTo>
                <a:lnTo>
                  <a:pt x="2156342" y="584213"/>
                </a:lnTo>
                <a:lnTo>
                  <a:pt x="2182964" y="587835"/>
                </a:lnTo>
                <a:lnTo>
                  <a:pt x="2209585" y="599889"/>
                </a:lnTo>
                <a:lnTo>
                  <a:pt x="2236207" y="597089"/>
                </a:lnTo>
                <a:lnTo>
                  <a:pt x="2262828" y="602913"/>
                </a:lnTo>
                <a:lnTo>
                  <a:pt x="2289450" y="592554"/>
                </a:lnTo>
                <a:lnTo>
                  <a:pt x="2316071" y="597930"/>
                </a:lnTo>
                <a:lnTo>
                  <a:pt x="2342693" y="605335"/>
                </a:lnTo>
                <a:lnTo>
                  <a:pt x="2369314" y="596560"/>
                </a:lnTo>
                <a:lnTo>
                  <a:pt x="2395936" y="606931"/>
                </a:lnTo>
                <a:lnTo>
                  <a:pt x="2422557" y="597063"/>
                </a:lnTo>
                <a:lnTo>
                  <a:pt x="2449179" y="601942"/>
                </a:lnTo>
                <a:lnTo>
                  <a:pt x="2475800" y="607604"/>
                </a:lnTo>
                <a:lnTo>
                  <a:pt x="2502422" y="595450"/>
                </a:lnTo>
                <a:lnTo>
                  <a:pt x="2529043" y="606045"/>
                </a:lnTo>
                <a:lnTo>
                  <a:pt x="2555665" y="602162"/>
                </a:lnTo>
                <a:lnTo>
                  <a:pt x="2555665" y="628775"/>
                </a:lnTo>
                <a:close/>
              </a:path>
            </a:pathLst>
          </a:custGeom>
          <a:solidFill>
            <a:srgbClr val="55637A">
              <a:alpha val="14000"/>
            </a:srgbClr>
          </a:solidFill>
          <a:ln w="16510">
            <a:solidFill>
              <a:srgbClr val="55637A"/>
            </a:solidFill>
            <a:prstDash val="solid"/>
          </a:ln>
        </p:spPr>
      </p:sp>
      <p:sp>
        <p:nvSpPr>
          <p:cNvPr id="5" name="Shape 3"/>
          <p:cNvSpPr/>
          <p:nvPr/>
        </p:nvSpPr>
        <p:spPr>
          <a:xfrm>
            <a:off x="949147" y="2987511"/>
            <a:ext cx="2555665" cy="0"/>
          </a:xfrm>
          <a:prstGeom prst="line">
            <a:avLst/>
          </a:prstGeom>
          <a:noFill/>
          <a:ln w="20320">
            <a:solidFill>
              <a:srgbClr val="15181C">
                <a:alpha val="55000"/>
              </a:srgbClr>
            </a:solidFill>
            <a:prstDash val="solid"/>
          </a:ln>
        </p:spPr>
      </p:sp>
      <p:sp>
        <p:nvSpPr>
          <p:cNvPr id="6" name="Shape 4"/>
          <p:cNvSpPr/>
          <p:nvPr/>
        </p:nvSpPr>
        <p:spPr>
          <a:xfrm>
            <a:off x="2095140" y="2931733"/>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1618488" y="2176189"/>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Shape 6"/>
          <p:cNvSpPr/>
          <p:nvPr/>
        </p:nvSpPr>
        <p:spPr>
          <a:xfrm>
            <a:off x="1334525" y="3073714"/>
            <a:ext cx="1784909" cy="172406"/>
          </a:xfrm>
          <a:prstGeom prst="roundRect">
            <a:avLst>
              <a:gd name="adj" fmla="val 10608"/>
            </a:avLst>
          </a:prstGeom>
          <a:ln w="12700">
            <a:solidFill>
              <a:srgbClr val="15181C"/>
            </a:solidFill>
            <a:prstDash val="dash"/>
          </a:ln>
        </p:spPr>
      </p:sp>
      <p:sp>
        <p:nvSpPr>
          <p:cNvPr id="9" name="Text 7"/>
          <p:cNvSpPr txBox="1"/>
          <p:nvPr/>
        </p:nvSpPr>
        <p:spPr>
          <a:xfrm>
            <a:off x="1009996" y="3312040"/>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lift out its whole peak</a:t>
            </a:r>
            <a:endParaRPr lang="en-US" sz="1100" dirty="0"/>
          </a:p>
        </p:txBody>
      </p:sp>
      <p:sp>
        <p:nvSpPr>
          <p:cNvPr id="10" name="Text 8"/>
          <p:cNvSpPr txBox="1"/>
          <p:nvPr/>
        </p:nvSpPr>
        <p:spPr>
          <a:xfrm>
            <a:off x="4478399"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2   AN EMPTY PLACE</a:t>
            </a:r>
            <a:endParaRPr lang="en-US" sz="1300" dirty="0"/>
          </a:p>
        </p:txBody>
      </p:sp>
      <p:sp>
        <p:nvSpPr>
          <p:cNvPr id="11" name="Shape 9"/>
          <p:cNvSpPr/>
          <p:nvPr/>
        </p:nvSpPr>
        <p:spPr>
          <a:xfrm>
            <a:off x="4478399" y="2358736"/>
            <a:ext cx="2555665" cy="628775"/>
          </a:xfrm>
          <a:custGeom>
            <a:avLst/>
            <a:gdLst/>
            <a:ahLst/>
            <a:cxnLst/>
            <a:rect l="l" t="t" r="r" b="b"/>
            <a:pathLst>
              <a:path w="2555665" h="628775">
                <a:moveTo>
                  <a:pt x="0" y="628775"/>
                </a:moveTo>
                <a:lnTo>
                  <a:pt x="0" y="607057"/>
                </a:lnTo>
                <a:lnTo>
                  <a:pt x="26622" y="595146"/>
                </a:lnTo>
                <a:lnTo>
                  <a:pt x="53243" y="601674"/>
                </a:lnTo>
                <a:lnTo>
                  <a:pt x="79865" y="604702"/>
                </a:lnTo>
                <a:lnTo>
                  <a:pt x="106486" y="605344"/>
                </a:lnTo>
                <a:lnTo>
                  <a:pt x="133108" y="604266"/>
                </a:lnTo>
                <a:lnTo>
                  <a:pt x="159729" y="599561"/>
                </a:lnTo>
                <a:lnTo>
                  <a:pt x="186351" y="599417"/>
                </a:lnTo>
                <a:lnTo>
                  <a:pt x="212972" y="600305"/>
                </a:lnTo>
                <a:lnTo>
                  <a:pt x="239594" y="604044"/>
                </a:lnTo>
                <a:lnTo>
                  <a:pt x="266215" y="602256"/>
                </a:lnTo>
                <a:lnTo>
                  <a:pt x="292837" y="603964"/>
                </a:lnTo>
                <a:lnTo>
                  <a:pt x="319458" y="599273"/>
                </a:lnTo>
                <a:lnTo>
                  <a:pt x="346080" y="598243"/>
                </a:lnTo>
                <a:lnTo>
                  <a:pt x="372701" y="601536"/>
                </a:lnTo>
                <a:lnTo>
                  <a:pt x="399323" y="602373"/>
                </a:lnTo>
                <a:lnTo>
                  <a:pt x="425944" y="606921"/>
                </a:lnTo>
                <a:lnTo>
                  <a:pt x="452566" y="602056"/>
                </a:lnTo>
                <a:lnTo>
                  <a:pt x="479187" y="599150"/>
                </a:lnTo>
                <a:lnTo>
                  <a:pt x="505809" y="597877"/>
                </a:lnTo>
                <a:lnTo>
                  <a:pt x="532430" y="604573"/>
                </a:lnTo>
                <a:lnTo>
                  <a:pt x="559052" y="608418"/>
                </a:lnTo>
                <a:lnTo>
                  <a:pt x="585673" y="606966"/>
                </a:lnTo>
                <a:lnTo>
                  <a:pt x="612295" y="602054"/>
                </a:lnTo>
                <a:lnTo>
                  <a:pt x="638916" y="594492"/>
                </a:lnTo>
                <a:lnTo>
                  <a:pt x="665538" y="607456"/>
                </a:lnTo>
                <a:lnTo>
                  <a:pt x="692159" y="607330"/>
                </a:lnTo>
                <a:lnTo>
                  <a:pt x="718781" y="604927"/>
                </a:lnTo>
                <a:lnTo>
                  <a:pt x="745402" y="605039"/>
                </a:lnTo>
                <a:lnTo>
                  <a:pt x="772024" y="593324"/>
                </a:lnTo>
                <a:lnTo>
                  <a:pt x="798645" y="607746"/>
                </a:lnTo>
                <a:lnTo>
                  <a:pt x="825267" y="605000"/>
                </a:lnTo>
                <a:lnTo>
                  <a:pt x="851888" y="601537"/>
                </a:lnTo>
                <a:lnTo>
                  <a:pt x="878510" y="606517"/>
                </a:lnTo>
                <a:lnTo>
                  <a:pt x="905131" y="595545"/>
                </a:lnTo>
                <a:lnTo>
                  <a:pt x="931753" y="607992"/>
                </a:lnTo>
                <a:lnTo>
                  <a:pt x="958374" y="601221"/>
                </a:lnTo>
                <a:lnTo>
                  <a:pt x="984996" y="600529"/>
                </a:lnTo>
                <a:lnTo>
                  <a:pt x="1011617" y="606232"/>
                </a:lnTo>
                <a:lnTo>
                  <a:pt x="1038239" y="600729"/>
                </a:lnTo>
                <a:lnTo>
                  <a:pt x="1064860" y="607295"/>
                </a:lnTo>
                <a:lnTo>
                  <a:pt x="1091482" y="597076"/>
                </a:lnTo>
                <a:lnTo>
                  <a:pt x="1118103" y="601085"/>
                </a:lnTo>
                <a:lnTo>
                  <a:pt x="1144725" y="605337"/>
                </a:lnTo>
                <a:lnTo>
                  <a:pt x="1171346" y="607033"/>
                </a:lnTo>
                <a:lnTo>
                  <a:pt x="1197968" y="605845"/>
                </a:lnTo>
                <a:lnTo>
                  <a:pt x="1224589" y="594481"/>
                </a:lnTo>
                <a:lnTo>
                  <a:pt x="1251211" y="601623"/>
                </a:lnTo>
                <a:lnTo>
                  <a:pt x="1277832" y="605491"/>
                </a:lnTo>
                <a:lnTo>
                  <a:pt x="1304454" y="604692"/>
                </a:lnTo>
                <a:lnTo>
                  <a:pt x="1331075" y="606281"/>
                </a:lnTo>
                <a:lnTo>
                  <a:pt x="1357697" y="594945"/>
                </a:lnTo>
                <a:lnTo>
                  <a:pt x="1384318" y="601027"/>
                </a:lnTo>
                <a:lnTo>
                  <a:pt x="1410940" y="607614"/>
                </a:lnTo>
                <a:lnTo>
                  <a:pt x="1437561" y="601703"/>
                </a:lnTo>
                <a:lnTo>
                  <a:pt x="1464183" y="607949"/>
                </a:lnTo>
                <a:lnTo>
                  <a:pt x="1490805" y="598535"/>
                </a:lnTo>
                <a:lnTo>
                  <a:pt x="1517426" y="599517"/>
                </a:lnTo>
                <a:lnTo>
                  <a:pt x="1544048" y="605815"/>
                </a:lnTo>
                <a:lnTo>
                  <a:pt x="1570669" y="600676"/>
                </a:lnTo>
                <a:lnTo>
                  <a:pt x="1597291" y="603996"/>
                </a:lnTo>
                <a:lnTo>
                  <a:pt x="1623912" y="603765"/>
                </a:lnTo>
                <a:lnTo>
                  <a:pt x="1650534" y="598554"/>
                </a:lnTo>
                <a:lnTo>
                  <a:pt x="1677155" y="602521"/>
                </a:lnTo>
                <a:lnTo>
                  <a:pt x="1703777" y="600226"/>
                </a:lnTo>
                <a:lnTo>
                  <a:pt x="1730398" y="600806"/>
                </a:lnTo>
                <a:lnTo>
                  <a:pt x="1757020" y="608488"/>
                </a:lnTo>
                <a:lnTo>
                  <a:pt x="1783641" y="599816"/>
                </a:lnTo>
                <a:lnTo>
                  <a:pt x="1810263" y="601205"/>
                </a:lnTo>
                <a:lnTo>
                  <a:pt x="1836884" y="599065"/>
                </a:lnTo>
                <a:lnTo>
                  <a:pt x="1863506" y="599914"/>
                </a:lnTo>
                <a:lnTo>
                  <a:pt x="1890127" y="605756"/>
                </a:lnTo>
                <a:lnTo>
                  <a:pt x="1916749" y="603970"/>
                </a:lnTo>
                <a:lnTo>
                  <a:pt x="1943370" y="602443"/>
                </a:lnTo>
                <a:lnTo>
                  <a:pt x="1969992" y="597047"/>
                </a:lnTo>
                <a:lnTo>
                  <a:pt x="1996613" y="601457"/>
                </a:lnTo>
                <a:lnTo>
                  <a:pt x="2023235" y="605036"/>
                </a:lnTo>
                <a:lnTo>
                  <a:pt x="2049856" y="606910"/>
                </a:lnTo>
                <a:lnTo>
                  <a:pt x="2076478" y="605261"/>
                </a:lnTo>
                <a:lnTo>
                  <a:pt x="2103099" y="595369"/>
                </a:lnTo>
                <a:lnTo>
                  <a:pt x="2129721" y="604154"/>
                </a:lnTo>
                <a:lnTo>
                  <a:pt x="2156342" y="605040"/>
                </a:lnTo>
                <a:lnTo>
                  <a:pt x="2182964" y="600949"/>
                </a:lnTo>
                <a:lnTo>
                  <a:pt x="2209585" y="607771"/>
                </a:lnTo>
                <a:lnTo>
                  <a:pt x="2236207" y="595761"/>
                </a:lnTo>
                <a:lnTo>
                  <a:pt x="2262828" y="606248"/>
                </a:lnTo>
                <a:lnTo>
                  <a:pt x="2289450" y="604242"/>
                </a:lnTo>
                <a:lnTo>
                  <a:pt x="2316071" y="597149"/>
                </a:lnTo>
                <a:lnTo>
                  <a:pt x="2342693" y="608433"/>
                </a:lnTo>
                <a:lnTo>
                  <a:pt x="2369314" y="599233"/>
                </a:lnTo>
                <a:lnTo>
                  <a:pt x="2395936" y="606744"/>
                </a:lnTo>
                <a:lnTo>
                  <a:pt x="2422557" y="602054"/>
                </a:lnTo>
                <a:lnTo>
                  <a:pt x="2449179" y="596288"/>
                </a:lnTo>
                <a:lnTo>
                  <a:pt x="2475800" y="607072"/>
                </a:lnTo>
                <a:lnTo>
                  <a:pt x="2502422" y="605241"/>
                </a:lnTo>
                <a:lnTo>
                  <a:pt x="2529043" y="606092"/>
                </a:lnTo>
                <a:lnTo>
                  <a:pt x="2555665" y="599325"/>
                </a:lnTo>
                <a:lnTo>
                  <a:pt x="2555665" y="628775"/>
                </a:lnTo>
                <a:close/>
              </a:path>
            </a:pathLst>
          </a:custGeom>
          <a:solidFill>
            <a:srgbClr val="55637A">
              <a:alpha val="14000"/>
            </a:srgbClr>
          </a:solidFill>
          <a:ln w="16510">
            <a:solidFill>
              <a:srgbClr val="55637A"/>
            </a:solidFill>
            <a:prstDash val="solid"/>
          </a:ln>
        </p:spPr>
      </p:sp>
      <p:sp>
        <p:nvSpPr>
          <p:cNvPr id="12" name="Shape 10"/>
          <p:cNvSpPr/>
          <p:nvPr/>
        </p:nvSpPr>
        <p:spPr>
          <a:xfrm>
            <a:off x="4478399" y="2987511"/>
            <a:ext cx="2555665" cy="0"/>
          </a:xfrm>
          <a:prstGeom prst="line">
            <a:avLst/>
          </a:prstGeom>
          <a:noFill/>
          <a:ln w="20320">
            <a:solidFill>
              <a:srgbClr val="15181C">
                <a:alpha val="55000"/>
              </a:srgbClr>
            </a:solidFill>
            <a:prstDash val="solid"/>
          </a:ln>
        </p:spPr>
      </p:sp>
      <p:sp>
        <p:nvSpPr>
          <p:cNvPr id="13" name="Text 11"/>
          <p:cNvSpPr txBox="1"/>
          <p:nvPr/>
        </p:nvSpPr>
        <p:spPr>
          <a:xfrm>
            <a:off x="4539248" y="3129492"/>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a closed background</a:t>
            </a:r>
            <a:endParaRPr lang="en-US" sz="1100" dirty="0"/>
          </a:p>
        </p:txBody>
      </p:sp>
      <p:sp>
        <p:nvSpPr>
          <p:cNvPr id="14" name="Text 12"/>
          <p:cNvSpPr txBox="1"/>
          <p:nvPr/>
        </p:nvSpPr>
        <p:spPr>
          <a:xfrm>
            <a:off x="4539248" y="3291757"/>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with no called peak</a:t>
            </a:r>
            <a:endParaRPr lang="en-US" sz="1100" dirty="0"/>
          </a:p>
        </p:txBody>
      </p:sp>
      <p:sp>
        <p:nvSpPr>
          <p:cNvPr id="15" name="Text 13"/>
          <p:cNvSpPr txBox="1"/>
          <p:nvPr/>
        </p:nvSpPr>
        <p:spPr>
          <a:xfrm>
            <a:off x="8007650"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3   WHAT IT BUILDS THERE</a:t>
            </a:r>
            <a:endParaRPr lang="en-US" sz="1300" dirty="0"/>
          </a:p>
        </p:txBody>
      </p:sp>
      <p:sp>
        <p:nvSpPr>
          <p:cNvPr id="16" name="Shape 14"/>
          <p:cNvSpPr/>
          <p:nvPr/>
        </p:nvSpPr>
        <p:spPr>
          <a:xfrm>
            <a:off x="8007650" y="2358736"/>
            <a:ext cx="2555665" cy="628775"/>
          </a:xfrm>
          <a:custGeom>
            <a:avLst/>
            <a:gdLst/>
            <a:ahLst/>
            <a:cxnLst/>
            <a:rect l="l" t="t" r="r" b="b"/>
            <a:pathLst>
              <a:path w="2555665" h="628775">
                <a:moveTo>
                  <a:pt x="0" y="628775"/>
                </a:moveTo>
                <a:lnTo>
                  <a:pt x="0" y="608456"/>
                </a:lnTo>
                <a:lnTo>
                  <a:pt x="26622" y="604413"/>
                </a:lnTo>
                <a:lnTo>
                  <a:pt x="53243" y="602405"/>
                </a:lnTo>
                <a:lnTo>
                  <a:pt x="79865" y="597591"/>
                </a:lnTo>
                <a:lnTo>
                  <a:pt x="106486" y="600076"/>
                </a:lnTo>
                <a:lnTo>
                  <a:pt x="133108" y="603001"/>
                </a:lnTo>
                <a:lnTo>
                  <a:pt x="159729" y="605855"/>
                </a:lnTo>
                <a:lnTo>
                  <a:pt x="186351" y="600818"/>
                </a:lnTo>
                <a:lnTo>
                  <a:pt x="212972" y="599094"/>
                </a:lnTo>
                <a:lnTo>
                  <a:pt x="239594" y="598822"/>
                </a:lnTo>
                <a:lnTo>
                  <a:pt x="266215" y="599333"/>
                </a:lnTo>
                <a:lnTo>
                  <a:pt x="292837" y="606012"/>
                </a:lnTo>
                <a:lnTo>
                  <a:pt x="319458" y="600620"/>
                </a:lnTo>
                <a:lnTo>
                  <a:pt x="346080" y="598238"/>
                </a:lnTo>
                <a:lnTo>
                  <a:pt x="372701" y="598496"/>
                </a:lnTo>
                <a:lnTo>
                  <a:pt x="399323" y="596042"/>
                </a:lnTo>
                <a:lnTo>
                  <a:pt x="425944" y="596547"/>
                </a:lnTo>
                <a:lnTo>
                  <a:pt x="452566" y="598319"/>
                </a:lnTo>
                <a:lnTo>
                  <a:pt x="479187" y="591873"/>
                </a:lnTo>
                <a:lnTo>
                  <a:pt x="505809" y="593562"/>
                </a:lnTo>
                <a:lnTo>
                  <a:pt x="532430" y="586510"/>
                </a:lnTo>
                <a:lnTo>
                  <a:pt x="559052" y="577561"/>
                </a:lnTo>
                <a:lnTo>
                  <a:pt x="585673" y="584367"/>
                </a:lnTo>
                <a:lnTo>
                  <a:pt x="612295" y="572314"/>
                </a:lnTo>
                <a:lnTo>
                  <a:pt x="638916" y="571094"/>
                </a:lnTo>
                <a:lnTo>
                  <a:pt x="665538" y="557104"/>
                </a:lnTo>
                <a:lnTo>
                  <a:pt x="692159" y="537980"/>
                </a:lnTo>
                <a:lnTo>
                  <a:pt x="718781" y="539996"/>
                </a:lnTo>
                <a:lnTo>
                  <a:pt x="745402" y="525402"/>
                </a:lnTo>
                <a:lnTo>
                  <a:pt x="772024" y="510710"/>
                </a:lnTo>
                <a:lnTo>
                  <a:pt x="798645" y="490461"/>
                </a:lnTo>
                <a:lnTo>
                  <a:pt x="825267" y="463050"/>
                </a:lnTo>
                <a:lnTo>
                  <a:pt x="851888" y="456415"/>
                </a:lnTo>
                <a:lnTo>
                  <a:pt x="878510" y="431950"/>
                </a:lnTo>
                <a:lnTo>
                  <a:pt x="905131" y="408766"/>
                </a:lnTo>
                <a:lnTo>
                  <a:pt x="931753" y="379796"/>
                </a:lnTo>
                <a:lnTo>
                  <a:pt x="958374" y="349597"/>
                </a:lnTo>
                <a:lnTo>
                  <a:pt x="984996" y="332996"/>
                </a:lnTo>
                <a:lnTo>
                  <a:pt x="1011617" y="298806"/>
                </a:lnTo>
                <a:lnTo>
                  <a:pt x="1038239" y="279421"/>
                </a:lnTo>
                <a:lnTo>
                  <a:pt x="1064860" y="248959"/>
                </a:lnTo>
                <a:lnTo>
                  <a:pt x="1091482" y="225575"/>
                </a:lnTo>
                <a:lnTo>
                  <a:pt x="1118103" y="207376"/>
                </a:lnTo>
                <a:lnTo>
                  <a:pt x="1144725" y="177101"/>
                </a:lnTo>
                <a:lnTo>
                  <a:pt x="1171346" y="170670"/>
                </a:lnTo>
                <a:lnTo>
                  <a:pt x="1197968" y="153852"/>
                </a:lnTo>
                <a:lnTo>
                  <a:pt x="1224589" y="146918"/>
                </a:lnTo>
                <a:lnTo>
                  <a:pt x="1251211" y="141670"/>
                </a:lnTo>
                <a:lnTo>
                  <a:pt x="1277832" y="127445"/>
                </a:lnTo>
                <a:lnTo>
                  <a:pt x="1304454" y="138586"/>
                </a:lnTo>
                <a:lnTo>
                  <a:pt x="1331075" y="147380"/>
                </a:lnTo>
                <a:lnTo>
                  <a:pt x="1357697" y="159000"/>
                </a:lnTo>
                <a:lnTo>
                  <a:pt x="1384318" y="173392"/>
                </a:lnTo>
                <a:lnTo>
                  <a:pt x="1410940" y="177996"/>
                </a:lnTo>
                <a:lnTo>
                  <a:pt x="1437561" y="201345"/>
                </a:lnTo>
                <a:lnTo>
                  <a:pt x="1464183" y="230330"/>
                </a:lnTo>
                <a:lnTo>
                  <a:pt x="1490805" y="256065"/>
                </a:lnTo>
                <a:lnTo>
                  <a:pt x="1517426" y="278032"/>
                </a:lnTo>
                <a:lnTo>
                  <a:pt x="1544048" y="298964"/>
                </a:lnTo>
                <a:lnTo>
                  <a:pt x="1570669" y="322865"/>
                </a:lnTo>
                <a:lnTo>
                  <a:pt x="1597291" y="354661"/>
                </a:lnTo>
                <a:lnTo>
                  <a:pt x="1623912" y="384206"/>
                </a:lnTo>
                <a:lnTo>
                  <a:pt x="1650534" y="405352"/>
                </a:lnTo>
                <a:lnTo>
                  <a:pt x="1677155" y="429298"/>
                </a:lnTo>
                <a:lnTo>
                  <a:pt x="1703777" y="445513"/>
                </a:lnTo>
                <a:lnTo>
                  <a:pt x="1730398" y="469750"/>
                </a:lnTo>
                <a:lnTo>
                  <a:pt x="1757020" y="490276"/>
                </a:lnTo>
                <a:lnTo>
                  <a:pt x="1783641" y="506920"/>
                </a:lnTo>
                <a:lnTo>
                  <a:pt x="1810263" y="524297"/>
                </a:lnTo>
                <a:lnTo>
                  <a:pt x="1836884" y="532893"/>
                </a:lnTo>
                <a:lnTo>
                  <a:pt x="1863506" y="546157"/>
                </a:lnTo>
                <a:lnTo>
                  <a:pt x="1890127" y="552293"/>
                </a:lnTo>
                <a:lnTo>
                  <a:pt x="1916749" y="567056"/>
                </a:lnTo>
                <a:lnTo>
                  <a:pt x="1943370" y="575665"/>
                </a:lnTo>
                <a:lnTo>
                  <a:pt x="1969992" y="581255"/>
                </a:lnTo>
                <a:lnTo>
                  <a:pt x="1996613" y="585259"/>
                </a:lnTo>
                <a:lnTo>
                  <a:pt x="2023235" y="578991"/>
                </a:lnTo>
                <a:lnTo>
                  <a:pt x="2049856" y="594709"/>
                </a:lnTo>
                <a:lnTo>
                  <a:pt x="2076478" y="597875"/>
                </a:lnTo>
                <a:lnTo>
                  <a:pt x="2103099" y="599910"/>
                </a:lnTo>
                <a:lnTo>
                  <a:pt x="2129721" y="601002"/>
                </a:lnTo>
                <a:lnTo>
                  <a:pt x="2156342" y="588522"/>
                </a:lnTo>
                <a:lnTo>
                  <a:pt x="2182964" y="604219"/>
                </a:lnTo>
                <a:lnTo>
                  <a:pt x="2209585" y="605219"/>
                </a:lnTo>
                <a:lnTo>
                  <a:pt x="2236207" y="601849"/>
                </a:lnTo>
                <a:lnTo>
                  <a:pt x="2262828" y="605279"/>
                </a:lnTo>
                <a:lnTo>
                  <a:pt x="2289450" y="593688"/>
                </a:lnTo>
                <a:lnTo>
                  <a:pt x="2316071" y="605513"/>
                </a:lnTo>
                <a:lnTo>
                  <a:pt x="2342693" y="602542"/>
                </a:lnTo>
                <a:lnTo>
                  <a:pt x="2369314" y="601901"/>
                </a:lnTo>
                <a:lnTo>
                  <a:pt x="2395936" y="604872"/>
                </a:lnTo>
                <a:lnTo>
                  <a:pt x="2422557" y="599278"/>
                </a:lnTo>
                <a:lnTo>
                  <a:pt x="2449179" y="604062"/>
                </a:lnTo>
                <a:lnTo>
                  <a:pt x="2475800" y="598286"/>
                </a:lnTo>
                <a:lnTo>
                  <a:pt x="2502422" y="601991"/>
                </a:lnTo>
                <a:lnTo>
                  <a:pt x="2529043" y="603561"/>
                </a:lnTo>
                <a:lnTo>
                  <a:pt x="2555665" y="605160"/>
                </a:lnTo>
                <a:lnTo>
                  <a:pt x="2555665" y="628775"/>
                </a:lnTo>
                <a:close/>
              </a:path>
            </a:pathLst>
          </a:custGeom>
          <a:solidFill>
            <a:srgbClr val="55637A">
              <a:alpha val="14000"/>
            </a:srgbClr>
          </a:solidFill>
          <a:ln w="16510">
            <a:solidFill>
              <a:srgbClr val="55637A"/>
            </a:solidFill>
            <a:prstDash val="solid"/>
          </a:ln>
        </p:spPr>
      </p:sp>
      <p:sp>
        <p:nvSpPr>
          <p:cNvPr id="17" name="Shape 15"/>
          <p:cNvSpPr/>
          <p:nvPr/>
        </p:nvSpPr>
        <p:spPr>
          <a:xfrm>
            <a:off x="8007650" y="2987511"/>
            <a:ext cx="2555665" cy="0"/>
          </a:xfrm>
          <a:prstGeom prst="line">
            <a:avLst/>
          </a:prstGeom>
          <a:noFill/>
          <a:ln w="20320">
            <a:solidFill>
              <a:srgbClr val="15181C">
                <a:alpha val="55000"/>
              </a:srgbClr>
            </a:solidFill>
            <a:prstDash val="solid"/>
          </a:ln>
        </p:spPr>
      </p:sp>
      <p:sp>
        <p:nvSpPr>
          <p:cNvPr id="18" name="Shape 16"/>
          <p:cNvSpPr/>
          <p:nvPr/>
        </p:nvSpPr>
        <p:spPr>
          <a:xfrm>
            <a:off x="9153643" y="2931733"/>
            <a:ext cx="263680" cy="111557"/>
          </a:xfrm>
          <a:prstGeom prst="roundRect">
            <a:avLst>
              <a:gd name="adj" fmla="val 16393"/>
            </a:avLst>
          </a:prstGeom>
          <a:solidFill>
            <a:srgbClr val="D9A32B">
              <a:alpha val="80000"/>
            </a:srgbClr>
          </a:solidFill>
          <a:ln w="13970">
            <a:solidFill>
              <a:srgbClr val="D9A32B"/>
            </a:solidFill>
            <a:prstDash val="solid"/>
          </a:ln>
        </p:spPr>
      </p:sp>
      <p:sp>
        <p:nvSpPr>
          <p:cNvPr id="19" name="Text 17"/>
          <p:cNvSpPr txBox="1"/>
          <p:nvPr/>
        </p:nvSpPr>
        <p:spPr>
          <a:xfrm>
            <a:off x="8007650" y="3109209"/>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the element</a:t>
            </a:r>
            <a:endParaRPr lang="en-US" sz="1200" dirty="0"/>
          </a:p>
        </p:txBody>
      </p:sp>
      <p:sp>
        <p:nvSpPr>
          <p:cNvPr id="20" name="Shape 18"/>
          <p:cNvSpPr/>
          <p:nvPr/>
        </p:nvSpPr>
        <p:spPr>
          <a:xfrm>
            <a:off x="8007650" y="3677135"/>
            <a:ext cx="2555665" cy="628775"/>
          </a:xfrm>
          <a:custGeom>
            <a:avLst/>
            <a:gdLst/>
            <a:ahLst/>
            <a:cxnLst/>
            <a:rect l="l" t="t" r="r" b="b"/>
            <a:pathLst>
              <a:path w="2555665" h="628775">
                <a:moveTo>
                  <a:pt x="0" y="628775"/>
                </a:moveTo>
                <a:lnTo>
                  <a:pt x="0" y="608472"/>
                </a:lnTo>
                <a:lnTo>
                  <a:pt x="26622" y="604438"/>
                </a:lnTo>
                <a:lnTo>
                  <a:pt x="53243" y="602443"/>
                </a:lnTo>
                <a:lnTo>
                  <a:pt x="79865" y="597646"/>
                </a:lnTo>
                <a:lnTo>
                  <a:pt x="106486" y="600158"/>
                </a:lnTo>
                <a:lnTo>
                  <a:pt x="133108" y="603121"/>
                </a:lnTo>
                <a:lnTo>
                  <a:pt x="159729" y="606030"/>
                </a:lnTo>
                <a:lnTo>
                  <a:pt x="186351" y="601069"/>
                </a:lnTo>
                <a:lnTo>
                  <a:pt x="212972" y="599453"/>
                </a:lnTo>
                <a:lnTo>
                  <a:pt x="239594" y="599330"/>
                </a:lnTo>
                <a:lnTo>
                  <a:pt x="266215" y="600044"/>
                </a:lnTo>
                <a:lnTo>
                  <a:pt x="292837" y="607001"/>
                </a:lnTo>
                <a:lnTo>
                  <a:pt x="319458" y="601984"/>
                </a:lnTo>
                <a:lnTo>
                  <a:pt x="346080" y="600101"/>
                </a:lnTo>
                <a:lnTo>
                  <a:pt x="372701" y="601019"/>
                </a:lnTo>
                <a:lnTo>
                  <a:pt x="399323" y="599429"/>
                </a:lnTo>
                <a:lnTo>
                  <a:pt x="425944" y="601054"/>
                </a:lnTo>
                <a:lnTo>
                  <a:pt x="452566" y="604263"/>
                </a:lnTo>
                <a:lnTo>
                  <a:pt x="479187" y="599645"/>
                </a:lnTo>
                <a:lnTo>
                  <a:pt x="505809" y="603634"/>
                </a:lnTo>
                <a:lnTo>
                  <a:pt x="532430" y="599449"/>
                </a:lnTo>
                <a:lnTo>
                  <a:pt x="559052" y="594037"/>
                </a:lnTo>
                <a:lnTo>
                  <a:pt x="585673" y="605164"/>
                </a:lnTo>
                <a:lnTo>
                  <a:pt x="612295" y="598336"/>
                </a:lnTo>
                <a:lnTo>
                  <a:pt x="638916" y="603368"/>
                </a:lnTo>
                <a:lnTo>
                  <a:pt x="665538" y="596783"/>
                </a:lnTo>
                <a:lnTo>
                  <a:pt x="692159" y="586335"/>
                </a:lnTo>
                <a:lnTo>
                  <a:pt x="718781" y="598409"/>
                </a:lnTo>
                <a:lnTo>
                  <a:pt x="745402" y="595347"/>
                </a:lnTo>
                <a:lnTo>
                  <a:pt x="772024" y="593731"/>
                </a:lnTo>
                <a:lnTo>
                  <a:pt x="798645" y="588140"/>
                </a:lnTo>
                <a:lnTo>
                  <a:pt x="825267" y="576970"/>
                </a:lnTo>
                <a:lnTo>
                  <a:pt x="851888" y="588114"/>
                </a:lnTo>
                <a:lnTo>
                  <a:pt x="878510" y="582869"/>
                </a:lnTo>
                <a:lnTo>
                  <a:pt x="905131" y="580199"/>
                </a:lnTo>
                <a:lnTo>
                  <a:pt x="931753" y="572825"/>
                </a:lnTo>
                <a:lnTo>
                  <a:pt x="958374" y="565042"/>
                </a:lnTo>
                <a:lnTo>
                  <a:pt x="984996" y="571356"/>
                </a:lnTo>
                <a:lnTo>
                  <a:pt x="1011617" y="560210"/>
                </a:lnTo>
                <a:lnTo>
                  <a:pt x="1038239" y="563588"/>
                </a:lnTo>
                <a:lnTo>
                  <a:pt x="1064860" y="555168"/>
                </a:lnTo>
                <a:lnTo>
                  <a:pt x="1091482" y="552649"/>
                </a:lnTo>
                <a:lnTo>
                  <a:pt x="1118103" y="553679"/>
                </a:lnTo>
                <a:lnTo>
                  <a:pt x="1144725" y="540556"/>
                </a:lnTo>
                <a:lnTo>
                  <a:pt x="1171346" y="548788"/>
                </a:lnTo>
                <a:lnTo>
                  <a:pt x="1197968" y="543782"/>
                </a:lnTo>
                <a:lnTo>
                  <a:pt x="1224589" y="545511"/>
                </a:lnTo>
                <a:lnTo>
                  <a:pt x="1251211" y="545553"/>
                </a:lnTo>
                <a:lnTo>
                  <a:pt x="1277832" y="533106"/>
                </a:lnTo>
                <a:lnTo>
                  <a:pt x="1304454" y="542468"/>
                </a:lnTo>
                <a:lnTo>
                  <a:pt x="1331075" y="545973"/>
                </a:lnTo>
                <a:lnTo>
                  <a:pt x="1357697" y="548930"/>
                </a:lnTo>
                <a:lnTo>
                  <a:pt x="1384318" y="551510"/>
                </a:lnTo>
                <a:lnTo>
                  <a:pt x="1410940" y="541451"/>
                </a:lnTo>
                <a:lnTo>
                  <a:pt x="1437561" y="547648"/>
                </a:lnTo>
                <a:lnTo>
                  <a:pt x="1464183" y="557404"/>
                </a:lnTo>
                <a:lnTo>
                  <a:pt x="1490805" y="562274"/>
                </a:lnTo>
                <a:lnTo>
                  <a:pt x="1517426" y="562199"/>
                </a:lnTo>
                <a:lnTo>
                  <a:pt x="1544048" y="560368"/>
                </a:lnTo>
                <a:lnTo>
                  <a:pt x="1570669" y="561225"/>
                </a:lnTo>
                <a:lnTo>
                  <a:pt x="1597291" y="570106"/>
                </a:lnTo>
                <a:lnTo>
                  <a:pt x="1623912" y="577235"/>
                </a:lnTo>
                <a:lnTo>
                  <a:pt x="1650534" y="576785"/>
                </a:lnTo>
                <a:lnTo>
                  <a:pt x="1677155" y="580218"/>
                </a:lnTo>
                <a:lnTo>
                  <a:pt x="1703777" y="577212"/>
                </a:lnTo>
                <a:lnTo>
                  <a:pt x="1730398" y="583671"/>
                </a:lnTo>
                <a:lnTo>
                  <a:pt x="1757020" y="587955"/>
                </a:lnTo>
                <a:lnTo>
                  <a:pt x="1783641" y="589941"/>
                </a:lnTo>
                <a:lnTo>
                  <a:pt x="1810263" y="594241"/>
                </a:lnTo>
                <a:lnTo>
                  <a:pt x="1836884" y="591306"/>
                </a:lnTo>
                <a:lnTo>
                  <a:pt x="1863506" y="594511"/>
                </a:lnTo>
                <a:lnTo>
                  <a:pt x="1890127" y="591971"/>
                </a:lnTo>
                <a:lnTo>
                  <a:pt x="1916749" y="599330"/>
                </a:lnTo>
                <a:lnTo>
                  <a:pt x="1943370" y="601687"/>
                </a:lnTo>
                <a:lnTo>
                  <a:pt x="1969992" y="602052"/>
                </a:lnTo>
                <a:lnTo>
                  <a:pt x="1996613" y="601735"/>
                </a:lnTo>
                <a:lnTo>
                  <a:pt x="2023235" y="591929"/>
                </a:lnTo>
                <a:lnTo>
                  <a:pt x="2049856" y="604781"/>
                </a:lnTo>
                <a:lnTo>
                  <a:pt x="2076478" y="605646"/>
                </a:lnTo>
                <a:lnTo>
                  <a:pt x="2103099" y="605854"/>
                </a:lnTo>
                <a:lnTo>
                  <a:pt x="2129721" y="605508"/>
                </a:lnTo>
                <a:lnTo>
                  <a:pt x="2156342" y="591909"/>
                </a:lnTo>
                <a:lnTo>
                  <a:pt x="2182964" y="606742"/>
                </a:lnTo>
                <a:lnTo>
                  <a:pt x="2209585" y="607082"/>
                </a:lnTo>
                <a:lnTo>
                  <a:pt x="2236207" y="603213"/>
                </a:lnTo>
                <a:lnTo>
                  <a:pt x="2262828" y="606268"/>
                </a:lnTo>
                <a:lnTo>
                  <a:pt x="2289450" y="594400"/>
                </a:lnTo>
                <a:lnTo>
                  <a:pt x="2316071" y="606020"/>
                </a:lnTo>
                <a:lnTo>
                  <a:pt x="2342693" y="602900"/>
                </a:lnTo>
                <a:lnTo>
                  <a:pt x="2369314" y="602152"/>
                </a:lnTo>
                <a:lnTo>
                  <a:pt x="2395936" y="605047"/>
                </a:lnTo>
                <a:lnTo>
                  <a:pt x="2422557" y="599398"/>
                </a:lnTo>
                <a:lnTo>
                  <a:pt x="2449179" y="604144"/>
                </a:lnTo>
                <a:lnTo>
                  <a:pt x="2475800" y="598341"/>
                </a:lnTo>
                <a:lnTo>
                  <a:pt x="2502422" y="602028"/>
                </a:lnTo>
                <a:lnTo>
                  <a:pt x="2529043" y="603585"/>
                </a:lnTo>
                <a:lnTo>
                  <a:pt x="2555665" y="605176"/>
                </a:lnTo>
                <a:lnTo>
                  <a:pt x="2555665" y="628775"/>
                </a:lnTo>
                <a:close/>
              </a:path>
            </a:pathLst>
          </a:custGeom>
          <a:solidFill>
            <a:srgbClr val="E2622F">
              <a:alpha val="12000"/>
            </a:srgbClr>
          </a:solidFill>
          <a:ln w="16510">
            <a:solidFill>
              <a:srgbClr val="E2622F"/>
            </a:solidFill>
            <a:prstDash val="solid"/>
          </a:ln>
        </p:spPr>
      </p:sp>
      <p:sp>
        <p:nvSpPr>
          <p:cNvPr id="21" name="Shape 19"/>
          <p:cNvSpPr/>
          <p:nvPr/>
        </p:nvSpPr>
        <p:spPr>
          <a:xfrm>
            <a:off x="8007650" y="4305910"/>
            <a:ext cx="2555665" cy="0"/>
          </a:xfrm>
          <a:prstGeom prst="line">
            <a:avLst/>
          </a:prstGeom>
          <a:noFill/>
          <a:ln w="20320">
            <a:solidFill>
              <a:srgbClr val="15181C">
                <a:alpha val="55000"/>
              </a:srgbClr>
            </a:solidFill>
            <a:prstDash val="solid"/>
          </a:ln>
        </p:spPr>
      </p:sp>
      <p:sp>
        <p:nvSpPr>
          <p:cNvPr id="22" name="Shape 20"/>
          <p:cNvSpPr/>
          <p:nvPr/>
        </p:nvSpPr>
        <p:spPr>
          <a:xfrm>
            <a:off x="9133360" y="4239990"/>
            <a:ext cx="304246" cy="131840"/>
          </a:xfrm>
          <a:prstGeom prst="roundRect">
            <a:avLst>
              <a:gd name="adj" fmla="val 13871"/>
            </a:avLst>
          </a:prstGeom>
          <a:solidFill>
            <a:srgbClr val="E2622F">
              <a:alpha val="14000"/>
            </a:srgbClr>
          </a:solidFill>
          <a:ln w="9525">
            <a:solidFill>
              <a:srgbClr val="E2622F"/>
            </a:solidFill>
            <a:prstDash val="solid"/>
          </a:ln>
        </p:spPr>
      </p:sp>
      <p:sp>
        <p:nvSpPr>
          <p:cNvPr id="23" name="Shape 21"/>
          <p:cNvSpPr/>
          <p:nvPr/>
        </p:nvSpPr>
        <p:spPr>
          <a:xfrm>
            <a:off x="9133360" y="4255202"/>
            <a:ext cx="304246" cy="101415"/>
          </a:xfrm>
          <a:custGeom>
            <a:avLst/>
            <a:gdLst/>
            <a:ahLst/>
            <a:cxnLst/>
            <a:rect l="l" t="t" r="r" b="b"/>
            <a:pathLst>
              <a:path w="304246" h="101415">
                <a:moveTo>
                  <a:pt x="0" y="10142"/>
                </a:moveTo>
                <a:lnTo>
                  <a:pt x="50708" y="91274"/>
                </a:lnTo>
                <a:lnTo>
                  <a:pt x="101415" y="10142"/>
                </a:lnTo>
                <a:lnTo>
                  <a:pt x="152123" y="91274"/>
                </a:lnTo>
                <a:lnTo>
                  <a:pt x="202831" y="10142"/>
                </a:lnTo>
                <a:lnTo>
                  <a:pt x="253538" y="91274"/>
                </a:lnTo>
                <a:lnTo>
                  <a:pt x="304246" y="10142"/>
                </a:lnTo>
              </a:path>
            </a:pathLst>
          </a:custGeom>
          <a:ln w="17780">
            <a:solidFill>
              <a:srgbClr val="E2622F"/>
            </a:solidFill>
            <a:prstDash val="solid"/>
          </a:ln>
        </p:spPr>
      </p:sp>
      <p:sp>
        <p:nvSpPr>
          <p:cNvPr id="24" name="Text 22"/>
          <p:cNvSpPr txBox="1"/>
          <p:nvPr/>
        </p:nvSpPr>
        <p:spPr>
          <a:xfrm>
            <a:off x="8007650" y="4427608"/>
            <a:ext cx="2636797" cy="202831"/>
          </a:xfrm>
          <a:prstGeom prst="rect">
            <a:avLst/>
          </a:prstGeom>
          <a:noFill/>
          <a:ln/>
        </p:spPr>
        <p:txBody>
          <a:bodyPr wrap="square" lIns="0" tIns="0" rIns="0" bIns="0" rtlCol="0" anchor="ctr"/>
          <a:lstStyle/>
          <a:p>
            <a:pPr algn="l" indent="0" marL="0">
              <a:lnSpc>
                <a:spcPct val="95000"/>
              </a:lnSpc>
              <a:buNone/>
            </a:pPr>
            <a:r>
              <a:rPr lang="en-US" sz="1200" dirty="0">
                <a:solidFill>
                  <a:srgbClr val="A2380F"/>
                </a:solidFill>
                <a:latin typeface="Arial" pitchFamily="34" charset="0"/>
                <a:ea typeface="Arial" pitchFamily="34" charset="-122"/>
                <a:cs typeface="Arial" pitchFamily="34" charset="-120"/>
              </a:rPr>
              <a:t>the same letters, shuffled</a:t>
            </a:r>
            <a:endParaRPr lang="en-US" sz="1200" dirty="0"/>
          </a:p>
        </p:txBody>
      </p:sp>
      <p:sp>
        <p:nvSpPr>
          <p:cNvPr id="25" name="Text 23"/>
          <p:cNvSpPr txBox="1"/>
          <p:nvPr/>
        </p:nvSpPr>
        <p:spPr>
          <a:xfrm>
            <a:off x="8007650" y="4650722"/>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host is in both, so it cancels</a:t>
            </a:r>
            <a:endParaRPr lang="en-US" sz="1100" dirty="0"/>
          </a:p>
        </p:txBody>
      </p:sp>
      <p:sp>
        <p:nvSpPr>
          <p:cNvPr id="26" name="Shape 24"/>
          <p:cNvSpPr/>
          <p:nvPr/>
        </p:nvSpPr>
        <p:spPr>
          <a:xfrm>
            <a:off x="10806712" y="2521001"/>
            <a:ext cx="0" cy="1703777"/>
          </a:xfrm>
          <a:prstGeom prst="line">
            <a:avLst/>
          </a:prstGeom>
          <a:noFill/>
          <a:ln w="15240">
            <a:solidFill>
              <a:srgbClr val="15181C"/>
            </a:solidFill>
            <a:prstDash val="solid"/>
          </a:ln>
        </p:spPr>
      </p:sp>
      <p:sp>
        <p:nvSpPr>
          <p:cNvPr id="27" name="Shape 25"/>
          <p:cNvSpPr/>
          <p:nvPr/>
        </p:nvSpPr>
        <p:spPr>
          <a:xfrm>
            <a:off x="10806712" y="2521001"/>
            <a:ext cx="70991" cy="0"/>
          </a:xfrm>
          <a:prstGeom prst="line">
            <a:avLst/>
          </a:prstGeom>
          <a:noFill/>
          <a:ln w="15240">
            <a:solidFill>
              <a:srgbClr val="15181C"/>
            </a:solidFill>
            <a:prstDash val="solid"/>
          </a:ln>
        </p:spPr>
      </p:sp>
      <p:sp>
        <p:nvSpPr>
          <p:cNvPr id="28" name="Shape 26"/>
          <p:cNvSpPr/>
          <p:nvPr/>
        </p:nvSpPr>
        <p:spPr>
          <a:xfrm>
            <a:off x="10806712" y="4224777"/>
            <a:ext cx="70991" cy="0"/>
          </a:xfrm>
          <a:prstGeom prst="line">
            <a:avLst/>
          </a:prstGeom>
          <a:noFill/>
          <a:ln w="15240">
            <a:solidFill>
              <a:srgbClr val="15181C"/>
            </a:solidFill>
            <a:prstDash val="solid"/>
          </a:ln>
        </p:spPr>
      </p:sp>
      <p:sp>
        <p:nvSpPr>
          <p:cNvPr id="29" name="Text 27"/>
          <p:cNvSpPr txBox="1"/>
          <p:nvPr/>
        </p:nvSpPr>
        <p:spPr>
          <a:xfrm>
            <a:off x="10938552" y="3271474"/>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effect</a:t>
            </a:r>
            <a:endParaRPr lang="en-US" sz="1200" dirty="0"/>
          </a:p>
        </p:txBody>
      </p:sp>
      <p:sp>
        <p:nvSpPr>
          <p:cNvPr id="30" name="Shape 28"/>
          <p:cNvSpPr/>
          <p:nvPr/>
        </p:nvSpPr>
        <p:spPr>
          <a:xfrm>
            <a:off x="3687360" y="2825247"/>
            <a:ext cx="608492" cy="0"/>
          </a:xfrm>
          <a:prstGeom prst="line">
            <a:avLst/>
          </a:prstGeom>
          <a:noFill/>
          <a:ln w="15240">
            <a:solidFill>
              <a:srgbClr val="5A6471">
                <a:alpha val="65000"/>
              </a:srgbClr>
            </a:solidFill>
            <a:prstDash val="solid"/>
            <a:tailEnd type="triangle"/>
          </a:ln>
        </p:spPr>
      </p:sp>
      <p:sp>
        <p:nvSpPr>
          <p:cNvPr id="31" name="Shape 29"/>
          <p:cNvSpPr/>
          <p:nvPr/>
        </p:nvSpPr>
        <p:spPr>
          <a:xfrm>
            <a:off x="7216611" y="2825247"/>
            <a:ext cx="608492" cy="0"/>
          </a:xfrm>
          <a:prstGeom prst="line">
            <a:avLst/>
          </a:prstGeom>
          <a:noFill/>
          <a:ln w="15240">
            <a:solidFill>
              <a:srgbClr val="5A6471">
                <a:alpha val="65000"/>
              </a:srgbClr>
            </a:solidFill>
            <a:prstDash val="solid"/>
            <a:tailEnd type="triangle"/>
          </a:ln>
        </p:spPr>
      </p:sp>
      <p:sp>
        <p:nvSpPr>
          <p:cNvPr id="32" name="Shape 30"/>
          <p:cNvSpPr/>
          <p:nvPr/>
        </p:nvSpPr>
        <p:spPr>
          <a:xfrm>
            <a:off x="644901" y="4914401"/>
            <a:ext cx="10871717" cy="0"/>
          </a:xfrm>
          <a:prstGeom prst="line">
            <a:avLst/>
          </a:prstGeom>
          <a:noFill/>
          <a:ln w="12700">
            <a:solidFill>
              <a:srgbClr val="AFB5BD"/>
            </a:solidFill>
            <a:prstDash val="dash"/>
          </a:ln>
        </p:spPr>
      </p:sp>
      <p:sp>
        <p:nvSpPr>
          <p:cNvPr id="33" name="Text 31"/>
          <p:cNvSpPr txBox="1"/>
          <p:nvPr/>
        </p:nvSpPr>
        <p:spPr>
          <a:xfrm>
            <a:off x="644901" y="5036100"/>
            <a:ext cx="8113222"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20 backgrounds per element   ·   50 elements per class   ·   whole-peak width</a:t>
            </a:r>
            <a:endParaRPr lang="en-US" sz="1100" dirty="0"/>
          </a:p>
        </p:txBody>
      </p:sp>
      <p:sp>
        <p:nvSpPr>
          <p:cNvPr id="34" name="Shape 32"/>
          <p:cNvSpPr/>
          <p:nvPr/>
        </p:nvSpPr>
        <p:spPr>
          <a:xfrm>
            <a:off x="502920" y="5989320"/>
            <a:ext cx="50292" cy="566928"/>
          </a:xfrm>
          <a:prstGeom prst="rect">
            <a:avLst/>
          </a:prstGeom>
          <a:solidFill>
            <a:srgbClr val="3F3F3F"/>
          </a:solidFill>
          <a:ln w="12700">
            <a:solidFill>
              <a:srgbClr val="333333"/>
            </a:solidFill>
            <a:prstDash val="solid"/>
          </a:ln>
        </p:spPr>
      </p:sp>
      <p:sp>
        <p:nvSpPr>
          <p:cNvPr id="35" name="Text 33"/>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The control is the same letters shuffled, dropped into the same background — so whatever the host contributes, it contributes to both and cancels in the ratio.</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A Stable element opens closed chromatin on its own</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element moved into 20 closed backgrounds and scored against the same sequence shuffled; one point per donor, whole-peak width. Box, median and IQR, whiskers 1.5 × IQR; 50 donors per class — Up = AP-1 gained, Down = AP-1 lost; Mann–Whitney, Stable against the four Dynamic classes pooled.</a:t>
            </a:r>
            <a:endParaRPr lang="en-US" sz="1250" dirty="0"/>
          </a:p>
        </p:txBody>
      </p:sp>
      <p:pic>
        <p:nvPicPr>
          <p:cNvPr id="4" name="Image 0" descr="/Users/z5162865/WongLab/AlphaGenome_Ap1/Analysis/slide_figures/r_fb_transplant.png">    </p:cNvPr>
          <p:cNvPicPr>
            <a:picLocks noChangeAspect="1"/>
          </p:cNvPicPr>
          <p:nvPr/>
        </p:nvPicPr>
        <p:blipFill>
          <a:blip r:embed="rId1"/>
          <a:stretch>
            <a:fillRect/>
          </a:stretch>
        </p:blipFill>
        <p:spPr>
          <a:xfrm>
            <a:off x="1171501" y="1335024"/>
            <a:ext cx="981851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Stable AP-1 elements carry enough sequence to build their own accessible site. Dynamic ones do not — they need the neighbourhood they came from. That is "context, not sequence autonomy", shown by moving the sequence.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Stable donors also come from more accessible loci. Holding that constant (measured ATAC, 224 donors) a Stable element still gains 1.8× more than a Dynamic one, P = 0.005 — the direction holds, but about a third of the gap above is accessibility rather than sequence.</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Swap: is the level set by the element, or by the place?</a:t>
            </a:r>
            <a:endParaRPr lang="en-US" sz="2800" dirty="0"/>
          </a:p>
        </p:txBody>
      </p:sp>
      <p:sp>
        <p:nvSpPr>
          <p:cNvPr id="3" name="Text 1"/>
          <p:cNvSpPr txBox="1"/>
          <p:nvPr/>
        </p:nvSpPr>
        <p:spPr>
          <a:xfrm>
            <a:off x="949147" y="2034207"/>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DONOR</a:t>
            </a:r>
            <a:endParaRPr lang="en-US" sz="1300" dirty="0"/>
          </a:p>
        </p:txBody>
      </p:sp>
      <p:sp>
        <p:nvSpPr>
          <p:cNvPr id="4" name="Text 2"/>
          <p:cNvSpPr txBox="1"/>
          <p:nvPr/>
        </p:nvSpPr>
        <p:spPr>
          <a:xfrm>
            <a:off x="949147" y="2216755"/>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strong element</a:t>
            </a:r>
            <a:endParaRPr lang="en-US" sz="1100" dirty="0"/>
          </a:p>
        </p:txBody>
      </p:sp>
      <p:sp>
        <p:nvSpPr>
          <p:cNvPr id="5" name="Shape 3"/>
          <p:cNvSpPr/>
          <p:nvPr/>
        </p:nvSpPr>
        <p:spPr>
          <a:xfrm>
            <a:off x="949147" y="2237038"/>
            <a:ext cx="2352834" cy="628775"/>
          </a:xfrm>
          <a:custGeom>
            <a:avLst/>
            <a:gdLst/>
            <a:ahLst/>
            <a:cxnLst/>
            <a:rect l="l" t="t" r="r" b="b"/>
            <a:pathLst>
              <a:path w="2352834" h="628775">
                <a:moveTo>
                  <a:pt x="0" y="628775"/>
                </a:moveTo>
                <a:lnTo>
                  <a:pt x="0" y="606942"/>
                </a:lnTo>
                <a:lnTo>
                  <a:pt x="24509" y="606304"/>
                </a:lnTo>
                <a:lnTo>
                  <a:pt x="49017" y="595018"/>
                </a:lnTo>
                <a:lnTo>
                  <a:pt x="73526" y="599882"/>
                </a:lnTo>
                <a:lnTo>
                  <a:pt x="98035" y="607936"/>
                </a:lnTo>
                <a:lnTo>
                  <a:pt x="122543" y="604498"/>
                </a:lnTo>
                <a:lnTo>
                  <a:pt x="147052" y="606291"/>
                </a:lnTo>
                <a:lnTo>
                  <a:pt x="171561" y="598088"/>
                </a:lnTo>
                <a:lnTo>
                  <a:pt x="196070" y="596310"/>
                </a:lnTo>
                <a:lnTo>
                  <a:pt x="220578" y="602861"/>
                </a:lnTo>
                <a:lnTo>
                  <a:pt x="245087" y="601451"/>
                </a:lnTo>
                <a:lnTo>
                  <a:pt x="269596" y="600148"/>
                </a:lnTo>
                <a:lnTo>
                  <a:pt x="294104" y="599539"/>
                </a:lnTo>
                <a:lnTo>
                  <a:pt x="318613" y="591436"/>
                </a:lnTo>
                <a:lnTo>
                  <a:pt x="343122" y="595045"/>
                </a:lnTo>
                <a:lnTo>
                  <a:pt x="367630" y="593176"/>
                </a:lnTo>
                <a:lnTo>
                  <a:pt x="392139" y="589927"/>
                </a:lnTo>
                <a:lnTo>
                  <a:pt x="416648" y="592835"/>
                </a:lnTo>
                <a:lnTo>
                  <a:pt x="441156" y="581066"/>
                </a:lnTo>
                <a:lnTo>
                  <a:pt x="465665" y="579582"/>
                </a:lnTo>
                <a:lnTo>
                  <a:pt x="490174" y="571565"/>
                </a:lnTo>
                <a:lnTo>
                  <a:pt x="514683" y="567835"/>
                </a:lnTo>
                <a:lnTo>
                  <a:pt x="539191" y="567579"/>
                </a:lnTo>
                <a:lnTo>
                  <a:pt x="563700" y="554303"/>
                </a:lnTo>
                <a:lnTo>
                  <a:pt x="588209" y="544410"/>
                </a:lnTo>
                <a:lnTo>
                  <a:pt x="612717" y="524779"/>
                </a:lnTo>
                <a:lnTo>
                  <a:pt x="637226" y="519767"/>
                </a:lnTo>
                <a:lnTo>
                  <a:pt x="661735" y="509853"/>
                </a:lnTo>
                <a:lnTo>
                  <a:pt x="686243" y="492835"/>
                </a:lnTo>
                <a:lnTo>
                  <a:pt x="710752" y="474258"/>
                </a:lnTo>
                <a:lnTo>
                  <a:pt x="735261" y="441743"/>
                </a:lnTo>
                <a:lnTo>
                  <a:pt x="759769" y="432503"/>
                </a:lnTo>
                <a:lnTo>
                  <a:pt x="784278" y="411558"/>
                </a:lnTo>
                <a:lnTo>
                  <a:pt x="808787" y="382679"/>
                </a:lnTo>
                <a:lnTo>
                  <a:pt x="833295" y="363521"/>
                </a:lnTo>
                <a:lnTo>
                  <a:pt x="857804" y="324213"/>
                </a:lnTo>
                <a:lnTo>
                  <a:pt x="882313" y="309309"/>
                </a:lnTo>
                <a:lnTo>
                  <a:pt x="906822" y="281390"/>
                </a:lnTo>
                <a:lnTo>
                  <a:pt x="931330" y="249921"/>
                </a:lnTo>
                <a:lnTo>
                  <a:pt x="955839" y="232250"/>
                </a:lnTo>
                <a:lnTo>
                  <a:pt x="980348" y="199172"/>
                </a:lnTo>
                <a:lnTo>
                  <a:pt x="1004856" y="182463"/>
                </a:lnTo>
                <a:lnTo>
                  <a:pt x="1029365" y="157423"/>
                </a:lnTo>
                <a:lnTo>
                  <a:pt x="1053874" y="136926"/>
                </a:lnTo>
                <a:lnTo>
                  <a:pt x="1078382" y="127538"/>
                </a:lnTo>
                <a:lnTo>
                  <a:pt x="1102891" y="114570"/>
                </a:lnTo>
                <a:lnTo>
                  <a:pt x="1127400" y="104188"/>
                </a:lnTo>
                <a:lnTo>
                  <a:pt x="1151908" y="92493"/>
                </a:lnTo>
                <a:lnTo>
                  <a:pt x="1176417" y="92413"/>
                </a:lnTo>
                <a:lnTo>
                  <a:pt x="1200926" y="98446"/>
                </a:lnTo>
                <a:lnTo>
                  <a:pt x="1225435" y="106509"/>
                </a:lnTo>
                <a:lnTo>
                  <a:pt x="1249943" y="113734"/>
                </a:lnTo>
                <a:lnTo>
                  <a:pt x="1274452" y="118999"/>
                </a:lnTo>
                <a:lnTo>
                  <a:pt x="1298961" y="137564"/>
                </a:lnTo>
                <a:lnTo>
                  <a:pt x="1323469" y="160423"/>
                </a:lnTo>
                <a:lnTo>
                  <a:pt x="1347978" y="179687"/>
                </a:lnTo>
                <a:lnTo>
                  <a:pt x="1372487" y="207379"/>
                </a:lnTo>
                <a:lnTo>
                  <a:pt x="1396995" y="223792"/>
                </a:lnTo>
                <a:lnTo>
                  <a:pt x="1421504" y="249257"/>
                </a:lnTo>
                <a:lnTo>
                  <a:pt x="1446013" y="283131"/>
                </a:lnTo>
                <a:lnTo>
                  <a:pt x="1470521" y="304102"/>
                </a:lnTo>
                <a:lnTo>
                  <a:pt x="1495030" y="335139"/>
                </a:lnTo>
                <a:lnTo>
                  <a:pt x="1519539" y="358700"/>
                </a:lnTo>
                <a:lnTo>
                  <a:pt x="1544048" y="378355"/>
                </a:lnTo>
                <a:lnTo>
                  <a:pt x="1568556" y="412011"/>
                </a:lnTo>
                <a:lnTo>
                  <a:pt x="1593065" y="427737"/>
                </a:lnTo>
                <a:lnTo>
                  <a:pt x="1617574" y="448856"/>
                </a:lnTo>
                <a:lnTo>
                  <a:pt x="1642082" y="475367"/>
                </a:lnTo>
                <a:lnTo>
                  <a:pt x="1666591" y="484055"/>
                </a:lnTo>
                <a:lnTo>
                  <a:pt x="1691100" y="506882"/>
                </a:lnTo>
                <a:lnTo>
                  <a:pt x="1715608" y="516651"/>
                </a:lnTo>
                <a:lnTo>
                  <a:pt x="1740117" y="526999"/>
                </a:lnTo>
                <a:lnTo>
                  <a:pt x="1764626" y="547270"/>
                </a:lnTo>
                <a:lnTo>
                  <a:pt x="1789134" y="552358"/>
                </a:lnTo>
                <a:lnTo>
                  <a:pt x="1813643" y="563754"/>
                </a:lnTo>
                <a:lnTo>
                  <a:pt x="1838152" y="565360"/>
                </a:lnTo>
                <a:lnTo>
                  <a:pt x="1862661" y="570344"/>
                </a:lnTo>
                <a:lnTo>
                  <a:pt x="1887169" y="583915"/>
                </a:lnTo>
                <a:lnTo>
                  <a:pt x="1911678" y="589995"/>
                </a:lnTo>
                <a:lnTo>
                  <a:pt x="1936187" y="591995"/>
                </a:lnTo>
                <a:lnTo>
                  <a:pt x="1960695" y="585976"/>
                </a:lnTo>
                <a:lnTo>
                  <a:pt x="1985204" y="591115"/>
                </a:lnTo>
                <a:lnTo>
                  <a:pt x="2009713" y="599970"/>
                </a:lnTo>
                <a:lnTo>
                  <a:pt x="2034221" y="597249"/>
                </a:lnTo>
                <a:lnTo>
                  <a:pt x="2058730" y="603906"/>
                </a:lnTo>
                <a:lnTo>
                  <a:pt x="2083239" y="593448"/>
                </a:lnTo>
                <a:lnTo>
                  <a:pt x="2107747" y="600279"/>
                </a:lnTo>
                <a:lnTo>
                  <a:pt x="2132256" y="605506"/>
                </a:lnTo>
                <a:lnTo>
                  <a:pt x="2156765" y="596051"/>
                </a:lnTo>
                <a:lnTo>
                  <a:pt x="2181273" y="607422"/>
                </a:lnTo>
                <a:lnTo>
                  <a:pt x="2205782" y="597805"/>
                </a:lnTo>
                <a:lnTo>
                  <a:pt x="2230291" y="603834"/>
                </a:lnTo>
                <a:lnTo>
                  <a:pt x="2254800" y="605782"/>
                </a:lnTo>
                <a:lnTo>
                  <a:pt x="2279308" y="594889"/>
                </a:lnTo>
                <a:lnTo>
                  <a:pt x="2303817" y="606481"/>
                </a:lnTo>
                <a:lnTo>
                  <a:pt x="2328326" y="603143"/>
                </a:lnTo>
                <a:lnTo>
                  <a:pt x="2352834" y="604704"/>
                </a:lnTo>
                <a:lnTo>
                  <a:pt x="2352834" y="628775"/>
                </a:lnTo>
                <a:close/>
              </a:path>
            </a:pathLst>
          </a:custGeom>
          <a:solidFill>
            <a:srgbClr val="55637A">
              <a:alpha val="14000"/>
            </a:srgbClr>
          </a:solidFill>
          <a:ln w="16510">
            <a:solidFill>
              <a:srgbClr val="55637A"/>
            </a:solidFill>
            <a:prstDash val="solid"/>
          </a:ln>
        </p:spPr>
      </p:sp>
      <p:sp>
        <p:nvSpPr>
          <p:cNvPr id="6" name="Shape 4"/>
          <p:cNvSpPr/>
          <p:nvPr/>
        </p:nvSpPr>
        <p:spPr>
          <a:xfrm>
            <a:off x="949147" y="2865813"/>
            <a:ext cx="2352834" cy="0"/>
          </a:xfrm>
          <a:prstGeom prst="line">
            <a:avLst/>
          </a:prstGeom>
          <a:noFill/>
          <a:ln w="20320">
            <a:solidFill>
              <a:srgbClr val="15181C">
                <a:alpha val="55000"/>
              </a:srgbClr>
            </a:solidFill>
            <a:prstDash val="solid"/>
          </a:ln>
        </p:spPr>
      </p:sp>
      <p:sp>
        <p:nvSpPr>
          <p:cNvPr id="7" name="Shape 5"/>
          <p:cNvSpPr/>
          <p:nvPr/>
        </p:nvSpPr>
        <p:spPr>
          <a:xfrm>
            <a:off x="1993725" y="2810034"/>
            <a:ext cx="263680" cy="111557"/>
          </a:xfrm>
          <a:prstGeom prst="roundRect">
            <a:avLst>
              <a:gd name="adj" fmla="val 16393"/>
            </a:avLst>
          </a:prstGeom>
          <a:solidFill>
            <a:srgbClr val="D9A32B">
              <a:alpha val="80000"/>
            </a:srgbClr>
          </a:solidFill>
          <a:ln w="13970">
            <a:solidFill>
              <a:srgbClr val="D9A32B"/>
            </a:solidFill>
            <a:prstDash val="solid"/>
          </a:ln>
        </p:spPr>
      </p:sp>
      <p:sp>
        <p:nvSpPr>
          <p:cNvPr id="8" name="Text 6"/>
          <p:cNvSpPr txBox="1"/>
          <p:nvPr/>
        </p:nvSpPr>
        <p:spPr>
          <a:xfrm>
            <a:off x="949147" y="3656852"/>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RECIPIENT</a:t>
            </a:r>
            <a:endParaRPr lang="en-US" sz="1300" dirty="0"/>
          </a:p>
        </p:txBody>
      </p:sp>
      <p:sp>
        <p:nvSpPr>
          <p:cNvPr id="9" name="Text 7"/>
          <p:cNvSpPr txBox="1"/>
          <p:nvPr/>
        </p:nvSpPr>
        <p:spPr>
          <a:xfrm>
            <a:off x="949147" y="3839399"/>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weak location</a:t>
            </a:r>
            <a:endParaRPr lang="en-US" sz="1100" dirty="0"/>
          </a:p>
        </p:txBody>
      </p:sp>
      <p:sp>
        <p:nvSpPr>
          <p:cNvPr id="10" name="Shape 8"/>
          <p:cNvSpPr/>
          <p:nvPr/>
        </p:nvSpPr>
        <p:spPr>
          <a:xfrm>
            <a:off x="949147" y="3575720"/>
            <a:ext cx="2352834" cy="628775"/>
          </a:xfrm>
          <a:custGeom>
            <a:avLst/>
            <a:gdLst/>
            <a:ahLst/>
            <a:cxnLst/>
            <a:rect l="l" t="t" r="r" b="b"/>
            <a:pathLst>
              <a:path w="2352834" h="628775">
                <a:moveTo>
                  <a:pt x="0" y="628775"/>
                </a:moveTo>
                <a:lnTo>
                  <a:pt x="0" y="600547"/>
                </a:lnTo>
                <a:lnTo>
                  <a:pt x="24509" y="606438"/>
                </a:lnTo>
                <a:lnTo>
                  <a:pt x="49017" y="598080"/>
                </a:lnTo>
                <a:lnTo>
                  <a:pt x="73526" y="608405"/>
                </a:lnTo>
                <a:lnTo>
                  <a:pt x="98035" y="598719"/>
                </a:lnTo>
                <a:lnTo>
                  <a:pt x="122543" y="601945"/>
                </a:lnTo>
                <a:lnTo>
                  <a:pt x="147052" y="607465"/>
                </a:lnTo>
                <a:lnTo>
                  <a:pt x="171561" y="595740"/>
                </a:lnTo>
                <a:lnTo>
                  <a:pt x="196070" y="605134"/>
                </a:lnTo>
                <a:lnTo>
                  <a:pt x="220578" y="602589"/>
                </a:lnTo>
                <a:lnTo>
                  <a:pt x="245087" y="601904"/>
                </a:lnTo>
                <a:lnTo>
                  <a:pt x="269596" y="605529"/>
                </a:lnTo>
                <a:lnTo>
                  <a:pt x="294104" y="595391"/>
                </a:lnTo>
                <a:lnTo>
                  <a:pt x="318613" y="599921"/>
                </a:lnTo>
                <a:lnTo>
                  <a:pt x="343122" y="606297"/>
                </a:lnTo>
                <a:lnTo>
                  <a:pt x="367630" y="600604"/>
                </a:lnTo>
                <a:lnTo>
                  <a:pt x="392139" y="600148"/>
                </a:lnTo>
                <a:lnTo>
                  <a:pt x="416648" y="594108"/>
                </a:lnTo>
                <a:lnTo>
                  <a:pt x="441156" y="593108"/>
                </a:lnTo>
                <a:lnTo>
                  <a:pt x="465665" y="597109"/>
                </a:lnTo>
                <a:lnTo>
                  <a:pt x="490174" y="597300"/>
                </a:lnTo>
                <a:lnTo>
                  <a:pt x="514683" y="592103"/>
                </a:lnTo>
                <a:lnTo>
                  <a:pt x="539191" y="587393"/>
                </a:lnTo>
                <a:lnTo>
                  <a:pt x="563700" y="583108"/>
                </a:lnTo>
                <a:lnTo>
                  <a:pt x="588209" y="583790"/>
                </a:lnTo>
                <a:lnTo>
                  <a:pt x="612717" y="585734"/>
                </a:lnTo>
                <a:lnTo>
                  <a:pt x="637226" y="578100"/>
                </a:lnTo>
                <a:lnTo>
                  <a:pt x="661735" y="570554"/>
                </a:lnTo>
                <a:lnTo>
                  <a:pt x="686243" y="565982"/>
                </a:lnTo>
                <a:lnTo>
                  <a:pt x="710752" y="562287"/>
                </a:lnTo>
                <a:lnTo>
                  <a:pt x="735261" y="555506"/>
                </a:lnTo>
                <a:lnTo>
                  <a:pt x="759769" y="553871"/>
                </a:lnTo>
                <a:lnTo>
                  <a:pt x="784278" y="541547"/>
                </a:lnTo>
                <a:lnTo>
                  <a:pt x="808787" y="538355"/>
                </a:lnTo>
                <a:lnTo>
                  <a:pt x="833295" y="530108"/>
                </a:lnTo>
                <a:lnTo>
                  <a:pt x="857804" y="514679"/>
                </a:lnTo>
                <a:lnTo>
                  <a:pt x="882313" y="519032"/>
                </a:lnTo>
                <a:lnTo>
                  <a:pt x="906822" y="504802"/>
                </a:lnTo>
                <a:lnTo>
                  <a:pt x="931330" y="502876"/>
                </a:lnTo>
                <a:lnTo>
                  <a:pt x="955839" y="491775"/>
                </a:lnTo>
                <a:lnTo>
                  <a:pt x="980348" y="473275"/>
                </a:lnTo>
                <a:lnTo>
                  <a:pt x="1004856" y="481733"/>
                </a:lnTo>
                <a:lnTo>
                  <a:pt x="1029365" y="472613"/>
                </a:lnTo>
                <a:lnTo>
                  <a:pt x="1053874" y="468774"/>
                </a:lnTo>
                <a:lnTo>
                  <a:pt x="1078382" y="460315"/>
                </a:lnTo>
                <a:lnTo>
                  <a:pt x="1102891" y="446861"/>
                </a:lnTo>
                <a:lnTo>
                  <a:pt x="1127400" y="457107"/>
                </a:lnTo>
                <a:lnTo>
                  <a:pt x="1151908" y="453970"/>
                </a:lnTo>
                <a:lnTo>
                  <a:pt x="1176417" y="454804"/>
                </a:lnTo>
                <a:lnTo>
                  <a:pt x="1200926" y="450495"/>
                </a:lnTo>
                <a:lnTo>
                  <a:pt x="1225435" y="447502"/>
                </a:lnTo>
                <a:lnTo>
                  <a:pt x="1249943" y="457569"/>
                </a:lnTo>
                <a:lnTo>
                  <a:pt x="1274452" y="456308"/>
                </a:lnTo>
                <a:lnTo>
                  <a:pt x="1298961" y="468028"/>
                </a:lnTo>
                <a:lnTo>
                  <a:pt x="1323469" y="468072"/>
                </a:lnTo>
                <a:lnTo>
                  <a:pt x="1347978" y="474726"/>
                </a:lnTo>
                <a:lnTo>
                  <a:pt x="1372487" y="483622"/>
                </a:lnTo>
                <a:lnTo>
                  <a:pt x="1396995" y="483284"/>
                </a:lnTo>
                <a:lnTo>
                  <a:pt x="1421504" y="500205"/>
                </a:lnTo>
                <a:lnTo>
                  <a:pt x="1446013" y="505294"/>
                </a:lnTo>
                <a:lnTo>
                  <a:pt x="1470521" y="515647"/>
                </a:lnTo>
                <a:lnTo>
                  <a:pt x="1495030" y="523573"/>
                </a:lnTo>
                <a:lnTo>
                  <a:pt x="1519539" y="521884"/>
                </a:lnTo>
                <a:lnTo>
                  <a:pt x="1544048" y="535930"/>
                </a:lnTo>
                <a:lnTo>
                  <a:pt x="1568556" y="546980"/>
                </a:lnTo>
                <a:lnTo>
                  <a:pt x="1593065" y="554596"/>
                </a:lnTo>
                <a:lnTo>
                  <a:pt x="1617574" y="562388"/>
                </a:lnTo>
                <a:lnTo>
                  <a:pt x="1642082" y="557743"/>
                </a:lnTo>
                <a:lnTo>
                  <a:pt x="1666591" y="563559"/>
                </a:lnTo>
                <a:lnTo>
                  <a:pt x="1691100" y="577593"/>
                </a:lnTo>
                <a:lnTo>
                  <a:pt x="1715608" y="582809"/>
                </a:lnTo>
                <a:lnTo>
                  <a:pt x="1740117" y="584090"/>
                </a:lnTo>
                <a:lnTo>
                  <a:pt x="1764626" y="582883"/>
                </a:lnTo>
                <a:lnTo>
                  <a:pt x="1789134" y="580517"/>
                </a:lnTo>
                <a:lnTo>
                  <a:pt x="1813643" y="591416"/>
                </a:lnTo>
                <a:lnTo>
                  <a:pt x="1838152" y="596555"/>
                </a:lnTo>
                <a:lnTo>
                  <a:pt x="1862661" y="594631"/>
                </a:lnTo>
                <a:lnTo>
                  <a:pt x="1887169" y="596628"/>
                </a:lnTo>
                <a:lnTo>
                  <a:pt x="1911678" y="590505"/>
                </a:lnTo>
                <a:lnTo>
                  <a:pt x="1936187" y="598506"/>
                </a:lnTo>
                <a:lnTo>
                  <a:pt x="1960695" y="599120"/>
                </a:lnTo>
                <a:lnTo>
                  <a:pt x="1985204" y="599969"/>
                </a:lnTo>
                <a:lnTo>
                  <a:pt x="2009713" y="602340"/>
                </a:lnTo>
                <a:lnTo>
                  <a:pt x="2034221" y="597868"/>
                </a:lnTo>
                <a:lnTo>
                  <a:pt x="2058730" y="602927"/>
                </a:lnTo>
                <a:lnTo>
                  <a:pt x="2083239" y="596533"/>
                </a:lnTo>
                <a:lnTo>
                  <a:pt x="2107747" y="603302"/>
                </a:lnTo>
                <a:lnTo>
                  <a:pt x="2132256" y="604260"/>
                </a:lnTo>
                <a:lnTo>
                  <a:pt x="2156765" y="604425"/>
                </a:lnTo>
                <a:lnTo>
                  <a:pt x="2181273" y="606103"/>
                </a:lnTo>
                <a:lnTo>
                  <a:pt x="2205782" y="593280"/>
                </a:lnTo>
                <a:lnTo>
                  <a:pt x="2230291" y="605270"/>
                </a:lnTo>
                <a:lnTo>
                  <a:pt x="2254800" y="605829"/>
                </a:lnTo>
                <a:lnTo>
                  <a:pt x="2279308" y="607078"/>
                </a:lnTo>
                <a:lnTo>
                  <a:pt x="2303817" y="607586"/>
                </a:lnTo>
                <a:lnTo>
                  <a:pt x="2328326" y="592398"/>
                </a:lnTo>
                <a:lnTo>
                  <a:pt x="2352834" y="605402"/>
                </a:lnTo>
                <a:lnTo>
                  <a:pt x="2352834" y="628775"/>
                </a:lnTo>
                <a:close/>
              </a:path>
            </a:pathLst>
          </a:custGeom>
          <a:solidFill>
            <a:srgbClr val="55637A">
              <a:alpha val="14000"/>
            </a:srgbClr>
          </a:solidFill>
          <a:ln w="16510">
            <a:solidFill>
              <a:srgbClr val="55637A"/>
            </a:solidFill>
            <a:prstDash val="solid"/>
          </a:ln>
        </p:spPr>
      </p:sp>
      <p:sp>
        <p:nvSpPr>
          <p:cNvPr id="11" name="Shape 9"/>
          <p:cNvSpPr/>
          <p:nvPr/>
        </p:nvSpPr>
        <p:spPr>
          <a:xfrm>
            <a:off x="949147" y="4204494"/>
            <a:ext cx="2352834" cy="0"/>
          </a:xfrm>
          <a:prstGeom prst="line">
            <a:avLst/>
          </a:prstGeom>
          <a:noFill/>
          <a:ln w="20320">
            <a:solidFill>
              <a:srgbClr val="15181C">
                <a:alpha val="55000"/>
              </a:srgbClr>
            </a:solidFill>
            <a:prstDash val="solid"/>
          </a:ln>
        </p:spPr>
      </p:sp>
      <p:sp>
        <p:nvSpPr>
          <p:cNvPr id="12" name="Shape 10"/>
          <p:cNvSpPr/>
          <p:nvPr/>
        </p:nvSpPr>
        <p:spPr>
          <a:xfrm>
            <a:off x="1993725" y="4148716"/>
            <a:ext cx="263680" cy="111557"/>
          </a:xfrm>
          <a:prstGeom prst="roundRect">
            <a:avLst>
              <a:gd name="adj" fmla="val 16393"/>
            </a:avLst>
          </a:prstGeom>
          <a:solidFill>
            <a:srgbClr val="D9A32B">
              <a:alpha val="45000"/>
            </a:srgbClr>
          </a:solidFill>
          <a:ln w="13970">
            <a:solidFill>
              <a:srgbClr val="D9A32B"/>
            </a:solidFill>
            <a:prstDash val="solid"/>
          </a:ln>
        </p:spPr>
      </p:sp>
      <p:sp>
        <p:nvSpPr>
          <p:cNvPr id="13" name="Shape 11"/>
          <p:cNvSpPr/>
          <p:nvPr/>
        </p:nvSpPr>
        <p:spPr>
          <a:xfrm>
            <a:off x="3768492" y="3028077"/>
            <a:ext cx="0" cy="912737"/>
          </a:xfrm>
          <a:prstGeom prst="line">
            <a:avLst/>
          </a:prstGeom>
          <a:noFill/>
          <a:ln w="20320">
            <a:solidFill>
              <a:srgbClr val="E2622F"/>
            </a:solidFill>
            <a:prstDash val="solid"/>
            <a:tailEnd type="triangle"/>
          </a:ln>
        </p:spPr>
      </p:sp>
      <p:sp>
        <p:nvSpPr>
          <p:cNvPr id="14" name="Text 12"/>
          <p:cNvSpPr txBox="1"/>
          <p:nvPr/>
        </p:nvSpPr>
        <p:spPr>
          <a:xfrm>
            <a:off x="3971322" y="3342465"/>
            <a:ext cx="3042458"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write the donor's sequence</a:t>
            </a:r>
            <a:endParaRPr lang="en-US" sz="1200" dirty="0"/>
          </a:p>
        </p:txBody>
      </p:sp>
      <p:sp>
        <p:nvSpPr>
          <p:cNvPr id="15" name="Text 13"/>
          <p:cNvSpPr txBox="1"/>
          <p:nvPr/>
        </p:nvSpPr>
        <p:spPr>
          <a:xfrm>
            <a:off x="3971322" y="3525012"/>
            <a:ext cx="3042458"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into the recipient's place</a:t>
            </a:r>
            <a:endParaRPr lang="en-US" sz="1200" dirty="0"/>
          </a:p>
        </p:txBody>
      </p:sp>
      <p:sp>
        <p:nvSpPr>
          <p:cNvPr id="16" name="Shape 14"/>
          <p:cNvSpPr/>
          <p:nvPr/>
        </p:nvSpPr>
        <p:spPr>
          <a:xfrm>
            <a:off x="6608119" y="2034207"/>
            <a:ext cx="0" cy="2697646"/>
          </a:xfrm>
          <a:prstGeom prst="line">
            <a:avLst/>
          </a:prstGeom>
          <a:noFill/>
          <a:ln w="12700">
            <a:solidFill>
              <a:srgbClr val="AFB5BD"/>
            </a:solidFill>
            <a:prstDash val="dash"/>
          </a:ln>
        </p:spPr>
      </p:sp>
      <p:sp>
        <p:nvSpPr>
          <p:cNvPr id="17" name="Text 15"/>
          <p:cNvSpPr txBox="1"/>
          <p:nvPr/>
        </p:nvSpPr>
        <p:spPr>
          <a:xfrm>
            <a:off x="7074630" y="2034207"/>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WHICH HEIGHT DOES IT TAKE?</a:t>
            </a:r>
            <a:endParaRPr lang="en-US" sz="1300" dirty="0"/>
          </a:p>
        </p:txBody>
      </p:sp>
      <p:sp>
        <p:nvSpPr>
          <p:cNvPr id="18" name="Shape 16"/>
          <p:cNvSpPr/>
          <p:nvPr/>
        </p:nvSpPr>
        <p:spPr>
          <a:xfrm>
            <a:off x="7074630" y="2480435"/>
            <a:ext cx="2717929" cy="628775"/>
          </a:xfrm>
          <a:custGeom>
            <a:avLst/>
            <a:gdLst/>
            <a:ahLst/>
            <a:cxnLst/>
            <a:rect l="l" t="t" r="r" b="b"/>
            <a:pathLst>
              <a:path w="2717929" h="628775">
                <a:moveTo>
                  <a:pt x="0" y="628775"/>
                </a:moveTo>
                <a:lnTo>
                  <a:pt x="0" y="607036"/>
                </a:lnTo>
                <a:lnTo>
                  <a:pt x="28312" y="606438"/>
                </a:lnTo>
                <a:lnTo>
                  <a:pt x="56624" y="595207"/>
                </a:lnTo>
                <a:lnTo>
                  <a:pt x="84935" y="600147"/>
                </a:lnTo>
                <a:lnTo>
                  <a:pt x="113247" y="608303"/>
                </a:lnTo>
                <a:lnTo>
                  <a:pt x="141559" y="605004"/>
                </a:lnTo>
                <a:lnTo>
                  <a:pt x="169871" y="606982"/>
                </a:lnTo>
                <a:lnTo>
                  <a:pt x="198182" y="599025"/>
                </a:lnTo>
                <a:lnTo>
                  <a:pt x="226494" y="597569"/>
                </a:lnTo>
                <a:lnTo>
                  <a:pt x="254806" y="604539"/>
                </a:lnTo>
                <a:lnTo>
                  <a:pt x="283118" y="603669"/>
                </a:lnTo>
                <a:lnTo>
                  <a:pt x="311429" y="603053"/>
                </a:lnTo>
                <a:lnTo>
                  <a:pt x="339741" y="603312"/>
                </a:lnTo>
                <a:lnTo>
                  <a:pt x="368053" y="596292"/>
                </a:lnTo>
                <a:lnTo>
                  <a:pt x="396365" y="601238"/>
                </a:lnTo>
                <a:lnTo>
                  <a:pt x="424676" y="601003"/>
                </a:lnTo>
                <a:lnTo>
                  <a:pt x="452988" y="599727"/>
                </a:lnTo>
                <a:lnTo>
                  <a:pt x="481300" y="604986"/>
                </a:lnTo>
                <a:lnTo>
                  <a:pt x="509612" y="595986"/>
                </a:lnTo>
                <a:lnTo>
                  <a:pt x="537924" y="597718"/>
                </a:lnTo>
                <a:lnTo>
                  <a:pt x="566235" y="593384"/>
                </a:lnTo>
                <a:lnTo>
                  <a:pt x="594547" y="593809"/>
                </a:lnTo>
                <a:lnTo>
                  <a:pt x="622859" y="598166"/>
                </a:lnTo>
                <a:lnTo>
                  <a:pt x="651171" y="589925"/>
                </a:lnTo>
                <a:lnTo>
                  <a:pt x="679482" y="585421"/>
                </a:lnTo>
                <a:lnTo>
                  <a:pt x="707794" y="571439"/>
                </a:lnTo>
                <a:lnTo>
                  <a:pt x="736106" y="572210"/>
                </a:lnTo>
                <a:lnTo>
                  <a:pt x="764418" y="568054"/>
                </a:lnTo>
                <a:lnTo>
                  <a:pt x="792729" y="556583"/>
                </a:lnTo>
                <a:lnTo>
                  <a:pt x="821041" y="543134"/>
                </a:lnTo>
                <a:lnTo>
                  <a:pt x="849353" y="515102"/>
                </a:lnTo>
                <a:lnTo>
                  <a:pt x="877665" y="509472"/>
                </a:lnTo>
                <a:lnTo>
                  <a:pt x="905976" y="491047"/>
                </a:lnTo>
                <a:lnTo>
                  <a:pt x="934288" y="463404"/>
                </a:lnTo>
                <a:lnTo>
                  <a:pt x="962600" y="444044"/>
                </a:lnTo>
                <a:lnTo>
                  <a:pt x="990912" y="402998"/>
                </a:lnTo>
                <a:lnTo>
                  <a:pt x="1019223" y="384792"/>
                </a:lnTo>
                <a:lnTo>
                  <a:pt x="1047535" y="352055"/>
                </a:lnTo>
                <a:lnTo>
                  <a:pt x="1075847" y="314388"/>
                </a:lnTo>
                <a:lnTo>
                  <a:pt x="1104159" y="289360"/>
                </a:lnTo>
                <a:lnTo>
                  <a:pt x="1132471" y="248065"/>
                </a:lnTo>
                <a:lnTo>
                  <a:pt x="1160782" y="222646"/>
                </a:lnTo>
                <a:lnTo>
                  <a:pt x="1189094" y="188818"/>
                </a:lnTo>
                <a:lnTo>
                  <a:pt x="1217406" y="159893"/>
                </a:lnTo>
                <a:lnTo>
                  <a:pt x="1245718" y="142878"/>
                </a:lnTo>
                <a:lnTo>
                  <a:pt x="1274029" y="123489"/>
                </a:lnTo>
                <a:lnTo>
                  <a:pt x="1302341" y="108248"/>
                </a:lnTo>
                <a:lnTo>
                  <a:pt x="1330653" y="93522"/>
                </a:lnTo>
                <a:lnTo>
                  <a:pt x="1358965" y="92413"/>
                </a:lnTo>
                <a:lnTo>
                  <a:pt x="1387276" y="99476"/>
                </a:lnTo>
                <a:lnTo>
                  <a:pt x="1415588" y="110569"/>
                </a:lnTo>
                <a:lnTo>
                  <a:pt x="1443900" y="122653"/>
                </a:lnTo>
                <a:lnTo>
                  <a:pt x="1472212" y="134338"/>
                </a:lnTo>
                <a:lnTo>
                  <a:pt x="1500523" y="160532"/>
                </a:lnTo>
                <a:lnTo>
                  <a:pt x="1528835" y="191818"/>
                </a:lnTo>
                <a:lnTo>
                  <a:pt x="1557147" y="219871"/>
                </a:lnTo>
                <a:lnTo>
                  <a:pt x="1585459" y="256273"/>
                </a:lnTo>
                <a:lnTo>
                  <a:pt x="1613771" y="280902"/>
                </a:lnTo>
                <a:lnTo>
                  <a:pt x="1642082" y="313724"/>
                </a:lnTo>
                <a:lnTo>
                  <a:pt x="1670394" y="353795"/>
                </a:lnTo>
                <a:lnTo>
                  <a:pt x="1698706" y="379584"/>
                </a:lnTo>
                <a:lnTo>
                  <a:pt x="1727018" y="413924"/>
                </a:lnTo>
                <a:lnTo>
                  <a:pt x="1755329" y="439223"/>
                </a:lnTo>
                <a:lnTo>
                  <a:pt x="1783641" y="459080"/>
                </a:lnTo>
                <a:lnTo>
                  <a:pt x="1811953" y="491500"/>
                </a:lnTo>
                <a:lnTo>
                  <a:pt x="1840265" y="504706"/>
                </a:lnTo>
                <a:lnTo>
                  <a:pt x="1868576" y="522215"/>
                </a:lnTo>
                <a:lnTo>
                  <a:pt x="1896888" y="544243"/>
                </a:lnTo>
                <a:lnTo>
                  <a:pt x="1925200" y="547803"/>
                </a:lnTo>
                <a:lnTo>
                  <a:pt x="1953512" y="565083"/>
                </a:lnTo>
                <a:lnTo>
                  <a:pt x="1981823" y="569094"/>
                </a:lnTo>
                <a:lnTo>
                  <a:pt x="2010135" y="573659"/>
                </a:lnTo>
                <a:lnTo>
                  <a:pt x="2038447" y="588281"/>
                </a:lnTo>
                <a:lnTo>
                  <a:pt x="2066759" y="587980"/>
                </a:lnTo>
                <a:lnTo>
                  <a:pt x="2095071" y="594342"/>
                </a:lnTo>
                <a:lnTo>
                  <a:pt x="2123382" y="591334"/>
                </a:lnTo>
                <a:lnTo>
                  <a:pt x="2151694" y="592163"/>
                </a:lnTo>
                <a:lnTo>
                  <a:pt x="2180006" y="602051"/>
                </a:lnTo>
                <a:lnTo>
                  <a:pt x="2208318" y="604915"/>
                </a:lnTo>
                <a:lnTo>
                  <a:pt x="2236629" y="604146"/>
                </a:lnTo>
                <a:lnTo>
                  <a:pt x="2264941" y="595776"/>
                </a:lnTo>
                <a:lnTo>
                  <a:pt x="2293253" y="598943"/>
                </a:lnTo>
                <a:lnTo>
                  <a:pt x="2321565" y="606163"/>
                </a:lnTo>
                <a:lnTo>
                  <a:pt x="2349876" y="602105"/>
                </a:lnTo>
                <a:lnTo>
                  <a:pt x="2378188" y="607679"/>
                </a:lnTo>
                <a:lnTo>
                  <a:pt x="2406500" y="596353"/>
                </a:lnTo>
                <a:lnTo>
                  <a:pt x="2434812" y="602496"/>
                </a:lnTo>
                <a:lnTo>
                  <a:pt x="2463123" y="607184"/>
                </a:lnTo>
                <a:lnTo>
                  <a:pt x="2491435" y="597310"/>
                </a:lnTo>
                <a:lnTo>
                  <a:pt x="2519747" y="608359"/>
                </a:lnTo>
                <a:lnTo>
                  <a:pt x="2548059" y="598496"/>
                </a:lnTo>
                <a:lnTo>
                  <a:pt x="2576370" y="604340"/>
                </a:lnTo>
                <a:lnTo>
                  <a:pt x="2604682" y="606150"/>
                </a:lnTo>
                <a:lnTo>
                  <a:pt x="2632994" y="595153"/>
                </a:lnTo>
                <a:lnTo>
                  <a:pt x="2661306" y="606670"/>
                </a:lnTo>
                <a:lnTo>
                  <a:pt x="2689618" y="603277"/>
                </a:lnTo>
                <a:lnTo>
                  <a:pt x="2717929" y="604798"/>
                </a:lnTo>
                <a:lnTo>
                  <a:pt x="2717929" y="628775"/>
                </a:lnTo>
                <a:close/>
              </a:path>
            </a:pathLst>
          </a:custGeom>
          <a:solidFill>
            <a:srgbClr val="55637A">
              <a:alpha val="8000"/>
            </a:srgbClr>
          </a:solidFill>
          <a:ln w="16510">
            <a:solidFill>
              <a:srgbClr val="55637A"/>
            </a:solidFill>
            <a:prstDash val="solid"/>
          </a:ln>
        </p:spPr>
      </p:sp>
      <p:sp>
        <p:nvSpPr>
          <p:cNvPr id="19" name="Shape 17"/>
          <p:cNvSpPr/>
          <p:nvPr/>
        </p:nvSpPr>
        <p:spPr>
          <a:xfrm>
            <a:off x="7074630" y="3109209"/>
            <a:ext cx="2717929" cy="0"/>
          </a:xfrm>
          <a:prstGeom prst="line">
            <a:avLst/>
          </a:prstGeom>
          <a:noFill/>
          <a:ln w="20320">
            <a:solidFill>
              <a:srgbClr val="15181C">
                <a:alpha val="55000"/>
              </a:srgbClr>
            </a:solidFill>
            <a:prstDash val="solid"/>
          </a:ln>
        </p:spPr>
      </p:sp>
      <p:sp>
        <p:nvSpPr>
          <p:cNvPr id="20" name="Shape 18"/>
          <p:cNvSpPr/>
          <p:nvPr/>
        </p:nvSpPr>
        <p:spPr>
          <a:xfrm>
            <a:off x="8301754" y="3053431"/>
            <a:ext cx="263680" cy="111557"/>
          </a:xfrm>
          <a:prstGeom prst="roundRect">
            <a:avLst>
              <a:gd name="adj" fmla="val 16393"/>
            </a:avLst>
          </a:prstGeom>
          <a:solidFill>
            <a:srgbClr val="D9A32B">
              <a:alpha val="80000"/>
            </a:srgbClr>
          </a:solidFill>
          <a:ln w="13970">
            <a:solidFill>
              <a:srgbClr val="D9A32B"/>
            </a:solidFill>
            <a:prstDash val="solid"/>
          </a:ln>
        </p:spPr>
      </p:sp>
      <p:sp>
        <p:nvSpPr>
          <p:cNvPr id="21" name="Text 19"/>
          <p:cNvSpPr txBox="1"/>
          <p:nvPr/>
        </p:nvSpPr>
        <p:spPr>
          <a:xfrm>
            <a:off x="9975106" y="2926662"/>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55637A"/>
                </a:solidFill>
                <a:latin typeface="Arial" pitchFamily="34" charset="0"/>
                <a:ea typeface="Arial" pitchFamily="34" charset="-122"/>
                <a:cs typeface="Arial" pitchFamily="34" charset="-120"/>
              </a:rPr>
              <a:t>the donor's</a:t>
            </a:r>
            <a:endParaRPr lang="en-US" sz="1200" dirty="0"/>
          </a:p>
        </p:txBody>
      </p:sp>
      <p:sp>
        <p:nvSpPr>
          <p:cNvPr id="22" name="Text 20"/>
          <p:cNvSpPr txBox="1"/>
          <p:nvPr/>
        </p:nvSpPr>
        <p:spPr>
          <a:xfrm>
            <a:off x="9975106" y="3099068"/>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sequence wins</a:t>
            </a:r>
            <a:endParaRPr lang="en-US" sz="1100" dirty="0"/>
          </a:p>
        </p:txBody>
      </p:sp>
      <p:sp>
        <p:nvSpPr>
          <p:cNvPr id="23" name="Shape 21"/>
          <p:cNvSpPr/>
          <p:nvPr/>
        </p:nvSpPr>
        <p:spPr>
          <a:xfrm>
            <a:off x="7074630" y="3737984"/>
            <a:ext cx="2717929" cy="628775"/>
          </a:xfrm>
          <a:custGeom>
            <a:avLst/>
            <a:gdLst/>
            <a:ahLst/>
            <a:cxnLst/>
            <a:rect l="l" t="t" r="r" b="b"/>
            <a:pathLst>
              <a:path w="2717929" h="628775">
                <a:moveTo>
                  <a:pt x="0" y="628775"/>
                </a:moveTo>
                <a:lnTo>
                  <a:pt x="0" y="600575"/>
                </a:lnTo>
                <a:lnTo>
                  <a:pt x="28312" y="606478"/>
                </a:lnTo>
                <a:lnTo>
                  <a:pt x="56624" y="598137"/>
                </a:lnTo>
                <a:lnTo>
                  <a:pt x="84935" y="608484"/>
                </a:lnTo>
                <a:lnTo>
                  <a:pt x="113247" y="598829"/>
                </a:lnTo>
                <a:lnTo>
                  <a:pt x="141559" y="602096"/>
                </a:lnTo>
                <a:lnTo>
                  <a:pt x="169871" y="607673"/>
                </a:lnTo>
                <a:lnTo>
                  <a:pt x="198182" y="596021"/>
                </a:lnTo>
                <a:lnTo>
                  <a:pt x="226494" y="605512"/>
                </a:lnTo>
                <a:lnTo>
                  <a:pt x="254806" y="603092"/>
                </a:lnTo>
                <a:lnTo>
                  <a:pt x="283118" y="602569"/>
                </a:lnTo>
                <a:lnTo>
                  <a:pt x="311429" y="606400"/>
                </a:lnTo>
                <a:lnTo>
                  <a:pt x="339741" y="596523"/>
                </a:lnTo>
                <a:lnTo>
                  <a:pt x="368053" y="601378"/>
                </a:lnTo>
                <a:lnTo>
                  <a:pt x="396365" y="608155"/>
                </a:lnTo>
                <a:lnTo>
                  <a:pt x="424676" y="602953"/>
                </a:lnTo>
                <a:lnTo>
                  <a:pt x="452988" y="603088"/>
                </a:lnTo>
                <a:lnTo>
                  <a:pt x="481300" y="597754"/>
                </a:lnTo>
                <a:lnTo>
                  <a:pt x="509612" y="597584"/>
                </a:lnTo>
                <a:lnTo>
                  <a:pt x="537924" y="602550"/>
                </a:lnTo>
                <a:lnTo>
                  <a:pt x="566235" y="603845"/>
                </a:lnTo>
                <a:lnTo>
                  <a:pt x="594547" y="599895"/>
                </a:lnTo>
                <a:lnTo>
                  <a:pt x="622859" y="596569"/>
                </a:lnTo>
                <a:lnTo>
                  <a:pt x="651171" y="593795"/>
                </a:lnTo>
                <a:lnTo>
                  <a:pt x="679482" y="596094"/>
                </a:lnTo>
                <a:lnTo>
                  <a:pt x="707794" y="599732"/>
                </a:lnTo>
                <a:lnTo>
                  <a:pt x="736106" y="593833"/>
                </a:lnTo>
                <a:lnTo>
                  <a:pt x="764418" y="588015"/>
                </a:lnTo>
                <a:lnTo>
                  <a:pt x="792729" y="585107"/>
                </a:lnTo>
                <a:lnTo>
                  <a:pt x="821041" y="582950"/>
                </a:lnTo>
                <a:lnTo>
                  <a:pt x="849353" y="577513"/>
                </a:lnTo>
                <a:lnTo>
                  <a:pt x="877665" y="576962"/>
                </a:lnTo>
                <a:lnTo>
                  <a:pt x="905976" y="565393"/>
                </a:lnTo>
                <a:lnTo>
                  <a:pt x="934288" y="562573"/>
                </a:lnTo>
                <a:lnTo>
                  <a:pt x="962600" y="554265"/>
                </a:lnTo>
                <a:lnTo>
                  <a:pt x="990912" y="538314"/>
                </a:lnTo>
                <a:lnTo>
                  <a:pt x="1019223" y="541677"/>
                </a:lnTo>
                <a:lnTo>
                  <a:pt x="1047535" y="526001"/>
                </a:lnTo>
                <a:lnTo>
                  <a:pt x="1075847" y="522216"/>
                </a:lnTo>
                <a:lnTo>
                  <a:pt x="1104159" y="508908"/>
                </a:lnTo>
                <a:lnTo>
                  <a:pt x="1132471" y="487943"/>
                </a:lnTo>
                <a:lnTo>
                  <a:pt x="1160782" y="493788"/>
                </a:lnTo>
                <a:lnTo>
                  <a:pt x="1189094" y="482031"/>
                </a:lnTo>
                <a:lnTo>
                  <a:pt x="1217406" y="475664"/>
                </a:lnTo>
                <a:lnTo>
                  <a:pt x="1245718" y="464917"/>
                </a:lnTo>
                <a:lnTo>
                  <a:pt x="1274029" y="449537"/>
                </a:lnTo>
                <a:lnTo>
                  <a:pt x="1302341" y="458325"/>
                </a:lnTo>
                <a:lnTo>
                  <a:pt x="1330653" y="454279"/>
                </a:lnTo>
                <a:lnTo>
                  <a:pt x="1358965" y="454804"/>
                </a:lnTo>
                <a:lnTo>
                  <a:pt x="1387276" y="450803"/>
                </a:lnTo>
                <a:lnTo>
                  <a:pt x="1415588" y="448720"/>
                </a:lnTo>
                <a:lnTo>
                  <a:pt x="1443900" y="460245"/>
                </a:lnTo>
                <a:lnTo>
                  <a:pt x="1472212" y="460910"/>
                </a:lnTo>
                <a:lnTo>
                  <a:pt x="1500523" y="474918"/>
                </a:lnTo>
                <a:lnTo>
                  <a:pt x="1528835" y="477490"/>
                </a:lnTo>
                <a:lnTo>
                  <a:pt x="1557147" y="486781"/>
                </a:lnTo>
                <a:lnTo>
                  <a:pt x="1585459" y="498290"/>
                </a:lnTo>
                <a:lnTo>
                  <a:pt x="1613771" y="500417"/>
                </a:lnTo>
                <a:lnTo>
                  <a:pt x="1642082" y="519545"/>
                </a:lnTo>
                <a:lnTo>
                  <a:pt x="1670394" y="526494"/>
                </a:lnTo>
                <a:lnTo>
                  <a:pt x="1698706" y="538292"/>
                </a:lnTo>
                <a:lnTo>
                  <a:pt x="1727018" y="547208"/>
                </a:lnTo>
                <a:lnTo>
                  <a:pt x="1755329" y="546040"/>
                </a:lnTo>
                <a:lnTo>
                  <a:pt x="1783641" y="560147"/>
                </a:lnTo>
                <a:lnTo>
                  <a:pt x="1811953" y="570826"/>
                </a:lnTo>
                <a:lnTo>
                  <a:pt x="1840265" y="577687"/>
                </a:lnTo>
                <a:lnTo>
                  <a:pt x="1868576" y="584396"/>
                </a:lnTo>
                <a:lnTo>
                  <a:pt x="1896888" y="578406"/>
                </a:lnTo>
                <a:lnTo>
                  <a:pt x="1925200" y="582683"/>
                </a:lnTo>
                <a:lnTo>
                  <a:pt x="1953512" y="595053"/>
                </a:lnTo>
                <a:lnTo>
                  <a:pt x="1981823" y="598542"/>
                </a:lnTo>
                <a:lnTo>
                  <a:pt x="2010135" y="598088"/>
                </a:lnTo>
                <a:lnTo>
                  <a:pt x="2038447" y="595187"/>
                </a:lnTo>
                <a:lnTo>
                  <a:pt x="2066759" y="591204"/>
                </a:lnTo>
                <a:lnTo>
                  <a:pt x="2095071" y="600593"/>
                </a:lnTo>
                <a:lnTo>
                  <a:pt x="2123382" y="604347"/>
                </a:lnTo>
                <a:lnTo>
                  <a:pt x="2151694" y="601177"/>
                </a:lnTo>
                <a:lnTo>
                  <a:pt x="2180006" y="602069"/>
                </a:lnTo>
                <a:lnTo>
                  <a:pt x="2208318" y="594981"/>
                </a:lnTo>
                <a:lnTo>
                  <a:pt x="2236629" y="602152"/>
                </a:lnTo>
                <a:lnTo>
                  <a:pt x="2264941" y="602060"/>
                </a:lnTo>
                <a:lnTo>
                  <a:pt x="2293253" y="602318"/>
                </a:lnTo>
                <a:lnTo>
                  <a:pt x="2321565" y="604198"/>
                </a:lnTo>
                <a:lnTo>
                  <a:pt x="2349876" y="599324"/>
                </a:lnTo>
                <a:lnTo>
                  <a:pt x="2378188" y="604058"/>
                </a:lnTo>
                <a:lnTo>
                  <a:pt x="2406500" y="597404"/>
                </a:lnTo>
                <a:lnTo>
                  <a:pt x="2434812" y="603968"/>
                </a:lnTo>
                <a:lnTo>
                  <a:pt x="2463123" y="604763"/>
                </a:lnTo>
                <a:lnTo>
                  <a:pt x="2491435" y="604802"/>
                </a:lnTo>
                <a:lnTo>
                  <a:pt x="2519747" y="606384"/>
                </a:lnTo>
                <a:lnTo>
                  <a:pt x="2548059" y="593487"/>
                </a:lnTo>
                <a:lnTo>
                  <a:pt x="2576370" y="605422"/>
                </a:lnTo>
                <a:lnTo>
                  <a:pt x="2604682" y="605939"/>
                </a:lnTo>
                <a:lnTo>
                  <a:pt x="2632994" y="607157"/>
                </a:lnTo>
                <a:lnTo>
                  <a:pt x="2661306" y="607642"/>
                </a:lnTo>
                <a:lnTo>
                  <a:pt x="2689618" y="592438"/>
                </a:lnTo>
                <a:lnTo>
                  <a:pt x="2717929" y="605430"/>
                </a:lnTo>
                <a:lnTo>
                  <a:pt x="2717929" y="628775"/>
                </a:lnTo>
                <a:close/>
              </a:path>
            </a:pathLst>
          </a:custGeom>
          <a:solidFill>
            <a:srgbClr val="E2622F">
              <a:alpha val="10000"/>
            </a:srgbClr>
          </a:solidFill>
          <a:ln w="16510">
            <a:solidFill>
              <a:srgbClr val="E2622F"/>
            </a:solidFill>
            <a:prstDash val="solid"/>
          </a:ln>
        </p:spPr>
      </p:sp>
      <p:sp>
        <p:nvSpPr>
          <p:cNvPr id="24" name="Shape 22"/>
          <p:cNvSpPr/>
          <p:nvPr/>
        </p:nvSpPr>
        <p:spPr>
          <a:xfrm>
            <a:off x="7074630" y="4366759"/>
            <a:ext cx="2717929" cy="0"/>
          </a:xfrm>
          <a:prstGeom prst="line">
            <a:avLst/>
          </a:prstGeom>
          <a:noFill/>
          <a:ln w="20320">
            <a:solidFill>
              <a:srgbClr val="15181C">
                <a:alpha val="55000"/>
              </a:srgbClr>
            </a:solidFill>
            <a:prstDash val="solid"/>
          </a:ln>
        </p:spPr>
      </p:sp>
      <p:sp>
        <p:nvSpPr>
          <p:cNvPr id="25" name="Shape 23"/>
          <p:cNvSpPr/>
          <p:nvPr/>
        </p:nvSpPr>
        <p:spPr>
          <a:xfrm>
            <a:off x="8301754" y="4310980"/>
            <a:ext cx="263680" cy="111557"/>
          </a:xfrm>
          <a:prstGeom prst="roundRect">
            <a:avLst>
              <a:gd name="adj" fmla="val 16393"/>
            </a:avLst>
          </a:prstGeom>
          <a:solidFill>
            <a:srgbClr val="D9A32B">
              <a:alpha val="80000"/>
            </a:srgbClr>
          </a:solidFill>
          <a:ln w="13970">
            <a:solidFill>
              <a:srgbClr val="D9A32B"/>
            </a:solidFill>
            <a:prstDash val="solid"/>
          </a:ln>
        </p:spPr>
      </p:sp>
      <p:sp>
        <p:nvSpPr>
          <p:cNvPr id="26" name="Text 24"/>
          <p:cNvSpPr txBox="1"/>
          <p:nvPr/>
        </p:nvSpPr>
        <p:spPr>
          <a:xfrm>
            <a:off x="9975106" y="4184211"/>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the recipient's</a:t>
            </a:r>
            <a:endParaRPr lang="en-US" sz="1200" dirty="0"/>
          </a:p>
        </p:txBody>
      </p:sp>
      <p:sp>
        <p:nvSpPr>
          <p:cNvPr id="27" name="Text 25"/>
          <p:cNvSpPr txBox="1"/>
          <p:nvPr/>
        </p:nvSpPr>
        <p:spPr>
          <a:xfrm>
            <a:off x="9975106" y="4356617"/>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place wins</a:t>
            </a:r>
            <a:endParaRPr lang="en-US" sz="1100" dirty="0"/>
          </a:p>
        </p:txBody>
      </p:sp>
      <p:sp>
        <p:nvSpPr>
          <p:cNvPr id="28" name="Text 26"/>
          <p:cNvSpPr txBox="1"/>
          <p:nvPr/>
        </p:nvSpPr>
        <p:spPr>
          <a:xfrm>
            <a:off x="8078641" y="3778550"/>
            <a:ext cx="709907" cy="202831"/>
          </a:xfrm>
          <a:prstGeom prst="rect">
            <a:avLst/>
          </a:prstGeom>
          <a:noFill/>
          <a:ln/>
        </p:spPr>
        <p:txBody>
          <a:bodyPr wrap="square" lIns="0" tIns="0" rIns="0" bIns="0" rtlCol="0" anchor="ctr"/>
          <a:lstStyle/>
          <a:p>
            <a:pPr algn="ctr" indent="0" marL="0">
              <a:lnSpc>
                <a:spcPct val="95000"/>
              </a:lnSpc>
              <a:buNone/>
            </a:pPr>
            <a:r>
              <a:rPr lang="en-US" sz="3000" b="1" dirty="0">
                <a:solidFill>
                  <a:srgbClr val="AFB5BD"/>
                </a:solidFill>
                <a:latin typeface="Arial" pitchFamily="34" charset="0"/>
                <a:ea typeface="Arial" pitchFamily="34" charset="-122"/>
                <a:cs typeface="Arial" pitchFamily="34" charset="-120"/>
              </a:rPr>
              <a:t>?</a:t>
            </a:r>
            <a:endParaRPr lang="en-US" sz="3000" dirty="0"/>
          </a:p>
        </p:txBody>
      </p:sp>
      <p:sp>
        <p:nvSpPr>
          <p:cNvPr id="29" name="Shape 27"/>
          <p:cNvSpPr/>
          <p:nvPr/>
        </p:nvSpPr>
        <p:spPr>
          <a:xfrm>
            <a:off x="644901" y="4873835"/>
            <a:ext cx="10871717" cy="0"/>
          </a:xfrm>
          <a:prstGeom prst="line">
            <a:avLst/>
          </a:prstGeom>
          <a:noFill/>
          <a:ln w="12700">
            <a:solidFill>
              <a:srgbClr val="AFB5BD"/>
            </a:solidFill>
            <a:prstDash val="dash"/>
          </a:ln>
        </p:spPr>
      </p:sp>
      <p:sp>
        <p:nvSpPr>
          <p:cNvPr id="30" name="Text 28"/>
          <p:cNvSpPr txBox="1"/>
          <p:nvPr/>
        </p:nvSpPr>
        <p:spPr>
          <a:xfrm>
            <a:off x="644901" y="4995533"/>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62,250 swaps   ·   two widths: 170 bp and the whole peak   ·   intervals from a cluster bootstrap over the 250 donors</a:t>
            </a:r>
            <a:endParaRPr lang="en-US" sz="1100" dirty="0"/>
          </a:p>
        </p:txBody>
      </p:sp>
      <p:sp>
        <p:nvSpPr>
          <p:cNvPr id="31" name="Shape 29"/>
          <p:cNvSpPr/>
          <p:nvPr/>
        </p:nvSpPr>
        <p:spPr>
          <a:xfrm>
            <a:off x="502920" y="5989320"/>
            <a:ext cx="50292" cy="566928"/>
          </a:xfrm>
          <a:prstGeom prst="rect">
            <a:avLst/>
          </a:prstGeom>
          <a:solidFill>
            <a:srgbClr val="3F3F3F"/>
          </a:solidFill>
          <a:ln w="12700">
            <a:solidFill>
              <a:srgbClr val="333333"/>
            </a:solidFill>
            <a:prstDash val="solid"/>
          </a:ln>
        </p:spPr>
      </p:sp>
      <p:sp>
        <p:nvSpPr>
          <p:cNvPr id="32" name="Text 30"/>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Write every element into every other element's location and regress the result on both. Whichever term carries more weight is the one that sets a site's accessibility.</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element's identity lives at peak scale, not in 170 bp</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Every element swapped into every other site's location: the swapped site's accessibility regressed on the donor element and on the recipient location. The two weights are drawn pulling against each other from a common zero. 62,250 swaps; 95% CI from a cluster bootstrap over the 250 donors.</a:t>
            </a:r>
            <a:endParaRPr lang="en-US" sz="1250" dirty="0"/>
          </a:p>
        </p:txBody>
      </p:sp>
      <p:pic>
        <p:nvPicPr>
          <p:cNvPr id="4" name="Image 0" descr="/Users/z5162865/WongLab/AlphaGenome_Ap1/Analysis/slide_figures/r_fb_scale.png">    </p:cNvPr>
          <p:cNvPicPr>
            <a:picLocks noChangeAspect="1"/>
          </p:cNvPicPr>
          <p:nvPr/>
        </p:nvPicPr>
        <p:blipFill>
          <a:blip r:embed="rId1"/>
          <a:stretch>
            <a:fillRect/>
          </a:stretch>
        </p:blipFill>
        <p:spPr>
          <a:xfrm>
            <a:off x="1064362" y="1335024"/>
            <a:ext cx="10032797"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At 170 bp an element mostly takes on the level of wherever you put it; at full peak width it imposes its own. The information that opens chromatin is spread over the whole peak — which is why a 170 bp assay cannot see it.</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Shuffling one motif at a time, inside the site</a:t>
            </a:r>
            <a:endParaRPr lang="en-US" sz="2800" dirty="0"/>
          </a:p>
        </p:txBody>
      </p:sp>
      <p:sp>
        <p:nvSpPr>
          <p:cNvPr id="3" name="Text 1"/>
          <p:cNvSpPr txBox="1"/>
          <p:nvPr/>
        </p:nvSpPr>
        <p:spPr>
          <a:xfrm>
            <a:off x="644901" y="1770528"/>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ONE SITE</a:t>
            </a:r>
            <a:endParaRPr lang="en-US" sz="1300" dirty="0"/>
          </a:p>
        </p:txBody>
      </p:sp>
      <p:sp>
        <p:nvSpPr>
          <p:cNvPr id="4" name="Text 2"/>
          <p:cNvSpPr txBox="1"/>
          <p:nvPr/>
        </p:nvSpPr>
        <p:spPr>
          <a:xfrm>
            <a:off x="644901" y="1953075"/>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its own motif,</a:t>
            </a:r>
            <a:endParaRPr lang="en-US" sz="1100" dirty="0"/>
          </a:p>
        </p:txBody>
      </p:sp>
      <p:sp>
        <p:nvSpPr>
          <p:cNvPr id="5" name="Text 3"/>
          <p:cNvSpPr txBox="1"/>
          <p:nvPr/>
        </p:nvSpPr>
        <p:spPr>
          <a:xfrm>
            <a:off x="644901" y="2115340"/>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and its partners</a:t>
            </a:r>
            <a:endParaRPr lang="en-US" sz="1100" dirty="0"/>
          </a:p>
        </p:txBody>
      </p:sp>
      <p:sp>
        <p:nvSpPr>
          <p:cNvPr id="6" name="Shape 4"/>
          <p:cNvSpPr/>
          <p:nvPr/>
        </p:nvSpPr>
        <p:spPr>
          <a:xfrm>
            <a:off x="2815188" y="1953075"/>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4"/>
                </a:lnTo>
                <a:lnTo>
                  <a:pt x="1516158" y="488885"/>
                </a:lnTo>
                <a:lnTo>
                  <a:pt x="1574472" y="509387"/>
                </a:lnTo>
                <a:lnTo>
                  <a:pt x="1632786" y="530443"/>
                </a:lnTo>
                <a:lnTo>
                  <a:pt x="1691100" y="553038"/>
                </a:lnTo>
                <a:lnTo>
                  <a:pt x="1749413" y="576831"/>
                </a:lnTo>
                <a:lnTo>
                  <a:pt x="1807727" y="584577"/>
                </a:lnTo>
                <a:lnTo>
                  <a:pt x="1866041" y="597214"/>
                </a:lnTo>
                <a:lnTo>
                  <a:pt x="1924355" y="596260"/>
                </a:lnTo>
                <a:lnTo>
                  <a:pt x="1982669" y="590214"/>
                </a:lnTo>
                <a:lnTo>
                  <a:pt x="2040982" y="600112"/>
                </a:lnTo>
                <a:lnTo>
                  <a:pt x="2099296" y="588901"/>
                </a:lnTo>
                <a:lnTo>
                  <a:pt x="2157610" y="583290"/>
                </a:lnTo>
                <a:lnTo>
                  <a:pt x="2215924" y="562412"/>
                </a:lnTo>
                <a:lnTo>
                  <a:pt x="2274237" y="529033"/>
                </a:lnTo>
                <a:lnTo>
                  <a:pt x="2332551" y="509599"/>
                </a:lnTo>
                <a:lnTo>
                  <a:pt x="2390865" y="466274"/>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55637A">
              <a:alpha val="14000"/>
            </a:srgbClr>
          </a:solidFill>
          <a:ln w="16510">
            <a:solidFill>
              <a:srgbClr val="55637A"/>
            </a:solidFill>
            <a:prstDash val="solid"/>
          </a:ln>
        </p:spPr>
      </p:sp>
      <p:sp>
        <p:nvSpPr>
          <p:cNvPr id="7" name="Shape 5"/>
          <p:cNvSpPr/>
          <p:nvPr/>
        </p:nvSpPr>
        <p:spPr>
          <a:xfrm>
            <a:off x="2815188" y="2581850"/>
            <a:ext cx="5598123" cy="0"/>
          </a:xfrm>
          <a:prstGeom prst="line">
            <a:avLst/>
          </a:prstGeom>
          <a:noFill/>
          <a:ln w="20320">
            <a:solidFill>
              <a:srgbClr val="15181C">
                <a:alpha val="55000"/>
              </a:srgbClr>
            </a:solidFill>
            <a:prstDash val="solid"/>
          </a:ln>
        </p:spPr>
      </p:sp>
      <p:sp>
        <p:nvSpPr>
          <p:cNvPr id="8" name="Shape 6"/>
          <p:cNvSpPr/>
          <p:nvPr/>
        </p:nvSpPr>
        <p:spPr>
          <a:xfrm>
            <a:off x="5482410" y="2526072"/>
            <a:ext cx="263680" cy="111557"/>
          </a:xfrm>
          <a:prstGeom prst="roundRect">
            <a:avLst>
              <a:gd name="adj" fmla="val 16393"/>
            </a:avLst>
          </a:prstGeom>
          <a:solidFill>
            <a:srgbClr val="D9A32B">
              <a:alpha val="80000"/>
            </a:srgbClr>
          </a:solidFill>
          <a:ln w="13970">
            <a:solidFill>
              <a:srgbClr val="D9A32B"/>
            </a:solidFill>
            <a:prstDash val="solid"/>
          </a:ln>
        </p:spPr>
      </p:sp>
      <p:sp>
        <p:nvSpPr>
          <p:cNvPr id="9" name="Text 7"/>
          <p:cNvSpPr txBox="1"/>
          <p:nvPr/>
        </p:nvSpPr>
        <p:spPr>
          <a:xfrm>
            <a:off x="5005758" y="1831377"/>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10" name="Shape 8"/>
          <p:cNvSpPr/>
          <p:nvPr/>
        </p:nvSpPr>
        <p:spPr>
          <a:xfrm>
            <a:off x="4143728" y="2526072"/>
            <a:ext cx="223114" cy="111557"/>
          </a:xfrm>
          <a:prstGeom prst="roundRect">
            <a:avLst>
              <a:gd name="adj" fmla="val 16393"/>
            </a:avLst>
          </a:prstGeom>
          <a:solidFill>
            <a:srgbClr val="4E8E8A">
              <a:alpha val="80000"/>
            </a:srgbClr>
          </a:solidFill>
          <a:ln w="13970">
            <a:solidFill>
              <a:srgbClr val="4E8E8A"/>
            </a:solidFill>
            <a:prstDash val="solid"/>
          </a:ln>
        </p:spPr>
      </p:sp>
      <p:sp>
        <p:nvSpPr>
          <p:cNvPr id="11" name="Text 9"/>
          <p:cNvSpPr txBox="1"/>
          <p:nvPr/>
        </p:nvSpPr>
        <p:spPr>
          <a:xfrm>
            <a:off x="3646793" y="2237038"/>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4E8E8A"/>
                </a:solidFill>
                <a:latin typeface="Arial" pitchFamily="34" charset="0"/>
                <a:ea typeface="Arial" pitchFamily="34" charset="-122"/>
                <a:cs typeface="Arial" pitchFamily="34" charset="-120"/>
              </a:rPr>
              <a:t>partner</a:t>
            </a:r>
            <a:endParaRPr lang="en-US" sz="1150" dirty="0"/>
          </a:p>
        </p:txBody>
      </p:sp>
      <p:sp>
        <p:nvSpPr>
          <p:cNvPr id="12" name="Shape 10"/>
          <p:cNvSpPr/>
          <p:nvPr/>
        </p:nvSpPr>
        <p:spPr>
          <a:xfrm>
            <a:off x="6861658" y="2526072"/>
            <a:ext cx="223114" cy="111557"/>
          </a:xfrm>
          <a:prstGeom prst="roundRect">
            <a:avLst>
              <a:gd name="adj" fmla="val 16393"/>
            </a:avLst>
          </a:prstGeom>
          <a:solidFill>
            <a:srgbClr val="4E8E8A">
              <a:alpha val="80000"/>
            </a:srgbClr>
          </a:solidFill>
          <a:ln w="13970">
            <a:solidFill>
              <a:srgbClr val="4E8E8A"/>
            </a:solidFill>
            <a:prstDash val="solid"/>
          </a:ln>
        </p:spPr>
      </p:sp>
      <p:sp>
        <p:nvSpPr>
          <p:cNvPr id="13" name="Text 11"/>
          <p:cNvSpPr txBox="1"/>
          <p:nvPr/>
        </p:nvSpPr>
        <p:spPr>
          <a:xfrm>
            <a:off x="6364723" y="2237038"/>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4E8E8A"/>
                </a:solidFill>
                <a:latin typeface="Arial" pitchFamily="34" charset="0"/>
                <a:ea typeface="Arial" pitchFamily="34" charset="-122"/>
                <a:cs typeface="Arial" pitchFamily="34" charset="-120"/>
              </a:rPr>
              <a:t>partner</a:t>
            </a:r>
            <a:endParaRPr lang="en-US" sz="1150" dirty="0"/>
          </a:p>
        </p:txBody>
      </p:sp>
      <p:sp>
        <p:nvSpPr>
          <p:cNvPr id="14" name="Shape 12"/>
          <p:cNvSpPr/>
          <p:nvPr/>
        </p:nvSpPr>
        <p:spPr>
          <a:xfrm>
            <a:off x="644901" y="2987511"/>
            <a:ext cx="10871717" cy="0"/>
          </a:xfrm>
          <a:prstGeom prst="line">
            <a:avLst/>
          </a:prstGeom>
          <a:noFill/>
          <a:ln w="12700">
            <a:solidFill>
              <a:srgbClr val="AFB5BD"/>
            </a:solidFill>
            <a:prstDash val="dash"/>
          </a:ln>
        </p:spPr>
      </p:sp>
      <p:sp>
        <p:nvSpPr>
          <p:cNvPr id="15" name="Text 13"/>
          <p:cNvSpPr txBox="1"/>
          <p:nvPr/>
        </p:nvSpPr>
        <p:spPr>
          <a:xfrm>
            <a:off x="644901" y="3433738"/>
            <a:ext cx="2129721"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scramble AP-1</a:t>
            </a:r>
            <a:endParaRPr lang="en-US" sz="1200" dirty="0"/>
          </a:p>
        </p:txBody>
      </p:sp>
      <p:sp>
        <p:nvSpPr>
          <p:cNvPr id="16" name="Shape 14"/>
          <p:cNvSpPr/>
          <p:nvPr/>
        </p:nvSpPr>
        <p:spPr>
          <a:xfrm>
            <a:off x="2815188" y="2906379"/>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5"/>
                </a:lnTo>
                <a:lnTo>
                  <a:pt x="1516158" y="488887"/>
                </a:lnTo>
                <a:lnTo>
                  <a:pt x="1574472" y="509393"/>
                </a:lnTo>
                <a:lnTo>
                  <a:pt x="1632786" y="530461"/>
                </a:lnTo>
                <a:lnTo>
                  <a:pt x="1691100" y="553086"/>
                </a:lnTo>
                <a:lnTo>
                  <a:pt x="1749413" y="576949"/>
                </a:lnTo>
                <a:lnTo>
                  <a:pt x="1807727" y="584854"/>
                </a:lnTo>
                <a:lnTo>
                  <a:pt x="1866041" y="597834"/>
                </a:lnTo>
                <a:lnTo>
                  <a:pt x="1924355" y="597583"/>
                </a:lnTo>
                <a:lnTo>
                  <a:pt x="1982669" y="592903"/>
                </a:lnTo>
                <a:lnTo>
                  <a:pt x="2040982" y="605317"/>
                </a:lnTo>
                <a:lnTo>
                  <a:pt x="2099296" y="598493"/>
                </a:lnTo>
                <a:lnTo>
                  <a:pt x="2157610" y="600124"/>
                </a:lnTo>
                <a:lnTo>
                  <a:pt x="2215924" y="590544"/>
                </a:lnTo>
                <a:lnTo>
                  <a:pt x="2274237" y="573804"/>
                </a:lnTo>
                <a:lnTo>
                  <a:pt x="2332551" y="577448"/>
                </a:lnTo>
                <a:lnTo>
                  <a:pt x="2390865" y="564190"/>
                </a:lnTo>
                <a:lnTo>
                  <a:pt x="2449179" y="547116"/>
                </a:lnTo>
                <a:lnTo>
                  <a:pt x="2507493" y="525553"/>
                </a:lnTo>
                <a:lnTo>
                  <a:pt x="2565806" y="498641"/>
                </a:lnTo>
                <a:lnTo>
                  <a:pt x="2624120" y="494342"/>
                </a:lnTo>
                <a:lnTo>
                  <a:pt x="2682434" y="475270"/>
                </a:lnTo>
                <a:lnTo>
                  <a:pt x="2740748" y="467449"/>
                </a:lnTo>
                <a:lnTo>
                  <a:pt x="2799062" y="459527"/>
                </a:lnTo>
                <a:lnTo>
                  <a:pt x="2857375" y="459829"/>
                </a:lnTo>
                <a:lnTo>
                  <a:pt x="2915689" y="477905"/>
                </a:lnTo>
                <a:lnTo>
                  <a:pt x="2974003" y="484219"/>
                </a:lnTo>
                <a:lnTo>
                  <a:pt x="3032317" y="510188"/>
                </a:lnTo>
                <a:lnTo>
                  <a:pt x="3090630" y="524118"/>
                </a:lnTo>
                <a:lnTo>
                  <a:pt x="3148944" y="543814"/>
                </a:lnTo>
                <a:lnTo>
                  <a:pt x="3207258" y="562714"/>
                </a:lnTo>
                <a:lnTo>
                  <a:pt x="3265572" y="564802"/>
                </a:lnTo>
                <a:lnTo>
                  <a:pt x="3323886" y="585499"/>
                </a:lnTo>
                <a:lnTo>
                  <a:pt x="3382199" y="590584"/>
                </a:lnTo>
                <a:lnTo>
                  <a:pt x="3440513" y="598518"/>
                </a:lnTo>
                <a:lnTo>
                  <a:pt x="3498827" y="602269"/>
                </a:lnTo>
                <a:lnTo>
                  <a:pt x="3557141" y="591457"/>
                </a:lnTo>
                <a:lnTo>
                  <a:pt x="3615454" y="599874"/>
                </a:lnTo>
                <a:lnTo>
                  <a:pt x="3673768" y="603264"/>
                </a:lnTo>
                <a:lnTo>
                  <a:pt x="3732082" y="600817"/>
                </a:lnTo>
                <a:lnTo>
                  <a:pt x="3790396" y="593935"/>
                </a:lnTo>
                <a:lnTo>
                  <a:pt x="3848710" y="572565"/>
                </a:lnTo>
                <a:lnTo>
                  <a:pt x="3907023" y="559405"/>
                </a:lnTo>
                <a:lnTo>
                  <a:pt x="3965337" y="547246"/>
                </a:lnTo>
                <a:lnTo>
                  <a:pt x="4023651" y="530496"/>
                </a:lnTo>
                <a:lnTo>
                  <a:pt x="4081965" y="511117"/>
                </a:lnTo>
                <a:lnTo>
                  <a:pt x="4140279" y="499503"/>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E2622F">
              <a:alpha val="12000"/>
            </a:srgbClr>
          </a:solidFill>
          <a:ln w="16510">
            <a:solidFill>
              <a:srgbClr val="E2622F"/>
            </a:solidFill>
            <a:prstDash val="solid"/>
          </a:ln>
        </p:spPr>
      </p:sp>
      <p:sp>
        <p:nvSpPr>
          <p:cNvPr id="17" name="Shape 15"/>
          <p:cNvSpPr/>
          <p:nvPr/>
        </p:nvSpPr>
        <p:spPr>
          <a:xfrm>
            <a:off x="2815188" y="3535154"/>
            <a:ext cx="5598123" cy="0"/>
          </a:xfrm>
          <a:prstGeom prst="line">
            <a:avLst/>
          </a:prstGeom>
          <a:noFill/>
          <a:ln w="20320">
            <a:solidFill>
              <a:srgbClr val="15181C">
                <a:alpha val="55000"/>
              </a:srgbClr>
            </a:solidFill>
            <a:prstDash val="solid"/>
          </a:ln>
        </p:spPr>
      </p:sp>
      <p:sp>
        <p:nvSpPr>
          <p:cNvPr id="18" name="Shape 16"/>
          <p:cNvSpPr/>
          <p:nvPr/>
        </p:nvSpPr>
        <p:spPr>
          <a:xfrm>
            <a:off x="5472268" y="3469234"/>
            <a:ext cx="283963" cy="131840"/>
          </a:xfrm>
          <a:prstGeom prst="roundRect">
            <a:avLst>
              <a:gd name="adj" fmla="val 13871"/>
            </a:avLst>
          </a:prstGeom>
          <a:solidFill>
            <a:srgbClr val="E2622F">
              <a:alpha val="14000"/>
            </a:srgbClr>
          </a:solidFill>
          <a:ln w="9525">
            <a:solidFill>
              <a:srgbClr val="E2622F"/>
            </a:solidFill>
            <a:prstDash val="solid"/>
          </a:ln>
        </p:spPr>
      </p:sp>
      <p:sp>
        <p:nvSpPr>
          <p:cNvPr id="19" name="Shape 17"/>
          <p:cNvSpPr/>
          <p:nvPr/>
        </p:nvSpPr>
        <p:spPr>
          <a:xfrm>
            <a:off x="5472268" y="3484446"/>
            <a:ext cx="283963" cy="101415"/>
          </a:xfrm>
          <a:custGeom>
            <a:avLst/>
            <a:gdLst/>
            <a:ahLst/>
            <a:cxnLst/>
            <a:rect l="l" t="t" r="r" b="b"/>
            <a:pathLst>
              <a:path w="283963" h="101415">
                <a:moveTo>
                  <a:pt x="0" y="10142"/>
                </a:moveTo>
                <a:lnTo>
                  <a:pt x="47327" y="91274"/>
                </a:lnTo>
                <a:lnTo>
                  <a:pt x="94654" y="10142"/>
                </a:lnTo>
                <a:lnTo>
                  <a:pt x="141981" y="91274"/>
                </a:lnTo>
                <a:lnTo>
                  <a:pt x="189309" y="10142"/>
                </a:lnTo>
                <a:lnTo>
                  <a:pt x="236636" y="91274"/>
                </a:lnTo>
                <a:lnTo>
                  <a:pt x="283963" y="10142"/>
                </a:lnTo>
              </a:path>
            </a:pathLst>
          </a:custGeom>
          <a:ln w="17780">
            <a:solidFill>
              <a:srgbClr val="E2622F"/>
            </a:solidFill>
            <a:prstDash val="solid"/>
          </a:ln>
        </p:spPr>
      </p:sp>
      <p:sp>
        <p:nvSpPr>
          <p:cNvPr id="20" name="Shape 18"/>
          <p:cNvSpPr/>
          <p:nvPr/>
        </p:nvSpPr>
        <p:spPr>
          <a:xfrm>
            <a:off x="4143728" y="3479375"/>
            <a:ext cx="223114" cy="111557"/>
          </a:xfrm>
          <a:prstGeom prst="roundRect">
            <a:avLst>
              <a:gd name="adj" fmla="val 16393"/>
            </a:avLst>
          </a:prstGeom>
          <a:solidFill>
            <a:srgbClr val="4E8E8A">
              <a:alpha val="80000"/>
            </a:srgbClr>
          </a:solidFill>
          <a:ln w="13970">
            <a:solidFill>
              <a:srgbClr val="4E8E8A"/>
            </a:solidFill>
            <a:prstDash val="solid"/>
          </a:ln>
        </p:spPr>
      </p:sp>
      <p:sp>
        <p:nvSpPr>
          <p:cNvPr id="21" name="Shape 19"/>
          <p:cNvSpPr/>
          <p:nvPr/>
        </p:nvSpPr>
        <p:spPr>
          <a:xfrm>
            <a:off x="6861658" y="3479375"/>
            <a:ext cx="223114" cy="111557"/>
          </a:xfrm>
          <a:prstGeom prst="roundRect">
            <a:avLst>
              <a:gd name="adj" fmla="val 16393"/>
            </a:avLst>
          </a:prstGeom>
          <a:solidFill>
            <a:srgbClr val="4E8E8A">
              <a:alpha val="80000"/>
            </a:srgbClr>
          </a:solidFill>
          <a:ln w="13970">
            <a:solidFill>
              <a:srgbClr val="4E8E8A"/>
            </a:solidFill>
            <a:prstDash val="solid"/>
          </a:ln>
        </p:spPr>
      </p:sp>
      <p:sp>
        <p:nvSpPr>
          <p:cNvPr id="22" name="Text 20"/>
          <p:cNvSpPr txBox="1"/>
          <p:nvPr/>
        </p:nvSpPr>
        <p:spPr>
          <a:xfrm>
            <a:off x="8616142" y="3433738"/>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big drop</a:t>
            </a:r>
            <a:endParaRPr lang="en-US" sz="1200" dirty="0"/>
          </a:p>
        </p:txBody>
      </p:sp>
      <p:sp>
        <p:nvSpPr>
          <p:cNvPr id="23" name="Text 21"/>
          <p:cNvSpPr txBox="1"/>
          <p:nvPr/>
        </p:nvSpPr>
        <p:spPr>
          <a:xfrm>
            <a:off x="644901" y="4062513"/>
            <a:ext cx="2129721"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scramble a partner</a:t>
            </a:r>
            <a:endParaRPr lang="en-US" sz="1200" dirty="0"/>
          </a:p>
        </p:txBody>
      </p:sp>
      <p:sp>
        <p:nvSpPr>
          <p:cNvPr id="24" name="Shape 22"/>
          <p:cNvSpPr/>
          <p:nvPr/>
        </p:nvSpPr>
        <p:spPr>
          <a:xfrm>
            <a:off x="2815188" y="3535154"/>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7"/>
                </a:lnTo>
                <a:lnTo>
                  <a:pt x="583138" y="604517"/>
                </a:lnTo>
                <a:lnTo>
                  <a:pt x="641452" y="596078"/>
                </a:lnTo>
                <a:lnTo>
                  <a:pt x="699765" y="602317"/>
                </a:lnTo>
                <a:lnTo>
                  <a:pt x="758079" y="607056"/>
                </a:lnTo>
                <a:lnTo>
                  <a:pt x="816393" y="604597"/>
                </a:lnTo>
                <a:lnTo>
                  <a:pt x="874707" y="601755"/>
                </a:lnTo>
                <a:lnTo>
                  <a:pt x="933021" y="597730"/>
                </a:lnTo>
                <a:lnTo>
                  <a:pt x="991334" y="598771"/>
                </a:lnTo>
                <a:lnTo>
                  <a:pt x="1049648" y="600110"/>
                </a:lnTo>
                <a:lnTo>
                  <a:pt x="1107962" y="602869"/>
                </a:lnTo>
                <a:lnTo>
                  <a:pt x="1166276" y="594542"/>
                </a:lnTo>
                <a:lnTo>
                  <a:pt x="1224589" y="589697"/>
                </a:lnTo>
                <a:lnTo>
                  <a:pt x="1282903" y="585662"/>
                </a:lnTo>
                <a:lnTo>
                  <a:pt x="1341217" y="582347"/>
                </a:lnTo>
                <a:lnTo>
                  <a:pt x="1399531" y="586176"/>
                </a:lnTo>
                <a:lnTo>
                  <a:pt x="1457845" y="582581"/>
                </a:lnTo>
                <a:lnTo>
                  <a:pt x="1516158" y="581868"/>
                </a:lnTo>
                <a:lnTo>
                  <a:pt x="1574472" y="586733"/>
                </a:lnTo>
                <a:lnTo>
                  <a:pt x="1632786" y="588541"/>
                </a:lnTo>
                <a:lnTo>
                  <a:pt x="1691100" y="592444"/>
                </a:lnTo>
                <a:lnTo>
                  <a:pt x="1749413" y="600966"/>
                </a:lnTo>
                <a:lnTo>
                  <a:pt x="1807727" y="597925"/>
                </a:lnTo>
                <a:lnTo>
                  <a:pt x="1866041" y="603880"/>
                </a:lnTo>
                <a:lnTo>
                  <a:pt x="1924355" y="599266"/>
                </a:lnTo>
                <a:lnTo>
                  <a:pt x="1982669" y="591438"/>
                </a:lnTo>
                <a:lnTo>
                  <a:pt x="2040982" y="600562"/>
                </a:lnTo>
                <a:lnTo>
                  <a:pt x="2099296" y="589050"/>
                </a:lnTo>
                <a:lnTo>
                  <a:pt x="2157610" y="583335"/>
                </a:lnTo>
                <a:lnTo>
                  <a:pt x="2215924" y="562424"/>
                </a:lnTo>
                <a:lnTo>
                  <a:pt x="2274237" y="529036"/>
                </a:lnTo>
                <a:lnTo>
                  <a:pt x="2332551" y="509600"/>
                </a:lnTo>
                <a:lnTo>
                  <a:pt x="2390865" y="466275"/>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E2622F">
              <a:alpha val="12000"/>
            </a:srgbClr>
          </a:solidFill>
          <a:ln w="16510">
            <a:solidFill>
              <a:srgbClr val="E2622F"/>
            </a:solidFill>
            <a:prstDash val="solid"/>
          </a:ln>
        </p:spPr>
      </p:sp>
      <p:sp>
        <p:nvSpPr>
          <p:cNvPr id="25" name="Shape 23"/>
          <p:cNvSpPr/>
          <p:nvPr/>
        </p:nvSpPr>
        <p:spPr>
          <a:xfrm>
            <a:off x="2815188" y="4163928"/>
            <a:ext cx="5598123" cy="0"/>
          </a:xfrm>
          <a:prstGeom prst="line">
            <a:avLst/>
          </a:prstGeom>
          <a:noFill/>
          <a:ln w="20320">
            <a:solidFill>
              <a:srgbClr val="15181C">
                <a:alpha val="55000"/>
              </a:srgbClr>
            </a:solidFill>
            <a:prstDash val="solid"/>
          </a:ln>
        </p:spPr>
      </p:sp>
      <p:sp>
        <p:nvSpPr>
          <p:cNvPr id="26" name="Shape 24"/>
          <p:cNvSpPr/>
          <p:nvPr/>
        </p:nvSpPr>
        <p:spPr>
          <a:xfrm>
            <a:off x="4133587" y="4098008"/>
            <a:ext cx="243397" cy="131840"/>
          </a:xfrm>
          <a:prstGeom prst="roundRect">
            <a:avLst>
              <a:gd name="adj" fmla="val 13871"/>
            </a:avLst>
          </a:prstGeom>
          <a:solidFill>
            <a:srgbClr val="E2622F">
              <a:alpha val="14000"/>
            </a:srgbClr>
          </a:solidFill>
          <a:ln w="9525">
            <a:solidFill>
              <a:srgbClr val="E2622F"/>
            </a:solidFill>
            <a:prstDash val="solid"/>
          </a:ln>
        </p:spPr>
      </p:sp>
      <p:sp>
        <p:nvSpPr>
          <p:cNvPr id="27" name="Shape 25"/>
          <p:cNvSpPr/>
          <p:nvPr/>
        </p:nvSpPr>
        <p:spPr>
          <a:xfrm>
            <a:off x="4133587" y="4113221"/>
            <a:ext cx="243397" cy="101415"/>
          </a:xfrm>
          <a:custGeom>
            <a:avLst/>
            <a:gdLst/>
            <a:ahLst/>
            <a:cxnLst/>
            <a:rect l="l" t="t" r="r" b="b"/>
            <a:pathLst>
              <a:path w="243397" h="101415">
                <a:moveTo>
                  <a:pt x="0" y="10142"/>
                </a:moveTo>
                <a:lnTo>
                  <a:pt x="48679" y="91274"/>
                </a:lnTo>
                <a:lnTo>
                  <a:pt x="97359" y="10142"/>
                </a:lnTo>
                <a:lnTo>
                  <a:pt x="146038" y="91274"/>
                </a:lnTo>
                <a:lnTo>
                  <a:pt x="194717" y="10142"/>
                </a:lnTo>
                <a:lnTo>
                  <a:pt x="243397" y="91274"/>
                </a:lnTo>
              </a:path>
            </a:pathLst>
          </a:custGeom>
          <a:ln w="17780">
            <a:solidFill>
              <a:srgbClr val="E2622F"/>
            </a:solidFill>
            <a:prstDash val="solid"/>
          </a:ln>
        </p:spPr>
      </p:sp>
      <p:sp>
        <p:nvSpPr>
          <p:cNvPr id="28" name="Shape 26"/>
          <p:cNvSpPr/>
          <p:nvPr/>
        </p:nvSpPr>
        <p:spPr>
          <a:xfrm>
            <a:off x="5482410" y="4108150"/>
            <a:ext cx="263680" cy="111557"/>
          </a:xfrm>
          <a:prstGeom prst="roundRect">
            <a:avLst>
              <a:gd name="adj" fmla="val 16393"/>
            </a:avLst>
          </a:prstGeom>
          <a:solidFill>
            <a:srgbClr val="D9A32B">
              <a:alpha val="80000"/>
            </a:srgbClr>
          </a:solidFill>
          <a:ln w="13970">
            <a:solidFill>
              <a:srgbClr val="D9A32B"/>
            </a:solidFill>
            <a:prstDash val="solid"/>
          </a:ln>
        </p:spPr>
      </p:sp>
      <p:sp>
        <p:nvSpPr>
          <p:cNvPr id="29" name="Shape 27"/>
          <p:cNvSpPr/>
          <p:nvPr/>
        </p:nvSpPr>
        <p:spPr>
          <a:xfrm>
            <a:off x="6861658" y="4108150"/>
            <a:ext cx="223114" cy="111557"/>
          </a:xfrm>
          <a:prstGeom prst="roundRect">
            <a:avLst>
              <a:gd name="adj" fmla="val 16393"/>
            </a:avLst>
          </a:prstGeom>
          <a:solidFill>
            <a:srgbClr val="4E8E8A">
              <a:alpha val="80000"/>
            </a:srgbClr>
          </a:solidFill>
          <a:ln w="13970">
            <a:solidFill>
              <a:srgbClr val="4E8E8A"/>
            </a:solidFill>
            <a:prstDash val="solid"/>
          </a:ln>
        </p:spPr>
      </p:sp>
      <p:sp>
        <p:nvSpPr>
          <p:cNvPr id="30" name="Text 28"/>
          <p:cNvSpPr txBox="1"/>
          <p:nvPr/>
        </p:nvSpPr>
        <p:spPr>
          <a:xfrm>
            <a:off x="8616142" y="4062513"/>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small drop</a:t>
            </a:r>
            <a:endParaRPr lang="en-US" sz="1200" dirty="0"/>
          </a:p>
        </p:txBody>
      </p:sp>
      <p:sp>
        <p:nvSpPr>
          <p:cNvPr id="31" name="Text 29"/>
          <p:cNvSpPr txBox="1"/>
          <p:nvPr/>
        </p:nvSpPr>
        <p:spPr>
          <a:xfrm>
            <a:off x="644901" y="4691288"/>
            <a:ext cx="2129721" cy="202831"/>
          </a:xfrm>
          <a:prstGeom prst="rect">
            <a:avLst/>
          </a:prstGeom>
          <a:noFill/>
          <a:ln/>
        </p:spPr>
        <p:txBody>
          <a:bodyPr wrap="square" lIns="0" tIns="0" rIns="0" bIns="0" rtlCol="0" anchor="ctr"/>
          <a:lstStyle/>
          <a:p>
            <a:pPr algn="l" indent="0" marL="0">
              <a:lnSpc>
                <a:spcPct val="95000"/>
              </a:lnSpc>
              <a:buNone/>
            </a:pPr>
            <a:r>
              <a:rPr lang="en-US" sz="1200" dirty="0">
                <a:solidFill>
                  <a:srgbClr val="5A6471"/>
                </a:solidFill>
                <a:latin typeface="Arial" pitchFamily="34" charset="0"/>
                <a:ea typeface="Arial" pitchFamily="34" charset="-122"/>
                <a:cs typeface="Arial" pitchFamily="34" charset="-120"/>
              </a:rPr>
              <a:t>scramble an empty window</a:t>
            </a:r>
            <a:endParaRPr lang="en-US" sz="1200" dirty="0"/>
          </a:p>
        </p:txBody>
      </p:sp>
      <p:sp>
        <p:nvSpPr>
          <p:cNvPr id="32" name="Shape 30"/>
          <p:cNvSpPr/>
          <p:nvPr/>
        </p:nvSpPr>
        <p:spPr>
          <a:xfrm>
            <a:off x="2815188" y="4163928"/>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4"/>
                </a:lnTo>
                <a:lnTo>
                  <a:pt x="1516158" y="488885"/>
                </a:lnTo>
                <a:lnTo>
                  <a:pt x="1574472" y="509387"/>
                </a:lnTo>
                <a:lnTo>
                  <a:pt x="1632786" y="530443"/>
                </a:lnTo>
                <a:lnTo>
                  <a:pt x="1691100" y="553038"/>
                </a:lnTo>
                <a:lnTo>
                  <a:pt x="1749413" y="576831"/>
                </a:lnTo>
                <a:lnTo>
                  <a:pt x="1807727" y="584577"/>
                </a:lnTo>
                <a:lnTo>
                  <a:pt x="1866041" y="597214"/>
                </a:lnTo>
                <a:lnTo>
                  <a:pt x="1924355" y="596260"/>
                </a:lnTo>
                <a:lnTo>
                  <a:pt x="1982669" y="590214"/>
                </a:lnTo>
                <a:lnTo>
                  <a:pt x="2040982" y="600112"/>
                </a:lnTo>
                <a:lnTo>
                  <a:pt x="2099296" y="588901"/>
                </a:lnTo>
                <a:lnTo>
                  <a:pt x="2157610" y="583290"/>
                </a:lnTo>
                <a:lnTo>
                  <a:pt x="2215924" y="562412"/>
                </a:lnTo>
                <a:lnTo>
                  <a:pt x="2274237" y="529033"/>
                </a:lnTo>
                <a:lnTo>
                  <a:pt x="2332551" y="509599"/>
                </a:lnTo>
                <a:lnTo>
                  <a:pt x="2390865" y="466274"/>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55637A">
              <a:alpha val="12000"/>
            </a:srgbClr>
          </a:solidFill>
          <a:ln w="16510">
            <a:solidFill>
              <a:srgbClr val="55637A"/>
            </a:solidFill>
            <a:prstDash val="solid"/>
          </a:ln>
        </p:spPr>
      </p:sp>
      <p:sp>
        <p:nvSpPr>
          <p:cNvPr id="33" name="Shape 31"/>
          <p:cNvSpPr/>
          <p:nvPr/>
        </p:nvSpPr>
        <p:spPr>
          <a:xfrm>
            <a:off x="2815188" y="4792703"/>
            <a:ext cx="5598123" cy="0"/>
          </a:xfrm>
          <a:prstGeom prst="line">
            <a:avLst/>
          </a:prstGeom>
          <a:noFill/>
          <a:ln w="20320">
            <a:solidFill>
              <a:srgbClr val="15181C">
                <a:alpha val="55000"/>
              </a:srgbClr>
            </a:solidFill>
            <a:prstDash val="solid"/>
          </a:ln>
        </p:spPr>
      </p:sp>
      <p:sp>
        <p:nvSpPr>
          <p:cNvPr id="34" name="Shape 32"/>
          <p:cNvSpPr/>
          <p:nvPr/>
        </p:nvSpPr>
        <p:spPr>
          <a:xfrm>
            <a:off x="4924626" y="4726783"/>
            <a:ext cx="243397" cy="131840"/>
          </a:xfrm>
          <a:prstGeom prst="roundRect">
            <a:avLst>
              <a:gd name="adj" fmla="val 13871"/>
            </a:avLst>
          </a:prstGeom>
          <a:solidFill>
            <a:srgbClr val="5A6471">
              <a:alpha val="14000"/>
            </a:srgbClr>
          </a:solidFill>
          <a:ln w="9525">
            <a:solidFill>
              <a:srgbClr val="5A6471"/>
            </a:solidFill>
            <a:prstDash val="solid"/>
          </a:ln>
        </p:spPr>
      </p:sp>
      <p:sp>
        <p:nvSpPr>
          <p:cNvPr id="35" name="Shape 33"/>
          <p:cNvSpPr/>
          <p:nvPr/>
        </p:nvSpPr>
        <p:spPr>
          <a:xfrm>
            <a:off x="4924626" y="4741995"/>
            <a:ext cx="243397" cy="101415"/>
          </a:xfrm>
          <a:custGeom>
            <a:avLst/>
            <a:gdLst/>
            <a:ahLst/>
            <a:cxnLst/>
            <a:rect l="l" t="t" r="r" b="b"/>
            <a:pathLst>
              <a:path w="243397" h="101415">
                <a:moveTo>
                  <a:pt x="0" y="10142"/>
                </a:moveTo>
                <a:lnTo>
                  <a:pt x="48679" y="91274"/>
                </a:lnTo>
                <a:lnTo>
                  <a:pt x="97359" y="10142"/>
                </a:lnTo>
                <a:lnTo>
                  <a:pt x="146038" y="91274"/>
                </a:lnTo>
                <a:lnTo>
                  <a:pt x="194717" y="10142"/>
                </a:lnTo>
                <a:lnTo>
                  <a:pt x="243397" y="91274"/>
                </a:lnTo>
              </a:path>
            </a:pathLst>
          </a:custGeom>
          <a:ln w="17780">
            <a:solidFill>
              <a:srgbClr val="5A6471"/>
            </a:solidFill>
            <a:prstDash val="solid"/>
          </a:ln>
        </p:spPr>
      </p:sp>
      <p:sp>
        <p:nvSpPr>
          <p:cNvPr id="36" name="Shape 34"/>
          <p:cNvSpPr/>
          <p:nvPr/>
        </p:nvSpPr>
        <p:spPr>
          <a:xfrm>
            <a:off x="4884060" y="4706500"/>
            <a:ext cx="324529" cy="172406"/>
          </a:xfrm>
          <a:prstGeom prst="roundRect">
            <a:avLst>
              <a:gd name="adj" fmla="val 10608"/>
            </a:avLst>
          </a:prstGeom>
          <a:ln w="13970">
            <a:solidFill>
              <a:srgbClr val="5A6471"/>
            </a:solidFill>
            <a:prstDash val="dash"/>
          </a:ln>
        </p:spPr>
      </p:sp>
      <p:sp>
        <p:nvSpPr>
          <p:cNvPr id="37" name="Shape 35"/>
          <p:cNvSpPr/>
          <p:nvPr/>
        </p:nvSpPr>
        <p:spPr>
          <a:xfrm>
            <a:off x="5482410" y="4736925"/>
            <a:ext cx="263680" cy="111557"/>
          </a:xfrm>
          <a:prstGeom prst="roundRect">
            <a:avLst>
              <a:gd name="adj" fmla="val 16393"/>
            </a:avLst>
          </a:prstGeom>
          <a:solidFill>
            <a:srgbClr val="D9A32B">
              <a:alpha val="80000"/>
            </a:srgbClr>
          </a:solidFill>
          <a:ln w="13970">
            <a:solidFill>
              <a:srgbClr val="D9A32B"/>
            </a:solidFill>
            <a:prstDash val="solid"/>
          </a:ln>
        </p:spPr>
      </p:sp>
      <p:sp>
        <p:nvSpPr>
          <p:cNvPr id="38" name="Shape 36"/>
          <p:cNvSpPr/>
          <p:nvPr/>
        </p:nvSpPr>
        <p:spPr>
          <a:xfrm>
            <a:off x="4143728" y="4736925"/>
            <a:ext cx="223114" cy="111557"/>
          </a:xfrm>
          <a:prstGeom prst="roundRect">
            <a:avLst>
              <a:gd name="adj" fmla="val 16393"/>
            </a:avLst>
          </a:prstGeom>
          <a:solidFill>
            <a:srgbClr val="4E8E8A">
              <a:alpha val="80000"/>
            </a:srgbClr>
          </a:solidFill>
          <a:ln w="13970">
            <a:solidFill>
              <a:srgbClr val="4E8E8A"/>
            </a:solidFill>
            <a:prstDash val="solid"/>
          </a:ln>
        </p:spPr>
      </p:sp>
      <p:sp>
        <p:nvSpPr>
          <p:cNvPr id="39" name="Shape 37"/>
          <p:cNvSpPr/>
          <p:nvPr/>
        </p:nvSpPr>
        <p:spPr>
          <a:xfrm>
            <a:off x="6861658" y="4736925"/>
            <a:ext cx="223114" cy="111557"/>
          </a:xfrm>
          <a:prstGeom prst="roundRect">
            <a:avLst>
              <a:gd name="adj" fmla="val 16393"/>
            </a:avLst>
          </a:prstGeom>
          <a:solidFill>
            <a:srgbClr val="4E8E8A">
              <a:alpha val="80000"/>
            </a:srgbClr>
          </a:solidFill>
          <a:ln w="13970">
            <a:solidFill>
              <a:srgbClr val="4E8E8A"/>
            </a:solidFill>
            <a:prstDash val="solid"/>
          </a:ln>
        </p:spPr>
      </p:sp>
      <p:sp>
        <p:nvSpPr>
          <p:cNvPr id="40" name="Text 38"/>
          <p:cNvSpPr txBox="1"/>
          <p:nvPr/>
        </p:nvSpPr>
        <p:spPr>
          <a:xfrm>
            <a:off x="8616142" y="4691288"/>
            <a:ext cx="1521229" cy="202831"/>
          </a:xfrm>
          <a:prstGeom prst="rect">
            <a:avLst/>
          </a:prstGeom>
          <a:noFill/>
          <a:ln/>
        </p:spPr>
        <p:txBody>
          <a:bodyPr wrap="square" lIns="0" tIns="0" rIns="0" bIns="0" rtlCol="0" anchor="ctr"/>
          <a:lstStyle/>
          <a:p>
            <a:pPr algn="l" indent="0" marL="0">
              <a:lnSpc>
                <a:spcPct val="95000"/>
              </a:lnSpc>
              <a:buNone/>
            </a:pPr>
            <a:r>
              <a:rPr lang="en-US" sz="1200" dirty="0">
                <a:solidFill>
                  <a:srgbClr val="5A6471"/>
                </a:solidFill>
                <a:latin typeface="Arial" pitchFamily="34" charset="0"/>
                <a:ea typeface="Arial" pitchFamily="34" charset="-122"/>
                <a:cs typeface="Arial" pitchFamily="34" charset="-120"/>
              </a:rPr>
              <a:t>no drop</a:t>
            </a:r>
            <a:endParaRPr lang="en-US" sz="1200" dirty="0"/>
          </a:p>
        </p:txBody>
      </p:sp>
      <p:sp>
        <p:nvSpPr>
          <p:cNvPr id="41" name="Shape 39"/>
          <p:cNvSpPr/>
          <p:nvPr/>
        </p:nvSpPr>
        <p:spPr>
          <a:xfrm>
            <a:off x="9711427" y="4163928"/>
            <a:ext cx="101415" cy="0"/>
          </a:xfrm>
          <a:prstGeom prst="line">
            <a:avLst/>
          </a:prstGeom>
          <a:noFill/>
          <a:ln w="15240">
            <a:solidFill>
              <a:srgbClr val="15181C"/>
            </a:solidFill>
            <a:prstDash val="solid"/>
          </a:ln>
        </p:spPr>
      </p:sp>
      <p:sp>
        <p:nvSpPr>
          <p:cNvPr id="42" name="Shape 40"/>
          <p:cNvSpPr/>
          <p:nvPr/>
        </p:nvSpPr>
        <p:spPr>
          <a:xfrm>
            <a:off x="9812842" y="4163928"/>
            <a:ext cx="0" cy="628775"/>
          </a:xfrm>
          <a:prstGeom prst="line">
            <a:avLst/>
          </a:prstGeom>
          <a:noFill/>
          <a:ln w="15240">
            <a:solidFill>
              <a:srgbClr val="15181C"/>
            </a:solidFill>
            <a:prstDash val="solid"/>
          </a:ln>
        </p:spPr>
      </p:sp>
      <p:sp>
        <p:nvSpPr>
          <p:cNvPr id="43" name="Shape 41"/>
          <p:cNvSpPr/>
          <p:nvPr/>
        </p:nvSpPr>
        <p:spPr>
          <a:xfrm>
            <a:off x="9711427" y="4792703"/>
            <a:ext cx="101415" cy="0"/>
          </a:xfrm>
          <a:prstGeom prst="line">
            <a:avLst/>
          </a:prstGeom>
          <a:noFill/>
          <a:ln w="15240">
            <a:solidFill>
              <a:srgbClr val="15181C"/>
            </a:solidFill>
            <a:prstDash val="solid"/>
          </a:ln>
        </p:spPr>
      </p:sp>
      <p:sp>
        <p:nvSpPr>
          <p:cNvPr id="44" name="Text 42"/>
          <p:cNvSpPr txBox="1"/>
          <p:nvPr/>
        </p:nvSpPr>
        <p:spPr>
          <a:xfrm>
            <a:off x="9893974" y="4305910"/>
            <a:ext cx="182547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partner's effect</a:t>
            </a:r>
            <a:endParaRPr lang="en-US" sz="1100" dirty="0"/>
          </a:p>
        </p:txBody>
      </p:sp>
      <p:sp>
        <p:nvSpPr>
          <p:cNvPr id="45" name="Text 43"/>
          <p:cNvSpPr txBox="1"/>
          <p:nvPr/>
        </p:nvSpPr>
        <p:spPr>
          <a:xfrm>
            <a:off x="9893974" y="4468174"/>
            <a:ext cx="1825475"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is the difference</a:t>
            </a:r>
            <a:endParaRPr lang="en-US" sz="1200" dirty="0"/>
          </a:p>
        </p:txBody>
      </p:sp>
      <p:sp>
        <p:nvSpPr>
          <p:cNvPr id="46" name="Shape 44"/>
          <p:cNvSpPr/>
          <p:nvPr/>
        </p:nvSpPr>
        <p:spPr>
          <a:xfrm>
            <a:off x="644901" y="5137515"/>
            <a:ext cx="10871717" cy="0"/>
          </a:xfrm>
          <a:prstGeom prst="line">
            <a:avLst/>
          </a:prstGeom>
          <a:noFill/>
          <a:ln w="12700">
            <a:solidFill>
              <a:srgbClr val="AFB5BD"/>
            </a:solidFill>
            <a:prstDash val="dash"/>
          </a:ln>
        </p:spPr>
      </p:sp>
      <p:sp>
        <p:nvSpPr>
          <p:cNvPr id="47" name="Text 45"/>
          <p:cNvSpPr txBox="1"/>
          <p:nvPr/>
        </p:nvSpPr>
        <p:spPr>
          <a:xfrm>
            <a:off x="644901" y="5259213"/>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empty window is the same width, at the mirrored distance, with no footprint in it — so the comparison never leaves the site</a:t>
            </a:r>
            <a:endParaRPr lang="en-US" sz="1100" dirty="0"/>
          </a:p>
        </p:txBody>
      </p:sp>
      <p:sp>
        <p:nvSpPr>
          <p:cNvPr id="48" name="Shape 46"/>
          <p:cNvSpPr/>
          <p:nvPr/>
        </p:nvSpPr>
        <p:spPr>
          <a:xfrm>
            <a:off x="502920" y="5989320"/>
            <a:ext cx="50292" cy="566928"/>
          </a:xfrm>
          <a:prstGeom prst="rect">
            <a:avLst/>
          </a:prstGeom>
          <a:solidFill>
            <a:srgbClr val="3F3F3F"/>
          </a:solidFill>
          <a:ln w="12700">
            <a:solidFill>
              <a:srgbClr val="333333"/>
            </a:solidFill>
            <a:prstDash val="solid"/>
          </a:ln>
        </p:spPr>
      </p:sp>
      <p:sp>
        <p:nvSpPr>
          <p:cNvPr id="49" name="Text 47"/>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Each partner motif is scored against a footprint-free window of the same width at the mirrored distance, so the two differ only in whether a motif was there. Everything stays inside one site.</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sites that lose AP-1 let go of it — whether with age or exercise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The site's own AP-1 motif and each partner motif shuffled separately inside the same window; partners net of a width- and distance-matched footprint-free control. Box, median and IQR, whiskers 5th–95th centile, notch a 95% interval on the median. Classes as given: Up = AP-1 gained, Down = AP-1 lost.</a:t>
            </a:r>
            <a:endParaRPr lang="en-US" sz="1250" dirty="0"/>
          </a:p>
        </p:txBody>
      </p:sp>
      <p:pic>
        <p:nvPicPr>
          <p:cNvPr id="4" name="Image 0" descr="/Users/z5162865/WongLab/AlphaGenome_Ap1/Analysis/slide_figures/r_fb_specificity.png">    </p:cNvPr>
          <p:cNvPicPr>
            <a:picLocks noChangeAspect="1"/>
          </p:cNvPicPr>
          <p:nvPr/>
        </p:nvPicPr>
        <p:blipFill>
          <a:blip r:embed="rId1"/>
          <a:stretch>
            <a:fillRect/>
          </a:stretch>
        </p:blipFill>
        <p:spPr>
          <a:xfrm>
            <a:off x="1005840" y="1384808"/>
            <a:ext cx="10149840" cy="3759200"/>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It is the direction that matters, not the stimulus. Both losing classes depend less on their own AP-1 motif — Age Down by 36%, Exercise Down by 21% — while both gaining classes are indistinguishable from Stable. No class differs at its partner motifs.</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Scanning the whole window, tile by tile and base by base</a:t>
            </a:r>
            <a:endParaRPr lang="en-US" sz="2800" dirty="0"/>
          </a:p>
        </p:txBody>
      </p:sp>
      <p:sp>
        <p:nvSpPr>
          <p:cNvPr id="3" name="Text 1"/>
          <p:cNvSpPr txBox="1"/>
          <p:nvPr/>
        </p:nvSpPr>
        <p:spPr>
          <a:xfrm>
            <a:off x="644901" y="1618405"/>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WALK A 10 bp WINDOW ACROSS THE LOCUS</a:t>
            </a:r>
            <a:endParaRPr lang="en-US" sz="1300" dirty="0"/>
          </a:p>
        </p:txBody>
      </p:sp>
      <p:sp>
        <p:nvSpPr>
          <p:cNvPr id="4" name="Shape 2"/>
          <p:cNvSpPr/>
          <p:nvPr/>
        </p:nvSpPr>
        <p:spPr>
          <a:xfrm>
            <a:off x="2145847" y="1882085"/>
            <a:ext cx="7707561" cy="628775"/>
          </a:xfrm>
          <a:custGeom>
            <a:avLst/>
            <a:gdLst/>
            <a:ahLst/>
            <a:cxnLst/>
            <a:rect l="l" t="t" r="r" b="b"/>
            <a:pathLst>
              <a:path w="7707561" h="628775">
                <a:moveTo>
                  <a:pt x="0" y="628775"/>
                </a:moveTo>
                <a:lnTo>
                  <a:pt x="0" y="603339"/>
                </a:lnTo>
                <a:lnTo>
                  <a:pt x="80287" y="603994"/>
                </a:lnTo>
                <a:lnTo>
                  <a:pt x="160574" y="603482"/>
                </a:lnTo>
                <a:lnTo>
                  <a:pt x="240861" y="607197"/>
                </a:lnTo>
                <a:lnTo>
                  <a:pt x="321148" y="594197"/>
                </a:lnTo>
                <a:lnTo>
                  <a:pt x="401435" y="603792"/>
                </a:lnTo>
                <a:lnTo>
                  <a:pt x="481723" y="604529"/>
                </a:lnTo>
                <a:lnTo>
                  <a:pt x="562010" y="608405"/>
                </a:lnTo>
                <a:lnTo>
                  <a:pt x="642297" y="606747"/>
                </a:lnTo>
                <a:lnTo>
                  <a:pt x="722584" y="593177"/>
                </a:lnTo>
                <a:lnTo>
                  <a:pt x="802871" y="602925"/>
                </a:lnTo>
                <a:lnTo>
                  <a:pt x="883158" y="607054"/>
                </a:lnTo>
                <a:lnTo>
                  <a:pt x="963445" y="605123"/>
                </a:lnTo>
                <a:lnTo>
                  <a:pt x="1043732" y="608447"/>
                </a:lnTo>
                <a:lnTo>
                  <a:pt x="1124019" y="595585"/>
                </a:lnTo>
                <a:lnTo>
                  <a:pt x="1204306" y="600769"/>
                </a:lnTo>
                <a:lnTo>
                  <a:pt x="1284593" y="605803"/>
                </a:lnTo>
                <a:lnTo>
                  <a:pt x="1364881" y="603582"/>
                </a:lnTo>
                <a:lnTo>
                  <a:pt x="1445168" y="605215"/>
                </a:lnTo>
                <a:lnTo>
                  <a:pt x="1525455" y="600241"/>
                </a:lnTo>
                <a:lnTo>
                  <a:pt x="1605742" y="598717"/>
                </a:lnTo>
                <a:lnTo>
                  <a:pt x="1686029" y="601734"/>
                </a:lnTo>
                <a:lnTo>
                  <a:pt x="1766316" y="602538"/>
                </a:lnTo>
                <a:lnTo>
                  <a:pt x="1846603" y="602351"/>
                </a:lnTo>
                <a:lnTo>
                  <a:pt x="1926890" y="605069"/>
                </a:lnTo>
                <a:lnTo>
                  <a:pt x="2007177" y="598609"/>
                </a:lnTo>
                <a:lnTo>
                  <a:pt x="2087464" y="599604"/>
                </a:lnTo>
                <a:lnTo>
                  <a:pt x="2167751" y="600670"/>
                </a:lnTo>
                <a:lnTo>
                  <a:pt x="2248039" y="601462"/>
                </a:lnTo>
                <a:lnTo>
                  <a:pt x="2328326" y="608393"/>
                </a:lnTo>
                <a:lnTo>
                  <a:pt x="2408613" y="601461"/>
                </a:lnTo>
                <a:lnTo>
                  <a:pt x="2488900" y="600283"/>
                </a:lnTo>
                <a:lnTo>
                  <a:pt x="2569187" y="597704"/>
                </a:lnTo>
                <a:lnTo>
                  <a:pt x="2649474" y="602868"/>
                </a:lnTo>
                <a:lnTo>
                  <a:pt x="2729761" y="607026"/>
                </a:lnTo>
                <a:lnTo>
                  <a:pt x="2810048" y="606512"/>
                </a:lnTo>
                <a:lnTo>
                  <a:pt x="2890335" y="602439"/>
                </a:lnTo>
                <a:lnTo>
                  <a:pt x="2970622" y="592998"/>
                </a:lnTo>
                <a:lnTo>
                  <a:pt x="3050909" y="600760"/>
                </a:lnTo>
                <a:lnTo>
                  <a:pt x="3131197" y="594937"/>
                </a:lnTo>
                <a:lnTo>
                  <a:pt x="3211484" y="579476"/>
                </a:lnTo>
                <a:lnTo>
                  <a:pt x="3291771" y="555857"/>
                </a:lnTo>
                <a:lnTo>
                  <a:pt x="3372058" y="502004"/>
                </a:lnTo>
                <a:lnTo>
                  <a:pt x="3452345" y="454720"/>
                </a:lnTo>
                <a:lnTo>
                  <a:pt x="3532632" y="372996"/>
                </a:lnTo>
                <a:lnTo>
                  <a:pt x="3612919" y="279603"/>
                </a:lnTo>
                <a:lnTo>
                  <a:pt x="3693206" y="203210"/>
                </a:lnTo>
                <a:lnTo>
                  <a:pt x="3773493" y="131195"/>
                </a:lnTo>
                <a:lnTo>
                  <a:pt x="3853780" y="120956"/>
                </a:lnTo>
                <a:lnTo>
                  <a:pt x="3934067" y="137232"/>
                </a:lnTo>
                <a:lnTo>
                  <a:pt x="4014355" y="194337"/>
                </a:lnTo>
                <a:lnTo>
                  <a:pt x="4094642" y="286415"/>
                </a:lnTo>
                <a:lnTo>
                  <a:pt x="4174929" y="369306"/>
                </a:lnTo>
                <a:lnTo>
                  <a:pt x="4255216" y="453760"/>
                </a:lnTo>
                <a:lnTo>
                  <a:pt x="4335503" y="506673"/>
                </a:lnTo>
                <a:lnTo>
                  <a:pt x="4415790" y="548970"/>
                </a:lnTo>
                <a:lnTo>
                  <a:pt x="4496077" y="580636"/>
                </a:lnTo>
                <a:lnTo>
                  <a:pt x="4576364" y="596351"/>
                </a:lnTo>
                <a:lnTo>
                  <a:pt x="4656651" y="600624"/>
                </a:lnTo>
                <a:lnTo>
                  <a:pt x="4736938" y="594161"/>
                </a:lnTo>
                <a:lnTo>
                  <a:pt x="4817225" y="599539"/>
                </a:lnTo>
                <a:lnTo>
                  <a:pt x="4897513" y="604756"/>
                </a:lnTo>
                <a:lnTo>
                  <a:pt x="4977800" y="603510"/>
                </a:lnTo>
                <a:lnTo>
                  <a:pt x="5058087" y="605878"/>
                </a:lnTo>
                <a:lnTo>
                  <a:pt x="5138374" y="596168"/>
                </a:lnTo>
                <a:lnTo>
                  <a:pt x="5218661" y="600299"/>
                </a:lnTo>
                <a:lnTo>
                  <a:pt x="5298948" y="606159"/>
                </a:lnTo>
                <a:lnTo>
                  <a:pt x="5379235" y="600288"/>
                </a:lnTo>
                <a:lnTo>
                  <a:pt x="5459522" y="608164"/>
                </a:lnTo>
                <a:lnTo>
                  <a:pt x="5539809" y="599438"/>
                </a:lnTo>
                <a:lnTo>
                  <a:pt x="5620096" y="599503"/>
                </a:lnTo>
                <a:lnTo>
                  <a:pt x="5700383" y="607839"/>
                </a:lnTo>
                <a:lnTo>
                  <a:pt x="5780671" y="599370"/>
                </a:lnTo>
                <a:lnTo>
                  <a:pt x="5860958" y="603774"/>
                </a:lnTo>
                <a:lnTo>
                  <a:pt x="5941245" y="604494"/>
                </a:lnTo>
                <a:lnTo>
                  <a:pt x="6021532" y="598959"/>
                </a:lnTo>
                <a:lnTo>
                  <a:pt x="6101819" y="604562"/>
                </a:lnTo>
                <a:lnTo>
                  <a:pt x="6182106" y="599507"/>
                </a:lnTo>
                <a:lnTo>
                  <a:pt x="6262393" y="599884"/>
                </a:lnTo>
                <a:lnTo>
                  <a:pt x="6342680" y="607756"/>
                </a:lnTo>
                <a:lnTo>
                  <a:pt x="6422967" y="600324"/>
                </a:lnTo>
                <a:lnTo>
                  <a:pt x="6503254" y="602784"/>
                </a:lnTo>
                <a:lnTo>
                  <a:pt x="6583541" y="599220"/>
                </a:lnTo>
                <a:lnTo>
                  <a:pt x="6663829" y="598266"/>
                </a:lnTo>
                <a:lnTo>
                  <a:pt x="6744116" y="605022"/>
                </a:lnTo>
                <a:lnTo>
                  <a:pt x="6824403" y="604454"/>
                </a:lnTo>
                <a:lnTo>
                  <a:pt x="6904690" y="603365"/>
                </a:lnTo>
                <a:lnTo>
                  <a:pt x="6984977" y="598007"/>
                </a:lnTo>
                <a:lnTo>
                  <a:pt x="7065264" y="599395"/>
                </a:lnTo>
                <a:lnTo>
                  <a:pt x="7145551" y="604553"/>
                </a:lnTo>
                <a:lnTo>
                  <a:pt x="7225838" y="606331"/>
                </a:lnTo>
                <a:lnTo>
                  <a:pt x="7306125" y="605639"/>
                </a:lnTo>
                <a:lnTo>
                  <a:pt x="7386412" y="596752"/>
                </a:lnTo>
                <a:lnTo>
                  <a:pt x="7466699" y="602219"/>
                </a:lnTo>
                <a:lnTo>
                  <a:pt x="7546987" y="605176"/>
                </a:lnTo>
                <a:lnTo>
                  <a:pt x="7627274" y="600059"/>
                </a:lnTo>
                <a:lnTo>
                  <a:pt x="7707561" y="607858"/>
                </a:lnTo>
                <a:lnTo>
                  <a:pt x="7707561" y="628775"/>
                </a:lnTo>
                <a:close/>
              </a:path>
            </a:pathLst>
          </a:custGeom>
          <a:solidFill>
            <a:srgbClr val="55637A">
              <a:alpha val="14000"/>
            </a:srgbClr>
          </a:solidFill>
          <a:ln w="16510">
            <a:solidFill>
              <a:srgbClr val="55637A"/>
            </a:solidFill>
            <a:prstDash val="solid"/>
          </a:ln>
        </p:spPr>
      </p:sp>
      <p:sp>
        <p:nvSpPr>
          <p:cNvPr id="5" name="Shape 3"/>
          <p:cNvSpPr/>
          <p:nvPr/>
        </p:nvSpPr>
        <p:spPr>
          <a:xfrm>
            <a:off x="2145847" y="2510859"/>
            <a:ext cx="7707561" cy="0"/>
          </a:xfrm>
          <a:prstGeom prst="line">
            <a:avLst/>
          </a:prstGeom>
          <a:noFill/>
          <a:ln w="20320">
            <a:solidFill>
              <a:srgbClr val="15181C">
                <a:alpha val="55000"/>
              </a:srgbClr>
            </a:solidFill>
            <a:prstDash val="solid"/>
          </a:ln>
        </p:spPr>
      </p:sp>
      <p:sp>
        <p:nvSpPr>
          <p:cNvPr id="6" name="Shape 4"/>
          <p:cNvSpPr/>
          <p:nvPr/>
        </p:nvSpPr>
        <p:spPr>
          <a:xfrm>
            <a:off x="5867788" y="2455081"/>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5391136" y="1740103"/>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Shape 6"/>
          <p:cNvSpPr/>
          <p:nvPr/>
        </p:nvSpPr>
        <p:spPr>
          <a:xfrm>
            <a:off x="2153961" y="2622416"/>
            <a:ext cx="240692" cy="172406"/>
          </a:xfrm>
          <a:prstGeom prst="roundRect">
            <a:avLst>
              <a:gd name="adj" fmla="val 5304"/>
            </a:avLst>
          </a:prstGeom>
          <a:ln w="9525">
            <a:solidFill>
              <a:srgbClr val="E2622F">
                <a:alpha val="38000"/>
              </a:srgbClr>
            </a:solidFill>
            <a:prstDash val="solid"/>
          </a:ln>
        </p:spPr>
      </p:sp>
      <p:sp>
        <p:nvSpPr>
          <p:cNvPr id="9" name="Shape 7"/>
          <p:cNvSpPr/>
          <p:nvPr/>
        </p:nvSpPr>
        <p:spPr>
          <a:xfrm>
            <a:off x="2410879" y="2622416"/>
            <a:ext cx="240692" cy="172406"/>
          </a:xfrm>
          <a:prstGeom prst="roundRect">
            <a:avLst>
              <a:gd name="adj" fmla="val 5304"/>
            </a:avLst>
          </a:prstGeom>
          <a:ln w="9525">
            <a:solidFill>
              <a:srgbClr val="E2622F">
                <a:alpha val="38000"/>
              </a:srgbClr>
            </a:solidFill>
            <a:prstDash val="solid"/>
          </a:ln>
        </p:spPr>
      </p:sp>
      <p:sp>
        <p:nvSpPr>
          <p:cNvPr id="10" name="Shape 8"/>
          <p:cNvSpPr/>
          <p:nvPr/>
        </p:nvSpPr>
        <p:spPr>
          <a:xfrm>
            <a:off x="2667798" y="2622416"/>
            <a:ext cx="240692" cy="172406"/>
          </a:xfrm>
          <a:prstGeom prst="roundRect">
            <a:avLst>
              <a:gd name="adj" fmla="val 5304"/>
            </a:avLst>
          </a:prstGeom>
          <a:ln w="9525">
            <a:solidFill>
              <a:srgbClr val="E2622F">
                <a:alpha val="38000"/>
              </a:srgbClr>
            </a:solidFill>
            <a:prstDash val="solid"/>
          </a:ln>
        </p:spPr>
      </p:sp>
      <p:sp>
        <p:nvSpPr>
          <p:cNvPr id="11" name="Shape 9"/>
          <p:cNvSpPr/>
          <p:nvPr/>
        </p:nvSpPr>
        <p:spPr>
          <a:xfrm>
            <a:off x="2924717" y="2622416"/>
            <a:ext cx="240692" cy="172406"/>
          </a:xfrm>
          <a:prstGeom prst="roundRect">
            <a:avLst>
              <a:gd name="adj" fmla="val 5304"/>
            </a:avLst>
          </a:prstGeom>
          <a:ln w="9525">
            <a:solidFill>
              <a:srgbClr val="E2622F">
                <a:alpha val="38000"/>
              </a:srgbClr>
            </a:solidFill>
            <a:prstDash val="solid"/>
          </a:ln>
        </p:spPr>
      </p:sp>
      <p:sp>
        <p:nvSpPr>
          <p:cNvPr id="12" name="Shape 10"/>
          <p:cNvSpPr/>
          <p:nvPr/>
        </p:nvSpPr>
        <p:spPr>
          <a:xfrm>
            <a:off x="3181635" y="2622416"/>
            <a:ext cx="240692" cy="172406"/>
          </a:xfrm>
          <a:prstGeom prst="roundRect">
            <a:avLst>
              <a:gd name="adj" fmla="val 5304"/>
            </a:avLst>
          </a:prstGeom>
          <a:ln w="9525">
            <a:solidFill>
              <a:srgbClr val="E2622F">
                <a:alpha val="38000"/>
              </a:srgbClr>
            </a:solidFill>
            <a:prstDash val="solid"/>
          </a:ln>
        </p:spPr>
      </p:sp>
      <p:sp>
        <p:nvSpPr>
          <p:cNvPr id="13" name="Shape 11"/>
          <p:cNvSpPr/>
          <p:nvPr/>
        </p:nvSpPr>
        <p:spPr>
          <a:xfrm>
            <a:off x="3438554" y="2622416"/>
            <a:ext cx="240692" cy="172406"/>
          </a:xfrm>
          <a:prstGeom prst="roundRect">
            <a:avLst>
              <a:gd name="adj" fmla="val 5304"/>
            </a:avLst>
          </a:prstGeom>
          <a:ln w="9525">
            <a:solidFill>
              <a:srgbClr val="E2622F">
                <a:alpha val="38000"/>
              </a:srgbClr>
            </a:solidFill>
            <a:prstDash val="solid"/>
          </a:ln>
        </p:spPr>
      </p:sp>
      <p:sp>
        <p:nvSpPr>
          <p:cNvPr id="14" name="Shape 12"/>
          <p:cNvSpPr/>
          <p:nvPr/>
        </p:nvSpPr>
        <p:spPr>
          <a:xfrm>
            <a:off x="3695473" y="2622416"/>
            <a:ext cx="240692" cy="172406"/>
          </a:xfrm>
          <a:prstGeom prst="roundRect">
            <a:avLst>
              <a:gd name="adj" fmla="val 5304"/>
            </a:avLst>
          </a:prstGeom>
          <a:ln w="9525">
            <a:solidFill>
              <a:srgbClr val="E2622F">
                <a:alpha val="38000"/>
              </a:srgbClr>
            </a:solidFill>
            <a:prstDash val="solid"/>
          </a:ln>
        </p:spPr>
      </p:sp>
      <p:sp>
        <p:nvSpPr>
          <p:cNvPr id="15" name="Shape 13"/>
          <p:cNvSpPr/>
          <p:nvPr/>
        </p:nvSpPr>
        <p:spPr>
          <a:xfrm>
            <a:off x="3952391" y="2622416"/>
            <a:ext cx="240692" cy="172406"/>
          </a:xfrm>
          <a:prstGeom prst="roundRect">
            <a:avLst>
              <a:gd name="adj" fmla="val 5304"/>
            </a:avLst>
          </a:prstGeom>
          <a:ln w="9525">
            <a:solidFill>
              <a:srgbClr val="E2622F">
                <a:alpha val="38000"/>
              </a:srgbClr>
            </a:solidFill>
            <a:prstDash val="solid"/>
          </a:ln>
        </p:spPr>
      </p:sp>
      <p:sp>
        <p:nvSpPr>
          <p:cNvPr id="16" name="Shape 14"/>
          <p:cNvSpPr/>
          <p:nvPr/>
        </p:nvSpPr>
        <p:spPr>
          <a:xfrm>
            <a:off x="4209310" y="2622416"/>
            <a:ext cx="240692" cy="172406"/>
          </a:xfrm>
          <a:prstGeom prst="roundRect">
            <a:avLst>
              <a:gd name="adj" fmla="val 5304"/>
            </a:avLst>
          </a:prstGeom>
          <a:ln w="9525">
            <a:solidFill>
              <a:srgbClr val="E2622F">
                <a:alpha val="38000"/>
              </a:srgbClr>
            </a:solidFill>
            <a:prstDash val="solid"/>
          </a:ln>
        </p:spPr>
      </p:sp>
      <p:sp>
        <p:nvSpPr>
          <p:cNvPr id="17" name="Shape 15"/>
          <p:cNvSpPr/>
          <p:nvPr/>
        </p:nvSpPr>
        <p:spPr>
          <a:xfrm>
            <a:off x="4466229" y="2622416"/>
            <a:ext cx="240692" cy="172406"/>
          </a:xfrm>
          <a:prstGeom prst="roundRect">
            <a:avLst>
              <a:gd name="adj" fmla="val 5304"/>
            </a:avLst>
          </a:prstGeom>
          <a:ln w="9525">
            <a:solidFill>
              <a:srgbClr val="E2622F">
                <a:alpha val="38000"/>
              </a:srgbClr>
            </a:solidFill>
            <a:prstDash val="solid"/>
          </a:ln>
        </p:spPr>
      </p:sp>
      <p:sp>
        <p:nvSpPr>
          <p:cNvPr id="18" name="Shape 16"/>
          <p:cNvSpPr/>
          <p:nvPr/>
        </p:nvSpPr>
        <p:spPr>
          <a:xfrm>
            <a:off x="4723148" y="2622416"/>
            <a:ext cx="240692" cy="172406"/>
          </a:xfrm>
          <a:prstGeom prst="roundRect">
            <a:avLst>
              <a:gd name="adj" fmla="val 5304"/>
            </a:avLst>
          </a:prstGeom>
          <a:ln w="9525">
            <a:solidFill>
              <a:srgbClr val="E2622F">
                <a:alpha val="38000"/>
              </a:srgbClr>
            </a:solidFill>
            <a:prstDash val="solid"/>
          </a:ln>
        </p:spPr>
      </p:sp>
      <p:sp>
        <p:nvSpPr>
          <p:cNvPr id="19" name="Shape 17"/>
          <p:cNvSpPr/>
          <p:nvPr/>
        </p:nvSpPr>
        <p:spPr>
          <a:xfrm>
            <a:off x="4980066" y="2622416"/>
            <a:ext cx="240692" cy="172406"/>
          </a:xfrm>
          <a:prstGeom prst="roundRect">
            <a:avLst>
              <a:gd name="adj" fmla="val 5304"/>
            </a:avLst>
          </a:prstGeom>
          <a:solidFill>
            <a:srgbClr val="E2622F">
              <a:alpha val="75000"/>
            </a:srgbClr>
          </a:solidFill>
          <a:ln w="13970">
            <a:solidFill>
              <a:srgbClr val="E2622F"/>
            </a:solidFill>
            <a:prstDash val="solid"/>
          </a:ln>
        </p:spPr>
      </p:sp>
      <p:sp>
        <p:nvSpPr>
          <p:cNvPr id="20" name="Shape 18"/>
          <p:cNvSpPr/>
          <p:nvPr/>
        </p:nvSpPr>
        <p:spPr>
          <a:xfrm>
            <a:off x="5236985" y="2622416"/>
            <a:ext cx="240692" cy="172406"/>
          </a:xfrm>
          <a:prstGeom prst="roundRect">
            <a:avLst>
              <a:gd name="adj" fmla="val 5304"/>
            </a:avLst>
          </a:prstGeom>
          <a:ln w="9525">
            <a:solidFill>
              <a:srgbClr val="E2622F">
                <a:alpha val="38000"/>
              </a:srgbClr>
            </a:solidFill>
            <a:prstDash val="solid"/>
          </a:ln>
        </p:spPr>
      </p:sp>
      <p:sp>
        <p:nvSpPr>
          <p:cNvPr id="21" name="Shape 19"/>
          <p:cNvSpPr/>
          <p:nvPr/>
        </p:nvSpPr>
        <p:spPr>
          <a:xfrm>
            <a:off x="5493904" y="2622416"/>
            <a:ext cx="240692" cy="172406"/>
          </a:xfrm>
          <a:prstGeom prst="roundRect">
            <a:avLst>
              <a:gd name="adj" fmla="val 5304"/>
            </a:avLst>
          </a:prstGeom>
          <a:ln w="9525">
            <a:solidFill>
              <a:srgbClr val="E2622F">
                <a:alpha val="38000"/>
              </a:srgbClr>
            </a:solidFill>
            <a:prstDash val="solid"/>
          </a:ln>
        </p:spPr>
      </p:sp>
      <p:sp>
        <p:nvSpPr>
          <p:cNvPr id="22" name="Shape 20"/>
          <p:cNvSpPr/>
          <p:nvPr/>
        </p:nvSpPr>
        <p:spPr>
          <a:xfrm>
            <a:off x="5750822" y="2622416"/>
            <a:ext cx="240692" cy="172406"/>
          </a:xfrm>
          <a:prstGeom prst="roundRect">
            <a:avLst>
              <a:gd name="adj" fmla="val 5304"/>
            </a:avLst>
          </a:prstGeom>
          <a:ln w="9525">
            <a:solidFill>
              <a:srgbClr val="E2622F">
                <a:alpha val="38000"/>
              </a:srgbClr>
            </a:solidFill>
            <a:prstDash val="solid"/>
          </a:ln>
        </p:spPr>
      </p:sp>
      <p:sp>
        <p:nvSpPr>
          <p:cNvPr id="23" name="Shape 21"/>
          <p:cNvSpPr/>
          <p:nvPr/>
        </p:nvSpPr>
        <p:spPr>
          <a:xfrm>
            <a:off x="6007741" y="2622416"/>
            <a:ext cx="240692" cy="172406"/>
          </a:xfrm>
          <a:prstGeom prst="roundRect">
            <a:avLst>
              <a:gd name="adj" fmla="val 5304"/>
            </a:avLst>
          </a:prstGeom>
          <a:ln w="9525">
            <a:solidFill>
              <a:srgbClr val="E2622F">
                <a:alpha val="38000"/>
              </a:srgbClr>
            </a:solidFill>
            <a:prstDash val="solid"/>
          </a:ln>
        </p:spPr>
      </p:sp>
      <p:sp>
        <p:nvSpPr>
          <p:cNvPr id="24" name="Shape 22"/>
          <p:cNvSpPr/>
          <p:nvPr/>
        </p:nvSpPr>
        <p:spPr>
          <a:xfrm>
            <a:off x="6264660" y="2622416"/>
            <a:ext cx="240692" cy="172406"/>
          </a:xfrm>
          <a:prstGeom prst="roundRect">
            <a:avLst>
              <a:gd name="adj" fmla="val 5304"/>
            </a:avLst>
          </a:prstGeom>
          <a:ln w="9525">
            <a:solidFill>
              <a:srgbClr val="E2622F">
                <a:alpha val="38000"/>
              </a:srgbClr>
            </a:solidFill>
            <a:prstDash val="solid"/>
          </a:ln>
        </p:spPr>
      </p:sp>
      <p:sp>
        <p:nvSpPr>
          <p:cNvPr id="25" name="Shape 23"/>
          <p:cNvSpPr/>
          <p:nvPr/>
        </p:nvSpPr>
        <p:spPr>
          <a:xfrm>
            <a:off x="6521578" y="2622416"/>
            <a:ext cx="240692" cy="172406"/>
          </a:xfrm>
          <a:prstGeom prst="roundRect">
            <a:avLst>
              <a:gd name="adj" fmla="val 5304"/>
            </a:avLst>
          </a:prstGeom>
          <a:ln w="9525">
            <a:solidFill>
              <a:srgbClr val="E2622F">
                <a:alpha val="38000"/>
              </a:srgbClr>
            </a:solidFill>
            <a:prstDash val="solid"/>
          </a:ln>
        </p:spPr>
      </p:sp>
      <p:sp>
        <p:nvSpPr>
          <p:cNvPr id="26" name="Shape 24"/>
          <p:cNvSpPr/>
          <p:nvPr/>
        </p:nvSpPr>
        <p:spPr>
          <a:xfrm>
            <a:off x="6778497" y="2622416"/>
            <a:ext cx="240692" cy="172406"/>
          </a:xfrm>
          <a:prstGeom prst="roundRect">
            <a:avLst>
              <a:gd name="adj" fmla="val 5304"/>
            </a:avLst>
          </a:prstGeom>
          <a:ln w="9525">
            <a:solidFill>
              <a:srgbClr val="E2622F">
                <a:alpha val="38000"/>
              </a:srgbClr>
            </a:solidFill>
            <a:prstDash val="solid"/>
          </a:ln>
        </p:spPr>
      </p:sp>
      <p:sp>
        <p:nvSpPr>
          <p:cNvPr id="27" name="Shape 25"/>
          <p:cNvSpPr/>
          <p:nvPr/>
        </p:nvSpPr>
        <p:spPr>
          <a:xfrm>
            <a:off x="7035416" y="2622416"/>
            <a:ext cx="240692" cy="172406"/>
          </a:xfrm>
          <a:prstGeom prst="roundRect">
            <a:avLst>
              <a:gd name="adj" fmla="val 5304"/>
            </a:avLst>
          </a:prstGeom>
          <a:ln w="9525">
            <a:solidFill>
              <a:srgbClr val="E2622F">
                <a:alpha val="38000"/>
              </a:srgbClr>
            </a:solidFill>
            <a:prstDash val="solid"/>
          </a:ln>
        </p:spPr>
      </p:sp>
      <p:sp>
        <p:nvSpPr>
          <p:cNvPr id="28" name="Shape 26"/>
          <p:cNvSpPr/>
          <p:nvPr/>
        </p:nvSpPr>
        <p:spPr>
          <a:xfrm>
            <a:off x="7292334" y="2622416"/>
            <a:ext cx="240692" cy="172406"/>
          </a:xfrm>
          <a:prstGeom prst="roundRect">
            <a:avLst>
              <a:gd name="adj" fmla="val 5304"/>
            </a:avLst>
          </a:prstGeom>
          <a:ln w="9525">
            <a:solidFill>
              <a:srgbClr val="E2622F">
                <a:alpha val="38000"/>
              </a:srgbClr>
            </a:solidFill>
            <a:prstDash val="solid"/>
          </a:ln>
        </p:spPr>
      </p:sp>
      <p:sp>
        <p:nvSpPr>
          <p:cNvPr id="29" name="Shape 27"/>
          <p:cNvSpPr/>
          <p:nvPr/>
        </p:nvSpPr>
        <p:spPr>
          <a:xfrm>
            <a:off x="7549253" y="2622416"/>
            <a:ext cx="240692" cy="172406"/>
          </a:xfrm>
          <a:prstGeom prst="roundRect">
            <a:avLst>
              <a:gd name="adj" fmla="val 5304"/>
            </a:avLst>
          </a:prstGeom>
          <a:ln w="9525">
            <a:solidFill>
              <a:srgbClr val="E2622F">
                <a:alpha val="38000"/>
              </a:srgbClr>
            </a:solidFill>
            <a:prstDash val="solid"/>
          </a:ln>
        </p:spPr>
      </p:sp>
      <p:sp>
        <p:nvSpPr>
          <p:cNvPr id="30" name="Shape 28"/>
          <p:cNvSpPr/>
          <p:nvPr/>
        </p:nvSpPr>
        <p:spPr>
          <a:xfrm>
            <a:off x="7806172" y="2622416"/>
            <a:ext cx="240692" cy="172406"/>
          </a:xfrm>
          <a:prstGeom prst="roundRect">
            <a:avLst>
              <a:gd name="adj" fmla="val 5304"/>
            </a:avLst>
          </a:prstGeom>
          <a:ln w="9525">
            <a:solidFill>
              <a:srgbClr val="E2622F">
                <a:alpha val="38000"/>
              </a:srgbClr>
            </a:solidFill>
            <a:prstDash val="solid"/>
          </a:ln>
        </p:spPr>
      </p:sp>
      <p:sp>
        <p:nvSpPr>
          <p:cNvPr id="31" name="Shape 29"/>
          <p:cNvSpPr/>
          <p:nvPr/>
        </p:nvSpPr>
        <p:spPr>
          <a:xfrm>
            <a:off x="8063091" y="2622416"/>
            <a:ext cx="240692" cy="172406"/>
          </a:xfrm>
          <a:prstGeom prst="roundRect">
            <a:avLst>
              <a:gd name="adj" fmla="val 5304"/>
            </a:avLst>
          </a:prstGeom>
          <a:ln w="9525">
            <a:solidFill>
              <a:srgbClr val="E2622F">
                <a:alpha val="38000"/>
              </a:srgbClr>
            </a:solidFill>
            <a:prstDash val="solid"/>
          </a:ln>
        </p:spPr>
      </p:sp>
      <p:sp>
        <p:nvSpPr>
          <p:cNvPr id="32" name="Shape 30"/>
          <p:cNvSpPr/>
          <p:nvPr/>
        </p:nvSpPr>
        <p:spPr>
          <a:xfrm>
            <a:off x="8320009" y="2622416"/>
            <a:ext cx="240692" cy="172406"/>
          </a:xfrm>
          <a:prstGeom prst="roundRect">
            <a:avLst>
              <a:gd name="adj" fmla="val 5304"/>
            </a:avLst>
          </a:prstGeom>
          <a:ln w="9525">
            <a:solidFill>
              <a:srgbClr val="E2622F">
                <a:alpha val="38000"/>
              </a:srgbClr>
            </a:solidFill>
            <a:prstDash val="solid"/>
          </a:ln>
        </p:spPr>
      </p:sp>
      <p:sp>
        <p:nvSpPr>
          <p:cNvPr id="33" name="Shape 31"/>
          <p:cNvSpPr/>
          <p:nvPr/>
        </p:nvSpPr>
        <p:spPr>
          <a:xfrm>
            <a:off x="8576928" y="2622416"/>
            <a:ext cx="240692" cy="172406"/>
          </a:xfrm>
          <a:prstGeom prst="roundRect">
            <a:avLst>
              <a:gd name="adj" fmla="val 5304"/>
            </a:avLst>
          </a:prstGeom>
          <a:ln w="9525">
            <a:solidFill>
              <a:srgbClr val="E2622F">
                <a:alpha val="38000"/>
              </a:srgbClr>
            </a:solidFill>
            <a:prstDash val="solid"/>
          </a:ln>
        </p:spPr>
      </p:sp>
      <p:sp>
        <p:nvSpPr>
          <p:cNvPr id="34" name="Shape 32"/>
          <p:cNvSpPr/>
          <p:nvPr/>
        </p:nvSpPr>
        <p:spPr>
          <a:xfrm>
            <a:off x="8833847" y="2622416"/>
            <a:ext cx="240692" cy="172406"/>
          </a:xfrm>
          <a:prstGeom prst="roundRect">
            <a:avLst>
              <a:gd name="adj" fmla="val 5304"/>
            </a:avLst>
          </a:prstGeom>
          <a:ln w="9525">
            <a:solidFill>
              <a:srgbClr val="E2622F">
                <a:alpha val="38000"/>
              </a:srgbClr>
            </a:solidFill>
            <a:prstDash val="solid"/>
          </a:ln>
        </p:spPr>
      </p:sp>
      <p:sp>
        <p:nvSpPr>
          <p:cNvPr id="35" name="Shape 33"/>
          <p:cNvSpPr/>
          <p:nvPr/>
        </p:nvSpPr>
        <p:spPr>
          <a:xfrm>
            <a:off x="9090765" y="2622416"/>
            <a:ext cx="240692" cy="172406"/>
          </a:xfrm>
          <a:prstGeom prst="roundRect">
            <a:avLst>
              <a:gd name="adj" fmla="val 5304"/>
            </a:avLst>
          </a:prstGeom>
          <a:ln w="9525">
            <a:solidFill>
              <a:srgbClr val="E2622F">
                <a:alpha val="38000"/>
              </a:srgbClr>
            </a:solidFill>
            <a:prstDash val="solid"/>
          </a:ln>
        </p:spPr>
      </p:sp>
      <p:sp>
        <p:nvSpPr>
          <p:cNvPr id="36" name="Shape 34"/>
          <p:cNvSpPr/>
          <p:nvPr/>
        </p:nvSpPr>
        <p:spPr>
          <a:xfrm>
            <a:off x="9347684" y="2622416"/>
            <a:ext cx="240692" cy="172406"/>
          </a:xfrm>
          <a:prstGeom prst="roundRect">
            <a:avLst>
              <a:gd name="adj" fmla="val 5304"/>
            </a:avLst>
          </a:prstGeom>
          <a:ln w="9525">
            <a:solidFill>
              <a:srgbClr val="E2622F">
                <a:alpha val="38000"/>
              </a:srgbClr>
            </a:solidFill>
            <a:prstDash val="solid"/>
          </a:ln>
        </p:spPr>
      </p:sp>
      <p:sp>
        <p:nvSpPr>
          <p:cNvPr id="37" name="Shape 35"/>
          <p:cNvSpPr/>
          <p:nvPr/>
        </p:nvSpPr>
        <p:spPr>
          <a:xfrm>
            <a:off x="9604603" y="2622416"/>
            <a:ext cx="240692" cy="172406"/>
          </a:xfrm>
          <a:prstGeom prst="roundRect">
            <a:avLst>
              <a:gd name="adj" fmla="val 5304"/>
            </a:avLst>
          </a:prstGeom>
          <a:ln w="9525">
            <a:solidFill>
              <a:srgbClr val="E2622F">
                <a:alpha val="38000"/>
              </a:srgbClr>
            </a:solidFill>
            <a:prstDash val="solid"/>
          </a:ln>
        </p:spPr>
      </p:sp>
      <p:sp>
        <p:nvSpPr>
          <p:cNvPr id="38" name="Shape 36"/>
          <p:cNvSpPr/>
          <p:nvPr/>
        </p:nvSpPr>
        <p:spPr>
          <a:xfrm>
            <a:off x="2145847" y="2916520"/>
            <a:ext cx="7707561" cy="0"/>
          </a:xfrm>
          <a:prstGeom prst="line">
            <a:avLst/>
          </a:prstGeom>
          <a:noFill/>
          <a:ln w="12700">
            <a:solidFill>
              <a:srgbClr val="AFB5BD"/>
            </a:solidFill>
            <a:prstDash val="solid"/>
          </a:ln>
        </p:spPr>
      </p:sp>
      <p:sp>
        <p:nvSpPr>
          <p:cNvPr id="39" name="Text 37"/>
          <p:cNvSpPr txBox="1"/>
          <p:nvPr/>
        </p:nvSpPr>
        <p:spPr>
          <a:xfrm>
            <a:off x="2145847" y="2997653"/>
            <a:ext cx="1419814"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−300 bp</a:t>
            </a:r>
            <a:endParaRPr lang="en-US" sz="1100" dirty="0"/>
          </a:p>
        </p:txBody>
      </p:sp>
      <p:sp>
        <p:nvSpPr>
          <p:cNvPr id="40" name="Text 38"/>
          <p:cNvSpPr txBox="1"/>
          <p:nvPr/>
        </p:nvSpPr>
        <p:spPr>
          <a:xfrm>
            <a:off x="8433594" y="2997653"/>
            <a:ext cx="1419814" cy="202831"/>
          </a:xfrm>
          <a:prstGeom prst="rect">
            <a:avLst/>
          </a:prstGeom>
          <a:noFill/>
          <a:ln/>
        </p:spPr>
        <p:txBody>
          <a:bodyPr wrap="square" lIns="0" tIns="0" rIns="0" bIns="0" rtlCol="0" anchor="ctr"/>
          <a:lstStyle/>
          <a:p>
            <a:pPr algn="r" indent="0" marL="0">
              <a:lnSpc>
                <a:spcPct val="95000"/>
              </a:lnSpc>
              <a:buNone/>
            </a:pPr>
            <a:r>
              <a:rPr lang="en-US" sz="1100" dirty="0">
                <a:solidFill>
                  <a:srgbClr val="5A6471"/>
                </a:solidFill>
                <a:latin typeface="Arial" pitchFamily="34" charset="0"/>
                <a:ea typeface="Arial" pitchFamily="34" charset="-122"/>
                <a:cs typeface="Arial" pitchFamily="34" charset="-120"/>
              </a:rPr>
              <a:t>+290 bp</a:t>
            </a:r>
            <a:endParaRPr lang="en-US" sz="1100" dirty="0"/>
          </a:p>
        </p:txBody>
      </p:sp>
      <p:sp>
        <p:nvSpPr>
          <p:cNvPr id="41" name="Text 39"/>
          <p:cNvSpPr txBox="1"/>
          <p:nvPr/>
        </p:nvSpPr>
        <p:spPr>
          <a:xfrm>
            <a:off x="4478399" y="2997653"/>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60 tiles, one prediction each</a:t>
            </a:r>
            <a:endParaRPr lang="en-US" sz="1100" dirty="0"/>
          </a:p>
        </p:txBody>
      </p:sp>
      <p:sp>
        <p:nvSpPr>
          <p:cNvPr id="42" name="Shape 40"/>
          <p:cNvSpPr/>
          <p:nvPr/>
        </p:nvSpPr>
        <p:spPr>
          <a:xfrm>
            <a:off x="644901" y="3464163"/>
            <a:ext cx="10871717" cy="0"/>
          </a:xfrm>
          <a:prstGeom prst="line">
            <a:avLst/>
          </a:prstGeom>
          <a:noFill/>
          <a:ln w="12700">
            <a:solidFill>
              <a:srgbClr val="AFB5BD"/>
            </a:solidFill>
            <a:prstDash val="dash"/>
          </a:ln>
        </p:spPr>
      </p:sp>
      <p:sp>
        <p:nvSpPr>
          <p:cNvPr id="43" name="Text 41"/>
          <p:cNvSpPr txBox="1"/>
          <p:nvPr/>
        </p:nvSpPr>
        <p:spPr>
          <a:xfrm>
            <a:off x="644901" y="3768409"/>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THEN ZOOM IN AND CHANGE EVERY BASE</a:t>
            </a:r>
            <a:endParaRPr lang="en-US" sz="1300" dirty="0"/>
          </a:p>
        </p:txBody>
      </p:sp>
      <p:sp>
        <p:nvSpPr>
          <p:cNvPr id="44" name="Text 42"/>
          <p:cNvSpPr txBox="1"/>
          <p:nvPr/>
        </p:nvSpPr>
        <p:spPr>
          <a:xfrm>
            <a:off x="3667077" y="4194353"/>
            <a:ext cx="4665103" cy="324529"/>
          </a:xfrm>
          <a:prstGeom prst="rect">
            <a:avLst/>
          </a:prstGeom>
          <a:noFill/>
          <a:ln/>
        </p:spPr>
        <p:txBody>
          <a:bodyPr wrap="square" lIns="0" tIns="0" rIns="0" bIns="0" rtlCol="0" anchor="ctr"/>
          <a:lstStyle/>
          <a:p>
            <a:pPr algn="ctr" indent="0" marL="0">
              <a:buNone/>
            </a:pPr>
            <a:r>
              <a:rPr lang="en-US" sz="1300" spc="120" kern="0" dirty="0">
                <a:solidFill>
                  <a:srgbClr val="15181C"/>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b="1" spc="120" kern="0" dirty="0">
                <a:solidFill>
                  <a:srgbClr val="A2380F"/>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a:t>
            </a:r>
            <a:endParaRPr lang="en-US" sz="1300" dirty="0"/>
          </a:p>
        </p:txBody>
      </p:sp>
      <p:sp>
        <p:nvSpPr>
          <p:cNvPr id="45" name="Shape 43"/>
          <p:cNvSpPr/>
          <p:nvPr/>
        </p:nvSpPr>
        <p:spPr>
          <a:xfrm>
            <a:off x="6007516" y="4224777"/>
            <a:ext cx="243397" cy="263680"/>
          </a:xfrm>
          <a:prstGeom prst="roundRect">
            <a:avLst>
              <a:gd name="adj" fmla="val 7514"/>
            </a:avLst>
          </a:prstGeom>
          <a:solidFill>
            <a:srgbClr val="E2622F">
              <a:alpha val="14000"/>
            </a:srgbClr>
          </a:solidFill>
          <a:ln w="13970">
            <a:solidFill>
              <a:srgbClr val="E2622F"/>
            </a:solidFill>
            <a:prstDash val="solid"/>
          </a:ln>
        </p:spPr>
      </p:sp>
      <p:sp>
        <p:nvSpPr>
          <p:cNvPr id="46" name="Text 44"/>
          <p:cNvSpPr txBox="1"/>
          <p:nvPr/>
        </p:nvSpPr>
        <p:spPr>
          <a:xfrm>
            <a:off x="1801035" y="4255202"/>
            <a:ext cx="1724060" cy="202831"/>
          </a:xfrm>
          <a:prstGeom prst="rect">
            <a:avLst/>
          </a:prstGeom>
          <a:noFill/>
          <a:ln/>
        </p:spPr>
        <p:txBody>
          <a:bodyPr wrap="square" lIns="0" tIns="0" rIns="0" bIns="0" rtlCol="0" anchor="ctr"/>
          <a:lstStyle/>
          <a:p>
            <a:pPr algn="r" indent="0" marL="0">
              <a:lnSpc>
                <a:spcPct val="95000"/>
              </a:lnSpc>
              <a:buNone/>
            </a:pPr>
            <a:r>
              <a:rPr lang="en-US" sz="1100" dirty="0">
                <a:solidFill>
                  <a:srgbClr val="5A6471"/>
                </a:solidFill>
                <a:latin typeface="Arial" pitchFamily="34" charset="0"/>
                <a:ea typeface="Arial" pitchFamily="34" charset="-122"/>
                <a:cs typeface="Arial" pitchFamily="34" charset="-120"/>
              </a:rPr>
              <a:t>61 positions</a:t>
            </a:r>
            <a:endParaRPr lang="en-US" sz="1100" dirty="0"/>
          </a:p>
        </p:txBody>
      </p:sp>
      <p:sp>
        <p:nvSpPr>
          <p:cNvPr id="47" name="Shape 45"/>
          <p:cNvSpPr/>
          <p:nvPr/>
        </p:nvSpPr>
        <p:spPr>
          <a:xfrm flipV="1">
            <a:off x="3667077" y="2815105"/>
            <a:ext cx="1419814" cy="1277832"/>
          </a:xfrm>
          <a:prstGeom prst="line">
            <a:avLst/>
          </a:prstGeom>
          <a:noFill/>
          <a:ln w="12700">
            <a:solidFill>
              <a:srgbClr val="AFB5BD">
                <a:alpha val="70000"/>
              </a:srgbClr>
            </a:solidFill>
            <a:prstDash val="dash"/>
          </a:ln>
        </p:spPr>
      </p:sp>
      <p:sp>
        <p:nvSpPr>
          <p:cNvPr id="48" name="Shape 46"/>
          <p:cNvSpPr/>
          <p:nvPr/>
        </p:nvSpPr>
        <p:spPr>
          <a:xfrm flipH="1" flipV="1">
            <a:off x="5208589" y="2815105"/>
            <a:ext cx="3123590" cy="1277832"/>
          </a:xfrm>
          <a:prstGeom prst="line">
            <a:avLst/>
          </a:prstGeom>
          <a:noFill/>
          <a:ln w="12700">
            <a:solidFill>
              <a:srgbClr val="AFB5BD">
                <a:alpha val="70000"/>
              </a:srgbClr>
            </a:solidFill>
            <a:prstDash val="dash"/>
          </a:ln>
        </p:spPr>
      </p:sp>
      <p:sp>
        <p:nvSpPr>
          <p:cNvPr id="49" name="Shape 47"/>
          <p:cNvSpPr/>
          <p:nvPr/>
        </p:nvSpPr>
        <p:spPr>
          <a:xfrm>
            <a:off x="6129214" y="4518882"/>
            <a:ext cx="0" cy="141981"/>
          </a:xfrm>
          <a:prstGeom prst="line">
            <a:avLst/>
          </a:prstGeom>
          <a:noFill/>
          <a:ln w="15240">
            <a:solidFill>
              <a:srgbClr val="E2622F"/>
            </a:solidFill>
            <a:prstDash val="solid"/>
          </a:ln>
        </p:spPr>
      </p:sp>
      <p:sp>
        <p:nvSpPr>
          <p:cNvPr id="50" name="Shape 48"/>
          <p:cNvSpPr/>
          <p:nvPr/>
        </p:nvSpPr>
        <p:spPr>
          <a:xfrm>
            <a:off x="5743836" y="4660863"/>
            <a:ext cx="770756" cy="0"/>
          </a:xfrm>
          <a:prstGeom prst="line">
            <a:avLst/>
          </a:prstGeom>
          <a:noFill/>
          <a:ln w="13970">
            <a:solidFill>
              <a:srgbClr val="E2622F"/>
            </a:solidFill>
            <a:prstDash val="solid"/>
          </a:ln>
        </p:spPr>
      </p:sp>
      <p:sp>
        <p:nvSpPr>
          <p:cNvPr id="51" name="Shape 49"/>
          <p:cNvSpPr/>
          <p:nvPr/>
        </p:nvSpPr>
        <p:spPr>
          <a:xfrm>
            <a:off x="5824968" y="4660863"/>
            <a:ext cx="0" cy="81132"/>
          </a:xfrm>
          <a:prstGeom prst="line">
            <a:avLst/>
          </a:prstGeom>
          <a:noFill/>
          <a:ln w="13970">
            <a:solidFill>
              <a:srgbClr val="E2622F"/>
            </a:solidFill>
            <a:prstDash val="solid"/>
          </a:ln>
        </p:spPr>
      </p:sp>
      <p:sp>
        <p:nvSpPr>
          <p:cNvPr id="52" name="Shape 50"/>
          <p:cNvSpPr/>
          <p:nvPr/>
        </p:nvSpPr>
        <p:spPr>
          <a:xfrm>
            <a:off x="5703270"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3" name="Text 51"/>
          <p:cNvSpPr txBox="1"/>
          <p:nvPr/>
        </p:nvSpPr>
        <p:spPr>
          <a:xfrm>
            <a:off x="5520722"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A</a:t>
            </a:r>
            <a:endParaRPr lang="en-US" sz="1250" dirty="0"/>
          </a:p>
        </p:txBody>
      </p:sp>
      <p:sp>
        <p:nvSpPr>
          <p:cNvPr id="54" name="Shape 52"/>
          <p:cNvSpPr/>
          <p:nvPr/>
        </p:nvSpPr>
        <p:spPr>
          <a:xfrm>
            <a:off x="6129214" y="4660863"/>
            <a:ext cx="0" cy="81132"/>
          </a:xfrm>
          <a:prstGeom prst="line">
            <a:avLst/>
          </a:prstGeom>
          <a:noFill/>
          <a:ln w="13970">
            <a:solidFill>
              <a:srgbClr val="E2622F"/>
            </a:solidFill>
            <a:prstDash val="solid"/>
          </a:ln>
        </p:spPr>
      </p:sp>
      <p:sp>
        <p:nvSpPr>
          <p:cNvPr id="55" name="Shape 53"/>
          <p:cNvSpPr/>
          <p:nvPr/>
        </p:nvSpPr>
        <p:spPr>
          <a:xfrm>
            <a:off x="6007516"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6" name="Text 54"/>
          <p:cNvSpPr txBox="1"/>
          <p:nvPr/>
        </p:nvSpPr>
        <p:spPr>
          <a:xfrm>
            <a:off x="5824968"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C</a:t>
            </a:r>
            <a:endParaRPr lang="en-US" sz="1250" dirty="0"/>
          </a:p>
        </p:txBody>
      </p:sp>
      <p:sp>
        <p:nvSpPr>
          <p:cNvPr id="57" name="Shape 55"/>
          <p:cNvSpPr/>
          <p:nvPr/>
        </p:nvSpPr>
        <p:spPr>
          <a:xfrm>
            <a:off x="6433460" y="4660863"/>
            <a:ext cx="0" cy="81132"/>
          </a:xfrm>
          <a:prstGeom prst="line">
            <a:avLst/>
          </a:prstGeom>
          <a:noFill/>
          <a:ln w="13970">
            <a:solidFill>
              <a:srgbClr val="E2622F"/>
            </a:solidFill>
            <a:prstDash val="solid"/>
          </a:ln>
        </p:spPr>
      </p:sp>
      <p:sp>
        <p:nvSpPr>
          <p:cNvPr id="58" name="Shape 56"/>
          <p:cNvSpPr/>
          <p:nvPr/>
        </p:nvSpPr>
        <p:spPr>
          <a:xfrm>
            <a:off x="6311761"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9" name="Text 57"/>
          <p:cNvSpPr txBox="1"/>
          <p:nvPr/>
        </p:nvSpPr>
        <p:spPr>
          <a:xfrm>
            <a:off x="6129214"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G</a:t>
            </a:r>
            <a:endParaRPr lang="en-US" sz="1250" dirty="0"/>
          </a:p>
        </p:txBody>
      </p:sp>
      <p:sp>
        <p:nvSpPr>
          <p:cNvPr id="60" name="Text 58"/>
          <p:cNvSpPr txBox="1"/>
          <p:nvPr/>
        </p:nvSpPr>
        <p:spPr>
          <a:xfrm>
            <a:off x="6757989" y="4762278"/>
            <a:ext cx="4259441"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each of the other three bases, one prediction each</a:t>
            </a:r>
            <a:endParaRPr lang="en-US" sz="1100" dirty="0"/>
          </a:p>
        </p:txBody>
      </p:sp>
      <p:sp>
        <p:nvSpPr>
          <p:cNvPr id="61" name="Shape 59"/>
          <p:cNvSpPr/>
          <p:nvPr/>
        </p:nvSpPr>
        <p:spPr>
          <a:xfrm>
            <a:off x="644901" y="5289638"/>
            <a:ext cx="10871717" cy="0"/>
          </a:xfrm>
          <a:prstGeom prst="line">
            <a:avLst/>
          </a:prstGeom>
          <a:noFill/>
          <a:ln w="12700">
            <a:solidFill>
              <a:srgbClr val="AFB5BD"/>
            </a:solidFill>
            <a:prstDash val="dash"/>
          </a:ln>
        </p:spPr>
      </p:sp>
      <p:sp>
        <p:nvSpPr>
          <p:cNvPr id="62" name="Text 60"/>
          <p:cNvSpPr txBox="1"/>
          <p:nvPr/>
        </p:nvSpPr>
        <p:spPr>
          <a:xfrm>
            <a:off x="644901" y="5411336"/>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each site's own noise floor is removed before its profile is normalised, because a less accessible site is a noisier one</a:t>
            </a:r>
            <a:endParaRPr lang="en-US" sz="1100" dirty="0"/>
          </a:p>
        </p:txBody>
      </p:sp>
      <p:sp>
        <p:nvSpPr>
          <p:cNvPr id="63" name="Shape 61"/>
          <p:cNvSpPr/>
          <p:nvPr/>
        </p:nvSpPr>
        <p:spPr>
          <a:xfrm>
            <a:off x="502920" y="5989320"/>
            <a:ext cx="50292" cy="566928"/>
          </a:xfrm>
          <a:prstGeom prst="rect">
            <a:avLst/>
          </a:prstGeom>
          <a:solidFill>
            <a:srgbClr val="3F3F3F"/>
          </a:solidFill>
          <a:ln w="12700">
            <a:solidFill>
              <a:srgbClr val="333333"/>
            </a:solidFill>
            <a:prstDash val="solid"/>
          </a:ln>
        </p:spPr>
      </p:sp>
      <p:sp>
        <p:nvSpPr>
          <p:cNvPr id="64" name="Text 6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choosing a region to destroy, replace every 10 bp tile across 600 bp in turn — and then every single base across the middle 61 — and ask where the cost lands.</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Where the dependence sits: on the motif, and more so if Stable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10 bp tile replaced in turn; each site's own noise floor removed, then normalised to its own total, so the curve is where the dependence sits, not how much there is. Median per site, band a bootstrap 95% CI; Mann–Whitney per position, BH-FDR across the 60. Cropped to ±150 bp.</a:t>
            </a:r>
            <a:endParaRPr lang="en-US" sz="1250" dirty="0"/>
          </a:p>
        </p:txBody>
      </p:sp>
      <p:pic>
        <p:nvPicPr>
          <p:cNvPr id="4" name="Image 0" descr="/Users/z5162865/WongLab/AlphaGenome_Ap1/Analysis/slide_figures/r_fb_density.png">    </p:cNvPr>
          <p:cNvPicPr>
            <a:picLocks noChangeAspect="1"/>
          </p:cNvPicPr>
          <p:nvPr/>
        </p:nvPicPr>
        <p:blipFill>
          <a:blip r:embed="rId1"/>
          <a:stretch>
            <a:fillRect/>
          </a:stretch>
        </p:blipFill>
        <p:spPr>
          <a:xfrm>
            <a:off x="1115221" y="1335024"/>
            <a:ext cx="993107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 spike on the AP-1 core sitting on a shallow shoulder that reaches ±100 bp — and the model was never told where the motif was. The spike is taller for Stable sites, and the two tiles covering the core are the only positions in the whole window where the classes differ at all.</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Holding accessibility constant the gap halves but holds: 33.1% vs 31.3% of importance within ±25 bp, P = 0.006 over 860 matched pairs. The older ratio version of this measure did not survive that check (P = 0.11); this one does, because the noise floor is removed per site first.</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Stable sites keep half their dependence within 41 bp, Dynamic 48</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Cumulative share of a site's importance within ±x bp, against x. Median per site, band a bootstrap 95% CI. The value at ±20 bp is the 33.8% / 30.7% quoted on the previous slide, so the two readings cannot disagree.</a:t>
            </a:r>
            <a:endParaRPr lang="en-US" sz="1250" dirty="0"/>
          </a:p>
        </p:txBody>
      </p:sp>
      <p:pic>
        <p:nvPicPr>
          <p:cNvPr id="4" name="Image 0" descr="/Users/z5162865/WongLab/AlphaGenome_Ap1/Analysis/slide_figures/r_fb_density_cumulative.png">    </p:cNvPr>
          <p:cNvPicPr>
            <a:picLocks noChangeAspect="1"/>
          </p:cNvPicPr>
          <p:nvPr/>
        </p:nvPicPr>
        <p:blipFill>
          <a:blip r:embed="rId1"/>
          <a:stretch>
            <a:fillRect/>
          </a:stretch>
        </p:blipFill>
        <p:spPr>
          <a:xfrm>
            <a:off x="2271453" y="1335024"/>
            <a:ext cx="7618615"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Per-position differences of a point each add up: by ±60 bp the two curves are 5.3 points apart. Half of a Stable site's dependence sits within ±41 bp of the motif, against ±48 bp for a Dynamic one — the same result as the previous slide, said as a distance rather than a percentage.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Nothing is rescaled: the axis runs 0 to 100% and both curves end at 1. The half-radii are read off a profile sampled every 10 bp, so quote them as about 40 against about 50 bp until the sliding scan lands.</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classes differ on the motif and nowhere else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Stable minus Dynamic at each position, on its own axis. Band from resampling sites within each class; filled points are FDR &lt; 0.05, Mann–Whitney with BH across the 60 tiles.</a:t>
            </a:r>
            <a:endParaRPr lang="en-US" sz="1250" dirty="0"/>
          </a:p>
        </p:txBody>
      </p:sp>
      <p:pic>
        <p:nvPicPr>
          <p:cNvPr id="4" name="Image 0" descr="/Users/z5162865/WongLab/AlphaGenome_Ap1/Analysis/slide_figures/r_fb_density_diff.png">    </p:cNvPr>
          <p:cNvPicPr>
            <a:picLocks noChangeAspect="1"/>
          </p:cNvPicPr>
          <p:nvPr/>
        </p:nvPicPr>
        <p:blipFill>
          <a:blip r:embed="rId1"/>
          <a:stretch>
            <a:fillRect/>
          </a:stretch>
        </p:blipFill>
        <p:spPr>
          <a:xfrm>
            <a:off x="1762615" y="1335024"/>
            <a:ext cx="8636290"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One curve instead of two overlapping ones. It is flat across the entire 600 bp except for a single spike of +0.94 points on the tile covering the AP-1 core — the difference between the classes is not spread along the element, it is on the motif itself.</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two classes that lose AP-1 spread their dependence furthest</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Share of a site's importance within ±25 bp of the motif, by class. Point, median per site; bar, bootstrap 95% CI; Mann–Whitney against Stable, BH across the four comparisons.</a:t>
            </a:r>
            <a:endParaRPr lang="en-US" sz="1250" dirty="0"/>
          </a:p>
        </p:txBody>
      </p:sp>
      <p:pic>
        <p:nvPicPr>
          <p:cNvPr id="4" name="Image 0" descr="/Users/z5162865/WongLab/AlphaGenome_Ap1/Analysis/slide_figures/r_fb_density_classes.png">    </p:cNvPr>
          <p:cNvPicPr>
            <a:picLocks noChangeAspect="1"/>
          </p:cNvPicPr>
          <p:nvPr/>
        </p:nvPicPr>
        <p:blipFill>
          <a:blip r:embed="rId1"/>
          <a:stretch>
            <a:fillRect/>
          </a:stretch>
        </p:blipFill>
        <p:spPr>
          <a:xfrm>
            <a:off x="2271453" y="1335024"/>
            <a:ext cx="7618615"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All four Dynamic classes are less motif-centred than Stable, and they order the same way the motif-shuffle slide did: the two AP-1-losing classes (28.3%, 28.6%) sit below the two gaining ones (31.3%, 31.5%), which sit below Stable at 33.8%. Two independent measures, the same split.</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Exercise Down is 115 sites and its interval (24.2–32.2%) overlaps the gaining classes, so the ordering within Dynamic is suggestive, not established. Every class is below Stable, and that part is solid.</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Dynamic sites hand more of the load to the partner motifs</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Per site: |own AP-1| / (|own AP-1| + |partner motifs|), the share of its motif dependence that sits inside the AP-1 motif rather than outside it. Both terms are AlphaGenome shuffle effects measured inside the same window, so accessibility cannot drive the comparison. Median per site; error bar, bootstrap 95% CI; Mann–Whitney.</a:t>
            </a:r>
            <a:endParaRPr lang="en-US" sz="1250" dirty="0"/>
          </a:p>
        </p:txBody>
      </p:sp>
      <p:pic>
        <p:nvPicPr>
          <p:cNvPr id="4" name="Image 0" descr="/Users/z5162865/WongLab/AlphaGenome_Ap1/Analysis/slide_figures/r_fb_share.png">    </p:cNvPr>
          <p:cNvPicPr>
            <a:picLocks noChangeAspect="1"/>
          </p:cNvPicPr>
          <p:nvPr/>
        </p:nvPicPr>
        <p:blipFill>
          <a:blip r:embed="rId1"/>
          <a:stretch>
            <a:fillRect/>
          </a:stretch>
        </p:blipFill>
        <p:spPr>
          <a:xfrm>
            <a:off x="1414343" y="1335024"/>
            <a:ext cx="9332834"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Outside the motif is where every class differs: a Stable site leaves 20% of its motif dependence to partners, each of the four Dynamic classes 25–27% — about a third more — and all four sit on the same side, gaining and losing alike. AP-1 still leads everywhere; it just carries less of the load.</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AP-1 ladder, and the spacing experiments</a:t>
            </a:r>
            <a:endParaRPr lang="en-US" sz="2800" dirty="0"/>
          </a:p>
        </p:txBody>
      </p:sp>
      <p:sp>
        <p:nvSpPr>
          <p:cNvPr id="3" name="Text 1"/>
          <p:cNvSpPr txBox="1"/>
          <p:nvPr/>
        </p:nvSpPr>
        <p:spPr>
          <a:xfrm>
            <a:off x="644901" y="1679254"/>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WEAKEN THE MOTIF, ONE BASE AT A TIME</a:t>
            </a:r>
            <a:endParaRPr lang="en-US" sz="1300" dirty="0"/>
          </a:p>
        </p:txBody>
      </p:sp>
      <p:sp>
        <p:nvSpPr>
          <p:cNvPr id="4" name="Shape 2"/>
          <p:cNvSpPr/>
          <p:nvPr/>
        </p:nvSpPr>
        <p:spPr>
          <a:xfrm>
            <a:off x="2693490" y="2105198"/>
            <a:ext cx="4583970" cy="0"/>
          </a:xfrm>
          <a:prstGeom prst="line">
            <a:avLst/>
          </a:prstGeom>
          <a:noFill/>
          <a:ln w="13970">
            <a:solidFill>
              <a:srgbClr val="5A6471">
                <a:alpha val="45000"/>
              </a:srgbClr>
            </a:solidFill>
            <a:prstDash val="solid"/>
            <a:tailEnd type="triangle"/>
          </a:ln>
        </p:spPr>
      </p:sp>
      <p:sp>
        <p:nvSpPr>
          <p:cNvPr id="5" name="Text 3"/>
          <p:cNvSpPr txBox="1"/>
          <p:nvPr/>
        </p:nvSpPr>
        <p:spPr>
          <a:xfrm>
            <a:off x="3971322" y="1841518"/>
            <a:ext cx="2028305"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weaker grip</a:t>
            </a:r>
            <a:endParaRPr lang="en-US" sz="1100" dirty="0"/>
          </a:p>
        </p:txBody>
      </p:sp>
      <p:sp>
        <p:nvSpPr>
          <p:cNvPr id="6" name="Shape 4"/>
          <p:cNvSpPr/>
          <p:nvPr/>
        </p:nvSpPr>
        <p:spPr>
          <a:xfrm>
            <a:off x="989713" y="2652841"/>
            <a:ext cx="1541512" cy="0"/>
          </a:xfrm>
          <a:prstGeom prst="line">
            <a:avLst/>
          </a:prstGeom>
          <a:noFill/>
          <a:ln w="20320">
            <a:solidFill>
              <a:srgbClr val="15181C">
                <a:alpha val="55000"/>
              </a:srgbClr>
            </a:solidFill>
            <a:prstDash val="solid"/>
          </a:ln>
        </p:spPr>
      </p:sp>
      <p:sp>
        <p:nvSpPr>
          <p:cNvPr id="7" name="Shape 5"/>
          <p:cNvSpPr/>
          <p:nvPr/>
        </p:nvSpPr>
        <p:spPr>
          <a:xfrm>
            <a:off x="1517073" y="2597062"/>
            <a:ext cx="486793" cy="111557"/>
          </a:xfrm>
          <a:prstGeom prst="roundRect">
            <a:avLst>
              <a:gd name="adj" fmla="val 16393"/>
            </a:avLst>
          </a:prstGeom>
          <a:solidFill>
            <a:srgbClr val="D9A32B">
              <a:alpha val="80000"/>
            </a:srgbClr>
          </a:solidFill>
          <a:ln w="13970">
            <a:solidFill>
              <a:srgbClr val="D9A32B"/>
            </a:solidFill>
            <a:prstDash val="solid"/>
          </a:ln>
        </p:spPr>
      </p:sp>
      <p:sp>
        <p:nvSpPr>
          <p:cNvPr id="8" name="Text 6"/>
          <p:cNvSpPr txBox="1"/>
          <p:nvPr/>
        </p:nvSpPr>
        <p:spPr>
          <a:xfrm>
            <a:off x="949147"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9" name="Text 7"/>
          <p:cNvSpPr txBox="1"/>
          <p:nvPr/>
        </p:nvSpPr>
        <p:spPr>
          <a:xfrm>
            <a:off x="644901"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perfect core</a:t>
            </a:r>
            <a:endParaRPr lang="en-US" sz="1100" dirty="0"/>
          </a:p>
        </p:txBody>
      </p:sp>
      <p:sp>
        <p:nvSpPr>
          <p:cNvPr id="10" name="Shape 8"/>
          <p:cNvSpPr/>
          <p:nvPr/>
        </p:nvSpPr>
        <p:spPr>
          <a:xfrm>
            <a:off x="3139717" y="2652841"/>
            <a:ext cx="1541512" cy="0"/>
          </a:xfrm>
          <a:prstGeom prst="line">
            <a:avLst/>
          </a:prstGeom>
          <a:noFill/>
          <a:ln w="20320">
            <a:solidFill>
              <a:srgbClr val="15181C">
                <a:alpha val="55000"/>
              </a:srgbClr>
            </a:solidFill>
            <a:prstDash val="solid"/>
          </a:ln>
        </p:spPr>
      </p:sp>
      <p:sp>
        <p:nvSpPr>
          <p:cNvPr id="11" name="Shape 9"/>
          <p:cNvSpPr/>
          <p:nvPr/>
        </p:nvSpPr>
        <p:spPr>
          <a:xfrm>
            <a:off x="3667077" y="2597062"/>
            <a:ext cx="486793" cy="111557"/>
          </a:xfrm>
          <a:prstGeom prst="roundRect">
            <a:avLst>
              <a:gd name="adj" fmla="val 16393"/>
            </a:avLst>
          </a:prstGeom>
          <a:solidFill>
            <a:srgbClr val="D9A32B">
              <a:alpha val="58000"/>
            </a:srgbClr>
          </a:solidFill>
          <a:ln w="13970">
            <a:solidFill>
              <a:srgbClr val="D9A32B"/>
            </a:solidFill>
            <a:prstDash val="solid"/>
          </a:ln>
        </p:spPr>
      </p:sp>
      <p:sp>
        <p:nvSpPr>
          <p:cNvPr id="12" name="Text 10"/>
          <p:cNvSpPr txBox="1"/>
          <p:nvPr/>
        </p:nvSpPr>
        <p:spPr>
          <a:xfrm>
            <a:off x="3099151"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13" name="Text 11"/>
          <p:cNvSpPr txBox="1"/>
          <p:nvPr/>
        </p:nvSpPr>
        <p:spPr>
          <a:xfrm>
            <a:off x="2794905"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 base changed</a:t>
            </a:r>
            <a:endParaRPr lang="en-US" sz="1100" dirty="0"/>
          </a:p>
        </p:txBody>
      </p:sp>
      <p:sp>
        <p:nvSpPr>
          <p:cNvPr id="14" name="Shape 12"/>
          <p:cNvSpPr/>
          <p:nvPr/>
        </p:nvSpPr>
        <p:spPr>
          <a:xfrm>
            <a:off x="5289721" y="2652841"/>
            <a:ext cx="1541512" cy="0"/>
          </a:xfrm>
          <a:prstGeom prst="line">
            <a:avLst/>
          </a:prstGeom>
          <a:noFill/>
          <a:ln w="20320">
            <a:solidFill>
              <a:srgbClr val="15181C">
                <a:alpha val="55000"/>
              </a:srgbClr>
            </a:solidFill>
            <a:prstDash val="solid"/>
          </a:ln>
        </p:spPr>
      </p:sp>
      <p:sp>
        <p:nvSpPr>
          <p:cNvPr id="15" name="Shape 13"/>
          <p:cNvSpPr/>
          <p:nvPr/>
        </p:nvSpPr>
        <p:spPr>
          <a:xfrm>
            <a:off x="5817080" y="2597062"/>
            <a:ext cx="486793" cy="111557"/>
          </a:xfrm>
          <a:prstGeom prst="roundRect">
            <a:avLst>
              <a:gd name="adj" fmla="val 16393"/>
            </a:avLst>
          </a:prstGeom>
          <a:solidFill>
            <a:srgbClr val="D9A32B">
              <a:alpha val="36000"/>
            </a:srgbClr>
          </a:solidFill>
          <a:ln w="13970">
            <a:solidFill>
              <a:srgbClr val="D9A32B"/>
            </a:solidFill>
            <a:prstDash val="solid"/>
          </a:ln>
        </p:spPr>
      </p:sp>
      <p:sp>
        <p:nvSpPr>
          <p:cNvPr id="16" name="Text 14"/>
          <p:cNvSpPr txBox="1"/>
          <p:nvPr/>
        </p:nvSpPr>
        <p:spPr>
          <a:xfrm>
            <a:off x="5249155"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17" name="Text 15"/>
          <p:cNvSpPr txBox="1"/>
          <p:nvPr/>
        </p:nvSpPr>
        <p:spPr>
          <a:xfrm>
            <a:off x="4944909"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3 bases changed</a:t>
            </a:r>
            <a:endParaRPr lang="en-US" sz="1100" dirty="0"/>
          </a:p>
        </p:txBody>
      </p:sp>
      <p:sp>
        <p:nvSpPr>
          <p:cNvPr id="18" name="Shape 16"/>
          <p:cNvSpPr/>
          <p:nvPr/>
        </p:nvSpPr>
        <p:spPr>
          <a:xfrm>
            <a:off x="7439725" y="2652841"/>
            <a:ext cx="1541512" cy="0"/>
          </a:xfrm>
          <a:prstGeom prst="line">
            <a:avLst/>
          </a:prstGeom>
          <a:noFill/>
          <a:ln w="20320">
            <a:solidFill>
              <a:srgbClr val="15181C">
                <a:alpha val="55000"/>
              </a:srgbClr>
            </a:solidFill>
            <a:prstDash val="solid"/>
          </a:ln>
        </p:spPr>
      </p:sp>
      <p:sp>
        <p:nvSpPr>
          <p:cNvPr id="19" name="Shape 17"/>
          <p:cNvSpPr/>
          <p:nvPr/>
        </p:nvSpPr>
        <p:spPr>
          <a:xfrm>
            <a:off x="7967084" y="2586921"/>
            <a:ext cx="486793" cy="131840"/>
          </a:xfrm>
          <a:prstGeom prst="roundRect">
            <a:avLst>
              <a:gd name="adj" fmla="val 13871"/>
            </a:avLst>
          </a:prstGeom>
          <a:solidFill>
            <a:srgbClr val="E2622F">
              <a:alpha val="14000"/>
            </a:srgbClr>
          </a:solidFill>
          <a:ln w="9525">
            <a:solidFill>
              <a:srgbClr val="E2622F"/>
            </a:solidFill>
            <a:prstDash val="solid"/>
          </a:ln>
        </p:spPr>
      </p:sp>
      <p:sp>
        <p:nvSpPr>
          <p:cNvPr id="20" name="Shape 18"/>
          <p:cNvSpPr/>
          <p:nvPr/>
        </p:nvSpPr>
        <p:spPr>
          <a:xfrm>
            <a:off x="7967084" y="2602133"/>
            <a:ext cx="486793" cy="101415"/>
          </a:xfrm>
          <a:custGeom>
            <a:avLst/>
            <a:gdLst/>
            <a:ahLst/>
            <a:cxnLst/>
            <a:rect l="l" t="t" r="r" b="b"/>
            <a:pathLst>
              <a:path w="486793" h="101415">
                <a:moveTo>
                  <a:pt x="0" y="10142"/>
                </a:moveTo>
                <a:lnTo>
                  <a:pt x="48679" y="91274"/>
                </a:lnTo>
                <a:lnTo>
                  <a:pt x="97359" y="10142"/>
                </a:lnTo>
                <a:lnTo>
                  <a:pt x="146038" y="91274"/>
                </a:lnTo>
                <a:lnTo>
                  <a:pt x="194717" y="10142"/>
                </a:lnTo>
                <a:lnTo>
                  <a:pt x="243397" y="91274"/>
                </a:lnTo>
                <a:lnTo>
                  <a:pt x="292076" y="10142"/>
                </a:lnTo>
                <a:lnTo>
                  <a:pt x="340755" y="91274"/>
                </a:lnTo>
                <a:lnTo>
                  <a:pt x="389435" y="10142"/>
                </a:lnTo>
                <a:lnTo>
                  <a:pt x="438114" y="91274"/>
                </a:lnTo>
                <a:lnTo>
                  <a:pt x="486793" y="10142"/>
                </a:lnTo>
              </a:path>
            </a:pathLst>
          </a:custGeom>
          <a:ln w="17780">
            <a:solidFill>
              <a:srgbClr val="E2622F"/>
            </a:solidFill>
            <a:prstDash val="solid"/>
          </a:ln>
        </p:spPr>
      </p:sp>
      <p:sp>
        <p:nvSpPr>
          <p:cNvPr id="21" name="Text 19"/>
          <p:cNvSpPr txBox="1"/>
          <p:nvPr/>
        </p:nvSpPr>
        <p:spPr>
          <a:xfrm>
            <a:off x="7399159" y="2794822"/>
            <a:ext cx="1622644" cy="283963"/>
          </a:xfrm>
          <a:prstGeom prst="rect">
            <a:avLst/>
          </a:prstGeom>
          <a:noFill/>
          <a:ln/>
        </p:spPr>
        <p:txBody>
          <a:bodyPr wrap="square" lIns="0" tIns="0" rIns="0" bIns="0" rtlCol="0" anchor="ctr"/>
          <a:lstStyle/>
          <a:p>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b="1" spc="150" kern="0" dirty="0">
                <a:solidFill>
                  <a:srgbClr val="A2380F"/>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b="1" spc="150" kern="0" dirty="0">
                <a:solidFill>
                  <a:srgbClr val="A2380F"/>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G </a:t>
            </a:r>
            <a:pPr algn="ctr" indent="0" marL="0">
              <a:buNone/>
            </a:pPr>
            <a:r>
              <a:rPr lang="en-US" sz="1250" b="1" spc="150" kern="0" dirty="0">
                <a:solidFill>
                  <a:srgbClr val="A2380F"/>
                </a:solidFill>
                <a:latin typeface="Arial" pitchFamily="34" charset="0"/>
                <a:ea typeface="Arial" pitchFamily="34" charset="-122"/>
                <a:cs typeface="Arial" pitchFamily="34" charset="-120"/>
              </a:rPr>
              <a:t>G</a:t>
            </a:r>
            <a:endParaRPr lang="en-US" sz="1250" dirty="0"/>
          </a:p>
        </p:txBody>
      </p:sp>
      <p:sp>
        <p:nvSpPr>
          <p:cNvPr id="22" name="Text 20"/>
          <p:cNvSpPr txBox="1"/>
          <p:nvPr/>
        </p:nvSpPr>
        <p:spPr>
          <a:xfrm>
            <a:off x="7094913"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core gone</a:t>
            </a:r>
            <a:endParaRPr lang="en-US" sz="1100" dirty="0"/>
          </a:p>
        </p:txBody>
      </p:sp>
      <p:sp>
        <p:nvSpPr>
          <p:cNvPr id="23" name="Text 21"/>
          <p:cNvSpPr txBox="1"/>
          <p:nvPr/>
        </p:nvSpPr>
        <p:spPr>
          <a:xfrm>
            <a:off x="9751993" y="2368878"/>
            <a:ext cx="202830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also run</a:t>
            </a:r>
            <a:endParaRPr lang="en-US" sz="1100" dirty="0"/>
          </a:p>
        </p:txBody>
      </p:sp>
      <p:sp>
        <p:nvSpPr>
          <p:cNvPr id="24" name="Text 22"/>
          <p:cNvSpPr txBox="1"/>
          <p:nvPr/>
        </p:nvSpPr>
        <p:spPr>
          <a:xfrm>
            <a:off x="9751993" y="2591991"/>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upgrade the core</a:t>
            </a:r>
            <a:endParaRPr lang="en-US" sz="1200" dirty="0"/>
          </a:p>
        </p:txBody>
      </p:sp>
      <p:sp>
        <p:nvSpPr>
          <p:cNvPr id="25" name="Text 23"/>
          <p:cNvSpPr txBox="1"/>
          <p:nvPr/>
        </p:nvSpPr>
        <p:spPr>
          <a:xfrm>
            <a:off x="9751993" y="2784681"/>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half site</a:t>
            </a:r>
            <a:endParaRPr lang="en-US" sz="1200" dirty="0"/>
          </a:p>
        </p:txBody>
      </p:sp>
      <p:sp>
        <p:nvSpPr>
          <p:cNvPr id="26" name="Text 24"/>
          <p:cNvSpPr txBox="1"/>
          <p:nvPr/>
        </p:nvSpPr>
        <p:spPr>
          <a:xfrm>
            <a:off x="9751993" y="2977370"/>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reverse complement</a:t>
            </a:r>
            <a:endParaRPr lang="en-US" sz="1200" dirty="0"/>
          </a:p>
        </p:txBody>
      </p:sp>
      <p:sp>
        <p:nvSpPr>
          <p:cNvPr id="27" name="Shape 25"/>
          <p:cNvSpPr/>
          <p:nvPr/>
        </p:nvSpPr>
        <p:spPr>
          <a:xfrm>
            <a:off x="644901" y="3545295"/>
            <a:ext cx="10871717" cy="0"/>
          </a:xfrm>
          <a:prstGeom prst="line">
            <a:avLst/>
          </a:prstGeom>
          <a:noFill/>
          <a:ln w="12700">
            <a:solidFill>
              <a:srgbClr val="AFB5BD"/>
            </a:solidFill>
            <a:prstDash val="dash"/>
          </a:ln>
        </p:spPr>
      </p:sp>
      <p:sp>
        <p:nvSpPr>
          <p:cNvPr id="28" name="Text 26"/>
          <p:cNvSpPr txBox="1"/>
          <p:nvPr/>
        </p:nvSpPr>
        <p:spPr>
          <a:xfrm>
            <a:off x="644901" y="3808975"/>
            <a:ext cx="5679255"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OR ADD A SECOND COPY AT A SET DISTANCE</a:t>
            </a:r>
            <a:endParaRPr lang="en-US" sz="1300" dirty="0"/>
          </a:p>
        </p:txBody>
      </p:sp>
      <p:sp>
        <p:nvSpPr>
          <p:cNvPr id="29" name="Shape 27"/>
          <p:cNvSpPr/>
          <p:nvPr/>
        </p:nvSpPr>
        <p:spPr>
          <a:xfrm>
            <a:off x="2896320" y="4376900"/>
            <a:ext cx="5273594" cy="0"/>
          </a:xfrm>
          <a:prstGeom prst="line">
            <a:avLst/>
          </a:prstGeom>
          <a:noFill/>
          <a:ln w="20320">
            <a:solidFill>
              <a:srgbClr val="15181C">
                <a:alpha val="55000"/>
              </a:srgbClr>
            </a:solidFill>
            <a:prstDash val="solid"/>
          </a:ln>
        </p:spPr>
      </p:sp>
      <p:sp>
        <p:nvSpPr>
          <p:cNvPr id="30" name="Shape 28"/>
          <p:cNvSpPr/>
          <p:nvPr/>
        </p:nvSpPr>
        <p:spPr>
          <a:xfrm>
            <a:off x="4285710" y="4321122"/>
            <a:ext cx="263680" cy="111557"/>
          </a:xfrm>
          <a:prstGeom prst="roundRect">
            <a:avLst>
              <a:gd name="adj" fmla="val 16393"/>
            </a:avLst>
          </a:prstGeom>
          <a:solidFill>
            <a:srgbClr val="D9A32B">
              <a:alpha val="80000"/>
            </a:srgbClr>
          </a:solidFill>
          <a:ln w="13970">
            <a:solidFill>
              <a:srgbClr val="D9A32B"/>
            </a:solidFill>
            <a:prstDash val="solid"/>
          </a:ln>
        </p:spPr>
      </p:sp>
      <p:sp>
        <p:nvSpPr>
          <p:cNvPr id="31" name="Shape 29"/>
          <p:cNvSpPr/>
          <p:nvPr/>
        </p:nvSpPr>
        <p:spPr>
          <a:xfrm>
            <a:off x="6314015" y="4321122"/>
            <a:ext cx="263680" cy="111557"/>
          </a:xfrm>
          <a:prstGeom prst="roundRect">
            <a:avLst>
              <a:gd name="adj" fmla="val 16393"/>
            </a:avLst>
          </a:prstGeom>
          <a:solidFill>
            <a:srgbClr val="D9A32B">
              <a:alpha val="80000"/>
            </a:srgbClr>
          </a:solidFill>
          <a:ln w="13970">
            <a:solidFill>
              <a:srgbClr val="D9A32B"/>
            </a:solidFill>
            <a:prstDash val="solid"/>
          </a:ln>
        </p:spPr>
      </p:sp>
      <p:sp>
        <p:nvSpPr>
          <p:cNvPr id="32" name="Shape 30"/>
          <p:cNvSpPr/>
          <p:nvPr/>
        </p:nvSpPr>
        <p:spPr>
          <a:xfrm>
            <a:off x="4417550" y="4620297"/>
            <a:ext cx="2028305" cy="0"/>
          </a:xfrm>
          <a:prstGeom prst="line">
            <a:avLst/>
          </a:prstGeom>
          <a:noFill/>
          <a:ln w="13970">
            <a:solidFill>
              <a:srgbClr val="5A6471"/>
            </a:solidFill>
            <a:prstDash val="solid"/>
          </a:ln>
        </p:spPr>
      </p:sp>
      <p:sp>
        <p:nvSpPr>
          <p:cNvPr id="33" name="Shape 31"/>
          <p:cNvSpPr/>
          <p:nvPr/>
        </p:nvSpPr>
        <p:spPr>
          <a:xfrm>
            <a:off x="4417550" y="4569589"/>
            <a:ext cx="0" cy="101415"/>
          </a:xfrm>
          <a:prstGeom prst="line">
            <a:avLst/>
          </a:prstGeom>
          <a:noFill/>
          <a:ln w="13970">
            <a:solidFill>
              <a:srgbClr val="5A6471"/>
            </a:solidFill>
            <a:prstDash val="solid"/>
          </a:ln>
        </p:spPr>
      </p:sp>
      <p:sp>
        <p:nvSpPr>
          <p:cNvPr id="34" name="Shape 32"/>
          <p:cNvSpPr/>
          <p:nvPr/>
        </p:nvSpPr>
        <p:spPr>
          <a:xfrm>
            <a:off x="6445855" y="4569589"/>
            <a:ext cx="0" cy="101415"/>
          </a:xfrm>
          <a:prstGeom prst="line">
            <a:avLst/>
          </a:prstGeom>
          <a:noFill/>
          <a:ln w="13970">
            <a:solidFill>
              <a:srgbClr val="5A6471"/>
            </a:solidFill>
            <a:prstDash val="solid"/>
          </a:ln>
        </p:spPr>
      </p:sp>
      <p:sp>
        <p:nvSpPr>
          <p:cNvPr id="35" name="Text 33"/>
          <p:cNvSpPr txBox="1"/>
          <p:nvPr/>
        </p:nvSpPr>
        <p:spPr>
          <a:xfrm>
            <a:off x="5127456" y="4458033"/>
            <a:ext cx="608492"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5A6471"/>
                </a:solidFill>
                <a:latin typeface="Arial" pitchFamily="34" charset="0"/>
                <a:ea typeface="Arial" pitchFamily="34" charset="-122"/>
                <a:cs typeface="Arial" pitchFamily="34" charset="-120"/>
              </a:rPr>
              <a:t>d</a:t>
            </a:r>
            <a:endParaRPr lang="en-US" sz="1200" dirty="0"/>
          </a:p>
        </p:txBody>
      </p:sp>
      <p:sp>
        <p:nvSpPr>
          <p:cNvPr id="36" name="Text 34"/>
          <p:cNvSpPr txBox="1"/>
          <p:nvPr/>
        </p:nvSpPr>
        <p:spPr>
          <a:xfrm>
            <a:off x="8393028" y="4275485"/>
            <a:ext cx="2433967" cy="202831"/>
          </a:xfrm>
          <a:prstGeom prst="rect">
            <a:avLst/>
          </a:prstGeom>
          <a:noFill/>
          <a:ln/>
        </p:spPr>
        <p:txBody>
          <a:bodyPr wrap="square" lIns="0" tIns="0" rIns="0" bIns="0" rtlCol="0" anchor="ctr"/>
          <a:lstStyle/>
          <a:p>
            <a:pPr algn="l" indent="0" marL="0">
              <a:lnSpc>
                <a:spcPct val="95000"/>
              </a:lnSpc>
              <a:buNone/>
            </a:pPr>
            <a:r>
              <a:rPr lang="en-US" sz="1200" b="1" dirty="0">
                <a:solidFill>
                  <a:srgbClr val="8A6400"/>
                </a:solidFill>
                <a:latin typeface="Arial" pitchFamily="34" charset="0"/>
                <a:ea typeface="Arial" pitchFamily="34" charset="-122"/>
                <a:cs typeface="Arial" pitchFamily="34" charset="-120"/>
              </a:rPr>
              <a:t>a second AP-1</a:t>
            </a:r>
            <a:endParaRPr lang="en-US" sz="1200" dirty="0"/>
          </a:p>
        </p:txBody>
      </p:sp>
      <p:sp>
        <p:nvSpPr>
          <p:cNvPr id="37" name="Shape 35"/>
          <p:cNvSpPr/>
          <p:nvPr/>
        </p:nvSpPr>
        <p:spPr>
          <a:xfrm>
            <a:off x="2896320" y="5127373"/>
            <a:ext cx="5273594" cy="0"/>
          </a:xfrm>
          <a:prstGeom prst="line">
            <a:avLst/>
          </a:prstGeom>
          <a:noFill/>
          <a:ln w="20320">
            <a:solidFill>
              <a:srgbClr val="15181C">
                <a:alpha val="55000"/>
              </a:srgbClr>
            </a:solidFill>
            <a:prstDash val="solid"/>
          </a:ln>
        </p:spPr>
      </p:sp>
      <p:sp>
        <p:nvSpPr>
          <p:cNvPr id="38" name="Shape 36"/>
          <p:cNvSpPr/>
          <p:nvPr/>
        </p:nvSpPr>
        <p:spPr>
          <a:xfrm>
            <a:off x="4285710" y="5071595"/>
            <a:ext cx="263680" cy="111557"/>
          </a:xfrm>
          <a:prstGeom prst="roundRect">
            <a:avLst>
              <a:gd name="adj" fmla="val 16393"/>
            </a:avLst>
          </a:prstGeom>
          <a:solidFill>
            <a:srgbClr val="D9A32B">
              <a:alpha val="80000"/>
            </a:srgbClr>
          </a:solidFill>
          <a:ln w="13970">
            <a:solidFill>
              <a:srgbClr val="D9A32B"/>
            </a:solidFill>
            <a:prstDash val="solid"/>
          </a:ln>
        </p:spPr>
      </p:sp>
      <p:sp>
        <p:nvSpPr>
          <p:cNvPr id="39" name="Shape 37"/>
          <p:cNvSpPr/>
          <p:nvPr/>
        </p:nvSpPr>
        <p:spPr>
          <a:xfrm>
            <a:off x="6314015" y="5061453"/>
            <a:ext cx="263680" cy="131840"/>
          </a:xfrm>
          <a:prstGeom prst="roundRect">
            <a:avLst>
              <a:gd name="adj" fmla="val 13871"/>
            </a:avLst>
          </a:prstGeom>
          <a:solidFill>
            <a:srgbClr val="5A6471">
              <a:alpha val="14000"/>
            </a:srgbClr>
          </a:solidFill>
          <a:ln w="9525">
            <a:solidFill>
              <a:srgbClr val="5A6471"/>
            </a:solidFill>
            <a:prstDash val="solid"/>
          </a:ln>
        </p:spPr>
      </p:sp>
      <p:sp>
        <p:nvSpPr>
          <p:cNvPr id="40" name="Shape 38"/>
          <p:cNvSpPr/>
          <p:nvPr/>
        </p:nvSpPr>
        <p:spPr>
          <a:xfrm>
            <a:off x="6314015" y="5076666"/>
            <a:ext cx="263680" cy="101415"/>
          </a:xfrm>
          <a:custGeom>
            <a:avLst/>
            <a:gdLst/>
            <a:ahLst/>
            <a:cxnLst/>
            <a:rect l="l" t="t" r="r" b="b"/>
            <a:pathLst>
              <a:path w="263680" h="101415">
                <a:moveTo>
                  <a:pt x="0" y="10142"/>
                </a:moveTo>
                <a:lnTo>
                  <a:pt x="52736" y="91274"/>
                </a:lnTo>
                <a:lnTo>
                  <a:pt x="105472" y="10142"/>
                </a:lnTo>
                <a:lnTo>
                  <a:pt x="158208" y="91274"/>
                </a:lnTo>
                <a:lnTo>
                  <a:pt x="210944" y="10142"/>
                </a:lnTo>
                <a:lnTo>
                  <a:pt x="263680" y="91274"/>
                </a:lnTo>
              </a:path>
            </a:pathLst>
          </a:custGeom>
          <a:ln w="17780">
            <a:solidFill>
              <a:srgbClr val="5A6471"/>
            </a:solidFill>
            <a:prstDash val="solid"/>
          </a:ln>
        </p:spPr>
      </p:sp>
      <p:sp>
        <p:nvSpPr>
          <p:cNvPr id="41" name="Shape 39"/>
          <p:cNvSpPr/>
          <p:nvPr/>
        </p:nvSpPr>
        <p:spPr>
          <a:xfrm>
            <a:off x="6273449" y="5036100"/>
            <a:ext cx="344812" cy="182547"/>
          </a:xfrm>
          <a:prstGeom prst="roundRect">
            <a:avLst>
              <a:gd name="adj" fmla="val 10018"/>
            </a:avLst>
          </a:prstGeom>
          <a:ln w="13970">
            <a:solidFill>
              <a:srgbClr val="5A6471"/>
            </a:solidFill>
            <a:prstDash val="dash"/>
          </a:ln>
        </p:spPr>
      </p:sp>
      <p:sp>
        <p:nvSpPr>
          <p:cNvPr id="42" name="Text 40"/>
          <p:cNvSpPr txBox="1"/>
          <p:nvPr/>
        </p:nvSpPr>
        <p:spPr>
          <a:xfrm>
            <a:off x="644901" y="5025958"/>
            <a:ext cx="152122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control</a:t>
            </a:r>
            <a:endParaRPr lang="en-US" sz="1100" dirty="0"/>
          </a:p>
        </p:txBody>
      </p:sp>
      <p:sp>
        <p:nvSpPr>
          <p:cNvPr id="43" name="Text 41"/>
          <p:cNvSpPr txBox="1"/>
          <p:nvPr/>
        </p:nvSpPr>
        <p:spPr>
          <a:xfrm>
            <a:off x="8393028" y="5025958"/>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or the same width of scramble</a:t>
            </a:r>
            <a:endParaRPr lang="en-US" sz="1100" dirty="0"/>
          </a:p>
        </p:txBody>
      </p:sp>
      <p:sp>
        <p:nvSpPr>
          <p:cNvPr id="44" name="Text 42"/>
          <p:cNvSpPr txBox="1"/>
          <p:nvPr/>
        </p:nvSpPr>
        <p:spPr>
          <a:xfrm>
            <a:off x="3809058" y="5370770"/>
            <a:ext cx="3245289"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d = 20 to 150 bp, either side</a:t>
            </a:r>
            <a:endParaRPr lang="en-US" sz="1100" dirty="0"/>
          </a:p>
        </p:txBody>
      </p:sp>
      <p:sp>
        <p:nvSpPr>
          <p:cNvPr id="45" name="Shape 43"/>
          <p:cNvSpPr/>
          <p:nvPr/>
        </p:nvSpPr>
        <p:spPr>
          <a:xfrm>
            <a:off x="502920" y="5989320"/>
            <a:ext cx="50292" cy="566928"/>
          </a:xfrm>
          <a:prstGeom prst="rect">
            <a:avLst/>
          </a:prstGeom>
          <a:solidFill>
            <a:srgbClr val="3F3F3F"/>
          </a:solidFill>
          <a:ln w="12700">
            <a:solidFill>
              <a:srgbClr val="333333"/>
            </a:solidFill>
            <a:prstDash val="solid"/>
          </a:ln>
        </p:spPr>
      </p:sp>
      <p:sp>
        <p:nvSpPr>
          <p:cNvPr id="46" name="Text 44"/>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only destroying the motif, weaken it one base at a time, strengthen it, flip it, duplicate it or move it — each against a control that changes the same amount of sequence but no motif.</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Two differences that turned out to be accessibility</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 second AP-1 copy looked worth more to Dynamic sites</a:t>
            </a:r>
            <a:endParaRPr lang="en-US" sz="1700" dirty="0"/>
          </a:p>
          <a:p>
            <a:pPr algn="l" lvl="1" marL="685800" indent="-342900">
              <a:spcAft>
                <a:spcPts val="400"/>
              </a:spcAft>
              <a:buSzPct val="100000"/>
              <a:buChar char="▪"/>
            </a:pPr>
            <a:r>
              <a:rPr lang="en-US" sz="1450" dirty="0">
                <a:solidFill>
                  <a:srgbClr val="595959"/>
                </a:solidFill>
              </a:rPr>
              <a:t>+0.72 vs +0.60 log2, p &lt; 1e-4 — matched on accessibility, p = 0.93. Gone.</a:t>
            </a:r>
            <a:endParaRPr lang="en-US" sz="1700" dirty="0"/>
          </a:p>
          <a:p>
            <a:pPr algn="l" marL="342900" indent="-342900">
              <a:spcBef>
                <a:spcPts val="1100"/>
              </a:spcBef>
              <a:spcAft>
                <a:spcPts val="300"/>
              </a:spcAft>
              <a:buSzPct val="100000"/>
              <a:buChar char="•"/>
            </a:pPr>
            <a:r>
              <a:rPr lang="en-US" sz="1700" b="1" dirty="0">
                <a:solidFill>
                  <a:srgbClr val="111111"/>
                </a:solidFill>
              </a:rPr>
              <a:t>Upgrading an imperfect core to a perfect TGAGTCA looked worth more to Dynamic sites</a:t>
            </a:r>
            <a:endParaRPr lang="en-US" sz="1700" dirty="0"/>
          </a:p>
          <a:p>
            <a:pPr algn="l" lvl="1" marL="685800" indent="-342900">
              <a:spcAft>
                <a:spcPts val="400"/>
              </a:spcAft>
              <a:buSzPct val="100000"/>
              <a:buChar char="▪"/>
            </a:pPr>
            <a:r>
              <a:rPr lang="en-US" sz="1450" dirty="0">
                <a:solidFill>
                  <a:srgbClr val="595959"/>
                </a:solidFill>
              </a:rPr>
              <a:t>+0.66 vs +0.52, p &lt; 1e-4 — matched, p = 0.94. Gone.</a:t>
            </a:r>
            <a:endParaRPr lang="en-US" sz="1700" dirty="0"/>
          </a:p>
          <a:p>
            <a:pPr algn="l" marL="342900" indent="-342900">
              <a:spcBef>
                <a:spcPts val="1100"/>
              </a:spcBef>
              <a:spcAft>
                <a:spcPts val="300"/>
              </a:spcAft>
              <a:buSzPct val="100000"/>
              <a:buChar char="•"/>
            </a:pPr>
            <a:r>
              <a:rPr lang="en-US" sz="1700" b="1" dirty="0">
                <a:solidFill>
                  <a:srgbClr val="111111"/>
                </a:solidFill>
              </a:rPr>
              <a:t>What did survive matching</a:t>
            </a:r>
            <a:endParaRPr lang="en-US" sz="1700" dirty="0"/>
          </a:p>
          <a:p>
            <a:pPr algn="l" lvl="1" marL="685800" indent="-342900">
              <a:spcAft>
                <a:spcPts val="400"/>
              </a:spcAft>
              <a:buSzPct val="100000"/>
              <a:buChar char="▪"/>
            </a:pPr>
            <a:r>
              <a:rPr lang="en-US" sz="1450" dirty="0">
                <a:solidFill>
                  <a:srgbClr val="595959"/>
                </a:solidFill>
              </a:rPr>
              <a:t>Destroying the motif costs Dynamic sites less (+0.16, p = 4e-4); the dose-response is shallower; relocating the motif helps them less.</a:t>
            </a:r>
            <a:endParaRPr lang="en-US" sz="1700" dirty="0"/>
          </a:p>
          <a:p>
            <a:pPr algn="l" marL="342900" indent="-342900">
              <a:spcBef>
                <a:spcPts val="1100"/>
              </a:spcBef>
              <a:spcAft>
                <a:spcPts val="300"/>
              </a:spcAft>
              <a:buSzPct val="100000"/>
              <a:buChar char="•"/>
            </a:pPr>
            <a:r>
              <a:rPr lang="en-US" sz="1700" b="1" dirty="0">
                <a:solidFill>
                  <a:srgbClr val="111111"/>
                </a:solidFill>
              </a:rPr>
              <a:t>Two clean negatives worth having</a:t>
            </a:r>
            <a:endParaRPr lang="en-US" sz="1700" dirty="0"/>
          </a:p>
          <a:p>
            <a:pPr algn="l" lvl="1" marL="685800" indent="-342900">
              <a:spcAft>
                <a:spcPts val="400"/>
              </a:spcAft>
              <a:buSzPct val="100000"/>
              <a:buChar char="▪"/>
            </a:pPr>
            <a:r>
              <a:rPr lang="en-US" sz="1450" dirty="0">
                <a:solidFill>
                  <a:srgbClr val="595959"/>
                </a:solidFill>
              </a:rPr>
              <a:t>Reverse-complementing the whole motif costs nothing in either class (-0.03 log2, p = 0.89) — expected for a palindromic TRE, and a sanity check on the head.</a:t>
            </a:r>
            <a:endParaRPr lang="en-US" sz="1700" dirty="0"/>
          </a:p>
          <a:p>
            <a:pPr algn="l" lvl="1" marL="685800" indent="-342900">
              <a:spcAft>
                <a:spcPts val="400"/>
              </a:spcAft>
              <a:buSzPct val="100000"/>
              <a:buChar char="▪"/>
            </a:pPr>
            <a:r>
              <a:rPr lang="en-US" sz="1450" dirty="0">
                <a:solidFill>
                  <a:srgbClr val="595959"/>
                </a:solidFill>
              </a:rPr>
              <a:t>The spacing preference for a second copy is identical: best at ±20–40 bp, decaying by ±150 bp, with no class difference at any distance (all FDR &gt; 0.58).</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How this sits with the MPRA work</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Agrees</a:t>
            </a:r>
            <a:endParaRPr lang="en-US" sz="1700" dirty="0"/>
          </a:p>
          <a:p>
            <a:pPr algn="l" lvl="1" marL="685800" indent="-342900">
              <a:spcAft>
                <a:spcPts val="400"/>
              </a:spcAft>
              <a:buSzPct val="100000"/>
              <a:buChar char="▪"/>
            </a:pPr>
            <a:r>
              <a:rPr lang="en-US" sz="1450" dirty="0">
                <a:solidFill>
                  <a:srgbClr val="595959"/>
                </a:solidFill>
              </a:rPr>
              <a:t>Dynamic elements have weaker endogenous chromatin, and depend on context rather than being sequence-autonomous.</a:t>
            </a:r>
            <a:endParaRPr lang="en-US" sz="1700" dirty="0"/>
          </a:p>
          <a:p>
            <a:pPr algn="l" lvl="1" marL="685800" indent="-342900">
              <a:spcAft>
                <a:spcPts val="400"/>
              </a:spcAft>
              <a:buSzPct val="100000"/>
              <a:buChar char="▪"/>
            </a:pPr>
            <a:r>
              <a:rPr lang="en-US" sz="1450" dirty="0">
                <a:solidFill>
                  <a:srgbClr val="595959"/>
                </a:solidFill>
              </a:rPr>
              <a:t>Shuffling the AP-1 core alone does not separate pooled Stable from pooled Dynamic.</a:t>
            </a:r>
            <a:endParaRPr lang="en-US" sz="1700" dirty="0"/>
          </a:p>
          <a:p>
            <a:pPr algn="l" lvl="1" marL="685800" indent="-342900">
              <a:spcAft>
                <a:spcPts val="400"/>
              </a:spcAft>
              <a:buSzPct val="100000"/>
              <a:buChar char="▪"/>
            </a:pPr>
            <a:r>
              <a:rPr lang="en-US" sz="1450" dirty="0">
                <a:solidFill>
                  <a:srgbClr val="595959"/>
                </a:solidFill>
              </a:rPr>
              <a:t>Age-gained elements behave like Stable ones — here, at their own AP-1 motif.</a:t>
            </a:r>
            <a:endParaRPr lang="en-US" sz="1700" dirty="0"/>
          </a:p>
          <a:p>
            <a:pPr algn="l" lvl="1" marL="685800" indent="-342900">
              <a:spcAft>
                <a:spcPts val="400"/>
              </a:spcAft>
              <a:buSzPct val="100000"/>
              <a:buChar char="▪"/>
            </a:pPr>
            <a:r>
              <a:rPr lang="en-US" sz="1450" dirty="0">
                <a:solidFill>
                  <a:srgbClr val="595959"/>
                </a:solidFill>
              </a:rPr>
              <a:t>C/EBP is the strongest partner motif at fibroblast AP-1 sites (net −0.71 log2, ahead of MEF2 and NFI).</a:t>
            </a:r>
            <a:endParaRPr lang="en-US" sz="1700" dirty="0"/>
          </a:p>
          <a:p>
            <a:pPr algn="l" marL="342900" indent="-342900">
              <a:spcBef>
                <a:spcPts val="1100"/>
              </a:spcBef>
              <a:spcAft>
                <a:spcPts val="300"/>
              </a:spcAft>
              <a:buSzPct val="100000"/>
              <a:buChar char="•"/>
            </a:pPr>
            <a:r>
              <a:rPr lang="en-US" sz="1700" b="1" dirty="0">
                <a:solidFill>
                  <a:srgbClr val="111111"/>
                </a:solidFill>
              </a:rPr>
              <a:t>Adds</a:t>
            </a:r>
            <a:endParaRPr lang="en-US" sz="1700" dirty="0"/>
          </a:p>
          <a:p>
            <a:pPr algn="l" lvl="1" marL="685800" indent="-342900">
              <a:spcAft>
                <a:spcPts val="400"/>
              </a:spcAft>
              <a:buSzPct val="100000"/>
              <a:buChar char="▪"/>
            </a:pPr>
            <a:r>
              <a:rPr lang="en-US" sz="1450" dirty="0">
                <a:solidFill>
                  <a:srgbClr val="595959"/>
                </a:solidFill>
              </a:rPr>
              <a:t>The class difference is a whole-peak property, not a 170 bp one.</a:t>
            </a:r>
            <a:endParaRPr lang="en-US" sz="1700" dirty="0"/>
          </a:p>
          <a:p>
            <a:pPr algn="l" lvl="1" marL="685800" indent="-342900">
              <a:spcAft>
                <a:spcPts val="400"/>
              </a:spcAft>
              <a:buSzPct val="100000"/>
              <a:buChar char="▪"/>
            </a:pPr>
            <a:r>
              <a:rPr lang="en-US" sz="1450" dirty="0">
                <a:solidFill>
                  <a:srgbClr val="595959"/>
                </a:solidFill>
              </a:rPr>
              <a:t>Within Dynamic, the AP-1-LOSING sites are the ones that are sequence-different, with age and with exercise alike; the gaining ones look like Stable. Direction, not stimulus.</a:t>
            </a:r>
            <a:endParaRPr lang="en-US" sz="1700" dirty="0"/>
          </a:p>
          <a:p>
            <a:pPr algn="l" lvl="1" marL="685800" indent="-342900">
              <a:spcAft>
                <a:spcPts val="400"/>
              </a:spcAft>
              <a:buSzPct val="100000"/>
              <a:buChar char="▪"/>
            </a:pPr>
            <a:r>
              <a:rPr lang="en-US" sz="1450" dirty="0">
                <a:solidFill>
                  <a:srgbClr val="595959"/>
                </a:solidFill>
              </a:rPr>
              <a:t>Unprompted, AlphaGenome makes the AP-1 core the most important 10 bp in over half of all sites — equally in both classes. The classes differ in how much of the dependence sits there, not in whether AP-1 leads.</a:t>
            </a:r>
            <a:endParaRPr lang="en-US" sz="1700" dirty="0"/>
          </a:p>
          <a:p>
            <a:pPr algn="l" lvl="1" marL="685800" indent="-342900">
              <a:spcAft>
                <a:spcPts val="400"/>
              </a:spcAft>
              <a:buSzPct val="100000"/>
              <a:buChar char="▪"/>
            </a:pPr>
            <a:r>
              <a:rPr lang="en-US" sz="1450" dirty="0">
                <a:solidFill>
                  <a:srgbClr val="595959"/>
                </a:solidFill>
              </a:rPr>
              <a:t>Dynamic sites spread their dependence slightly wider, and it survives accessibility matching (33.1% vs 31.3% within ±25 bp, P = 0.006) — the sequence-model version of “attention is more distributed at dynamic enhancers”.</a:t>
            </a:r>
            <a:endParaRPr lang="en-US" sz="1700" dirty="0"/>
          </a:p>
          <a:p>
            <a:pPr algn="l" marL="342900" indent="-342900">
              <a:spcBef>
                <a:spcPts val="1100"/>
              </a:spcBef>
              <a:spcAft>
                <a:spcPts val="300"/>
              </a:spcAft>
              <a:buSzPct val="100000"/>
              <a:buChar char="•"/>
            </a:pPr>
            <a:r>
              <a:rPr lang="en-US" sz="1700" b="1" dirty="0">
                <a:solidFill>
                  <a:srgbClr val="111111"/>
                </a:solidFill>
              </a:rPr>
              <a:t>Keep off the slides</a:t>
            </a:r>
            <a:endParaRPr lang="en-US" sz="1700" dirty="0"/>
          </a:p>
          <a:p>
            <a:pPr algn="l" lvl="1" marL="685800" indent="-342900">
              <a:spcAft>
                <a:spcPts val="400"/>
              </a:spcAft>
              <a:buSzPct val="100000"/>
              <a:buChar char="▪"/>
            </a:pPr>
            <a:r>
              <a:rPr lang="en-US" sz="1450" dirty="0">
                <a:solidFill>
                  <a:srgbClr val="595959"/>
                </a:solidFill>
              </a:rPr>
              <a:t>Our in-situ 170 bp shuffle costs Stable sites more (−2.51 vs −1.96, p = 4e-40), the opposite of the MPRA flank result. Different assay — episomal activity vs chromatin accessibility — but it reads as a contradiction.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AP-1 sites in cardiac fibroblasts: what AlphaGenome says</dc:title>
  <dc:subject>PptxGenJS Presentation</dc:subject>
  <dc:creator>Jack</dc:creator>
  <cp:lastModifiedBy>Jack</cp:lastModifiedBy>
  <cp:revision>1</cp:revision>
  <dcterms:created xsi:type="dcterms:W3CDTF">2026-10-25T06:36:41Z</dcterms:created>
  <dcterms:modified xsi:type="dcterms:W3CDTF">2026-10-25T06:36:41Z</dcterms:modified>
</cp:coreProperties>
</file>