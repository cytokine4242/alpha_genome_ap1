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order: the three shuffles ask how much sequence you have to destroy; the tile scan and the saturation ask where in the sequence the dependence lives; the partner shuffle asks which other motifs matter.
The partner control is the part to dwell on. Dynamic sites are about half as accessible as Stable ones, so any measure that compares a Dynamic number against a Stable number is open to that confound. Scoring a shuffled partner against a matched footprint-free window at the mirrored distance keeps the whole comparison inside one site, so accessibility cannot reach it.
Every shuffle is repeated 10 times per site and averaged, so a single lucky permutation cannot carry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 the control is the SAME sequence shuffled, dropped into the SAME host, so the host's own contribution cancels in the ratio. 20 hosts per element, 50 donors per class. Hosts are genomic windows with no called ATAC peak.
Swap: every donor element written into every recipient location, both at 170 bp and at the whole peak, 62,250 combinations. Self-swaps are excluded. Because each donor appears in about 250 of those rows, the confidence intervals come from a cluster bootstrap over donors - an OLS standard error on 62,250 rows would be far too small.
Caveat to have ready for the transplant slide: the donors are NOT matched on accessibility. That is handled separately and the slide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 sites. Own AP-1 motif: Stable -1.21 (n=1179), AP-1 gained -1.19 (n=605, p = 0.93 vs Stable), Dynamic but not age-driven -1.10 (n=347, p = 0.055), AP-1 lost -0.78 (n=209, p = 2.3e-5).
Partner motifs, net of control: Stable -0.20, gained -0.25, not age-driven -0.27, lost -0.22 - no class difference (vs Stable: p = 0.13, 0.23, 0.66).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AP-1 gained 0.755, AP-1 lost 0.734, Dynamic not age-driven 0.727. Kruskal across the four, p = 1.7e-10.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slide 5.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pic>
        <p:nvPicPr>
          <p:cNvPr id="3" name="Image 0" descr="/Users/z5162865/WongLab/AlphaGenome_Ap1/Analysis/slide_figures/m1_pipeline.png">    </p:cNvPr>
          <p:cNvPicPr>
            <a:picLocks noChangeAspect="1"/>
          </p:cNvPicPr>
          <p:nvPr/>
        </p:nvPicPr>
        <p:blipFill>
          <a:blip r:embed="rId1"/>
          <a:stretch>
            <a:fillRect/>
          </a:stretch>
        </p:blipFill>
        <p:spPr>
          <a:xfrm>
            <a:off x="457200" y="1259403"/>
            <a:ext cx="11247120" cy="4476354"/>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Edits made where the element stands</a:t>
            </a:r>
            <a:endParaRPr lang="en-US" sz="2800" dirty="0"/>
          </a:p>
        </p:txBody>
      </p:sp>
      <p:pic>
        <p:nvPicPr>
          <p:cNvPr id="3" name="Image 0" descr="/Users/z5162865/WongLab/AlphaGenome_Ap1/Analysis/slide_figures/m2_within_site.png">    </p:cNvPr>
          <p:cNvPicPr>
            <a:picLocks noChangeAspect="1"/>
          </p:cNvPicPr>
          <p:nvPr/>
        </p:nvPicPr>
        <p:blipFill>
          <a:blip r:embed="rId1"/>
          <a:stretch>
            <a:fillRect/>
          </a:stretch>
        </p:blipFill>
        <p:spPr>
          <a:xfrm>
            <a:off x="697734" y="1097280"/>
            <a:ext cx="10766051" cy="4800600"/>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Three widths of shuffle, a tile scan across 600 bp, single-base saturation, and one partner motif at a time against a footprint-free window of the same width at the mirrored distance.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Edits that move the element somewhere else</a:t>
            </a:r>
            <a:endParaRPr lang="en-US" sz="2800" dirty="0"/>
          </a:p>
        </p:txBody>
      </p:sp>
      <p:pic>
        <p:nvPicPr>
          <p:cNvPr id="3" name="Image 0" descr="/Users/z5162865/WongLab/AlphaGenome_Ap1/Analysis/slide_figures/m3_move.png">    </p:cNvPr>
          <p:cNvPicPr>
            <a:picLocks noChangeAspect="1"/>
          </p:cNvPicPr>
          <p:nvPr/>
        </p:nvPicPr>
        <p:blipFill>
          <a:blip r:embed="rId1"/>
          <a:stretch>
            <a:fillRect/>
          </a:stretch>
        </p:blipFill>
        <p:spPr>
          <a:xfrm>
            <a:off x="457200" y="1653790"/>
            <a:ext cx="11247120" cy="3687580"/>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Transplant asks whether an element can build a site on its own, by dropping it into chromatin that has none. Swap asks whether a site's level is set by the sequence or by the address.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swapped into every other site's location: the swapped site's accessibility regressed on the donor element and on the recipient location. The two weights are drawn pulling against each other from a common zero. 62,250 swaps; 95% CI from a cluster bootstrap over the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Only the AP-1-losing sites let go — and only of AP-1</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the notch is a 95% interval on the median. Dynamic split into the age classes as given. Mann–Whitney against Stable.</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Sites that lose AP-1 binding with age were never strongly AP-1-driven: they depend 36% less on their own motif while using every other motif exactly as much. Sites that gain AP-1 with age are indistinguishable from Stable — so "Dynamic" is not one thing, and splitting it is what shows that.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the classes differ: a Stable site leaves 20% of its motif dependence to partners, a Dynamic site 25–27% — about 40% more — and every Dynamic class sits on the same side.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pic>
        <p:nvPicPr>
          <p:cNvPr id="3" name="Image 0" descr="/Users/z5162865/WongLab/AlphaGenome_Ap1/Analysis/slide_figures/m4_titration.png">    </p:cNvPr>
          <p:cNvPicPr>
            <a:picLocks noChangeAspect="1"/>
          </p:cNvPicPr>
          <p:nvPr/>
        </p:nvPicPr>
        <p:blipFill>
          <a:blip r:embed="rId1"/>
          <a:stretch>
            <a:fillRect/>
          </a:stretch>
        </p:blipFill>
        <p:spPr>
          <a:xfrm>
            <a:off x="717452" y="1097280"/>
            <a:ext cx="10726615" cy="4800600"/>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the gaining ones are not.</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2026-10-25T00:52:23Z</dcterms:created>
  <dcterms:modified xsi:type="dcterms:W3CDTF">2026-10-25T00:52:23Z</dcterms:modified>
</cp:coreProperties>
</file>