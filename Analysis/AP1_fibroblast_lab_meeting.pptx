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TOBIAS is used only to say where the partner footprints are and which family each belongs to. No footprint score enters any calculation; every number on these slides is an AlphaGenome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+2.35 (5.1x), p = 4e-5.
By class: Age Down +2.62, Age Up +2.66, Exercise Down +2.20, Exercise Up +2.14, Stable +4.65.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 sites. Own AP-1 motif: Stable -1.21 (n=1179), AP-1 gained -1.19 (n=605, p = 0.93 vs Stable), AP-1 lost -0.78 (n=209, p = 2.3e-5 vs Stable).
Partner motifs, net of control: Stable -0.20, gained -0.25, lost -0.22 - no class difference (lost vs Stable p = 0.66).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(n=1176) vs Dynamic 0.745 (n=1156), p = 7.5e-11. Every Dynamic class sits below Stable: AP-1 gained 0.754 (p = 6e-5), AP-1 lost 0.736 (p = 6e-6), other Dynamic 0.727 (p = 1.5e-8). Kruskal across the four, p = 1.7e-10.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previous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Three perturbations, all in the native 131 kb window</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Transplant — take the element out and drop it into 20 closed, non-open backgrounds</a:t>
            </a:r>
            <a:endParaRPr lang="en-US" sz="1700" dirty="0"/>
          </a:p>
          <a:p>
            <a:pPr algn="l" lvl="1" marL="685800" indent="-342900">
              <a:spcAft>
                <a:spcPts val="400"/>
              </a:spcAft>
              <a:buSzPct val="100000"/>
              <a:buChar char="▪"/>
            </a:pPr>
            <a:r>
              <a:rPr lang="en-US" sz="1450" dirty="0">
                <a:solidFill>
                  <a:srgbClr val="595959"/>
                </a:solidFill>
              </a:rPr>
              <a:t>scored against the same sequence shuffled, so the host contributes nothing. 50 donors per class.</a:t>
            </a:r>
            <a:endParaRPr lang="en-US" sz="1700" dirty="0"/>
          </a:p>
          <a:p>
            <a:pPr algn="l" marL="342900" indent="-342900">
              <a:spcBef>
                <a:spcPts val="1100"/>
              </a:spcBef>
              <a:spcAft>
                <a:spcPts val="300"/>
              </a:spcAft>
              <a:buSzPct val="100000"/>
              <a:buChar char="•"/>
            </a:pPr>
            <a:r>
              <a:rPr lang="en-US" sz="1700" b="1" dirty="0">
                <a:solidFill>
                  <a:srgbClr val="111111"/>
                </a:solidFill>
              </a:rPr>
              <a:t>Swap — put every element into every other site's location, at two widths</a:t>
            </a:r>
            <a:endParaRPr lang="en-US" sz="1700" dirty="0"/>
          </a:p>
          <a:p>
            <a:pPr algn="l" lvl="1" marL="685800" indent="-342900">
              <a:spcAft>
                <a:spcPts val="400"/>
              </a:spcAft>
              <a:buSzPct val="100000"/>
              <a:buChar char="▪"/>
            </a:pPr>
            <a:r>
              <a:rPr lang="en-US" sz="1450" dirty="0">
                <a:solidFill>
                  <a:srgbClr val="595959"/>
                </a:solidFill>
              </a:rPr>
              <a:t>62,250 swaps; separates what the element IS from WHERE it sits.</a:t>
            </a:r>
            <a:endParaRPr lang="en-US" sz="1700" dirty="0"/>
          </a:p>
          <a:p>
            <a:pPr algn="l" marL="342900" indent="-342900">
              <a:spcBef>
                <a:spcPts val="1100"/>
              </a:spcBef>
              <a:spcAft>
                <a:spcPts val="300"/>
              </a:spcAft>
              <a:buSzPct val="100000"/>
              <a:buChar char="•"/>
            </a:pPr>
            <a:r>
              <a:rPr lang="en-US" sz="1700" b="1" dirty="0">
                <a:solidFill>
                  <a:srgbClr val="111111"/>
                </a:solidFill>
              </a:rPr>
              <a:t>Shuffle, motif by motif — scramble the site's own AP-1 motif, and each partner motif, one at a time</a:t>
            </a:r>
            <a:endParaRPr lang="en-US" sz="1700" dirty="0"/>
          </a:p>
          <a:p>
            <a:pPr algn="l" lvl="1" marL="685800" indent="-342900">
              <a:spcAft>
                <a:spcPts val="400"/>
              </a:spcAft>
              <a:buSzPct val="100000"/>
              <a:buChar char="▪"/>
            </a:pPr>
            <a:r>
              <a:rPr lang="en-US" sz="1450" dirty="0">
                <a:solidFill>
                  <a:srgbClr val="595959"/>
                </a:solidFill>
              </a:rPr>
              <a:t>each partner is scored against a footprint-free window of the same width at the mirrored distance, so the comparison is inside one site and needs no accessibility matching.</a:t>
            </a:r>
            <a:endParaRPr lang="en-US" sz="1700" dirty="0"/>
          </a:p>
          <a:p>
            <a:pPr algn="l" marL="342900" indent="-342900">
              <a:spcBef>
                <a:spcPts val="1100"/>
              </a:spcBef>
              <a:spcAft>
                <a:spcPts val="300"/>
              </a:spcAft>
              <a:buSzPct val="100000"/>
              <a:buChar char="•"/>
            </a:pPr>
            <a:r>
              <a:rPr lang="en-US" sz="1700" b="1" dirty="0">
                <a:solidFill>
                  <a:srgbClr val="111111"/>
                </a:solidFill>
              </a:rPr>
              <a:t>Why that last control matters</a:t>
            </a:r>
            <a:endParaRPr lang="en-US" sz="1700" dirty="0"/>
          </a:p>
          <a:p>
            <a:pPr algn="l" lvl="1" marL="685800" indent="-342900">
              <a:spcAft>
                <a:spcPts val="400"/>
              </a:spcAft>
              <a:buSzPct val="100000"/>
              <a:buChar char="▪"/>
            </a:pPr>
            <a:r>
              <a:rPr lang="en-US" sz="1450" dirty="0">
                <a:solidFill>
                  <a:srgbClr val="595959"/>
                </a:solidFill>
              </a:rPr>
              <a:t>Dynamic sites are about half as accessible as Stable ones. Any comparison that does not hold that constant will find a difference whether or not one exists - two results below are exactly that trap.</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Black, median with a bootstrap 95% CI; Mann–Whitney.</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3343940" y="1335024"/>
            <a:ext cx="5473641" cy="3566160"/>
          </a:xfrm>
          <a:prstGeom prst="rect">
            <a:avLst/>
          </a:prstGeom>
        </p:spPr>
      </p:pic>
      <p:sp>
        <p:nvSpPr>
          <p:cNvPr id="5" name="Shape 2"/>
          <p:cNvSpPr/>
          <p:nvPr/>
        </p:nvSpPr>
        <p:spPr>
          <a:xfrm>
            <a:off x="502920" y="5047488"/>
            <a:ext cx="50292" cy="731520"/>
          </a:xfrm>
          <a:prstGeom prst="rect">
            <a:avLst/>
          </a:prstGeom>
          <a:solidFill>
            <a:srgbClr val="C2551C"/>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2939902" y="1335024"/>
            <a:ext cx="6281715" cy="3858768"/>
          </a:xfrm>
          <a:prstGeom prst="rect">
            <a:avLst/>
          </a:prstGeom>
        </p:spPr>
      </p:pic>
      <p:sp>
        <p:nvSpPr>
          <p:cNvPr id="5" name="Shape 2"/>
          <p:cNvSpPr/>
          <p:nvPr/>
        </p:nvSpPr>
        <p:spPr>
          <a:xfrm>
            <a:off x="502920" y="5303520"/>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Only the AP-1-losing sites let go — and only of AP-1</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Violin, all 2,352 sites; point, median with a bootstrap 95% CI; Mann–Whitney.</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2479243" y="1335024"/>
            <a:ext cx="7203034" cy="3858768"/>
          </a:xfrm>
          <a:prstGeom prst="rect">
            <a:avLst/>
          </a:prstGeom>
        </p:spPr>
      </p:pic>
      <p:sp>
        <p:nvSpPr>
          <p:cNvPr id="5" name="Shape 2"/>
          <p:cNvSpPr/>
          <p:nvPr/>
        </p:nvSpPr>
        <p:spPr>
          <a:xfrm>
            <a:off x="502920" y="5303520"/>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Sites that lose AP-1 binding with age were never strongly AP-1-driven: they depend 36% less on their own motif while using every other motif exactly as much. Sites that gain AP-1 with age are indistinguishable from Stable.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are more AP-1-centric; Dynamic sites spread it around</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Both terms are AlphaGenome shuffle effects measured inside the same window, so accessibility cannot drive the comparison. Violin with box (median, IQR);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3250997" y="1335024"/>
            <a:ext cx="5659526" cy="3858768"/>
          </a:xfrm>
          <a:prstGeom prst="rect">
            <a:avLst/>
          </a:prstGeom>
        </p:spPr>
      </p:pic>
      <p:sp>
        <p:nvSpPr>
          <p:cNvPr id="5" name="Shape 2"/>
          <p:cNvSpPr/>
          <p:nvPr/>
        </p:nvSpPr>
        <p:spPr>
          <a:xfrm>
            <a:off x="502920" y="5303520"/>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 Stable site puts 80% of its motif dependence on AP-1 itself; a Dynamic site 74%, with the rest spread across partner motifs. Modest, but it is the AP-1-centric vs distributed picture, measured rather than inferred.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the gaining ones are not.</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2026-10-24T23:00:02Z</dcterms:created>
  <dcterms:modified xsi:type="dcterms:W3CDTF">2026-10-24T23:00:02Z</dcterms:modified>
</cp:coreProperties>
</file>