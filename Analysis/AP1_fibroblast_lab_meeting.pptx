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in silico: AlphaGenome's predicted ATAC signal after we edit the sequence. The head was fine-tuned on our own 1 bp Tn5 insertion data with Borzoi fold-3 region-based splits, so the numbers quoted are on held-out regions. Site classes are the TOBIAS categories as given - Stable = bound in all three conditions; Dynamic = anything else; Age Up / Age Down are the directional age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TOBIAS is used only to say where the partner footprints are and which family each belongs to. No footprint score enters any calculation; every number on these slides is an AlphaGenome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Per-donor medians over 20 hosts: Stable +4.65 log2 (25x), Dynamic pooled +2.35 (5.1x), p = 1.5e-5.
By class, as plotted: Stable 25x, Age Up 6.3x, Age Down 6.1x, Exercise Down 4.6x, Exercise Up 4.4x. Every Dynamic class sits well below Stable and they are close to each other, which is why pooling them is fair here.
IMPORTANT CAVEAT, be ready for this question: the donors are not matched on accessibility - Stable donors come from loci about 1.8x more accessible (measured ATAC: 32.2 vs 18.0 CPM/kb). Matching on MEASURED fibroblast ATAC (model-independent), the residual Stable advantage is +0.84 +- 0.30 log2, i.e. about 1.8x, p = 0.005 (covariance adjustment, 224 donors). The 47 matched pairs point the same way (+0.99) but are underpowered (p = 0.13). So: direction solid, magnitude about a third to a half of the raw gap. Do not defend 25x vs 5x as a sequence effect.
Also worth knowing: 0 of 50 Stable donors lack a measured ATAC peak, against 5-8 per Dynamic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62,250 swaps. 170 bp: beta(element) 0.24 vs beta(location) 0.61, R2 = 0.20. Whole peak: 0.71 vs 0.20, R2 = 0.46. Transfer fraction 0.29 at 170 bp, 0.83 at peak.
Link to the MPRA, if asked: the MPRA library is 170 bp, and its class difference there is tiny (flank shuffle 0.128 vs 0.016 log2, d = 0.14). Both assays agree that 170 bp is a poor window for this question. They are NOT the same measurement - the MPRA is episomal activity, this is chromatin accessibility in genomic context.
AVOID on a slide: our in-situ 170 bp shuffle has Stable sites losing more (-2.51 vs -1.96, p = 4e-40), which is the opposite direction to the MPRA flank result. Different assay, but it reads as a contradiction. Keep it off unless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2,352 sites. Own AP-1 motif: Stable -1.21 (n=1179), AP-1 gained -1.19 (n=605, p = 0.93 vs Stable), Dynamic but not age-driven -1.10 (n=347, p = 0.055), AP-1 lost -0.78 (n=209, p = 2.3e-5).
Partner motifs, net of control: Stable -0.20, gained -0.25, not age-driven -0.27, lost -0.22 - no class difference (vs Stable: p = 0.13, 0.23, 0.66). So the deficit is AP-1-specific, not general weakness. No single partner family takes over: nothing survives FDR in the per-family split.
Agreement: pooled Stable vs Dynamic at the motif is a null, which matches the manuscript's core-scramble result (no class difference). Age-gained being on par with Stable is the sequence-level version of 'age-gained reporter activity on par with stable'.
Caveat: the own-AP-1 bar has no matched control, because one at distance 0 would overlap the motif. That inflates AP-1 relative to the partners in every class equally, so the class comparison is unaffected.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2,359 sites, 60 tiles each, fine-tuned FB head, readout atac_170. Top tile on the AP-1 core: Stable 55.7%, AP-1 gained 53.3%, AP-1 lost 50.5%, other Dynamic 50.1%. Stable vs Dynamic Fisher p = 0.063; chi-square across the four p = 0.14.
Accessibility-matched (860 pairs, caliper 0.1 log10): 56.3% vs 53.3%, McNemar on the 398 discordant pairs p = 0.21. The core tile's median rank is 1 of 60 in BOTH classes.
Why this was run: the ratio measures (motif share vs a collar) scale with a site's signal and the scan version does not survive matching (p = 0.11). A rank is invariant to that, so it is the honest version of the question - and the answer is no difference. Say that out loud rather than hiding the slide; it makes the next one credible.
Good question to expect: why is 56% not higher? Each of the two core tiles covers only 5-6 bp of the 11 bp motif, so a site whose dependence is spread over the full core can have a flanking tile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0.804 (n=1179) vs Dynamic pooled 0.745 (n=1161), p = 7.2e-11. By class: AP-1 gained 0.755, AP-1 lost 0.734, Dynamic not age-driven 0.727. Kruskal across the four, p = 1.7e-10.
The 40%: partner share 19.6% for Stable against 24.5 / 26.6 / 27.3% for the Dynamic classes, so 27.3/19.6 = 1.39x. It is the same number as 80 vs 73, read from the other end - say it whichever way, but do not say both as if they were two results.
Detection check, in case it is asked: footprint calling needs signal, so Stable sites carry more detected partners (5.89 vs 5.01 per site, p = 2e-82). Restricting to the 1,808 sites that hit the cap of 6 detected partners, the gap is unchanged: 0.806 vs 0.736, p = 2.1e-13. Not a detection artefact.
Note this is a DIFFERENT statement from slide 5. There, only the AP-1-losing class drops in absolute AP-1 dependence. Here, all Dynamic classes are modestly less AP-1-centric in relative terms.
The equivalent tile-scan measure (motif share vs a 10-50 bp collar) does NOT survive accessibility matching (p = 0.11); the collar is mostly noise at low-accessibility sites. This version is better powered because it only scores footprinted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fibroblast titration, 2,359 sites, 860 accessibility-matched pairs (caliper 0.1 log10). This slide is the argument for why the matched analysis is worth doing - two of the five largest raw class differences in the titration were entirely explained by the accessibility gap.
Age Down is the outlier again, consistently with the other arms: one base of the core changed -0.62 vs Stable -0.83; motif gone -0.72 vs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flank question comes up: the MPRA destroys the flanks of a 170 bp fragment on a plasmid and reads transcription; we move an intact ~0.8 kb element into closed chromatin and read accessibility. There is no chromatin to open in the MPRA. The honest shared conclusion is that neither assay finds much class information in 170 bp.
Everything here is predicted accessibility from a model fine-tuned on our own fibroblast ATAC, not a measurement, and not the MPRA-trained probe used in the manuscript.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r>
              <a:rPr lang="en-US" sz="3800" b="1" dirty="0">
                <a:solidFill>
                  <a:schemeClr val="tx1"/>
                </a:solidFill>
              </a:rPr>
              <a:t> </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SUL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nchor="b"/>
          <a:lstStyle/>
          <a:p>
            <a:pPr algn="l" indent="0" marL="0">
              <a:buNone/>
            </a:pPr>
            <a:r>
              <a:rPr lang="en-US" sz="3800" b="1" dirty="0">
                <a:solidFill>
                  <a:schemeClr val="tx1"/>
                </a:solidFill>
              </a:rPr>
              <a:t>AP-1 sites in cardiac fibroblasts</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nchor="t"/>
          <a:lstStyle/>
          <a:p>
            <a:pPr algn="l" indent="0" marL="0">
              <a:spcAft>
                <a:spcPts val="1200"/>
              </a:spcAft>
              <a:buNone/>
            </a:pPr>
            <a:r>
              <a:rPr lang="en-US" sz="1900" dirty="0">
                <a:solidFill>
                  <a:srgbClr val="111111"/>
                </a:solidFill>
              </a:rPr>
              <a:t>What AlphaGenome says separates Stable from Dynamic sites</a:t>
            </a:r>
            <a:endParaRPr lang="en-US" sz="1700" dirty="0"/>
          </a:p>
          <a:p>
            <a:pPr algn="l" indent="0" marL="0">
              <a:buNone/>
            </a:pPr>
            <a:r>
              <a:rPr lang="en-US" sz="1350" dirty="0">
                <a:solidFill>
                  <a:srgbClr val="595959"/>
                </a:solidFill>
              </a:rPr>
              <a:t>Fine-tuned 1 bp ATAC head (held-out Spearman 0.68, against 0.27 for the built-in head)  ·  5,018 fibroblast AP-1 sites  ·  all effects are predicted accessibility, not measured</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Three perturbations, all in the native 131 kb window</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Transplant — take the element out and drop it into 20 closed, non-open backgrounds</a:t>
            </a:r>
            <a:endParaRPr lang="en-US" sz="1700" dirty="0"/>
          </a:p>
          <a:p>
            <a:pPr algn="l" lvl="1" marL="685800" indent="-342900">
              <a:spcAft>
                <a:spcPts val="400"/>
              </a:spcAft>
              <a:buSzPct val="100000"/>
              <a:buChar char="▪"/>
            </a:pPr>
            <a:r>
              <a:rPr lang="en-US" sz="1450" dirty="0">
                <a:solidFill>
                  <a:srgbClr val="595959"/>
                </a:solidFill>
              </a:rPr>
              <a:t>scored against the same sequence shuffled, so the host contributes nothing. 50 donors per class.</a:t>
            </a:r>
            <a:endParaRPr lang="en-US" sz="1700" dirty="0"/>
          </a:p>
          <a:p>
            <a:pPr algn="l" marL="342900" indent="-342900">
              <a:spcBef>
                <a:spcPts val="1100"/>
              </a:spcBef>
              <a:spcAft>
                <a:spcPts val="300"/>
              </a:spcAft>
              <a:buSzPct val="100000"/>
              <a:buChar char="•"/>
            </a:pPr>
            <a:r>
              <a:rPr lang="en-US" sz="1700" b="1" dirty="0">
                <a:solidFill>
                  <a:srgbClr val="111111"/>
                </a:solidFill>
              </a:rPr>
              <a:t>Swap — put every element into every other site's location, at two widths</a:t>
            </a:r>
            <a:endParaRPr lang="en-US" sz="1700" dirty="0"/>
          </a:p>
          <a:p>
            <a:pPr algn="l" lvl="1" marL="685800" indent="-342900">
              <a:spcAft>
                <a:spcPts val="400"/>
              </a:spcAft>
              <a:buSzPct val="100000"/>
              <a:buChar char="▪"/>
            </a:pPr>
            <a:r>
              <a:rPr lang="en-US" sz="1450" dirty="0">
                <a:solidFill>
                  <a:srgbClr val="595959"/>
                </a:solidFill>
              </a:rPr>
              <a:t>62,250 swaps; separates what the element IS from WHERE it sits.</a:t>
            </a:r>
            <a:endParaRPr lang="en-US" sz="1700" dirty="0"/>
          </a:p>
          <a:p>
            <a:pPr algn="l" marL="342900" indent="-342900">
              <a:spcBef>
                <a:spcPts val="1100"/>
              </a:spcBef>
              <a:spcAft>
                <a:spcPts val="300"/>
              </a:spcAft>
              <a:buSzPct val="100000"/>
              <a:buChar char="•"/>
            </a:pPr>
            <a:r>
              <a:rPr lang="en-US" sz="1700" b="1" dirty="0">
                <a:solidFill>
                  <a:srgbClr val="111111"/>
                </a:solidFill>
              </a:rPr>
              <a:t>Shuffle, motif by motif — scramble the site's own AP-1 motif, and each partner motif, one at a time</a:t>
            </a:r>
            <a:endParaRPr lang="en-US" sz="1700" dirty="0"/>
          </a:p>
          <a:p>
            <a:pPr algn="l" lvl="1" marL="685800" indent="-342900">
              <a:spcAft>
                <a:spcPts val="400"/>
              </a:spcAft>
              <a:buSzPct val="100000"/>
              <a:buChar char="▪"/>
            </a:pPr>
            <a:r>
              <a:rPr lang="en-US" sz="1450" dirty="0">
                <a:solidFill>
                  <a:srgbClr val="595959"/>
                </a:solidFill>
              </a:rPr>
              <a:t>each partner is scored against a footprint-free window of the same width at the mirrored distance, so the comparison is inside one site and needs no accessibility matching.</a:t>
            </a:r>
            <a:endParaRPr lang="en-US" sz="1700" dirty="0"/>
          </a:p>
          <a:p>
            <a:pPr algn="l" marL="342900" indent="-342900">
              <a:spcBef>
                <a:spcPts val="1100"/>
              </a:spcBef>
              <a:spcAft>
                <a:spcPts val="300"/>
              </a:spcAft>
              <a:buSzPct val="100000"/>
              <a:buChar char="•"/>
            </a:pPr>
            <a:r>
              <a:rPr lang="en-US" sz="1700" b="1" dirty="0">
                <a:solidFill>
                  <a:srgbClr val="111111"/>
                </a:solidFill>
              </a:rPr>
              <a:t>Why that last control matters</a:t>
            </a:r>
            <a:endParaRPr lang="en-US" sz="1700" dirty="0"/>
          </a:p>
          <a:p>
            <a:pPr algn="l" lvl="1" marL="685800" indent="-342900">
              <a:spcAft>
                <a:spcPts val="400"/>
              </a:spcAft>
              <a:buSzPct val="100000"/>
              <a:buChar char="▪"/>
            </a:pPr>
            <a:r>
              <a:rPr lang="en-US" sz="1450" dirty="0">
                <a:solidFill>
                  <a:srgbClr val="595959"/>
                </a:solidFill>
              </a:rPr>
              <a:t>Dynamic sites are about half as accessible as Stable ones. Any comparison that does not hold that constant will find a difference whether or not one exists - two results below are exactly that trap.</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A Stable element opens closed chromatin on its own</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element moved into 20 closed backgrounds and scored against the same sequence shuffled; one point per donor, whole-peak width. Box, median and IQR, whiskers 1.5 × IQR; 50 donors per class; Mann–Whitney, Stable against the four Dynamic classes pooled.</a:t>
            </a:r>
            <a:endParaRPr lang="en-US" sz="1250" dirty="0"/>
          </a:p>
        </p:txBody>
      </p:sp>
      <p:pic>
        <p:nvPicPr>
          <p:cNvPr id="4" name="Image 0" descr="/Users/z5162865/WongLab/AlphaGenome_Ap1/Analysis/slide_figures/r_fb_transplant.png">    </p:cNvPr>
          <p:cNvPicPr>
            <a:picLocks noChangeAspect="1"/>
          </p:cNvPicPr>
          <p:nvPr/>
        </p:nvPicPr>
        <p:blipFill>
          <a:blip r:embed="rId1"/>
          <a:stretch>
            <a:fillRect/>
          </a:stretch>
        </p:blipFill>
        <p:spPr>
          <a:xfrm>
            <a:off x="1171501" y="1335024"/>
            <a:ext cx="9818518"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Stable AP-1 elements carry enough sequence to build their own accessible site. Dynamic ones do not — they need the neighbourhood they came from. That is "context, not sequence autonomy", shown by moving the sequence.</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Stable donors also come from more accessible loci. Holding that constant (measured ATAC, 224 donors) a Stable element still gains 1.8× more than a Dynamic one, P = 0.005 — the direction holds, but about a third of the gap above is accessibility rather than sequence.</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element's identity lives at peak scale, not in 170 bp</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Every element swapped into every other site's location: the swapped site's accessibility regressed on the donor element and on the recipient location. The two weights are drawn pulling against each other from a common zero. 62,250 swaps; 95% CI from a cluster bootstrap over the 250 donors.</a:t>
            </a:r>
            <a:endParaRPr lang="en-US" sz="1250" dirty="0"/>
          </a:p>
        </p:txBody>
      </p:sp>
      <p:pic>
        <p:nvPicPr>
          <p:cNvPr id="4" name="Image 0" descr="/Users/z5162865/WongLab/AlphaGenome_Ap1/Analysis/slide_figures/r_fb_scale.png">    </p:cNvPr>
          <p:cNvPicPr>
            <a:picLocks noChangeAspect="1"/>
          </p:cNvPicPr>
          <p:nvPr/>
        </p:nvPicPr>
        <p:blipFill>
          <a:blip r:embed="rId1"/>
          <a:stretch>
            <a:fillRect/>
          </a:stretch>
        </p:blipFill>
        <p:spPr>
          <a:xfrm>
            <a:off x="1064362" y="1335024"/>
            <a:ext cx="10032797"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At 170 bp an element mostly takes on the level of wherever you put it; at full peak width it imposes its own. The information that opens chromatin is spread over the whole peak — which is why a 170 bp assay cannot see it.</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Only the AP-1-losing sites let go — and only of AP-1</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The site's own AP-1 motif and each partner motif shuffled separately inside the same window; partners net of a width- and distance-matched footprint-free control. Box, median and IQR, whiskers 5th–95th centile; the notch is a 95% interval on the median. Dynamic split into the age classes as given. Mann–Whitney against Stable.</a:t>
            </a:r>
            <a:endParaRPr lang="en-US" sz="1250" dirty="0"/>
          </a:p>
        </p:txBody>
      </p:sp>
      <p:pic>
        <p:nvPicPr>
          <p:cNvPr id="4" name="Image 0" descr="/Users/z5162865/WongLab/AlphaGenome_Ap1/Analysis/slide_figures/r_fb_specificity.png">    </p:cNvPr>
          <p:cNvPicPr>
            <a:picLocks noChangeAspect="1"/>
          </p:cNvPicPr>
          <p:nvPr/>
        </p:nvPicPr>
        <p:blipFill>
          <a:blip r:embed="rId1"/>
          <a:stretch>
            <a:fillRect/>
          </a:stretch>
        </p:blipFill>
        <p:spPr>
          <a:xfrm>
            <a:off x="1064362" y="1335024"/>
            <a:ext cx="10032797"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Sites that lose AP-1 binding with age were never strongly AP-1-driven: they depend 36% less on their own motif while using every other motif exactly as much. Sites that gain AP-1 with age are indistinguishable from Stable — so "Dynamic" is not one thing, and splitting it is what shows that.</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AlphaGenome puts the motif first — at every class equally</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site's 600 bp scanned with 60 replaced 10 bp tiles; for each site, where does the single most costly tile fall? Two of the 60 tiles overlap the AP-1 core, so chance is 3.3% (dashed line). Fisher exact, Stable against Dynamic.</a:t>
            </a:r>
            <a:endParaRPr lang="en-US" sz="1250" dirty="0"/>
          </a:p>
        </p:txBody>
      </p:sp>
      <p:pic>
        <p:nvPicPr>
          <p:cNvPr id="4" name="Image 0" descr="/Users/z5162865/WongLab/AlphaGenome_Ap1/Analysis/slide_figures/r_fb_top_tile.png">    </p:cNvPr>
          <p:cNvPicPr>
            <a:picLocks noChangeAspect="1"/>
          </p:cNvPicPr>
          <p:nvPr/>
        </p:nvPicPr>
        <p:blipFill>
          <a:blip r:embed="rId1"/>
          <a:stretch>
            <a:fillRect/>
          </a:stretch>
        </p:blipFill>
        <p:spPr>
          <a:xfrm>
            <a:off x="1381001" y="1335024"/>
            <a:ext cx="9399519"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In over half of all sites the most important 10 bp of the whole window is the AP-1 core itself — about 16× chance, and nobody told the model where the motif was. But this is the same in every class: whether AP-1 is the dominant element is not what separates Stable from Dynamic.</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A deliberate negative. A rank cannot be moved by the accessibility gap, so this is the measure most likely to be a real class difference — and it is not one (matched: 56.3% vs 53.3%, P = 0.21). What does differ is the next slide: not whether AP-1 leads, but by how much.</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Dynamic sites hand more of the load to the partner motifs</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Per site: |own AP-1| / (|own AP-1| + |partner motifs|), the share of its motif dependence that sits inside the AP-1 motif rather than outside it. Both terms are AlphaGenome shuffle effects measured inside the same window, so accessibility cannot drive the comparison. Median per site; error bar, bootstrap 95% CI; Mann–Whitney.</a:t>
            </a:r>
            <a:endParaRPr lang="en-US" sz="1250" dirty="0"/>
          </a:p>
        </p:txBody>
      </p:sp>
      <p:pic>
        <p:nvPicPr>
          <p:cNvPr id="4" name="Image 0" descr="/Users/z5162865/WongLab/AlphaGenome_Ap1/Analysis/slide_figures/r_fb_share.png">    </p:cNvPr>
          <p:cNvPicPr>
            <a:picLocks noChangeAspect="1"/>
          </p:cNvPicPr>
          <p:nvPr/>
        </p:nvPicPr>
        <p:blipFill>
          <a:blip r:embed="rId1"/>
          <a:stretch>
            <a:fillRect/>
          </a:stretch>
        </p:blipFill>
        <p:spPr>
          <a:xfrm>
            <a:off x="1064362" y="1335024"/>
            <a:ext cx="10032797"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Outside the motif is where the classes differ: a Stable site leaves 20% of its motif dependence to partners, a Dynamic site 25–27% — about 40% more — and every Dynamic class sits on the same side. AP-1 still leads everywhere; it just carries less of the load.</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Two differences that turned out to be accessibility</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 second AP-1 copy looked worth more to Dynamic sites</a:t>
            </a:r>
            <a:endParaRPr lang="en-US" sz="1700" dirty="0"/>
          </a:p>
          <a:p>
            <a:pPr algn="l" lvl="1" marL="685800" indent="-342900">
              <a:spcAft>
                <a:spcPts val="400"/>
              </a:spcAft>
              <a:buSzPct val="100000"/>
              <a:buChar char="▪"/>
            </a:pPr>
            <a:r>
              <a:rPr lang="en-US" sz="1450" dirty="0">
                <a:solidFill>
                  <a:srgbClr val="595959"/>
                </a:solidFill>
              </a:rPr>
              <a:t>+0.72 vs +0.60 log2, p &lt; 1e-4 — matched on accessibility, p = 0.93. Gone.</a:t>
            </a:r>
            <a:endParaRPr lang="en-US" sz="1700" dirty="0"/>
          </a:p>
          <a:p>
            <a:pPr algn="l" marL="342900" indent="-342900">
              <a:spcBef>
                <a:spcPts val="1100"/>
              </a:spcBef>
              <a:spcAft>
                <a:spcPts val="300"/>
              </a:spcAft>
              <a:buSzPct val="100000"/>
              <a:buChar char="•"/>
            </a:pPr>
            <a:r>
              <a:rPr lang="en-US" sz="1700" b="1" dirty="0">
                <a:solidFill>
                  <a:srgbClr val="111111"/>
                </a:solidFill>
              </a:rPr>
              <a:t>Upgrading an imperfect core to a perfect TGAGTCA looked worth more to Dynamic sites</a:t>
            </a:r>
            <a:endParaRPr lang="en-US" sz="1700" dirty="0"/>
          </a:p>
          <a:p>
            <a:pPr algn="l" lvl="1" marL="685800" indent="-342900">
              <a:spcAft>
                <a:spcPts val="400"/>
              </a:spcAft>
              <a:buSzPct val="100000"/>
              <a:buChar char="▪"/>
            </a:pPr>
            <a:r>
              <a:rPr lang="en-US" sz="1450" dirty="0">
                <a:solidFill>
                  <a:srgbClr val="595959"/>
                </a:solidFill>
              </a:rPr>
              <a:t>+0.66 vs +0.52, p &lt; 1e-4 — matched, p = 0.94. Gone.</a:t>
            </a:r>
            <a:endParaRPr lang="en-US" sz="1700" dirty="0"/>
          </a:p>
          <a:p>
            <a:pPr algn="l" marL="342900" indent="-342900">
              <a:spcBef>
                <a:spcPts val="1100"/>
              </a:spcBef>
              <a:spcAft>
                <a:spcPts val="300"/>
              </a:spcAft>
              <a:buSzPct val="100000"/>
              <a:buChar char="•"/>
            </a:pPr>
            <a:r>
              <a:rPr lang="en-US" sz="1700" b="1" dirty="0">
                <a:solidFill>
                  <a:srgbClr val="111111"/>
                </a:solidFill>
              </a:rPr>
              <a:t>What did survive matching</a:t>
            </a:r>
            <a:endParaRPr lang="en-US" sz="1700" dirty="0"/>
          </a:p>
          <a:p>
            <a:pPr algn="l" lvl="1" marL="685800" indent="-342900">
              <a:spcAft>
                <a:spcPts val="400"/>
              </a:spcAft>
              <a:buSzPct val="100000"/>
              <a:buChar char="▪"/>
            </a:pPr>
            <a:r>
              <a:rPr lang="en-US" sz="1450" dirty="0">
                <a:solidFill>
                  <a:srgbClr val="595959"/>
                </a:solidFill>
              </a:rPr>
              <a:t>Destroying the motif costs Dynamic sites less (+0.16, p = 4e-4); the dose-response is shallower; relocating the motif helps them less.</a:t>
            </a:r>
            <a:endParaRPr lang="en-US" sz="1700" dirty="0"/>
          </a:p>
          <a:p>
            <a:pPr algn="l" marL="342900" indent="-342900">
              <a:spcBef>
                <a:spcPts val="1100"/>
              </a:spcBef>
              <a:spcAft>
                <a:spcPts val="300"/>
              </a:spcAft>
              <a:buSzPct val="100000"/>
              <a:buChar char="•"/>
            </a:pPr>
            <a:r>
              <a:rPr lang="en-US" sz="1700" b="1" dirty="0">
                <a:solidFill>
                  <a:srgbClr val="111111"/>
                </a:solidFill>
              </a:rPr>
              <a:t>Two clean negatives worth having</a:t>
            </a:r>
            <a:endParaRPr lang="en-US" sz="1700" dirty="0"/>
          </a:p>
          <a:p>
            <a:pPr algn="l" lvl="1" marL="685800" indent="-342900">
              <a:spcAft>
                <a:spcPts val="400"/>
              </a:spcAft>
              <a:buSzPct val="100000"/>
              <a:buChar char="▪"/>
            </a:pPr>
            <a:r>
              <a:rPr lang="en-US" sz="1450" dirty="0">
                <a:solidFill>
                  <a:srgbClr val="595959"/>
                </a:solidFill>
              </a:rPr>
              <a:t>Reverse-complementing the whole motif costs nothing in either class (-0.03 log2, p = 0.89) — expected for a palindromic TRE, and a sanity check on the head.</a:t>
            </a:r>
            <a:endParaRPr lang="en-US" sz="1700" dirty="0"/>
          </a:p>
          <a:p>
            <a:pPr algn="l" lvl="1" marL="685800" indent="-342900">
              <a:spcAft>
                <a:spcPts val="400"/>
              </a:spcAft>
              <a:buSzPct val="100000"/>
              <a:buChar char="▪"/>
            </a:pPr>
            <a:r>
              <a:rPr lang="en-US" sz="1450" dirty="0">
                <a:solidFill>
                  <a:srgbClr val="595959"/>
                </a:solidFill>
              </a:rPr>
              <a:t>The spacing preference for a second copy is identical: best at ±20–40 bp, decaying by ±150 bp, with no class difference at any distance (all FDR &gt; 0.58).</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How this sits with the MPRA work</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Agrees</a:t>
            </a:r>
            <a:endParaRPr lang="en-US" sz="1700" dirty="0"/>
          </a:p>
          <a:p>
            <a:pPr algn="l" lvl="1" marL="685800" indent="-342900">
              <a:spcAft>
                <a:spcPts val="400"/>
              </a:spcAft>
              <a:buSzPct val="100000"/>
              <a:buChar char="▪"/>
            </a:pPr>
            <a:r>
              <a:rPr lang="en-US" sz="1450" dirty="0">
                <a:solidFill>
                  <a:srgbClr val="595959"/>
                </a:solidFill>
              </a:rPr>
              <a:t>Dynamic elements have weaker endogenous chromatin, and depend on context rather than being sequence-autonomous.</a:t>
            </a:r>
            <a:endParaRPr lang="en-US" sz="1700" dirty="0"/>
          </a:p>
          <a:p>
            <a:pPr algn="l" lvl="1" marL="685800" indent="-342900">
              <a:spcAft>
                <a:spcPts val="400"/>
              </a:spcAft>
              <a:buSzPct val="100000"/>
              <a:buChar char="▪"/>
            </a:pPr>
            <a:r>
              <a:rPr lang="en-US" sz="1450" dirty="0">
                <a:solidFill>
                  <a:srgbClr val="595959"/>
                </a:solidFill>
              </a:rPr>
              <a:t>Shuffling the AP-1 core alone does not separate pooled Stable from pooled Dynamic.</a:t>
            </a:r>
            <a:endParaRPr lang="en-US" sz="1700" dirty="0"/>
          </a:p>
          <a:p>
            <a:pPr algn="l" lvl="1" marL="685800" indent="-342900">
              <a:spcAft>
                <a:spcPts val="400"/>
              </a:spcAft>
              <a:buSzPct val="100000"/>
              <a:buChar char="▪"/>
            </a:pPr>
            <a:r>
              <a:rPr lang="en-US" sz="1450" dirty="0">
                <a:solidFill>
                  <a:srgbClr val="595959"/>
                </a:solidFill>
              </a:rPr>
              <a:t>Age-gained elements behave like Stable ones — here, at their own AP-1 motif.</a:t>
            </a:r>
            <a:endParaRPr lang="en-US" sz="1700" dirty="0"/>
          </a:p>
          <a:p>
            <a:pPr algn="l" lvl="1" marL="685800" indent="-342900">
              <a:spcAft>
                <a:spcPts val="400"/>
              </a:spcAft>
              <a:buSzPct val="100000"/>
              <a:buChar char="▪"/>
            </a:pPr>
            <a:r>
              <a:rPr lang="en-US" sz="1450" dirty="0">
                <a:solidFill>
                  <a:srgbClr val="595959"/>
                </a:solidFill>
              </a:rPr>
              <a:t>C/EBP is the strongest partner motif at fibroblast AP-1 sites (net −0.71 log2, ahead of MEF2 and NFI).</a:t>
            </a:r>
            <a:endParaRPr lang="en-US" sz="1700" dirty="0"/>
          </a:p>
          <a:p>
            <a:pPr algn="l" marL="342900" indent="-342900">
              <a:spcBef>
                <a:spcPts val="1100"/>
              </a:spcBef>
              <a:spcAft>
                <a:spcPts val="300"/>
              </a:spcAft>
              <a:buSzPct val="100000"/>
              <a:buChar char="•"/>
            </a:pPr>
            <a:r>
              <a:rPr lang="en-US" sz="1700" b="1" dirty="0">
                <a:solidFill>
                  <a:srgbClr val="111111"/>
                </a:solidFill>
              </a:rPr>
              <a:t>Adds</a:t>
            </a:r>
            <a:endParaRPr lang="en-US" sz="1700" dirty="0"/>
          </a:p>
          <a:p>
            <a:pPr algn="l" lvl="1" marL="685800" indent="-342900">
              <a:spcAft>
                <a:spcPts val="400"/>
              </a:spcAft>
              <a:buSzPct val="100000"/>
              <a:buChar char="▪"/>
            </a:pPr>
            <a:r>
              <a:rPr lang="en-US" sz="1450" dirty="0">
                <a:solidFill>
                  <a:srgbClr val="595959"/>
                </a:solidFill>
              </a:rPr>
              <a:t>The class difference is a whole-peak property, not a 170 bp one.</a:t>
            </a:r>
            <a:endParaRPr lang="en-US" sz="1700" dirty="0"/>
          </a:p>
          <a:p>
            <a:pPr algn="l" lvl="1" marL="685800" indent="-342900">
              <a:spcAft>
                <a:spcPts val="400"/>
              </a:spcAft>
              <a:buSzPct val="100000"/>
              <a:buChar char="▪"/>
            </a:pPr>
            <a:r>
              <a:rPr lang="en-US" sz="1450" dirty="0">
                <a:solidFill>
                  <a:srgbClr val="595959"/>
                </a:solidFill>
              </a:rPr>
              <a:t>Within Dynamic, the AP-1-losing sites are the ones that are sequence-different; the gaining ones are not.</a:t>
            </a:r>
            <a:endParaRPr lang="en-US" sz="1700" dirty="0"/>
          </a:p>
          <a:p>
            <a:pPr algn="l" lvl="1" marL="685800" indent="-342900">
              <a:spcAft>
                <a:spcPts val="400"/>
              </a:spcAft>
              <a:buSzPct val="100000"/>
              <a:buChar char="▪"/>
            </a:pPr>
            <a:r>
              <a:rPr lang="en-US" sz="1450" dirty="0">
                <a:solidFill>
                  <a:srgbClr val="595959"/>
                </a:solidFill>
              </a:rPr>
              <a:t>AlphaGenome makes the AP-1 core the single most important 10 bp in over half of all sites, unprompted — equally in both classes. The classes differ in how much of the dependence AP-1 carries, not in whether it leads.</a:t>
            </a:r>
            <a:endParaRPr lang="en-US" sz="1700" dirty="0"/>
          </a:p>
          <a:p>
            <a:pPr algn="l" marL="342900" indent="-342900">
              <a:spcBef>
                <a:spcPts val="1100"/>
              </a:spcBef>
              <a:spcAft>
                <a:spcPts val="300"/>
              </a:spcAft>
              <a:buSzPct val="100000"/>
              <a:buChar char="•"/>
            </a:pPr>
            <a:r>
              <a:rPr lang="en-US" sz="1700" b="1" dirty="0">
                <a:solidFill>
                  <a:srgbClr val="111111"/>
                </a:solidFill>
              </a:rPr>
              <a:t>Keep off the slides</a:t>
            </a:r>
            <a:endParaRPr lang="en-US" sz="1700" dirty="0"/>
          </a:p>
          <a:p>
            <a:pPr algn="l" lvl="1" marL="685800" indent="-342900">
              <a:spcAft>
                <a:spcPts val="400"/>
              </a:spcAft>
              <a:buSzPct val="100000"/>
              <a:buChar char="▪"/>
            </a:pPr>
            <a:r>
              <a:rPr lang="en-US" sz="1450" dirty="0">
                <a:solidFill>
                  <a:srgbClr val="595959"/>
                </a:solidFill>
              </a:rPr>
              <a:t>Our in-situ 170 bp shuffle costs Stable sites more (−2.51 vs −1.96, p = 4e-40), the opposite of the MPRA flank result. Different assay — episomal activity vs chromatin accessibility — but it reads as a contradiction.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AP-1 sites in cardiac fibroblasts: what AlphaGenome says</dc:title>
  <dc:subject>PptxGenJS Presentation</dc:subject>
  <dc:creator>Jack</dc:creator>
  <cp:lastModifiedBy>Jack</cp:lastModifiedBy>
  <cp:revision>1</cp:revision>
  <dcterms:created xsi:type="dcterms:W3CDTF">2026-10-25T00:18:54Z</dcterms:created>
  <dcterms:modified xsi:type="dcterms:W3CDTF">2026-10-25T00:18:54Z</dcterms:modified>
</cp:coreProperties>
</file>