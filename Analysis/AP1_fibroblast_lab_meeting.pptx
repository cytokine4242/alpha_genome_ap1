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RESULT, whole peak, element's share of its own level ('carried'), BH across the four:
  Stable 84.1% [80.9-87.0] (reference) · Age Up 77.8% [73.4-81.4] FDR 0.020 · Age Down 78.6% [72.6-83.2] FDR 0.063 · Exercise Up 76.0% [69.7-80.5] FDR 0.010 · Exercise Down 72.7% [62.3-79.2] FDR 0.004
Underlying weights, element vs location: Stable 0.79/0.15, Age Up 0.72/0.21, Age Down 0.67/0.18, Exercise Up 0.69/0.22, Exercise Down 0.60/0.23. R2 0.65 for Stable, 0.27-0.50 for the Dynamic classes.
Age Down at FDR 0.063 is the one that does not clear the line. Say 'three of four' rather than 'all four'; the direction is the same in every class and the ordering is monotone, but one of them is not significant.
Every interval resamples DONORS, not swaps: each donor appears in ~250 rows, so a row-level standard error would be far too small and all five classes would look certain.
170 bp, for contrast: Stable carries 39.8% [23.7-51.0]; Age Up 11.9%, Age Down 11.0%, Exercise Up -0.9%, Exercise Down 33.6%, three of four below Stable at FDR &lt; 0.05. The Dynamic intervals there cross zero, so treat the 170 bp row as 'almost nothing transfers' rather than as a clean ranking.
Pooled over all classes, which is what this slide used to show: 170 bp 0.24 vs 0.61, whole peak 0.71 vs 0.20.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in the back pocket; it is the first question any of these results gets.
The size of the confound: Stable sites are about twice as accessible as Dynamic ones (measured native 32.2 vs 18.0 in the swap donors; predicted 10.5 vs 8.5 across the scan sites).
Two different things are matched on in different places, and it is worth being straight about it: the transplant matches on MEASURED native accessibility, the density and top-tile analyses on PREDICTED. Matching on predicted is the more conservative choice for a prediction-based readout, because it removes the thing the model itself would key on.
Not matched, and said so on the slides: the three alternative density readings. The pooled Stable-vs-Dynamic contrast they re-draw is the one that survives matching; the five-class split has not been matched, because Exercise Down has 115 sites and would not support it.
Why 1:1 matching keeps coming out underpowered: a caliper of 0.1 log10 on populations that differ roughly two-fold throws most of the Dynamic sites away. Where the n allows it (860 pairs in the scan) it is the better test; where it does not (47 donor pairs in the transplant) the covariate adjustment uses every site and is the one to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carries more of itself into a new location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written into every other site's location, at whole-peak width; the resulting accessibility regressed on the donor element's own level and the recipient location's, within each class. 'Carried' is the element's share of the two. Cluster bootstrap over 50 donors per class, BH across four.</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602327" y="1335024"/>
            <a:ext cx="8956867"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Move an element somewhere else and a Stable one brings 84% of its own level with it; every Dynamic class brings less, 73–79%, and three of the four differ from Stable. A Dynamic element is more a product of where it sits — the same conclusion the transplant reached, from a design with no closed background in 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Width matters as much as class: at the 170 bp MPRA window a Stable element carries only 40% and the Dynamic classes essentially nothing (−1% to 34%, intervals crossing zero). The information that opens chromatin is spread over the whole peak, which is why a 170 bp assay struggles to see any of this.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6283142" y="1544898"/>
            <a:ext cx="137160" cy="137160"/>
          </a:xfrm>
          <a:prstGeom prst="rect">
            <a:avLst/>
          </a:prstGeom>
          <a:solidFill>
            <a:srgbClr val="D6D6D6"/>
          </a:solidFill>
          <a:ln w="11430">
            <a:solidFill>
              <a:srgbClr val="111111"/>
            </a:solidFill>
            <a:prstDash val="solid"/>
          </a:ln>
        </p:spPr>
      </p:sp>
      <p:sp>
        <p:nvSpPr>
          <p:cNvPr id="6" name="Shape 3"/>
          <p:cNvSpPr/>
          <p:nvPr/>
        </p:nvSpPr>
        <p:spPr>
          <a:xfrm>
            <a:off x="6283142" y="1743113"/>
            <a:ext cx="137160" cy="137160"/>
          </a:xfrm>
          <a:prstGeom prst="rect">
            <a:avLst/>
          </a:prstGeom>
          <a:solidFill>
            <a:srgbClr val="FFFFFF"/>
          </a:solidFill>
          <a:ln w="11430">
            <a:solidFill>
              <a:srgbClr val="111111"/>
            </a:solidFill>
            <a:prstDash val="solid"/>
          </a:ln>
        </p:spPr>
      </p:sp>
      <p:sp>
        <p:nvSpPr>
          <p:cNvPr id="7" name="Text 4"/>
          <p:cNvSpPr txBox="1"/>
          <p:nvPr/>
        </p:nvSpPr>
        <p:spPr>
          <a:xfrm>
            <a:off x="2010934" y="1613535"/>
            <a:ext cx="5277917" cy="237744"/>
          </a:xfrm>
          <a:prstGeom prst="rect">
            <a:avLst/>
          </a:prstGeom>
          <a:noFill/>
          <a:ln/>
        </p:spPr>
        <p:txBody>
          <a:bodyPr wrap="none" lIns="0" tIns="0" rIns="0" bIns="0" rtlCol="0" anchor="ctr"/>
          <a:lstStyle/>
          <a:p>
            <a:pPr algn="l" indent="0" marL="0">
              <a:buNone/>
            </a:pPr>
            <a:r>
              <a:rPr lang="en-US" sz="1233" dirty="0">
                <a:solidFill>
                  <a:srgbClr val="4D4D4D"/>
                </a:solidFill>
                <a:latin typeface="Arial" pitchFamily="34" charset="0"/>
                <a:ea typeface="Arial" pitchFamily="34" charset="-122"/>
                <a:cs typeface="Arial" pitchFamily="34" charset="-120"/>
              </a:rPr>
              <a:t>vs Stable, at the site's own AP-1 motif (BH across the four)</a:t>
            </a:r>
            <a:endParaRPr lang="en-US" sz="1233" dirty="0"/>
          </a:p>
        </p:txBody>
      </p:sp>
      <p:sp>
        <p:nvSpPr>
          <p:cNvPr id="8" name="Text 5"/>
          <p:cNvSpPr txBox="1"/>
          <p:nvPr/>
        </p:nvSpPr>
        <p:spPr>
          <a:xfrm>
            <a:off x="1654682"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reference</a:t>
            </a:r>
            <a:endParaRPr lang="en-US" sz="1233" dirty="0"/>
          </a:p>
        </p:txBody>
      </p:sp>
      <p:sp>
        <p:nvSpPr>
          <p:cNvPr id="9" name="Text 6"/>
          <p:cNvSpPr txBox="1"/>
          <p:nvPr/>
        </p:nvSpPr>
        <p:spPr>
          <a:xfrm>
            <a:off x="3673654"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0.93</a:t>
            </a:r>
            <a:endParaRPr lang="en-US" sz="1233" dirty="0"/>
          </a:p>
        </p:txBody>
      </p:sp>
      <p:sp>
        <p:nvSpPr>
          <p:cNvPr id="10" name="Text 7"/>
          <p:cNvSpPr txBox="1"/>
          <p:nvPr/>
        </p:nvSpPr>
        <p:spPr>
          <a:xfrm>
            <a:off x="5446103" y="2009965"/>
            <a:ext cx="1407444"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9.1 × 10⁻⁵</a:t>
            </a:r>
            <a:endParaRPr lang="en-US" sz="1233" dirty="0"/>
          </a:p>
        </p:txBody>
      </p:sp>
      <p:sp>
        <p:nvSpPr>
          <p:cNvPr id="11" name="Text 8"/>
          <p:cNvSpPr txBox="1"/>
          <p:nvPr/>
        </p:nvSpPr>
        <p:spPr>
          <a:xfrm>
            <a:off x="7711596"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0.49</a:t>
            </a:r>
            <a:endParaRPr lang="en-US" sz="1233" dirty="0"/>
          </a:p>
        </p:txBody>
      </p:sp>
      <p:sp>
        <p:nvSpPr>
          <p:cNvPr id="12" name="Text 9"/>
          <p:cNvSpPr txBox="1"/>
          <p:nvPr/>
        </p:nvSpPr>
        <p:spPr>
          <a:xfrm>
            <a:off x="9703958" y="2009965"/>
            <a:ext cx="967618"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0.043</a:t>
            </a:r>
            <a:endParaRPr lang="en-US" sz="1233" dirty="0"/>
          </a:p>
        </p:txBody>
      </p:sp>
      <p:sp>
        <p:nvSpPr>
          <p:cNvPr id="13" name="Text 10"/>
          <p:cNvSpPr txBox="1"/>
          <p:nvPr/>
        </p:nvSpPr>
        <p:spPr>
          <a:xfrm>
            <a:off x="6513240" y="1494606"/>
            <a:ext cx="1649349"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own AP-1 motif</a:t>
            </a:r>
            <a:endParaRPr lang="en-US" sz="1285" dirty="0"/>
          </a:p>
        </p:txBody>
      </p:sp>
      <p:sp>
        <p:nvSpPr>
          <p:cNvPr id="14" name="Text 11"/>
          <p:cNvSpPr txBox="1"/>
          <p:nvPr/>
        </p:nvSpPr>
        <p:spPr>
          <a:xfrm>
            <a:off x="6513240" y="1692821"/>
            <a:ext cx="4031742"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partner motifs, net of a matched control</a:t>
            </a:r>
            <a:endParaRPr lang="en-US" sz="1285" dirty="0"/>
          </a:p>
        </p:txBody>
      </p:sp>
      <p:sp>
        <p:nvSpPr>
          <p:cNvPr id="15" name="Shape 12"/>
          <p:cNvSpPr/>
          <p:nvPr/>
        </p:nvSpPr>
        <p:spPr>
          <a:xfrm>
            <a:off x="502920" y="5303520"/>
            <a:ext cx="50292" cy="868680"/>
          </a:xfrm>
          <a:prstGeom prst="rect">
            <a:avLst/>
          </a:prstGeom>
          <a:solidFill>
            <a:srgbClr val="3F3F3F"/>
          </a:solidFill>
          <a:ln w="12700">
            <a:solidFill>
              <a:srgbClr val="333333"/>
            </a:solidFill>
            <a:prstDash val="solid"/>
          </a:ln>
        </p:spPr>
      </p:sp>
      <p:sp>
        <p:nvSpPr>
          <p:cNvPr id="16" name="Text 1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Is it just that Dynamic sites are less accessible?</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Immune by design — both numbers come from the same window of the same site, so accessibility cancels</a:t>
            </a:r>
            <a:endParaRPr lang="en-US" sz="1700" dirty="0"/>
          </a:p>
          <a:p>
            <a:pPr algn="l" lvl="1" marL="685800" indent="-342900">
              <a:spcAft>
                <a:spcPts val="400"/>
              </a:spcAft>
              <a:buSzPct val="100000"/>
              <a:buChar char="▪"/>
            </a:pPr>
            <a:r>
              <a:rPr lang="en-US" sz="1450" dirty="0">
                <a:solidFill>
                  <a:srgbClr val="595959"/>
                </a:solidFill>
              </a:rPr>
              <a:t>Motif specificity · partner share. Partners are also net of a width- and distance-matched footprint-free control at the mirrored distance. No between-class matching needed, and none done.</a:t>
            </a:r>
            <a:endParaRPr lang="en-US" sz="1700" dirty="0"/>
          </a:p>
          <a:p>
            <a:pPr algn="l" marL="342900" indent="-342900">
              <a:spcBef>
                <a:spcPts val="1100"/>
              </a:spcBef>
              <a:spcAft>
                <a:spcPts val="300"/>
              </a:spcAft>
              <a:buSzPct val="100000"/>
              <a:buChar char="•"/>
            </a:pPr>
            <a:r>
              <a:rPr lang="en-US" sz="1700" b="1" dirty="0">
                <a:solidFill>
                  <a:srgbClr val="111111"/>
                </a:solidFill>
              </a:rPr>
              <a:t>Accessibility is in the model, not matched out</a:t>
            </a:r>
            <a:endParaRPr lang="en-US" sz="1700" dirty="0"/>
          </a:p>
          <a:p>
            <a:pPr algn="l" lvl="1" marL="685800" indent="-342900">
              <a:spcAft>
                <a:spcPts val="400"/>
              </a:spcAft>
              <a:buSzPct val="100000"/>
              <a:buChar char="▪"/>
            </a:pPr>
            <a:r>
              <a:rPr lang="en-US" sz="1450" dirty="0">
                <a:solidFill>
                  <a:srgbClr val="595959"/>
                </a:solidFill>
              </a:rPr>
              <a:t>The swap: each class's regression conditions on both the donor's and the recipient's own native level, so the carried share is already net of the gap.</a:t>
            </a:r>
            <a:endParaRPr lang="en-US" sz="1700" dirty="0"/>
          </a:p>
          <a:p>
            <a:pPr algn="l" marL="342900" indent="-342900">
              <a:spcBef>
                <a:spcPts val="1100"/>
              </a:spcBef>
              <a:spcAft>
                <a:spcPts val="300"/>
              </a:spcAft>
              <a:buSzPct val="100000"/>
              <a:buChar char="•"/>
            </a:pPr>
            <a:r>
              <a:rPr lang="en-US" sz="1700" b="1" dirty="0">
                <a:solidFill>
                  <a:srgbClr val="111111"/>
                </a:solidFill>
              </a:rPr>
              <a:t>Matched explicitly, and survived</a:t>
            </a:r>
            <a:endParaRPr lang="en-US" sz="1700" dirty="0"/>
          </a:p>
          <a:p>
            <a:pPr algn="l" lvl="1" marL="685800" indent="-342900">
              <a:spcAft>
                <a:spcPts val="400"/>
              </a:spcAft>
              <a:buSzPct val="100000"/>
              <a:buChar char="▪"/>
            </a:pPr>
            <a:r>
              <a:rPr lang="en-US" sz="1450" dirty="0">
                <a:solidFill>
                  <a:srgbClr val="595959"/>
                </a:solidFill>
              </a:rPr>
              <a:t>Importance density: 33.8% vs 30.7% unmatched, and 33.1% vs 31.3% over 860 pairs matched on predicted accessibility (caliper 0.1 log10), +1.5 points, P = 0.006.</a:t>
            </a:r>
            <a:endParaRPr lang="en-US" sz="1700" dirty="0"/>
          </a:p>
          <a:p>
            <a:pPr algn="l" marL="342900" indent="-342900">
              <a:spcBef>
                <a:spcPts val="1100"/>
              </a:spcBef>
              <a:spcAft>
                <a:spcPts val="300"/>
              </a:spcAft>
              <a:buSzPct val="100000"/>
              <a:buChar char="•"/>
            </a:pPr>
            <a:r>
              <a:rPr lang="en-US" sz="1700" b="1" dirty="0">
                <a:solidFill>
                  <a:srgbClr val="111111"/>
                </a:solidFill>
              </a:rPr>
              <a:t>Checked, and only survives as a covariate adjustment</a:t>
            </a:r>
            <a:endParaRPr lang="en-US" sz="1700" dirty="0"/>
          </a:p>
          <a:p>
            <a:pPr algn="l" lvl="1" marL="685800" indent="-342900">
              <a:spcAft>
                <a:spcPts val="400"/>
              </a:spcAft>
              <a:buSzPct val="100000"/>
              <a:buChar char="▪"/>
            </a:pPr>
            <a:r>
              <a:rPr lang="en-US" sz="1450" dirty="0">
                <a:solidFill>
                  <a:srgbClr val="595959"/>
                </a:solidFill>
              </a:rPr>
              <a:t>Transplant: every element goes into the same 20 hosts, so the host cancels — but the donor classes are not matched. 1:1 matching leaves only 47 pairs and is not significant (P = 0.13). The covariate-adjusted gap is: +0.84 ± 0.30 log2, about 1.8x, P = 0.005. Quote that one.</a:t>
            </a:r>
            <a:endParaRPr lang="en-US" sz="1700" dirty="0"/>
          </a:p>
          <a:p>
            <a:pPr algn="l" marL="342900" indent="-342900">
              <a:spcBef>
                <a:spcPts val="1100"/>
              </a:spcBef>
              <a:spcAft>
                <a:spcPts val="300"/>
              </a:spcAft>
              <a:buSzPct val="100000"/>
              <a:buChar char="•"/>
            </a:pPr>
            <a:r>
              <a:rPr lang="en-US" sz="1700" b="1" dirty="0">
                <a:solidFill>
                  <a:srgbClr val="111111"/>
                </a:solidFill>
              </a:rPr>
              <a:t>Checked, and did not survive</a:t>
            </a:r>
            <a:endParaRPr lang="en-US" sz="1700" dirty="0"/>
          </a:p>
          <a:p>
            <a:pPr algn="l" lvl="1" marL="685800" indent="-342900">
              <a:spcAft>
                <a:spcPts val="400"/>
              </a:spcAft>
              <a:buSzPct val="100000"/>
              <a:buChar char="▪"/>
            </a:pPr>
            <a:r>
              <a:rPr lang="en-US" sz="1450" dirty="0">
                <a:solidFill>
                  <a:srgbClr val="595959"/>
                </a:solidFill>
              </a:rPr>
              <a:t>Top tile is a core tile: 56% vs 52% raw, matched McNemar P = 0.21 — reported as a shared fact, not a class difference. Plus the two titration results on the next slide.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2026-10-25T07:51:59Z</dcterms:created>
  <dcterms:modified xsi:type="dcterms:W3CDTF">2026-10-25T07:51:59Z</dcterms:modified>
</cp:coreProperties>
</file>