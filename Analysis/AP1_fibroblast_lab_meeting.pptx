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 result, because every number in the deck depends on it.
WHAT IT IS: a sequence-to-function model (Google DeepMind, 2025). Convolutional layers pick up local motif-scale features, a transformer lets every position see the whole 131,072 bp window, and a stack of decoders upsample back to base resolution, where a head per track turns it into predicted signal for thousands of assay x cell-type combinations.
ON THE WINDOW: AlphaGenome takes a variable context and will go up to 1 Mb. We run it at 131,072 bp, which is wide enough to carry the regulatory neighbourhood of a site and cheap enough to repeat tens of thousands of times. Every perturbation in the deck uses that same width, so nothing here turns on the choice.
WHAT IT IS GIVEN: one-hot DNA. No ATAC, no expression, no annotation, no cell-type label beyond our choice of which output track to read. If someone asks whether the model 'already knows' a site is dynamic - it cannot; it never sees the labels, the conditions, or the TOBIAS calls.
WHAT WE READ: the fibroblast ATAC head, fine-tuned on our own Tn5 data. Held-out Spearman 0.68 against 0.27 for the built-in head, which is the reason we fine-tuned rather than using it off the shelf. The FB trackset is the mean of the four conditions.
WHY IT LICENSES THE REST: because the output is a deterministic function of the input sequence, two predictions that differ only in an edit differ only because of the edit. That is the whole logic of the next slide, and of every perturbation in the deck.
THE LIMIT, say it here rather than be asked: these are predictions, not measurements. AlphaGenome is good at ranking sequences on accessibility; it is not a reporter assay. Anything surprising is a hypothesis for the bench, not a result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vs Dynamic, cumulative share within ±x bp:
  ±20 bp  33.8% / 30.7%   (the previous slide's number)
  ±40 bp  49.0% / 44.5%
  ±60 bp  62.8% / 57.5%   &lt;- widest gap, 5.3 points
  ±100 bp 80.0% / 75.7%
Half-maximum radius by linear interpolation: Stable 41.4 bp, Dynamic 48.1 bp.
Why this view: the two profiles on the previous slide differ by about a percentage point per position, which is invisible when both are drawn at full height. Integrating makes a real difference legible without inflating it - the quantity at every radius is still a share of the site's own total.
The honest size is unchanged from the previous slide: about 1.5 points once accessibility is matched, on a base of a third. Do not let the separation in this plot be heard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60 positions reach FDR &lt; 0.05 and they are the two core tiles: -10 bp (+0.94 points, FDR 0.0008) and 0 bp (+0.84 points, FDR 0.0007). The next largest difference anywhere is +0.31 points at -20 bp, FDR 0.81; every other position FDR &gt; 0.9.
Use this one if the point you want to land is WHERE the classes differ rather than BY HOW MUCH. It is the most conservative of the three - the whole class difference is two points above a flat line, and the plot says so.
A difference plot hides the shared signal: both classes still put a large spike on the motif, and that spike is the main result of the previous slide. Say it out loud if you show this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within ±25 bp, median per site, with BH-adjusted P against Stable:
  Stable         33.8%  (n=1179, reference)
  Age Up         31.3%  (n=613,  FDR 0.0038)
  Age Down       28.3%  (n=212,  FDR 0.00045)
  Exercise Up    31.5%  (n=240,  FDR 0.0087)
  Exercise Down  28.6%  (n=115,  FDR 0.0084)
This is the only one of the three alternatives that shows something the pooled comparison cannot. It is also the one that connects to the motif-specificity slide: there, the LOSING classes let go of the motif in absolute terms; here, the same two classes are the ones whose dependence is least concentrated on it. Same partition, different measurement.
What it is NOT: this is not accessibility. The matched analysis on the previous slide (860 pairs, p = 0.006) holds for the pooled contrast; the per-class split has not been matched, because the smaller classes do not support it. If pushed, that is the honest answer - the pooled difference survives matching, the ordering within Dynamic is unmatched and n=115 at the bottom.
A site dynamic with both age and exercise is counted under its age class, as everywhere else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the motif-specificity slide.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What AlphaGenome is, and what it is doing here</a:t>
            </a:r>
            <a:endParaRPr lang="en-US" sz="2800" dirty="0"/>
          </a:p>
        </p:txBody>
      </p:sp>
      <p:sp>
        <p:nvSpPr>
          <p:cNvPr id="3" name="Text 1"/>
          <p:cNvSpPr txBox="1"/>
          <p:nvPr/>
        </p:nvSpPr>
        <p:spPr>
          <a:xfrm>
            <a:off x="644901"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WHAT GOES IN</a:t>
            </a:r>
            <a:endParaRPr lang="en-US" sz="1300" dirty="0"/>
          </a:p>
        </p:txBody>
      </p:sp>
      <p:sp>
        <p:nvSpPr>
          <p:cNvPr id="4" name="Text 2"/>
          <p:cNvSpPr txBox="1"/>
          <p:nvPr/>
        </p:nvSpPr>
        <p:spPr>
          <a:xfrm>
            <a:off x="573911" y="2490576"/>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131,072 bp of mouse genome</a:t>
            </a:r>
            <a:endParaRPr lang="en-US" sz="1100" dirty="0"/>
          </a:p>
        </p:txBody>
      </p:sp>
      <p:sp>
        <p:nvSpPr>
          <p:cNvPr id="5" name="Text 3"/>
          <p:cNvSpPr txBox="1"/>
          <p:nvPr/>
        </p:nvSpPr>
        <p:spPr>
          <a:xfrm>
            <a:off x="573911" y="2652841"/>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one AP-1 site, held in the middle</a:t>
            </a:r>
            <a:endParaRPr lang="en-US" sz="1100" dirty="0"/>
          </a:p>
        </p:txBody>
      </p:sp>
      <p:sp>
        <p:nvSpPr>
          <p:cNvPr id="6" name="Shape 4"/>
          <p:cNvSpPr/>
          <p:nvPr/>
        </p:nvSpPr>
        <p:spPr>
          <a:xfrm>
            <a:off x="705751" y="2997653"/>
            <a:ext cx="2778778" cy="0"/>
          </a:xfrm>
          <a:prstGeom prst="line">
            <a:avLst/>
          </a:prstGeom>
          <a:noFill/>
          <a:ln w="20320">
            <a:solidFill>
              <a:srgbClr val="15181C">
                <a:alpha val="55000"/>
              </a:srgbClr>
            </a:solidFill>
            <a:prstDash val="solid"/>
          </a:ln>
        </p:spPr>
      </p:sp>
      <p:sp>
        <p:nvSpPr>
          <p:cNvPr id="7" name="Shape 5"/>
          <p:cNvSpPr/>
          <p:nvPr/>
        </p:nvSpPr>
        <p:spPr>
          <a:xfrm>
            <a:off x="705751" y="2916520"/>
            <a:ext cx="0" cy="162264"/>
          </a:xfrm>
          <a:prstGeom prst="line">
            <a:avLst/>
          </a:prstGeom>
          <a:noFill/>
          <a:ln w="16510">
            <a:solidFill>
              <a:srgbClr val="15181C">
                <a:alpha val="55000"/>
              </a:srgbClr>
            </a:solidFill>
            <a:prstDash val="solid"/>
          </a:ln>
        </p:spPr>
      </p:sp>
      <p:sp>
        <p:nvSpPr>
          <p:cNvPr id="8" name="Shape 6"/>
          <p:cNvSpPr/>
          <p:nvPr/>
        </p:nvSpPr>
        <p:spPr>
          <a:xfrm>
            <a:off x="3484529" y="2916520"/>
            <a:ext cx="0" cy="162264"/>
          </a:xfrm>
          <a:prstGeom prst="line">
            <a:avLst/>
          </a:prstGeom>
          <a:noFill/>
          <a:ln w="16510">
            <a:solidFill>
              <a:srgbClr val="15181C">
                <a:alpha val="55000"/>
              </a:srgbClr>
            </a:solidFill>
            <a:prstDash val="solid"/>
          </a:ln>
        </p:spPr>
      </p:sp>
      <p:sp>
        <p:nvSpPr>
          <p:cNvPr id="9" name="Shape 7"/>
          <p:cNvSpPr/>
          <p:nvPr/>
        </p:nvSpPr>
        <p:spPr>
          <a:xfrm>
            <a:off x="2014008" y="2931733"/>
            <a:ext cx="162264" cy="131840"/>
          </a:xfrm>
          <a:prstGeom prst="roundRect">
            <a:avLst>
              <a:gd name="adj" fmla="val 13871"/>
            </a:avLst>
          </a:prstGeom>
          <a:solidFill>
            <a:srgbClr val="D9A32B">
              <a:alpha val="85000"/>
            </a:srgbClr>
          </a:solidFill>
          <a:ln w="13970">
            <a:solidFill>
              <a:srgbClr val="D9A32B"/>
            </a:solidFill>
            <a:prstDash val="solid"/>
          </a:ln>
        </p:spPr>
      </p:sp>
      <p:sp>
        <p:nvSpPr>
          <p:cNvPr id="10" name="Shape 8"/>
          <p:cNvSpPr/>
          <p:nvPr/>
        </p:nvSpPr>
        <p:spPr>
          <a:xfrm flipH="1">
            <a:off x="908581" y="3048360"/>
            <a:ext cx="1095285" cy="638916"/>
          </a:xfrm>
          <a:prstGeom prst="line">
            <a:avLst/>
          </a:prstGeom>
          <a:noFill/>
          <a:ln w="11430">
            <a:solidFill>
              <a:srgbClr val="AFB5BD"/>
            </a:solidFill>
            <a:prstDash val="dash"/>
          </a:ln>
        </p:spPr>
      </p:sp>
      <p:sp>
        <p:nvSpPr>
          <p:cNvPr id="11" name="Shape 9"/>
          <p:cNvSpPr/>
          <p:nvPr/>
        </p:nvSpPr>
        <p:spPr>
          <a:xfrm>
            <a:off x="2186414" y="3048360"/>
            <a:ext cx="1095285" cy="638916"/>
          </a:xfrm>
          <a:prstGeom prst="line">
            <a:avLst/>
          </a:prstGeom>
          <a:noFill/>
          <a:ln w="11430">
            <a:solidFill>
              <a:srgbClr val="AFB5BD"/>
            </a:solidFill>
            <a:prstDash val="dash"/>
          </a:ln>
        </p:spPr>
      </p:sp>
      <p:sp>
        <p:nvSpPr>
          <p:cNvPr id="12" name="Shape 10"/>
          <p:cNvSpPr/>
          <p:nvPr/>
        </p:nvSpPr>
        <p:spPr>
          <a:xfrm>
            <a:off x="908581" y="3687276"/>
            <a:ext cx="2373117" cy="446227"/>
          </a:xfrm>
          <a:prstGeom prst="roundRect">
            <a:avLst>
              <a:gd name="adj" fmla="val 4098"/>
            </a:avLst>
          </a:prstGeom>
          <a:solidFill>
            <a:srgbClr val="FFFFFF"/>
          </a:solidFill>
          <a:ln w="12700">
            <a:solidFill>
              <a:srgbClr val="AFB5BD"/>
            </a:solidFill>
            <a:prstDash val="solid"/>
          </a:ln>
        </p:spPr>
      </p:sp>
      <p:sp>
        <p:nvSpPr>
          <p:cNvPr id="13" name="Shape 11"/>
          <p:cNvSpPr/>
          <p:nvPr/>
        </p:nvSpPr>
        <p:spPr>
          <a:xfrm>
            <a:off x="1648913" y="3788692"/>
            <a:ext cx="892454" cy="243397"/>
          </a:xfrm>
          <a:prstGeom prst="roundRect">
            <a:avLst>
              <a:gd name="adj" fmla="val 7514"/>
            </a:avLst>
          </a:prstGeom>
          <a:solidFill>
            <a:srgbClr val="D9A32B">
              <a:alpha val="30000"/>
            </a:srgbClr>
          </a:solidFill>
          <a:ln w="7620">
            <a:solidFill>
              <a:srgbClr val="D9A32B"/>
            </a:solidFill>
            <a:prstDash val="solid"/>
          </a:ln>
        </p:spPr>
      </p:sp>
      <p:sp>
        <p:nvSpPr>
          <p:cNvPr id="14" name="Text 12"/>
          <p:cNvSpPr txBox="1"/>
          <p:nvPr/>
        </p:nvSpPr>
        <p:spPr>
          <a:xfrm>
            <a:off x="928864" y="3808975"/>
            <a:ext cx="2332551" cy="202831"/>
          </a:xfrm>
          <a:prstGeom prst="rect">
            <a:avLst/>
          </a:prstGeom>
          <a:noFill/>
          <a:ln/>
        </p:spPr>
        <p:txBody>
          <a:bodyPr wrap="square" lIns="0" tIns="0" rIns="0" bIns="0" rtlCol="0" anchor="ctr"/>
          <a:lstStyle/>
          <a:p>
            <a:pPr algn="ctr" indent="0" marL="0">
              <a:lnSpc>
                <a:spcPct val="95000"/>
              </a:lnSpc>
              <a:buNone/>
            </a:pPr>
            <a:r>
              <a:rPr lang="en-US" sz="1300" b="1" spc="140" kern="0" dirty="0">
                <a:solidFill>
                  <a:srgbClr val="15181C"/>
                </a:solidFill>
                <a:latin typeface="Consolas" pitchFamily="34" charset="0"/>
                <a:ea typeface="Consolas" pitchFamily="34" charset="-122"/>
                <a:cs typeface="Consolas" pitchFamily="34" charset="-120"/>
              </a:rPr>
              <a:t>ccaTGAGTCAgtt</a:t>
            </a:r>
            <a:endParaRPr lang="en-US" sz="1300" dirty="0"/>
          </a:p>
        </p:txBody>
      </p:sp>
      <p:sp>
        <p:nvSpPr>
          <p:cNvPr id="15" name="Text 13"/>
          <p:cNvSpPr txBox="1"/>
          <p:nvPr/>
        </p:nvSpPr>
        <p:spPr>
          <a:xfrm>
            <a:off x="1283818" y="4194353"/>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8A6400"/>
                </a:solidFill>
                <a:latin typeface="Arial" pitchFamily="34" charset="0"/>
                <a:ea typeface="Arial" pitchFamily="34" charset="-122"/>
                <a:cs typeface="Arial" pitchFamily="34" charset="-120"/>
              </a:rPr>
              <a:t>AP-1 core</a:t>
            </a:r>
            <a:endParaRPr lang="en-US" sz="1100" dirty="0"/>
          </a:p>
        </p:txBody>
      </p:sp>
      <p:sp>
        <p:nvSpPr>
          <p:cNvPr id="16" name="Text 14"/>
          <p:cNvSpPr txBox="1"/>
          <p:nvPr/>
        </p:nvSpPr>
        <p:spPr>
          <a:xfrm>
            <a:off x="644901" y="4458033"/>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one-hot A C G T, and nothing else:</a:t>
            </a:r>
            <a:endParaRPr lang="en-US" sz="1100" dirty="0"/>
          </a:p>
        </p:txBody>
      </p:sp>
      <p:sp>
        <p:nvSpPr>
          <p:cNvPr id="17" name="Text 15"/>
          <p:cNvSpPr txBox="1"/>
          <p:nvPr/>
        </p:nvSpPr>
        <p:spPr>
          <a:xfrm>
            <a:off x="644901"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no ATAC, no cell type, no annotation</a:t>
            </a:r>
            <a:endParaRPr lang="en-US" sz="1100" dirty="0"/>
          </a:p>
        </p:txBody>
      </p:sp>
      <p:sp>
        <p:nvSpPr>
          <p:cNvPr id="18" name="Text 16"/>
          <p:cNvSpPr txBox="1"/>
          <p:nvPr/>
        </p:nvSpPr>
        <p:spPr>
          <a:xfrm>
            <a:off x="4072738"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THE MODEL</a:t>
            </a:r>
            <a:endParaRPr lang="en-US" sz="1300" dirty="0"/>
          </a:p>
        </p:txBody>
      </p:sp>
      <p:sp>
        <p:nvSpPr>
          <p:cNvPr id="19" name="Shape 17"/>
          <p:cNvSpPr/>
          <p:nvPr/>
        </p:nvSpPr>
        <p:spPr>
          <a:xfrm>
            <a:off x="4072738" y="2105198"/>
            <a:ext cx="2474533" cy="2413683"/>
          </a:xfrm>
          <a:prstGeom prst="roundRect">
            <a:avLst>
              <a:gd name="adj" fmla="val 1894"/>
            </a:avLst>
          </a:prstGeom>
          <a:solidFill>
            <a:srgbClr val="15181C">
              <a:alpha val="5000"/>
            </a:srgbClr>
          </a:solidFill>
          <a:ln w="12700">
            <a:solidFill>
              <a:srgbClr val="15181C">
                <a:alpha val="32000"/>
              </a:srgbClr>
            </a:solidFill>
            <a:prstDash val="solid"/>
          </a:ln>
        </p:spPr>
      </p:sp>
      <p:sp>
        <p:nvSpPr>
          <p:cNvPr id="20" name="Text 18"/>
          <p:cNvSpPr txBox="1"/>
          <p:nvPr/>
        </p:nvSpPr>
        <p:spPr>
          <a:xfrm>
            <a:off x="4143728" y="2267463"/>
            <a:ext cx="2332551" cy="202831"/>
          </a:xfrm>
          <a:prstGeom prst="rect">
            <a:avLst/>
          </a:prstGeom>
          <a:noFill/>
          <a:ln/>
        </p:spPr>
        <p:txBody>
          <a:bodyPr wrap="square" lIns="0" tIns="0" rIns="0" bIns="0" rtlCol="0" anchor="ctr"/>
          <a:lstStyle/>
          <a:p>
            <a:pPr algn="ctr" indent="0" marL="0">
              <a:lnSpc>
                <a:spcPct val="95000"/>
              </a:lnSpc>
              <a:buNone/>
            </a:pPr>
            <a:r>
              <a:rPr lang="en-US" sz="1400" b="1" dirty="0">
                <a:solidFill>
                  <a:srgbClr val="15181C"/>
                </a:solidFill>
                <a:latin typeface="Arial" pitchFamily="34" charset="0"/>
                <a:ea typeface="Arial" pitchFamily="34" charset="-122"/>
                <a:cs typeface="Arial" pitchFamily="34" charset="-120"/>
              </a:rPr>
              <a:t>AlphaGenome</a:t>
            </a:r>
            <a:endParaRPr lang="en-US" sz="1400" dirty="0"/>
          </a:p>
        </p:txBody>
      </p:sp>
      <p:sp>
        <p:nvSpPr>
          <p:cNvPr id="21" name="Text 19"/>
          <p:cNvSpPr txBox="1"/>
          <p:nvPr/>
        </p:nvSpPr>
        <p:spPr>
          <a:xfrm>
            <a:off x="4093021" y="2470293"/>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sequence in, signal out</a:t>
            </a:r>
            <a:endParaRPr lang="en-US" sz="1100" dirty="0"/>
          </a:p>
        </p:txBody>
      </p:sp>
      <p:sp>
        <p:nvSpPr>
          <p:cNvPr id="22" name="Shape 20"/>
          <p:cNvSpPr/>
          <p:nvPr/>
        </p:nvSpPr>
        <p:spPr>
          <a:xfrm>
            <a:off x="4295851" y="2815105"/>
            <a:ext cx="2028305" cy="446227"/>
          </a:xfrm>
          <a:prstGeom prst="roundRect">
            <a:avLst>
              <a:gd name="adj" fmla="val 4098"/>
            </a:avLst>
          </a:prstGeom>
          <a:solidFill>
            <a:srgbClr val="55637A">
              <a:alpha val="10000"/>
            </a:srgbClr>
          </a:solidFill>
          <a:ln w="11430">
            <a:solidFill>
              <a:srgbClr val="55637A"/>
            </a:solidFill>
            <a:prstDash val="solid"/>
          </a:ln>
        </p:spPr>
      </p:sp>
      <p:sp>
        <p:nvSpPr>
          <p:cNvPr id="23" name="Text 21"/>
          <p:cNvSpPr txBox="1"/>
          <p:nvPr/>
        </p:nvSpPr>
        <p:spPr>
          <a:xfrm>
            <a:off x="4245144" y="2835388"/>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convolutions</a:t>
            </a:r>
            <a:endParaRPr lang="en-US" sz="1200" dirty="0"/>
          </a:p>
        </p:txBody>
      </p:sp>
      <p:sp>
        <p:nvSpPr>
          <p:cNvPr id="24" name="Text 22"/>
          <p:cNvSpPr txBox="1"/>
          <p:nvPr/>
        </p:nvSpPr>
        <p:spPr>
          <a:xfrm>
            <a:off x="4245144" y="3028077"/>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motifs, and how they sit together</a:t>
            </a:r>
            <a:endParaRPr lang="en-US" sz="1050" dirty="0"/>
          </a:p>
        </p:txBody>
      </p:sp>
      <p:sp>
        <p:nvSpPr>
          <p:cNvPr id="25" name="Shape 23"/>
          <p:cNvSpPr/>
          <p:nvPr/>
        </p:nvSpPr>
        <p:spPr>
          <a:xfrm>
            <a:off x="4295851" y="3383031"/>
            <a:ext cx="2028305" cy="446227"/>
          </a:xfrm>
          <a:prstGeom prst="roundRect">
            <a:avLst>
              <a:gd name="adj" fmla="val 4098"/>
            </a:avLst>
          </a:prstGeom>
          <a:solidFill>
            <a:srgbClr val="55637A">
              <a:alpha val="10000"/>
            </a:srgbClr>
          </a:solidFill>
          <a:ln w="11430">
            <a:solidFill>
              <a:srgbClr val="55637A"/>
            </a:solidFill>
            <a:prstDash val="solid"/>
          </a:ln>
        </p:spPr>
      </p:sp>
      <p:sp>
        <p:nvSpPr>
          <p:cNvPr id="26" name="Text 24"/>
          <p:cNvSpPr txBox="1"/>
          <p:nvPr/>
        </p:nvSpPr>
        <p:spPr>
          <a:xfrm>
            <a:off x="4245144" y="3403314"/>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transformer</a:t>
            </a:r>
            <a:endParaRPr lang="en-US" sz="1200" dirty="0"/>
          </a:p>
        </p:txBody>
      </p:sp>
      <p:sp>
        <p:nvSpPr>
          <p:cNvPr id="27" name="Text 25"/>
          <p:cNvSpPr txBox="1"/>
          <p:nvPr/>
        </p:nvSpPr>
        <p:spPr>
          <a:xfrm>
            <a:off x="4245144" y="3596003"/>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all 131 kb attended to at once</a:t>
            </a:r>
            <a:endParaRPr lang="en-US" sz="1050" dirty="0"/>
          </a:p>
        </p:txBody>
      </p:sp>
      <p:sp>
        <p:nvSpPr>
          <p:cNvPr id="28" name="Shape 26"/>
          <p:cNvSpPr/>
          <p:nvPr/>
        </p:nvSpPr>
        <p:spPr>
          <a:xfrm>
            <a:off x="4295851" y="3950956"/>
            <a:ext cx="2028305" cy="446227"/>
          </a:xfrm>
          <a:prstGeom prst="roundRect">
            <a:avLst>
              <a:gd name="adj" fmla="val 4098"/>
            </a:avLst>
          </a:prstGeom>
          <a:solidFill>
            <a:srgbClr val="55637A">
              <a:alpha val="10000"/>
            </a:srgbClr>
          </a:solidFill>
          <a:ln w="11430">
            <a:solidFill>
              <a:srgbClr val="55637A"/>
            </a:solidFill>
            <a:prstDash val="solid"/>
          </a:ln>
        </p:spPr>
      </p:sp>
      <p:sp>
        <p:nvSpPr>
          <p:cNvPr id="29" name="Text 27"/>
          <p:cNvSpPr txBox="1"/>
          <p:nvPr/>
        </p:nvSpPr>
        <p:spPr>
          <a:xfrm>
            <a:off x="4245144" y="3971239"/>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decoders and heads</a:t>
            </a:r>
            <a:endParaRPr lang="en-US" sz="1200" dirty="0"/>
          </a:p>
        </p:txBody>
      </p:sp>
      <p:sp>
        <p:nvSpPr>
          <p:cNvPr id="30" name="Text 28"/>
          <p:cNvSpPr txBox="1"/>
          <p:nvPr/>
        </p:nvSpPr>
        <p:spPr>
          <a:xfrm>
            <a:off x="4245144" y="4163928"/>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back up to 1 bp, one per track</a:t>
            </a:r>
            <a:endParaRPr lang="en-US" sz="1050" dirty="0"/>
          </a:p>
        </p:txBody>
      </p:sp>
      <p:sp>
        <p:nvSpPr>
          <p:cNvPr id="31" name="Shape 29"/>
          <p:cNvSpPr/>
          <p:nvPr/>
        </p:nvSpPr>
        <p:spPr>
          <a:xfrm>
            <a:off x="5310004" y="3271474"/>
            <a:ext cx="0" cy="111557"/>
          </a:xfrm>
          <a:prstGeom prst="line">
            <a:avLst/>
          </a:prstGeom>
          <a:noFill/>
          <a:ln w="15240">
            <a:solidFill>
              <a:srgbClr val="55637A"/>
            </a:solidFill>
            <a:prstDash val="solid"/>
            <a:tailEnd type="triangle"/>
          </a:ln>
        </p:spPr>
      </p:sp>
      <p:sp>
        <p:nvSpPr>
          <p:cNvPr id="32" name="Shape 30"/>
          <p:cNvSpPr/>
          <p:nvPr/>
        </p:nvSpPr>
        <p:spPr>
          <a:xfrm>
            <a:off x="5310004" y="3839399"/>
            <a:ext cx="0" cy="111557"/>
          </a:xfrm>
          <a:prstGeom prst="line">
            <a:avLst/>
          </a:prstGeom>
          <a:noFill/>
          <a:ln w="15240">
            <a:solidFill>
              <a:srgbClr val="55637A"/>
            </a:solidFill>
            <a:prstDash val="solid"/>
            <a:tailEnd type="triangle"/>
          </a:ln>
        </p:spPr>
      </p:sp>
      <p:sp>
        <p:nvSpPr>
          <p:cNvPr id="33" name="Text 31"/>
          <p:cNvSpPr txBox="1"/>
          <p:nvPr/>
        </p:nvSpPr>
        <p:spPr>
          <a:xfrm>
            <a:off x="4072738"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trained on thousands of genomic tracks</a:t>
            </a:r>
            <a:endParaRPr lang="en-US" sz="1100" dirty="0"/>
          </a:p>
        </p:txBody>
      </p:sp>
      <p:sp>
        <p:nvSpPr>
          <p:cNvPr id="34" name="Text 32"/>
          <p:cNvSpPr txBox="1"/>
          <p:nvPr/>
        </p:nvSpPr>
        <p:spPr>
          <a:xfrm>
            <a:off x="7094913"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COMES OUT</a:t>
            </a:r>
            <a:endParaRPr lang="en-US" sz="1300" dirty="0"/>
          </a:p>
        </p:txBody>
      </p:sp>
      <p:sp>
        <p:nvSpPr>
          <p:cNvPr id="35" name="Shape 33"/>
          <p:cNvSpPr/>
          <p:nvPr/>
        </p:nvSpPr>
        <p:spPr>
          <a:xfrm>
            <a:off x="7094913" y="2206613"/>
            <a:ext cx="2616514" cy="425944"/>
          </a:xfrm>
          <a:custGeom>
            <a:avLst/>
            <a:gdLst/>
            <a:ahLst/>
            <a:cxnLst/>
            <a:rect l="l" t="t" r="r" b="b"/>
            <a:pathLst>
              <a:path w="2616514" h="425944">
                <a:moveTo>
                  <a:pt x="0" y="425944"/>
                </a:moveTo>
                <a:lnTo>
                  <a:pt x="0" y="399575"/>
                </a:lnTo>
                <a:lnTo>
                  <a:pt x="27255" y="400844"/>
                </a:lnTo>
                <a:lnTo>
                  <a:pt x="54511" y="403604"/>
                </a:lnTo>
                <a:lnTo>
                  <a:pt x="81766" y="402142"/>
                </a:lnTo>
                <a:lnTo>
                  <a:pt x="109021" y="394015"/>
                </a:lnTo>
                <a:lnTo>
                  <a:pt x="136277" y="395670"/>
                </a:lnTo>
                <a:lnTo>
                  <a:pt x="163532" y="404234"/>
                </a:lnTo>
                <a:lnTo>
                  <a:pt x="190787" y="404850"/>
                </a:lnTo>
                <a:lnTo>
                  <a:pt x="218043" y="404432"/>
                </a:lnTo>
                <a:lnTo>
                  <a:pt x="245298" y="396557"/>
                </a:lnTo>
                <a:lnTo>
                  <a:pt x="272554" y="391435"/>
                </a:lnTo>
                <a:lnTo>
                  <a:pt x="299809" y="401660"/>
                </a:lnTo>
                <a:lnTo>
                  <a:pt x="327064" y="402141"/>
                </a:lnTo>
                <a:lnTo>
                  <a:pt x="354320" y="397892"/>
                </a:lnTo>
                <a:lnTo>
                  <a:pt x="381575" y="395991"/>
                </a:lnTo>
                <a:lnTo>
                  <a:pt x="408830" y="385451"/>
                </a:lnTo>
                <a:lnTo>
                  <a:pt x="436086" y="392875"/>
                </a:lnTo>
                <a:lnTo>
                  <a:pt x="463341" y="389874"/>
                </a:lnTo>
                <a:lnTo>
                  <a:pt x="490596" y="384030"/>
                </a:lnTo>
                <a:lnTo>
                  <a:pt x="517852" y="382290"/>
                </a:lnTo>
                <a:lnTo>
                  <a:pt x="545107" y="368226"/>
                </a:lnTo>
                <a:lnTo>
                  <a:pt x="572362" y="368643"/>
                </a:lnTo>
                <a:lnTo>
                  <a:pt x="599618" y="354735"/>
                </a:lnTo>
                <a:lnTo>
                  <a:pt x="626873" y="346918"/>
                </a:lnTo>
                <a:lnTo>
                  <a:pt x="654129" y="337684"/>
                </a:lnTo>
                <a:lnTo>
                  <a:pt x="681384" y="320088"/>
                </a:lnTo>
                <a:lnTo>
                  <a:pt x="708639" y="308595"/>
                </a:lnTo>
                <a:lnTo>
                  <a:pt x="735895" y="278981"/>
                </a:lnTo>
                <a:lnTo>
                  <a:pt x="763150" y="267654"/>
                </a:lnTo>
                <a:lnTo>
                  <a:pt x="790405" y="248415"/>
                </a:lnTo>
                <a:lnTo>
                  <a:pt x="817661" y="228223"/>
                </a:lnTo>
                <a:lnTo>
                  <a:pt x="844916" y="205585"/>
                </a:lnTo>
                <a:lnTo>
                  <a:pt x="872171" y="166575"/>
                </a:lnTo>
                <a:lnTo>
                  <a:pt x="899427" y="155028"/>
                </a:lnTo>
                <a:lnTo>
                  <a:pt x="926682" y="135953"/>
                </a:lnTo>
                <a:lnTo>
                  <a:pt x="953937" y="113000"/>
                </a:lnTo>
                <a:lnTo>
                  <a:pt x="981193" y="98875"/>
                </a:lnTo>
                <a:lnTo>
                  <a:pt x="1008448" y="69222"/>
                </a:lnTo>
                <a:lnTo>
                  <a:pt x="1035703" y="67209"/>
                </a:lnTo>
                <a:lnTo>
                  <a:pt x="1062959" y="62466"/>
                </a:lnTo>
                <a:lnTo>
                  <a:pt x="1090214" y="54820"/>
                </a:lnTo>
                <a:lnTo>
                  <a:pt x="1117470" y="59863"/>
                </a:lnTo>
                <a:lnTo>
                  <a:pt x="1144725" y="56382"/>
                </a:lnTo>
                <a:lnTo>
                  <a:pt x="1171980" y="69034"/>
                </a:lnTo>
                <a:lnTo>
                  <a:pt x="1199236" y="82365"/>
                </a:lnTo>
                <a:lnTo>
                  <a:pt x="1226491" y="97834"/>
                </a:lnTo>
                <a:lnTo>
                  <a:pt x="1253746" y="118813"/>
                </a:lnTo>
                <a:lnTo>
                  <a:pt x="1281002" y="139286"/>
                </a:lnTo>
                <a:lnTo>
                  <a:pt x="1308257" y="157897"/>
                </a:lnTo>
                <a:lnTo>
                  <a:pt x="1335512" y="178471"/>
                </a:lnTo>
                <a:lnTo>
                  <a:pt x="1362768" y="202266"/>
                </a:lnTo>
                <a:lnTo>
                  <a:pt x="1390023" y="224057"/>
                </a:lnTo>
                <a:lnTo>
                  <a:pt x="1417278" y="248865"/>
                </a:lnTo>
                <a:lnTo>
                  <a:pt x="1444534" y="257531"/>
                </a:lnTo>
                <a:lnTo>
                  <a:pt x="1471789" y="266175"/>
                </a:lnTo>
                <a:lnTo>
                  <a:pt x="1499045" y="275378"/>
                </a:lnTo>
                <a:lnTo>
                  <a:pt x="1526300" y="282743"/>
                </a:lnTo>
                <a:lnTo>
                  <a:pt x="1553555" y="285179"/>
                </a:lnTo>
                <a:lnTo>
                  <a:pt x="1580811" y="280359"/>
                </a:lnTo>
                <a:lnTo>
                  <a:pt x="1608066" y="267113"/>
                </a:lnTo>
                <a:lnTo>
                  <a:pt x="1635321" y="253231"/>
                </a:lnTo>
                <a:lnTo>
                  <a:pt x="1662577" y="250272"/>
                </a:lnTo>
                <a:lnTo>
                  <a:pt x="1689832" y="238484"/>
                </a:lnTo>
                <a:lnTo>
                  <a:pt x="1717087" y="230946"/>
                </a:lnTo>
                <a:lnTo>
                  <a:pt x="1744343" y="222831"/>
                </a:lnTo>
                <a:lnTo>
                  <a:pt x="1771598" y="212367"/>
                </a:lnTo>
                <a:lnTo>
                  <a:pt x="1798853" y="228815"/>
                </a:lnTo>
                <a:lnTo>
                  <a:pt x="1826109" y="232495"/>
                </a:lnTo>
                <a:lnTo>
                  <a:pt x="1853364" y="242355"/>
                </a:lnTo>
                <a:lnTo>
                  <a:pt x="1880619" y="264174"/>
                </a:lnTo>
                <a:lnTo>
                  <a:pt x="1907875" y="270898"/>
                </a:lnTo>
                <a:lnTo>
                  <a:pt x="1935130" y="301460"/>
                </a:lnTo>
                <a:lnTo>
                  <a:pt x="1962386" y="315020"/>
                </a:lnTo>
                <a:lnTo>
                  <a:pt x="1989641" y="328910"/>
                </a:lnTo>
                <a:lnTo>
                  <a:pt x="2016896" y="354400"/>
                </a:lnTo>
                <a:lnTo>
                  <a:pt x="2044152" y="358769"/>
                </a:lnTo>
                <a:lnTo>
                  <a:pt x="2071407" y="377358"/>
                </a:lnTo>
                <a:lnTo>
                  <a:pt x="2098662" y="377245"/>
                </a:lnTo>
                <a:lnTo>
                  <a:pt x="2125918" y="382628"/>
                </a:lnTo>
                <a:lnTo>
                  <a:pt x="2153173" y="396614"/>
                </a:lnTo>
                <a:lnTo>
                  <a:pt x="2180428" y="397759"/>
                </a:lnTo>
                <a:lnTo>
                  <a:pt x="2207684" y="401778"/>
                </a:lnTo>
                <a:lnTo>
                  <a:pt x="2234939" y="391597"/>
                </a:lnTo>
                <a:lnTo>
                  <a:pt x="2262194" y="395913"/>
                </a:lnTo>
                <a:lnTo>
                  <a:pt x="2289450" y="403429"/>
                </a:lnTo>
                <a:lnTo>
                  <a:pt x="2316705" y="401305"/>
                </a:lnTo>
                <a:lnTo>
                  <a:pt x="2343960" y="403916"/>
                </a:lnTo>
                <a:lnTo>
                  <a:pt x="2371216" y="392521"/>
                </a:lnTo>
                <a:lnTo>
                  <a:pt x="2398471" y="398404"/>
                </a:lnTo>
                <a:lnTo>
                  <a:pt x="2425727" y="404215"/>
                </a:lnTo>
                <a:lnTo>
                  <a:pt x="2452982" y="396889"/>
                </a:lnTo>
                <a:lnTo>
                  <a:pt x="2480237" y="405135"/>
                </a:lnTo>
                <a:lnTo>
                  <a:pt x="2507493" y="394705"/>
                </a:lnTo>
                <a:lnTo>
                  <a:pt x="2534748" y="398747"/>
                </a:lnTo>
                <a:lnTo>
                  <a:pt x="2562003" y="404995"/>
                </a:lnTo>
                <a:lnTo>
                  <a:pt x="2589259" y="394933"/>
                </a:lnTo>
                <a:lnTo>
                  <a:pt x="2616514" y="403032"/>
                </a:lnTo>
                <a:lnTo>
                  <a:pt x="2616514" y="425944"/>
                </a:lnTo>
                <a:close/>
              </a:path>
            </a:pathLst>
          </a:custGeom>
          <a:solidFill>
            <a:srgbClr val="55637A">
              <a:alpha val="16000"/>
            </a:srgbClr>
          </a:solidFill>
          <a:ln w="16510">
            <a:solidFill>
              <a:srgbClr val="55637A"/>
            </a:solidFill>
            <a:prstDash val="solid"/>
          </a:ln>
        </p:spPr>
      </p:sp>
      <p:sp>
        <p:nvSpPr>
          <p:cNvPr id="36" name="Shape 34"/>
          <p:cNvSpPr/>
          <p:nvPr/>
        </p:nvSpPr>
        <p:spPr>
          <a:xfrm>
            <a:off x="7094913" y="2632558"/>
            <a:ext cx="2616514" cy="0"/>
          </a:xfrm>
          <a:prstGeom prst="line">
            <a:avLst/>
          </a:prstGeom>
          <a:noFill/>
          <a:ln w="20320">
            <a:solidFill>
              <a:srgbClr val="15181C">
                <a:alpha val="55000"/>
              </a:srgbClr>
            </a:solidFill>
            <a:prstDash val="solid"/>
          </a:ln>
        </p:spPr>
      </p:sp>
      <p:sp>
        <p:nvSpPr>
          <p:cNvPr id="37" name="Text 35"/>
          <p:cNvSpPr txBox="1"/>
          <p:nvPr/>
        </p:nvSpPr>
        <p:spPr>
          <a:xfrm>
            <a:off x="9853408" y="2257321"/>
            <a:ext cx="1663210" cy="202831"/>
          </a:xfrm>
          <a:prstGeom prst="rect">
            <a:avLst/>
          </a:prstGeom>
          <a:noFill/>
          <a:ln/>
        </p:spPr>
        <p:txBody>
          <a:bodyPr wrap="square" lIns="0" tIns="0" rIns="0" bIns="0" rtlCol="0" anchor="ctr"/>
          <a:lstStyle/>
          <a:p>
            <a:pPr algn="l" indent="0" marL="0">
              <a:lnSpc>
                <a:spcPct val="95000"/>
              </a:lnSpc>
              <a:buNone/>
            </a:pPr>
            <a:r>
              <a:rPr lang="en-US" sz="1150" b="1" dirty="0">
                <a:solidFill>
                  <a:srgbClr val="15181C"/>
                </a:solidFill>
                <a:latin typeface="Arial" pitchFamily="34" charset="0"/>
                <a:ea typeface="Arial" pitchFamily="34" charset="-122"/>
                <a:cs typeface="Arial" pitchFamily="34" charset="-120"/>
              </a:rPr>
              <a:t>ATAC  ·  fibroblast</a:t>
            </a:r>
            <a:endParaRPr lang="en-US" sz="1150" dirty="0"/>
          </a:p>
        </p:txBody>
      </p:sp>
      <p:sp>
        <p:nvSpPr>
          <p:cNvPr id="38" name="Text 36"/>
          <p:cNvSpPr txBox="1"/>
          <p:nvPr/>
        </p:nvSpPr>
        <p:spPr>
          <a:xfrm>
            <a:off x="9853408" y="2429727"/>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8A6400"/>
                </a:solidFill>
                <a:latin typeface="Arial" pitchFamily="34" charset="0"/>
                <a:ea typeface="Arial" pitchFamily="34" charset="-122"/>
                <a:cs typeface="Arial" pitchFamily="34" charset="-120"/>
              </a:rPr>
              <a:t>the one we read</a:t>
            </a:r>
            <a:endParaRPr lang="en-US" sz="1050" dirty="0"/>
          </a:p>
        </p:txBody>
      </p:sp>
      <p:sp>
        <p:nvSpPr>
          <p:cNvPr id="39" name="Shape 37"/>
          <p:cNvSpPr/>
          <p:nvPr/>
        </p:nvSpPr>
        <p:spPr>
          <a:xfrm>
            <a:off x="7094913" y="2835388"/>
            <a:ext cx="2616514" cy="425944"/>
          </a:xfrm>
          <a:custGeom>
            <a:avLst/>
            <a:gdLst/>
            <a:ahLst/>
            <a:cxnLst/>
            <a:rect l="l" t="t" r="r" b="b"/>
            <a:pathLst>
              <a:path w="2616514" h="425944">
                <a:moveTo>
                  <a:pt x="0" y="425944"/>
                </a:moveTo>
                <a:lnTo>
                  <a:pt x="0" y="404206"/>
                </a:lnTo>
                <a:lnTo>
                  <a:pt x="27255" y="403608"/>
                </a:lnTo>
                <a:lnTo>
                  <a:pt x="54511" y="392377"/>
                </a:lnTo>
                <a:lnTo>
                  <a:pt x="81766" y="397318"/>
                </a:lnTo>
                <a:lnTo>
                  <a:pt x="109021" y="405476"/>
                </a:lnTo>
                <a:lnTo>
                  <a:pt x="136277" y="402179"/>
                </a:lnTo>
                <a:lnTo>
                  <a:pt x="163532" y="404159"/>
                </a:lnTo>
                <a:lnTo>
                  <a:pt x="190787" y="396206"/>
                </a:lnTo>
                <a:lnTo>
                  <a:pt x="218043" y="394755"/>
                </a:lnTo>
                <a:lnTo>
                  <a:pt x="245298" y="401731"/>
                </a:lnTo>
                <a:lnTo>
                  <a:pt x="272554" y="400870"/>
                </a:lnTo>
                <a:lnTo>
                  <a:pt x="299809" y="400266"/>
                </a:lnTo>
                <a:lnTo>
                  <a:pt x="327064" y="400538"/>
                </a:lnTo>
                <a:lnTo>
                  <a:pt x="354320" y="393535"/>
                </a:lnTo>
                <a:lnTo>
                  <a:pt x="381575" y="398500"/>
                </a:lnTo>
                <a:lnTo>
                  <a:pt x="408830" y="398286"/>
                </a:lnTo>
                <a:lnTo>
                  <a:pt x="436086" y="397032"/>
                </a:lnTo>
                <a:lnTo>
                  <a:pt x="463341" y="402311"/>
                </a:lnTo>
                <a:lnTo>
                  <a:pt x="490596" y="393330"/>
                </a:lnTo>
                <a:lnTo>
                  <a:pt x="517852" y="395080"/>
                </a:lnTo>
                <a:lnTo>
                  <a:pt x="545107" y="390764"/>
                </a:lnTo>
                <a:lnTo>
                  <a:pt x="572362" y="391213"/>
                </a:lnTo>
                <a:lnTo>
                  <a:pt x="599618" y="395614"/>
                </a:lnTo>
                <a:lnTo>
                  <a:pt x="626873" y="387460"/>
                </a:lnTo>
                <a:lnTo>
                  <a:pt x="654129" y="383125"/>
                </a:lnTo>
                <a:lnTo>
                  <a:pt x="681384" y="369454"/>
                </a:lnTo>
                <a:lnTo>
                  <a:pt x="708639" y="370763"/>
                </a:lnTo>
                <a:lnTo>
                  <a:pt x="735895" y="367488"/>
                </a:lnTo>
                <a:lnTo>
                  <a:pt x="763150" y="357394"/>
                </a:lnTo>
                <a:lnTo>
                  <a:pt x="790405" y="346013"/>
                </a:lnTo>
                <a:lnTo>
                  <a:pt x="817661" y="320970"/>
                </a:lnTo>
                <a:lnTo>
                  <a:pt x="844916" y="319517"/>
                </a:lnTo>
                <a:lnTo>
                  <a:pt x="872171" y="306752"/>
                </a:lnTo>
                <a:lnTo>
                  <a:pt x="899427" y="286554"/>
                </a:lnTo>
                <a:lnTo>
                  <a:pt x="926682" y="276724"/>
                </a:lnTo>
                <a:lnTo>
                  <a:pt x="953937" y="247556"/>
                </a:lnTo>
                <a:lnTo>
                  <a:pt x="981193" y="243782"/>
                </a:lnTo>
                <a:lnTo>
                  <a:pt x="1008448" y="228145"/>
                </a:lnTo>
                <a:lnTo>
                  <a:pt x="1035703" y="210245"/>
                </a:lnTo>
                <a:lnTo>
                  <a:pt x="1062959" y="207506"/>
                </a:lnTo>
                <a:lnTo>
                  <a:pt x="1090214" y="190722"/>
                </a:lnTo>
                <a:lnTo>
                  <a:pt x="1117470" y="191574"/>
                </a:lnTo>
                <a:lnTo>
                  <a:pt x="1144725" y="185156"/>
                </a:lnTo>
                <a:lnTo>
                  <a:pt x="1171980" y="184028"/>
                </a:lnTo>
                <a:lnTo>
                  <a:pt x="1199236" y="194336"/>
                </a:lnTo>
                <a:lnTo>
                  <a:pt x="1226491" y="200881"/>
                </a:lnTo>
                <a:lnTo>
                  <a:pt x="1253746" y="209254"/>
                </a:lnTo>
                <a:lnTo>
                  <a:pt x="1281002" y="214941"/>
                </a:lnTo>
                <a:lnTo>
                  <a:pt x="1308257" y="230252"/>
                </a:lnTo>
                <a:lnTo>
                  <a:pt x="1335512" y="249094"/>
                </a:lnTo>
                <a:lnTo>
                  <a:pt x="1362768" y="266843"/>
                </a:lnTo>
                <a:lnTo>
                  <a:pt x="1390023" y="280165"/>
                </a:lnTo>
                <a:lnTo>
                  <a:pt x="1417278" y="287558"/>
                </a:lnTo>
                <a:lnTo>
                  <a:pt x="1444534" y="303987"/>
                </a:lnTo>
                <a:lnTo>
                  <a:pt x="1471789" y="320240"/>
                </a:lnTo>
                <a:lnTo>
                  <a:pt x="1499045" y="328301"/>
                </a:lnTo>
                <a:lnTo>
                  <a:pt x="1526300" y="340157"/>
                </a:lnTo>
                <a:lnTo>
                  <a:pt x="1553555" y="336165"/>
                </a:lnTo>
                <a:lnTo>
                  <a:pt x="1580811" y="336854"/>
                </a:lnTo>
                <a:lnTo>
                  <a:pt x="1608066" y="341962"/>
                </a:lnTo>
                <a:lnTo>
                  <a:pt x="1635321" y="330785"/>
                </a:lnTo>
                <a:lnTo>
                  <a:pt x="1662577" y="327168"/>
                </a:lnTo>
                <a:lnTo>
                  <a:pt x="1689832" y="314717"/>
                </a:lnTo>
                <a:lnTo>
                  <a:pt x="1717087" y="298387"/>
                </a:lnTo>
                <a:lnTo>
                  <a:pt x="1744343" y="297604"/>
                </a:lnTo>
                <a:lnTo>
                  <a:pt x="1771598" y="281944"/>
                </a:lnTo>
                <a:lnTo>
                  <a:pt x="1798853" y="276054"/>
                </a:lnTo>
                <a:lnTo>
                  <a:pt x="1826109" y="280897"/>
                </a:lnTo>
                <a:lnTo>
                  <a:pt x="1853364" y="273742"/>
                </a:lnTo>
                <a:lnTo>
                  <a:pt x="1880619" y="286496"/>
                </a:lnTo>
                <a:lnTo>
                  <a:pt x="1907875" y="291403"/>
                </a:lnTo>
                <a:lnTo>
                  <a:pt x="1935130" y="301145"/>
                </a:lnTo>
                <a:lnTo>
                  <a:pt x="1962386" y="323889"/>
                </a:lnTo>
                <a:lnTo>
                  <a:pt x="1989641" y="333305"/>
                </a:lnTo>
                <a:lnTo>
                  <a:pt x="2016896" y="349782"/>
                </a:lnTo>
                <a:lnTo>
                  <a:pt x="2044152" y="356352"/>
                </a:lnTo>
                <a:lnTo>
                  <a:pt x="2071407" y="365600"/>
                </a:lnTo>
                <a:lnTo>
                  <a:pt x="2098662" y="382434"/>
                </a:lnTo>
                <a:lnTo>
                  <a:pt x="2125918" y="390712"/>
                </a:lnTo>
                <a:lnTo>
                  <a:pt x="2153173" y="393943"/>
                </a:lnTo>
                <a:lnTo>
                  <a:pt x="2180428" y="388380"/>
                </a:lnTo>
                <a:lnTo>
                  <a:pt x="2207684" y="393419"/>
                </a:lnTo>
                <a:lnTo>
                  <a:pt x="2234939" y="401828"/>
                </a:lnTo>
                <a:lnTo>
                  <a:pt x="2262194" y="398485"/>
                </a:lnTo>
                <a:lnTo>
                  <a:pt x="2289450" y="404465"/>
                </a:lnTo>
                <a:lnTo>
                  <a:pt x="2316705" y="393357"/>
                </a:lnTo>
                <a:lnTo>
                  <a:pt x="2343960" y="399607"/>
                </a:lnTo>
                <a:lnTo>
                  <a:pt x="2371216" y="404343"/>
                </a:lnTo>
                <a:lnTo>
                  <a:pt x="2398471" y="394487"/>
                </a:lnTo>
                <a:lnTo>
                  <a:pt x="2425727" y="405540"/>
                </a:lnTo>
                <a:lnTo>
                  <a:pt x="2452982" y="395676"/>
                </a:lnTo>
                <a:lnTo>
                  <a:pt x="2480237" y="401518"/>
                </a:lnTo>
                <a:lnTo>
                  <a:pt x="2507493" y="403325"/>
                </a:lnTo>
                <a:lnTo>
                  <a:pt x="2534748" y="392326"/>
                </a:lnTo>
                <a:lnTo>
                  <a:pt x="2562003" y="403842"/>
                </a:lnTo>
                <a:lnTo>
                  <a:pt x="2589259" y="400448"/>
                </a:lnTo>
                <a:lnTo>
                  <a:pt x="2616514" y="401969"/>
                </a:lnTo>
                <a:lnTo>
                  <a:pt x="2616514" y="425944"/>
                </a:lnTo>
                <a:close/>
              </a:path>
            </a:pathLst>
          </a:custGeom>
          <a:solidFill>
            <a:srgbClr val="AFB5BD">
              <a:alpha val="9000"/>
            </a:srgbClr>
          </a:solidFill>
          <a:ln w="16510">
            <a:solidFill>
              <a:srgbClr val="AFB5BD"/>
            </a:solidFill>
            <a:prstDash val="solid"/>
          </a:ln>
        </p:spPr>
      </p:sp>
      <p:sp>
        <p:nvSpPr>
          <p:cNvPr id="40" name="Shape 38"/>
          <p:cNvSpPr/>
          <p:nvPr/>
        </p:nvSpPr>
        <p:spPr>
          <a:xfrm>
            <a:off x="7094913" y="3261332"/>
            <a:ext cx="2616514" cy="0"/>
          </a:xfrm>
          <a:prstGeom prst="line">
            <a:avLst/>
          </a:prstGeom>
          <a:noFill/>
          <a:ln w="20320">
            <a:solidFill>
              <a:srgbClr val="15181C">
                <a:alpha val="55000"/>
              </a:srgbClr>
            </a:solidFill>
            <a:prstDash val="solid"/>
          </a:ln>
        </p:spPr>
      </p:sp>
      <p:sp>
        <p:nvSpPr>
          <p:cNvPr id="41" name="Text 39"/>
          <p:cNvSpPr txBox="1"/>
          <p:nvPr/>
        </p:nvSpPr>
        <p:spPr>
          <a:xfrm>
            <a:off x="9853408" y="2886096"/>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ATAC  ·  cardiomyocyte</a:t>
            </a:r>
            <a:endParaRPr lang="en-US" sz="1150" dirty="0"/>
          </a:p>
        </p:txBody>
      </p:sp>
      <p:sp>
        <p:nvSpPr>
          <p:cNvPr id="42" name="Text 40"/>
          <p:cNvSpPr txBox="1"/>
          <p:nvPr/>
        </p:nvSpPr>
        <p:spPr>
          <a:xfrm>
            <a:off x="9853408" y="3058502"/>
            <a:ext cx="1663210" cy="202831"/>
          </a:xfrm>
          <a:prstGeom prst="rect">
            <a:avLst/>
          </a:prstGeom>
          <a:noFill/>
          <a:ln/>
        </p:spPr>
        <p:txBody>
          <a:bodyPr wrap="square" lIns="0" tIns="0" rIns="0" bIns="0" rtlCol="0" anchor="ctr"/>
          <a:lstStyle/>
          <a:p>
            <a:pPr algn="l" indent="0" marL="0">
              <a:lnSpc>
                <a:spcPct val="95000"/>
              </a:lnSpc>
              <a:buNone/>
            </a:pPr>
            <a:endParaRPr lang="en-US" sz="1050" dirty="0"/>
          </a:p>
        </p:txBody>
      </p:sp>
      <p:sp>
        <p:nvSpPr>
          <p:cNvPr id="43" name="Shape 41"/>
          <p:cNvSpPr/>
          <p:nvPr/>
        </p:nvSpPr>
        <p:spPr>
          <a:xfrm>
            <a:off x="7094913" y="3464163"/>
            <a:ext cx="2616514" cy="425944"/>
          </a:xfrm>
          <a:custGeom>
            <a:avLst/>
            <a:gdLst/>
            <a:ahLst/>
            <a:cxnLst/>
            <a:rect l="l" t="t" r="r" b="b"/>
            <a:pathLst>
              <a:path w="2616514" h="425944">
                <a:moveTo>
                  <a:pt x="0" y="425944"/>
                </a:moveTo>
                <a:lnTo>
                  <a:pt x="0" y="391736"/>
                </a:lnTo>
                <a:lnTo>
                  <a:pt x="27255" y="399407"/>
                </a:lnTo>
                <a:lnTo>
                  <a:pt x="54511" y="404323"/>
                </a:lnTo>
                <a:lnTo>
                  <a:pt x="81766" y="398528"/>
                </a:lnTo>
                <a:lnTo>
                  <a:pt x="109021" y="404063"/>
                </a:lnTo>
                <a:lnTo>
                  <a:pt x="136277" y="395976"/>
                </a:lnTo>
                <a:lnTo>
                  <a:pt x="163532" y="397792"/>
                </a:lnTo>
                <a:lnTo>
                  <a:pt x="190787" y="400390"/>
                </a:lnTo>
                <a:lnTo>
                  <a:pt x="218043" y="397766"/>
                </a:lnTo>
                <a:lnTo>
                  <a:pt x="245298" y="400770"/>
                </a:lnTo>
                <a:lnTo>
                  <a:pt x="272554" y="401543"/>
                </a:lnTo>
                <a:lnTo>
                  <a:pt x="299809" y="396783"/>
                </a:lnTo>
                <a:lnTo>
                  <a:pt x="327064" y="396717"/>
                </a:lnTo>
                <a:lnTo>
                  <a:pt x="354320" y="395301"/>
                </a:lnTo>
                <a:lnTo>
                  <a:pt x="381575" y="392512"/>
                </a:lnTo>
                <a:lnTo>
                  <a:pt x="408830" y="388905"/>
                </a:lnTo>
                <a:lnTo>
                  <a:pt x="436086" y="361663"/>
                </a:lnTo>
                <a:lnTo>
                  <a:pt x="463341" y="323992"/>
                </a:lnTo>
                <a:lnTo>
                  <a:pt x="490596" y="272173"/>
                </a:lnTo>
                <a:lnTo>
                  <a:pt x="517852" y="216623"/>
                </a:lnTo>
                <a:lnTo>
                  <a:pt x="545107" y="171077"/>
                </a:lnTo>
                <a:lnTo>
                  <a:pt x="572362" y="149373"/>
                </a:lnTo>
                <a:lnTo>
                  <a:pt x="599618" y="159064"/>
                </a:lnTo>
                <a:lnTo>
                  <a:pt x="626873" y="198405"/>
                </a:lnTo>
                <a:lnTo>
                  <a:pt x="654129" y="263328"/>
                </a:lnTo>
                <a:lnTo>
                  <a:pt x="681384" y="317774"/>
                </a:lnTo>
                <a:lnTo>
                  <a:pt x="708639" y="358988"/>
                </a:lnTo>
                <a:lnTo>
                  <a:pt x="735895" y="382114"/>
                </a:lnTo>
                <a:lnTo>
                  <a:pt x="763150" y="384534"/>
                </a:lnTo>
                <a:lnTo>
                  <a:pt x="790405" y="400509"/>
                </a:lnTo>
                <a:lnTo>
                  <a:pt x="817661" y="396508"/>
                </a:lnTo>
                <a:lnTo>
                  <a:pt x="844916" y="381398"/>
                </a:lnTo>
                <a:lnTo>
                  <a:pt x="872171" y="353992"/>
                </a:lnTo>
                <a:lnTo>
                  <a:pt x="899427" y="271719"/>
                </a:lnTo>
                <a:lnTo>
                  <a:pt x="926682" y="187637"/>
                </a:lnTo>
                <a:lnTo>
                  <a:pt x="953937" y="107125"/>
                </a:lnTo>
                <a:lnTo>
                  <a:pt x="981193" y="100232"/>
                </a:lnTo>
                <a:lnTo>
                  <a:pt x="1008448" y="183827"/>
                </a:lnTo>
                <a:lnTo>
                  <a:pt x="1035703" y="272240"/>
                </a:lnTo>
                <a:lnTo>
                  <a:pt x="1062959" y="352597"/>
                </a:lnTo>
                <a:lnTo>
                  <a:pt x="1090214" y="380483"/>
                </a:lnTo>
                <a:lnTo>
                  <a:pt x="1117470" y="390382"/>
                </a:lnTo>
                <a:lnTo>
                  <a:pt x="1144725" y="404098"/>
                </a:lnTo>
                <a:lnTo>
                  <a:pt x="1171980" y="403660"/>
                </a:lnTo>
                <a:lnTo>
                  <a:pt x="1199236" y="404353"/>
                </a:lnTo>
                <a:lnTo>
                  <a:pt x="1226491" y="394652"/>
                </a:lnTo>
                <a:lnTo>
                  <a:pt x="1253746" y="395942"/>
                </a:lnTo>
                <a:lnTo>
                  <a:pt x="1281002" y="403266"/>
                </a:lnTo>
                <a:lnTo>
                  <a:pt x="1308257" y="400770"/>
                </a:lnTo>
                <a:lnTo>
                  <a:pt x="1335512" y="403255"/>
                </a:lnTo>
                <a:lnTo>
                  <a:pt x="1362768" y="392235"/>
                </a:lnTo>
                <a:lnTo>
                  <a:pt x="1390023" y="393950"/>
                </a:lnTo>
                <a:lnTo>
                  <a:pt x="1417278" y="394853"/>
                </a:lnTo>
                <a:lnTo>
                  <a:pt x="1444534" y="379531"/>
                </a:lnTo>
                <a:lnTo>
                  <a:pt x="1471789" y="374099"/>
                </a:lnTo>
                <a:lnTo>
                  <a:pt x="1499045" y="342539"/>
                </a:lnTo>
                <a:lnTo>
                  <a:pt x="1526300" y="315419"/>
                </a:lnTo>
                <a:lnTo>
                  <a:pt x="1553555" y="286647"/>
                </a:lnTo>
                <a:lnTo>
                  <a:pt x="1580811" y="240274"/>
                </a:lnTo>
                <a:lnTo>
                  <a:pt x="1608066" y="218509"/>
                </a:lnTo>
                <a:lnTo>
                  <a:pt x="1635321" y="199484"/>
                </a:lnTo>
                <a:lnTo>
                  <a:pt x="1662577" y="197854"/>
                </a:lnTo>
                <a:lnTo>
                  <a:pt x="1689832" y="220338"/>
                </a:lnTo>
                <a:lnTo>
                  <a:pt x="1717087" y="242085"/>
                </a:lnTo>
                <a:lnTo>
                  <a:pt x="1744343" y="281486"/>
                </a:lnTo>
                <a:lnTo>
                  <a:pt x="1771598" y="324064"/>
                </a:lnTo>
                <a:lnTo>
                  <a:pt x="1798853" y="346730"/>
                </a:lnTo>
                <a:lnTo>
                  <a:pt x="1826109" y="370033"/>
                </a:lnTo>
                <a:lnTo>
                  <a:pt x="1853364" y="379699"/>
                </a:lnTo>
                <a:lnTo>
                  <a:pt x="1880619" y="387375"/>
                </a:lnTo>
                <a:lnTo>
                  <a:pt x="1907875" y="397978"/>
                </a:lnTo>
                <a:lnTo>
                  <a:pt x="1935130" y="400123"/>
                </a:lnTo>
                <a:lnTo>
                  <a:pt x="1962386" y="399092"/>
                </a:lnTo>
                <a:lnTo>
                  <a:pt x="1989641" y="396211"/>
                </a:lnTo>
                <a:lnTo>
                  <a:pt x="2016896" y="395159"/>
                </a:lnTo>
                <a:lnTo>
                  <a:pt x="2044152" y="399877"/>
                </a:lnTo>
                <a:lnTo>
                  <a:pt x="2071407" y="404613"/>
                </a:lnTo>
                <a:lnTo>
                  <a:pt x="2098662" y="401038"/>
                </a:lnTo>
                <a:lnTo>
                  <a:pt x="2125918" y="395981"/>
                </a:lnTo>
                <a:lnTo>
                  <a:pt x="2153173" y="397706"/>
                </a:lnTo>
                <a:lnTo>
                  <a:pt x="2180428" y="400399"/>
                </a:lnTo>
                <a:lnTo>
                  <a:pt x="2207684" y="398346"/>
                </a:lnTo>
                <a:lnTo>
                  <a:pt x="2234939" y="403577"/>
                </a:lnTo>
                <a:lnTo>
                  <a:pt x="2262194" y="395911"/>
                </a:lnTo>
                <a:lnTo>
                  <a:pt x="2289450" y="401316"/>
                </a:lnTo>
                <a:lnTo>
                  <a:pt x="2316705" y="401520"/>
                </a:lnTo>
                <a:lnTo>
                  <a:pt x="2343960" y="393112"/>
                </a:lnTo>
                <a:lnTo>
                  <a:pt x="2371216" y="405405"/>
                </a:lnTo>
                <a:lnTo>
                  <a:pt x="2398471" y="397733"/>
                </a:lnTo>
                <a:lnTo>
                  <a:pt x="2425727" y="404227"/>
                </a:lnTo>
                <a:lnTo>
                  <a:pt x="2452982" y="401658"/>
                </a:lnTo>
                <a:lnTo>
                  <a:pt x="2480237" y="390759"/>
                </a:lnTo>
                <a:lnTo>
                  <a:pt x="2507493" y="405232"/>
                </a:lnTo>
                <a:lnTo>
                  <a:pt x="2534748" y="402144"/>
                </a:lnTo>
                <a:lnTo>
                  <a:pt x="2562003" y="405522"/>
                </a:lnTo>
                <a:lnTo>
                  <a:pt x="2589259" y="400304"/>
                </a:lnTo>
                <a:lnTo>
                  <a:pt x="2616514" y="391711"/>
                </a:lnTo>
                <a:lnTo>
                  <a:pt x="2616514" y="425944"/>
                </a:lnTo>
                <a:close/>
              </a:path>
            </a:pathLst>
          </a:custGeom>
          <a:solidFill>
            <a:srgbClr val="AFB5BD">
              <a:alpha val="9000"/>
            </a:srgbClr>
          </a:solidFill>
          <a:ln w="16510">
            <a:solidFill>
              <a:srgbClr val="AFB5BD"/>
            </a:solidFill>
            <a:prstDash val="solid"/>
          </a:ln>
        </p:spPr>
      </p:sp>
      <p:sp>
        <p:nvSpPr>
          <p:cNvPr id="44" name="Shape 42"/>
          <p:cNvSpPr/>
          <p:nvPr/>
        </p:nvSpPr>
        <p:spPr>
          <a:xfrm>
            <a:off x="7094913" y="3890107"/>
            <a:ext cx="2616514" cy="0"/>
          </a:xfrm>
          <a:prstGeom prst="line">
            <a:avLst/>
          </a:prstGeom>
          <a:noFill/>
          <a:ln w="20320">
            <a:solidFill>
              <a:srgbClr val="15181C">
                <a:alpha val="55000"/>
              </a:srgbClr>
            </a:solidFill>
            <a:prstDash val="solid"/>
          </a:ln>
        </p:spPr>
      </p:sp>
      <p:sp>
        <p:nvSpPr>
          <p:cNvPr id="45" name="Text 43"/>
          <p:cNvSpPr txBox="1"/>
          <p:nvPr/>
        </p:nvSpPr>
        <p:spPr>
          <a:xfrm>
            <a:off x="9853408" y="3514870"/>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RNA-seq</a:t>
            </a:r>
            <a:endParaRPr lang="en-US" sz="1150" dirty="0"/>
          </a:p>
        </p:txBody>
      </p:sp>
      <p:sp>
        <p:nvSpPr>
          <p:cNvPr id="46" name="Text 44"/>
          <p:cNvSpPr txBox="1"/>
          <p:nvPr/>
        </p:nvSpPr>
        <p:spPr>
          <a:xfrm>
            <a:off x="9853408" y="3687276"/>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exon by exon</a:t>
            </a:r>
            <a:endParaRPr lang="en-US" sz="1050" dirty="0"/>
          </a:p>
        </p:txBody>
      </p:sp>
      <p:sp>
        <p:nvSpPr>
          <p:cNvPr id="47" name="Shape 45"/>
          <p:cNvSpPr/>
          <p:nvPr/>
        </p:nvSpPr>
        <p:spPr>
          <a:xfrm>
            <a:off x="7094913" y="4092938"/>
            <a:ext cx="2616514" cy="425944"/>
          </a:xfrm>
          <a:custGeom>
            <a:avLst/>
            <a:gdLst/>
            <a:ahLst/>
            <a:cxnLst/>
            <a:rect l="l" t="t" r="r" b="b"/>
            <a:pathLst>
              <a:path w="2616514" h="425944">
                <a:moveTo>
                  <a:pt x="0" y="425944"/>
                </a:moveTo>
                <a:lnTo>
                  <a:pt x="0" y="402481"/>
                </a:lnTo>
                <a:lnTo>
                  <a:pt x="27255" y="395535"/>
                </a:lnTo>
                <a:lnTo>
                  <a:pt x="54511" y="404608"/>
                </a:lnTo>
                <a:lnTo>
                  <a:pt x="81766" y="396602"/>
                </a:lnTo>
                <a:lnTo>
                  <a:pt x="109021" y="401193"/>
                </a:lnTo>
                <a:lnTo>
                  <a:pt x="136277" y="399201"/>
                </a:lnTo>
                <a:lnTo>
                  <a:pt x="163532" y="395133"/>
                </a:lnTo>
                <a:lnTo>
                  <a:pt x="190787" y="402129"/>
                </a:lnTo>
                <a:lnTo>
                  <a:pt x="218043" y="402822"/>
                </a:lnTo>
                <a:lnTo>
                  <a:pt x="245298" y="400379"/>
                </a:lnTo>
                <a:lnTo>
                  <a:pt x="272554" y="396178"/>
                </a:lnTo>
                <a:lnTo>
                  <a:pt x="299809" y="395872"/>
                </a:lnTo>
                <a:lnTo>
                  <a:pt x="327064" y="399970"/>
                </a:lnTo>
                <a:lnTo>
                  <a:pt x="354320" y="402570"/>
                </a:lnTo>
                <a:lnTo>
                  <a:pt x="381575" y="401001"/>
                </a:lnTo>
                <a:lnTo>
                  <a:pt x="408830" y="394989"/>
                </a:lnTo>
                <a:lnTo>
                  <a:pt x="436086" y="395782"/>
                </a:lnTo>
                <a:lnTo>
                  <a:pt x="463341" y="398776"/>
                </a:lnTo>
                <a:lnTo>
                  <a:pt x="490596" y="396799"/>
                </a:lnTo>
                <a:lnTo>
                  <a:pt x="517852" y="400323"/>
                </a:lnTo>
                <a:lnTo>
                  <a:pt x="545107" y="389774"/>
                </a:lnTo>
                <a:lnTo>
                  <a:pt x="572362" y="382933"/>
                </a:lnTo>
                <a:lnTo>
                  <a:pt x="599618" y="380596"/>
                </a:lnTo>
                <a:lnTo>
                  <a:pt x="626873" y="363879"/>
                </a:lnTo>
                <a:lnTo>
                  <a:pt x="654129" y="351114"/>
                </a:lnTo>
                <a:lnTo>
                  <a:pt x="681384" y="328137"/>
                </a:lnTo>
                <a:lnTo>
                  <a:pt x="708639" y="295723"/>
                </a:lnTo>
                <a:lnTo>
                  <a:pt x="735895" y="276314"/>
                </a:lnTo>
                <a:lnTo>
                  <a:pt x="763150" y="238927"/>
                </a:lnTo>
                <a:lnTo>
                  <a:pt x="790405" y="210422"/>
                </a:lnTo>
                <a:lnTo>
                  <a:pt x="817661" y="197151"/>
                </a:lnTo>
                <a:lnTo>
                  <a:pt x="844916" y="175250"/>
                </a:lnTo>
                <a:lnTo>
                  <a:pt x="872171" y="180692"/>
                </a:lnTo>
                <a:lnTo>
                  <a:pt x="899427" y="183800"/>
                </a:lnTo>
                <a:lnTo>
                  <a:pt x="926682" y="197906"/>
                </a:lnTo>
                <a:lnTo>
                  <a:pt x="953937" y="233142"/>
                </a:lnTo>
                <a:lnTo>
                  <a:pt x="981193" y="257679"/>
                </a:lnTo>
                <a:lnTo>
                  <a:pt x="1008448" y="289793"/>
                </a:lnTo>
                <a:lnTo>
                  <a:pt x="1035703" y="310002"/>
                </a:lnTo>
                <a:lnTo>
                  <a:pt x="1062959" y="328108"/>
                </a:lnTo>
                <a:lnTo>
                  <a:pt x="1090214" y="353799"/>
                </a:lnTo>
                <a:lnTo>
                  <a:pt x="1117470" y="365631"/>
                </a:lnTo>
                <a:lnTo>
                  <a:pt x="1144725" y="368277"/>
                </a:lnTo>
                <a:lnTo>
                  <a:pt x="1171980" y="359360"/>
                </a:lnTo>
                <a:lnTo>
                  <a:pt x="1199236" y="355486"/>
                </a:lnTo>
                <a:lnTo>
                  <a:pt x="1226491" y="356680"/>
                </a:lnTo>
                <a:lnTo>
                  <a:pt x="1253746" y="340627"/>
                </a:lnTo>
                <a:lnTo>
                  <a:pt x="1281002" y="334533"/>
                </a:lnTo>
                <a:lnTo>
                  <a:pt x="1308257" y="310409"/>
                </a:lnTo>
                <a:lnTo>
                  <a:pt x="1335512" y="300123"/>
                </a:lnTo>
                <a:lnTo>
                  <a:pt x="1362768" y="292322"/>
                </a:lnTo>
                <a:lnTo>
                  <a:pt x="1390023" y="266764"/>
                </a:lnTo>
                <a:lnTo>
                  <a:pt x="1417278" y="265664"/>
                </a:lnTo>
                <a:lnTo>
                  <a:pt x="1444534" y="246812"/>
                </a:lnTo>
                <a:lnTo>
                  <a:pt x="1471789" y="243823"/>
                </a:lnTo>
                <a:lnTo>
                  <a:pt x="1499045" y="243345"/>
                </a:lnTo>
                <a:lnTo>
                  <a:pt x="1526300" y="229750"/>
                </a:lnTo>
                <a:lnTo>
                  <a:pt x="1553555" y="243950"/>
                </a:lnTo>
                <a:lnTo>
                  <a:pt x="1580811" y="248273"/>
                </a:lnTo>
                <a:lnTo>
                  <a:pt x="1608066" y="258444"/>
                </a:lnTo>
                <a:lnTo>
                  <a:pt x="1635321" y="270522"/>
                </a:lnTo>
                <a:lnTo>
                  <a:pt x="1662577" y="274351"/>
                </a:lnTo>
                <a:lnTo>
                  <a:pt x="1689832" y="295759"/>
                </a:lnTo>
                <a:lnTo>
                  <a:pt x="1717087" y="315070"/>
                </a:lnTo>
                <a:lnTo>
                  <a:pt x="1744343" y="327538"/>
                </a:lnTo>
                <a:lnTo>
                  <a:pt x="1771598" y="338003"/>
                </a:lnTo>
                <a:lnTo>
                  <a:pt x="1798853" y="345585"/>
                </a:lnTo>
                <a:lnTo>
                  <a:pt x="1826109" y="358065"/>
                </a:lnTo>
                <a:lnTo>
                  <a:pt x="1853364" y="369402"/>
                </a:lnTo>
                <a:lnTo>
                  <a:pt x="1880619" y="381935"/>
                </a:lnTo>
                <a:lnTo>
                  <a:pt x="1907875" y="381967"/>
                </a:lnTo>
                <a:lnTo>
                  <a:pt x="1935130" y="385374"/>
                </a:lnTo>
                <a:lnTo>
                  <a:pt x="1962386" y="388202"/>
                </a:lnTo>
                <a:lnTo>
                  <a:pt x="1989641" y="390985"/>
                </a:lnTo>
                <a:lnTo>
                  <a:pt x="2016896" y="399161"/>
                </a:lnTo>
                <a:lnTo>
                  <a:pt x="2044152" y="397185"/>
                </a:lnTo>
                <a:lnTo>
                  <a:pt x="2071407" y="396708"/>
                </a:lnTo>
                <a:lnTo>
                  <a:pt x="2098662" y="397854"/>
                </a:lnTo>
                <a:lnTo>
                  <a:pt x="2125918" y="396290"/>
                </a:lnTo>
                <a:lnTo>
                  <a:pt x="2153173" y="397282"/>
                </a:lnTo>
                <a:lnTo>
                  <a:pt x="2180428" y="402500"/>
                </a:lnTo>
                <a:lnTo>
                  <a:pt x="2207684" y="398870"/>
                </a:lnTo>
                <a:lnTo>
                  <a:pt x="2234939" y="402787"/>
                </a:lnTo>
                <a:lnTo>
                  <a:pt x="2262194" y="398638"/>
                </a:lnTo>
                <a:lnTo>
                  <a:pt x="2289450" y="392746"/>
                </a:lnTo>
                <a:lnTo>
                  <a:pt x="2316705" y="405582"/>
                </a:lnTo>
                <a:lnTo>
                  <a:pt x="2343960" y="400659"/>
                </a:lnTo>
                <a:lnTo>
                  <a:pt x="2371216" y="404745"/>
                </a:lnTo>
                <a:lnTo>
                  <a:pt x="2398471" y="400186"/>
                </a:lnTo>
                <a:lnTo>
                  <a:pt x="2425727" y="390379"/>
                </a:lnTo>
                <a:lnTo>
                  <a:pt x="2452982" y="404285"/>
                </a:lnTo>
                <a:lnTo>
                  <a:pt x="2480237" y="404430"/>
                </a:lnTo>
                <a:lnTo>
                  <a:pt x="2507493" y="402733"/>
                </a:lnTo>
                <a:lnTo>
                  <a:pt x="2534748" y="400331"/>
                </a:lnTo>
                <a:lnTo>
                  <a:pt x="2562003" y="391438"/>
                </a:lnTo>
                <a:lnTo>
                  <a:pt x="2589259" y="405175"/>
                </a:lnTo>
                <a:lnTo>
                  <a:pt x="2616514" y="401278"/>
                </a:lnTo>
                <a:lnTo>
                  <a:pt x="2616514" y="425944"/>
                </a:lnTo>
                <a:close/>
              </a:path>
            </a:pathLst>
          </a:custGeom>
          <a:solidFill>
            <a:srgbClr val="AFB5BD">
              <a:alpha val="9000"/>
            </a:srgbClr>
          </a:solidFill>
          <a:ln w="16510">
            <a:solidFill>
              <a:srgbClr val="AFB5BD"/>
            </a:solidFill>
            <a:prstDash val="solid"/>
          </a:ln>
        </p:spPr>
      </p:sp>
      <p:sp>
        <p:nvSpPr>
          <p:cNvPr id="48" name="Shape 46"/>
          <p:cNvSpPr/>
          <p:nvPr/>
        </p:nvSpPr>
        <p:spPr>
          <a:xfrm>
            <a:off x="7094913" y="4518882"/>
            <a:ext cx="2616514" cy="0"/>
          </a:xfrm>
          <a:prstGeom prst="line">
            <a:avLst/>
          </a:prstGeom>
          <a:noFill/>
          <a:ln w="20320">
            <a:solidFill>
              <a:srgbClr val="15181C">
                <a:alpha val="55000"/>
              </a:srgbClr>
            </a:solidFill>
            <a:prstDash val="solid"/>
          </a:ln>
        </p:spPr>
      </p:sp>
      <p:sp>
        <p:nvSpPr>
          <p:cNvPr id="49" name="Text 47"/>
          <p:cNvSpPr txBox="1"/>
          <p:nvPr/>
        </p:nvSpPr>
        <p:spPr>
          <a:xfrm>
            <a:off x="9853408" y="4143645"/>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ChIP-seq  ·  CAGE</a:t>
            </a:r>
            <a:endParaRPr lang="en-US" sz="1150" dirty="0"/>
          </a:p>
        </p:txBody>
      </p:sp>
      <p:sp>
        <p:nvSpPr>
          <p:cNvPr id="50" name="Text 48"/>
          <p:cNvSpPr txBox="1"/>
          <p:nvPr/>
        </p:nvSpPr>
        <p:spPr>
          <a:xfrm>
            <a:off x="9853408" y="4316051"/>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and more</a:t>
            </a:r>
            <a:endParaRPr lang="en-US" sz="1050" dirty="0"/>
          </a:p>
        </p:txBody>
      </p:sp>
      <p:sp>
        <p:nvSpPr>
          <p:cNvPr id="51" name="Shape 49"/>
          <p:cNvSpPr/>
          <p:nvPr/>
        </p:nvSpPr>
        <p:spPr>
          <a:xfrm>
            <a:off x="7013781" y="2206613"/>
            <a:ext cx="0" cy="425944"/>
          </a:xfrm>
          <a:prstGeom prst="line">
            <a:avLst/>
          </a:prstGeom>
          <a:noFill/>
          <a:ln w="38100">
            <a:solidFill>
              <a:srgbClr val="8A6400"/>
            </a:solidFill>
            <a:prstDash val="solid"/>
          </a:ln>
        </p:spPr>
      </p:sp>
      <p:sp>
        <p:nvSpPr>
          <p:cNvPr id="52" name="Text 50"/>
          <p:cNvSpPr txBox="1"/>
          <p:nvPr/>
        </p:nvSpPr>
        <p:spPr>
          <a:xfrm>
            <a:off x="7094913" y="4620297"/>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1 bp resolution, right across the window</a:t>
            </a:r>
            <a:endParaRPr lang="en-US" sz="1100" dirty="0"/>
          </a:p>
        </p:txBody>
      </p:sp>
      <p:sp>
        <p:nvSpPr>
          <p:cNvPr id="53" name="Text 51"/>
          <p:cNvSpPr txBox="1"/>
          <p:nvPr/>
        </p:nvSpPr>
        <p:spPr>
          <a:xfrm>
            <a:off x="7094913" y="4782561"/>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plus contact maps and splicing</a:t>
            </a:r>
            <a:endParaRPr lang="en-US" sz="1100" dirty="0"/>
          </a:p>
        </p:txBody>
      </p:sp>
      <p:sp>
        <p:nvSpPr>
          <p:cNvPr id="54" name="Shape 52"/>
          <p:cNvSpPr/>
          <p:nvPr/>
        </p:nvSpPr>
        <p:spPr>
          <a:xfrm>
            <a:off x="3626510" y="3322181"/>
            <a:ext cx="365095" cy="0"/>
          </a:xfrm>
          <a:prstGeom prst="line">
            <a:avLst/>
          </a:prstGeom>
          <a:noFill/>
          <a:ln w="17780">
            <a:solidFill>
              <a:srgbClr val="15181C"/>
            </a:solidFill>
            <a:prstDash val="solid"/>
            <a:tailEnd type="triangle"/>
          </a:ln>
        </p:spPr>
      </p:sp>
      <p:sp>
        <p:nvSpPr>
          <p:cNvPr id="55" name="Shape 53"/>
          <p:cNvSpPr/>
          <p:nvPr/>
        </p:nvSpPr>
        <p:spPr>
          <a:xfrm>
            <a:off x="6628402" y="3322181"/>
            <a:ext cx="304246" cy="0"/>
          </a:xfrm>
          <a:prstGeom prst="line">
            <a:avLst/>
          </a:prstGeom>
          <a:noFill/>
          <a:ln w="17780">
            <a:solidFill>
              <a:srgbClr val="15181C"/>
            </a:solidFill>
            <a:prstDash val="solid"/>
            <a:tailEnd type="triangle"/>
          </a:ln>
        </p:spPr>
      </p:sp>
      <p:sp>
        <p:nvSpPr>
          <p:cNvPr id="56" name="Shape 54"/>
          <p:cNvSpPr/>
          <p:nvPr/>
        </p:nvSpPr>
        <p:spPr>
          <a:xfrm>
            <a:off x="644901" y="5127373"/>
            <a:ext cx="10871717" cy="0"/>
          </a:xfrm>
          <a:prstGeom prst="line">
            <a:avLst/>
          </a:prstGeom>
          <a:noFill/>
          <a:ln w="12700">
            <a:solidFill>
              <a:srgbClr val="AFB5BD"/>
            </a:solidFill>
            <a:prstDash val="dash"/>
          </a:ln>
        </p:spPr>
      </p:sp>
      <p:sp>
        <p:nvSpPr>
          <p:cNvPr id="57" name="Text 55"/>
          <p:cNvSpPr txBox="1"/>
          <p:nvPr/>
        </p:nvSpPr>
        <p:spPr>
          <a:xfrm>
            <a:off x="644901" y="5249072"/>
            <a:ext cx="1075001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prediction is a function of the sequence alone: change a base, predict again, and the difference is caused by the change.</a:t>
            </a:r>
            <a:endParaRPr lang="en-US" sz="1200" dirty="0"/>
          </a:p>
        </p:txBody>
      </p:sp>
      <p:sp>
        <p:nvSpPr>
          <p:cNvPr id="58" name="Shape 56"/>
          <p:cNvSpPr/>
          <p:nvPr/>
        </p:nvSpPr>
        <p:spPr>
          <a:xfrm>
            <a:off x="502920" y="5989320"/>
            <a:ext cx="50292" cy="566928"/>
          </a:xfrm>
          <a:prstGeom prst="rect">
            <a:avLst/>
          </a:prstGeom>
          <a:solidFill>
            <a:srgbClr val="3F3F3F"/>
          </a:solidFill>
          <a:ln w="12700">
            <a:solidFill>
              <a:srgbClr val="333333"/>
            </a:solidFill>
            <a:prstDash val="solid"/>
          </a:ln>
        </p:spPr>
      </p:sp>
      <p:sp>
        <p:nvSpPr>
          <p:cNvPr id="59" name="Text 5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A network that reads 131 kb of raw sequence and returns predicted assay signal at every base. It is given no experimental data at prediction time — which is exactly why editing the sequence and predicting again counts as an experiment.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sp>
        <p:nvSpPr>
          <p:cNvPr id="3" name="Text 1"/>
          <p:cNvSpPr txBox="1"/>
          <p:nvPr/>
        </p:nvSpPr>
        <p:spPr>
          <a:xfrm>
            <a:off x="644901" y="2480435"/>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NATIVE</a:t>
            </a:r>
            <a:endParaRPr lang="en-US" sz="1300" dirty="0"/>
          </a:p>
        </p:txBody>
      </p:sp>
      <p:sp>
        <p:nvSpPr>
          <p:cNvPr id="4" name="Text 2"/>
          <p:cNvSpPr txBox="1"/>
          <p:nvPr/>
        </p:nvSpPr>
        <p:spPr>
          <a:xfrm>
            <a:off x="644901" y="2662982"/>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as it is</a:t>
            </a:r>
            <a:endParaRPr lang="en-US" sz="1100" dirty="0"/>
          </a:p>
        </p:txBody>
      </p:sp>
      <p:sp>
        <p:nvSpPr>
          <p:cNvPr id="5" name="Shape 3"/>
          <p:cNvSpPr/>
          <p:nvPr/>
        </p:nvSpPr>
        <p:spPr>
          <a:xfrm>
            <a:off x="1882168" y="2926662"/>
            <a:ext cx="2352834" cy="0"/>
          </a:xfrm>
          <a:prstGeom prst="line">
            <a:avLst/>
          </a:prstGeom>
          <a:noFill/>
          <a:ln w="20320">
            <a:solidFill>
              <a:srgbClr val="15181C">
                <a:alpha val="55000"/>
              </a:srgbClr>
            </a:solidFill>
            <a:prstDash val="solid"/>
          </a:ln>
        </p:spPr>
      </p:sp>
      <p:sp>
        <p:nvSpPr>
          <p:cNvPr id="6" name="Shape 4"/>
          <p:cNvSpPr/>
          <p:nvPr/>
        </p:nvSpPr>
        <p:spPr>
          <a:xfrm>
            <a:off x="2926745" y="287088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2450093" y="2581850"/>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Text 6"/>
          <p:cNvSpPr txBox="1"/>
          <p:nvPr/>
        </p:nvSpPr>
        <p:spPr>
          <a:xfrm>
            <a:off x="644901" y="3717701"/>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EDITED</a:t>
            </a:r>
            <a:endParaRPr lang="en-US" sz="1300" dirty="0"/>
          </a:p>
        </p:txBody>
      </p:sp>
      <p:sp>
        <p:nvSpPr>
          <p:cNvPr id="9" name="Text 7"/>
          <p:cNvSpPr txBox="1"/>
          <p:nvPr/>
        </p:nvSpPr>
        <p:spPr>
          <a:xfrm>
            <a:off x="644901" y="390024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thing changed</a:t>
            </a:r>
            <a:endParaRPr lang="en-US" sz="1100" dirty="0"/>
          </a:p>
        </p:txBody>
      </p:sp>
      <p:sp>
        <p:nvSpPr>
          <p:cNvPr id="10" name="Shape 8"/>
          <p:cNvSpPr/>
          <p:nvPr/>
        </p:nvSpPr>
        <p:spPr>
          <a:xfrm>
            <a:off x="1882168" y="4163928"/>
            <a:ext cx="2352834" cy="0"/>
          </a:xfrm>
          <a:prstGeom prst="line">
            <a:avLst/>
          </a:prstGeom>
          <a:noFill/>
          <a:ln w="20320">
            <a:solidFill>
              <a:srgbClr val="15181C">
                <a:alpha val="55000"/>
              </a:srgbClr>
            </a:solidFill>
            <a:prstDash val="solid"/>
          </a:ln>
        </p:spPr>
      </p:sp>
      <p:sp>
        <p:nvSpPr>
          <p:cNvPr id="11" name="Shape 9"/>
          <p:cNvSpPr/>
          <p:nvPr/>
        </p:nvSpPr>
        <p:spPr>
          <a:xfrm>
            <a:off x="2906462" y="4098008"/>
            <a:ext cx="304246" cy="131840"/>
          </a:xfrm>
          <a:prstGeom prst="roundRect">
            <a:avLst>
              <a:gd name="adj" fmla="val 13871"/>
            </a:avLst>
          </a:prstGeom>
          <a:solidFill>
            <a:srgbClr val="E2622F">
              <a:alpha val="14000"/>
            </a:srgbClr>
          </a:solidFill>
          <a:ln w="9525">
            <a:solidFill>
              <a:srgbClr val="E2622F"/>
            </a:solidFill>
            <a:prstDash val="solid"/>
          </a:ln>
        </p:spPr>
      </p:sp>
      <p:sp>
        <p:nvSpPr>
          <p:cNvPr id="12" name="Shape 10"/>
          <p:cNvSpPr/>
          <p:nvPr/>
        </p:nvSpPr>
        <p:spPr>
          <a:xfrm>
            <a:off x="2906462" y="4113221"/>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13" name="Shape 11"/>
          <p:cNvSpPr/>
          <p:nvPr/>
        </p:nvSpPr>
        <p:spPr>
          <a:xfrm>
            <a:off x="4884060" y="2358736"/>
            <a:ext cx="1338682" cy="2170287"/>
          </a:xfrm>
          <a:prstGeom prst="roundRect">
            <a:avLst>
              <a:gd name="adj" fmla="val 4098"/>
            </a:avLst>
          </a:prstGeom>
          <a:solidFill>
            <a:srgbClr val="15181C">
              <a:alpha val="5000"/>
            </a:srgbClr>
          </a:solidFill>
          <a:ln w="12700">
            <a:solidFill>
              <a:srgbClr val="15181C">
                <a:alpha val="32000"/>
              </a:srgbClr>
            </a:solidFill>
            <a:prstDash val="solid"/>
          </a:ln>
        </p:spPr>
      </p:sp>
      <p:sp>
        <p:nvSpPr>
          <p:cNvPr id="14" name="Text 12"/>
          <p:cNvSpPr txBox="1"/>
          <p:nvPr/>
        </p:nvSpPr>
        <p:spPr>
          <a:xfrm>
            <a:off x="4742078" y="3312040"/>
            <a:ext cx="1622644" cy="202831"/>
          </a:xfrm>
          <a:prstGeom prst="rect">
            <a:avLst/>
          </a:prstGeom>
          <a:noFill/>
          <a:ln/>
        </p:spPr>
        <p:txBody>
          <a:bodyPr wrap="square" lIns="0" tIns="0" rIns="0" bIns="0" rtlCol="0" anchor="ctr"/>
          <a:lstStyle/>
          <a:p>
            <a:pPr algn="ctr" indent="0" marL="0">
              <a:lnSpc>
                <a:spcPct val="95000"/>
              </a:lnSpc>
              <a:buNone/>
            </a:pPr>
            <a:r>
              <a:rPr lang="en-US" sz="1300" b="1" dirty="0">
                <a:solidFill>
                  <a:srgbClr val="15181C"/>
                </a:solidFill>
                <a:latin typeface="Arial" pitchFamily="34" charset="0"/>
                <a:ea typeface="Arial" pitchFamily="34" charset="-122"/>
                <a:cs typeface="Arial" pitchFamily="34" charset="-120"/>
              </a:rPr>
              <a:t>AlphaGenome</a:t>
            </a:r>
            <a:endParaRPr lang="en-US" sz="1300" dirty="0"/>
          </a:p>
        </p:txBody>
      </p:sp>
      <p:sp>
        <p:nvSpPr>
          <p:cNvPr id="15" name="Text 13"/>
          <p:cNvSpPr txBox="1"/>
          <p:nvPr/>
        </p:nvSpPr>
        <p:spPr>
          <a:xfrm>
            <a:off x="4742078" y="3555437"/>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bp ATAC head,</a:t>
            </a:r>
            <a:endParaRPr lang="en-US" sz="1100" dirty="0"/>
          </a:p>
        </p:txBody>
      </p:sp>
      <p:sp>
        <p:nvSpPr>
          <p:cNvPr id="16" name="Text 14"/>
          <p:cNvSpPr txBox="1"/>
          <p:nvPr/>
        </p:nvSpPr>
        <p:spPr>
          <a:xfrm>
            <a:off x="4742078" y="3707559"/>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fine-tuned on our</a:t>
            </a:r>
            <a:endParaRPr lang="en-US" sz="1100" dirty="0"/>
          </a:p>
        </p:txBody>
      </p:sp>
      <p:sp>
        <p:nvSpPr>
          <p:cNvPr id="17" name="Text 15"/>
          <p:cNvSpPr txBox="1"/>
          <p:nvPr/>
        </p:nvSpPr>
        <p:spPr>
          <a:xfrm>
            <a:off x="4691371" y="3859682"/>
            <a:ext cx="1724060"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own fibroblast Tn5</a:t>
            </a:r>
            <a:endParaRPr lang="en-US" sz="1100" dirty="0"/>
          </a:p>
        </p:txBody>
      </p:sp>
      <p:sp>
        <p:nvSpPr>
          <p:cNvPr id="18" name="Shape 16"/>
          <p:cNvSpPr/>
          <p:nvPr/>
        </p:nvSpPr>
        <p:spPr>
          <a:xfrm>
            <a:off x="4376983" y="2926662"/>
            <a:ext cx="446227" cy="0"/>
          </a:xfrm>
          <a:prstGeom prst="line">
            <a:avLst/>
          </a:prstGeom>
          <a:noFill/>
          <a:ln w="17780">
            <a:solidFill>
              <a:srgbClr val="15181C"/>
            </a:solidFill>
            <a:prstDash val="solid"/>
            <a:tailEnd type="triangle"/>
          </a:ln>
        </p:spPr>
      </p:sp>
      <p:sp>
        <p:nvSpPr>
          <p:cNvPr id="19" name="Shape 17"/>
          <p:cNvSpPr/>
          <p:nvPr/>
        </p:nvSpPr>
        <p:spPr>
          <a:xfrm>
            <a:off x="4376983" y="4163928"/>
            <a:ext cx="446227" cy="0"/>
          </a:xfrm>
          <a:prstGeom prst="line">
            <a:avLst/>
          </a:prstGeom>
          <a:noFill/>
          <a:ln w="17780">
            <a:solidFill>
              <a:srgbClr val="E2622F"/>
            </a:solidFill>
            <a:prstDash val="solid"/>
            <a:tailEnd type="triangle"/>
          </a:ln>
        </p:spPr>
      </p:sp>
      <p:sp>
        <p:nvSpPr>
          <p:cNvPr id="20" name="Shape 18"/>
          <p:cNvSpPr/>
          <p:nvPr/>
        </p:nvSpPr>
        <p:spPr>
          <a:xfrm>
            <a:off x="6303874" y="2926662"/>
            <a:ext cx="324529" cy="0"/>
          </a:xfrm>
          <a:prstGeom prst="line">
            <a:avLst/>
          </a:prstGeom>
          <a:noFill/>
          <a:ln w="17780">
            <a:solidFill>
              <a:srgbClr val="15181C"/>
            </a:solidFill>
            <a:prstDash val="solid"/>
            <a:tailEnd type="triangle"/>
          </a:ln>
        </p:spPr>
      </p:sp>
      <p:sp>
        <p:nvSpPr>
          <p:cNvPr id="21" name="Shape 19"/>
          <p:cNvSpPr/>
          <p:nvPr/>
        </p:nvSpPr>
        <p:spPr>
          <a:xfrm>
            <a:off x="6303874" y="4163928"/>
            <a:ext cx="324529" cy="0"/>
          </a:xfrm>
          <a:prstGeom prst="line">
            <a:avLst/>
          </a:prstGeom>
          <a:noFill/>
          <a:ln w="17780">
            <a:solidFill>
              <a:srgbClr val="E2622F"/>
            </a:solidFill>
            <a:prstDash val="solid"/>
            <a:tailEnd type="triangle"/>
          </a:ln>
        </p:spPr>
      </p:sp>
      <p:sp>
        <p:nvSpPr>
          <p:cNvPr id="22" name="Text 20"/>
          <p:cNvSpPr txBox="1"/>
          <p:nvPr/>
        </p:nvSpPr>
        <p:spPr>
          <a:xfrm>
            <a:off x="6750101" y="2196472"/>
            <a:ext cx="263679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predicted accessibility</a:t>
            </a:r>
            <a:endParaRPr lang="en-US" sz="1100" dirty="0"/>
          </a:p>
        </p:txBody>
      </p:sp>
      <p:sp>
        <p:nvSpPr>
          <p:cNvPr id="23" name="Shape 21"/>
          <p:cNvSpPr/>
          <p:nvPr/>
        </p:nvSpPr>
        <p:spPr>
          <a:xfrm>
            <a:off x="6750101" y="2297887"/>
            <a:ext cx="2961326" cy="628775"/>
          </a:xfrm>
          <a:custGeom>
            <a:avLst/>
            <a:gdLst/>
            <a:ahLst/>
            <a:cxnLst/>
            <a:rect l="l" t="t" r="r" b="b"/>
            <a:pathLst>
              <a:path w="2961326" h="628775">
                <a:moveTo>
                  <a:pt x="0" y="628775"/>
                </a:moveTo>
                <a:lnTo>
                  <a:pt x="0" y="601956"/>
                </a:lnTo>
                <a:lnTo>
                  <a:pt x="30847" y="602741"/>
                </a:lnTo>
                <a:lnTo>
                  <a:pt x="61694" y="607429"/>
                </a:lnTo>
                <a:lnTo>
                  <a:pt x="92541" y="602979"/>
                </a:lnTo>
                <a:lnTo>
                  <a:pt x="123389" y="597223"/>
                </a:lnTo>
                <a:lnTo>
                  <a:pt x="154236" y="598859"/>
                </a:lnTo>
                <a:lnTo>
                  <a:pt x="185083" y="605140"/>
                </a:lnTo>
                <a:lnTo>
                  <a:pt x="215930" y="607584"/>
                </a:lnTo>
                <a:lnTo>
                  <a:pt x="246777" y="607287"/>
                </a:lnTo>
                <a:lnTo>
                  <a:pt x="277624" y="600180"/>
                </a:lnTo>
                <a:lnTo>
                  <a:pt x="308471" y="595594"/>
                </a:lnTo>
                <a:lnTo>
                  <a:pt x="339319" y="608444"/>
                </a:lnTo>
                <a:lnTo>
                  <a:pt x="370166" y="606225"/>
                </a:lnTo>
                <a:lnTo>
                  <a:pt x="401013" y="604742"/>
                </a:lnTo>
                <a:lnTo>
                  <a:pt x="431860" y="603621"/>
                </a:lnTo>
                <a:lnTo>
                  <a:pt x="462707" y="593858"/>
                </a:lnTo>
                <a:lnTo>
                  <a:pt x="493554" y="605592"/>
                </a:lnTo>
                <a:lnTo>
                  <a:pt x="524401" y="603576"/>
                </a:lnTo>
                <a:lnTo>
                  <a:pt x="555249" y="600440"/>
                </a:lnTo>
                <a:lnTo>
                  <a:pt x="586096" y="604688"/>
                </a:lnTo>
                <a:lnTo>
                  <a:pt x="616943" y="593568"/>
                </a:lnTo>
                <a:lnTo>
                  <a:pt x="647790" y="602394"/>
                </a:lnTo>
                <a:lnTo>
                  <a:pt x="678637" y="596063"/>
                </a:lnTo>
                <a:lnTo>
                  <a:pt x="709484" y="593733"/>
                </a:lnTo>
                <a:lnTo>
                  <a:pt x="740331" y="597391"/>
                </a:lnTo>
                <a:lnTo>
                  <a:pt x="771179" y="587622"/>
                </a:lnTo>
                <a:lnTo>
                  <a:pt x="802026" y="589547"/>
                </a:lnTo>
                <a:lnTo>
                  <a:pt x="832873" y="573001"/>
                </a:lnTo>
                <a:lnTo>
                  <a:pt x="863720" y="569832"/>
                </a:lnTo>
                <a:lnTo>
                  <a:pt x="894567" y="565320"/>
                </a:lnTo>
                <a:lnTo>
                  <a:pt x="925414" y="553954"/>
                </a:lnTo>
                <a:lnTo>
                  <a:pt x="956262" y="540396"/>
                </a:lnTo>
                <a:lnTo>
                  <a:pt x="987109" y="509571"/>
                </a:lnTo>
                <a:lnTo>
                  <a:pt x="1017956" y="498094"/>
                </a:lnTo>
                <a:lnTo>
                  <a:pt x="1048803" y="479440"/>
                </a:lnTo>
                <a:lnTo>
                  <a:pt x="1079650" y="451261"/>
                </a:lnTo>
                <a:lnTo>
                  <a:pt x="1110497" y="425560"/>
                </a:lnTo>
                <a:lnTo>
                  <a:pt x="1141344" y="381427"/>
                </a:lnTo>
                <a:lnTo>
                  <a:pt x="1172192" y="356980"/>
                </a:lnTo>
                <a:lnTo>
                  <a:pt x="1203039" y="328558"/>
                </a:lnTo>
                <a:lnTo>
                  <a:pt x="1233886" y="286868"/>
                </a:lnTo>
                <a:lnTo>
                  <a:pt x="1264733" y="259842"/>
                </a:lnTo>
                <a:lnTo>
                  <a:pt x="1295580" y="217031"/>
                </a:lnTo>
                <a:lnTo>
                  <a:pt x="1326427" y="191131"/>
                </a:lnTo>
                <a:lnTo>
                  <a:pt x="1357274" y="168371"/>
                </a:lnTo>
                <a:lnTo>
                  <a:pt x="1388122" y="142158"/>
                </a:lnTo>
                <a:lnTo>
                  <a:pt x="1418969" y="131069"/>
                </a:lnTo>
                <a:lnTo>
                  <a:pt x="1449816" y="119557"/>
                </a:lnTo>
                <a:lnTo>
                  <a:pt x="1480663" y="113453"/>
                </a:lnTo>
                <a:lnTo>
                  <a:pt x="1511510" y="117698"/>
                </a:lnTo>
                <a:lnTo>
                  <a:pt x="1542357" y="126060"/>
                </a:lnTo>
                <a:lnTo>
                  <a:pt x="1573204" y="144096"/>
                </a:lnTo>
                <a:lnTo>
                  <a:pt x="1604052" y="172152"/>
                </a:lnTo>
                <a:lnTo>
                  <a:pt x="1634899" y="190626"/>
                </a:lnTo>
                <a:lnTo>
                  <a:pt x="1665746" y="219014"/>
                </a:lnTo>
                <a:lnTo>
                  <a:pt x="1696593" y="250973"/>
                </a:lnTo>
                <a:lnTo>
                  <a:pt x="1727440" y="286762"/>
                </a:lnTo>
                <a:lnTo>
                  <a:pt x="1758287" y="325278"/>
                </a:lnTo>
                <a:lnTo>
                  <a:pt x="1789134" y="358689"/>
                </a:lnTo>
                <a:lnTo>
                  <a:pt x="1819982" y="387904"/>
                </a:lnTo>
                <a:lnTo>
                  <a:pt x="1850829" y="415824"/>
                </a:lnTo>
                <a:lnTo>
                  <a:pt x="1881676" y="449316"/>
                </a:lnTo>
                <a:lnTo>
                  <a:pt x="1912523" y="476273"/>
                </a:lnTo>
                <a:lnTo>
                  <a:pt x="1943370" y="502796"/>
                </a:lnTo>
                <a:lnTo>
                  <a:pt x="1974217" y="519276"/>
                </a:lnTo>
                <a:lnTo>
                  <a:pt x="2005064" y="528615"/>
                </a:lnTo>
                <a:lnTo>
                  <a:pt x="2035912" y="552349"/>
                </a:lnTo>
                <a:lnTo>
                  <a:pt x="2066759" y="562262"/>
                </a:lnTo>
                <a:lnTo>
                  <a:pt x="2097606" y="569851"/>
                </a:lnTo>
                <a:lnTo>
                  <a:pt x="2128453" y="583237"/>
                </a:lnTo>
                <a:lnTo>
                  <a:pt x="2159300" y="578377"/>
                </a:lnTo>
                <a:lnTo>
                  <a:pt x="2190147" y="594824"/>
                </a:lnTo>
                <a:lnTo>
                  <a:pt x="2220994" y="593440"/>
                </a:lnTo>
                <a:lnTo>
                  <a:pt x="2251842" y="590638"/>
                </a:lnTo>
                <a:lnTo>
                  <a:pt x="2282689" y="603407"/>
                </a:lnTo>
                <a:lnTo>
                  <a:pt x="2313536" y="595859"/>
                </a:lnTo>
                <a:lnTo>
                  <a:pt x="2344383" y="606031"/>
                </a:lnTo>
                <a:lnTo>
                  <a:pt x="2375230" y="599586"/>
                </a:lnTo>
                <a:lnTo>
                  <a:pt x="2406077" y="595315"/>
                </a:lnTo>
                <a:lnTo>
                  <a:pt x="2436924" y="607743"/>
                </a:lnTo>
                <a:lnTo>
                  <a:pt x="2467772" y="604524"/>
                </a:lnTo>
                <a:lnTo>
                  <a:pt x="2498619" y="607663"/>
                </a:lnTo>
                <a:lnTo>
                  <a:pt x="2529466" y="598490"/>
                </a:lnTo>
                <a:lnTo>
                  <a:pt x="2560313" y="597586"/>
                </a:lnTo>
                <a:lnTo>
                  <a:pt x="2591160" y="606769"/>
                </a:lnTo>
                <a:lnTo>
                  <a:pt x="2622007" y="605168"/>
                </a:lnTo>
                <a:lnTo>
                  <a:pt x="2652855" y="607057"/>
                </a:lnTo>
                <a:lnTo>
                  <a:pt x="2683702" y="597110"/>
                </a:lnTo>
                <a:lnTo>
                  <a:pt x="2714549" y="599843"/>
                </a:lnTo>
                <a:lnTo>
                  <a:pt x="2745396" y="605818"/>
                </a:lnTo>
                <a:lnTo>
                  <a:pt x="2776243" y="599655"/>
                </a:lnTo>
                <a:lnTo>
                  <a:pt x="2807090" y="607739"/>
                </a:lnTo>
                <a:lnTo>
                  <a:pt x="2837937" y="598045"/>
                </a:lnTo>
                <a:lnTo>
                  <a:pt x="2868785" y="601306"/>
                </a:lnTo>
                <a:lnTo>
                  <a:pt x="2899632" y="606703"/>
                </a:lnTo>
                <a:lnTo>
                  <a:pt x="2930479" y="596896"/>
                </a:lnTo>
                <a:lnTo>
                  <a:pt x="2961326" y="606382"/>
                </a:lnTo>
                <a:lnTo>
                  <a:pt x="2961326" y="628775"/>
                </a:lnTo>
                <a:close/>
              </a:path>
            </a:pathLst>
          </a:custGeom>
          <a:solidFill>
            <a:srgbClr val="55637A">
              <a:alpha val="14000"/>
            </a:srgbClr>
          </a:solidFill>
          <a:ln w="16510">
            <a:solidFill>
              <a:srgbClr val="55637A"/>
            </a:solidFill>
            <a:prstDash val="solid"/>
          </a:ln>
        </p:spPr>
      </p:sp>
      <p:sp>
        <p:nvSpPr>
          <p:cNvPr id="24" name="Shape 22"/>
          <p:cNvSpPr/>
          <p:nvPr/>
        </p:nvSpPr>
        <p:spPr>
          <a:xfrm>
            <a:off x="6750101" y="2926662"/>
            <a:ext cx="2961326" cy="0"/>
          </a:xfrm>
          <a:prstGeom prst="line">
            <a:avLst/>
          </a:prstGeom>
          <a:noFill/>
          <a:ln w="20320">
            <a:solidFill>
              <a:srgbClr val="15181C">
                <a:alpha val="55000"/>
              </a:srgbClr>
            </a:solidFill>
            <a:prstDash val="solid"/>
          </a:ln>
        </p:spPr>
      </p:sp>
      <p:sp>
        <p:nvSpPr>
          <p:cNvPr id="25" name="Shape 23"/>
          <p:cNvSpPr/>
          <p:nvPr/>
        </p:nvSpPr>
        <p:spPr>
          <a:xfrm>
            <a:off x="6750101" y="3535154"/>
            <a:ext cx="2961326" cy="628775"/>
          </a:xfrm>
          <a:custGeom>
            <a:avLst/>
            <a:gdLst/>
            <a:ahLst/>
            <a:cxnLst/>
            <a:rect l="l" t="t" r="r" b="b"/>
            <a:pathLst>
              <a:path w="2961326" h="628775">
                <a:moveTo>
                  <a:pt x="0" y="628775"/>
                </a:moveTo>
                <a:lnTo>
                  <a:pt x="0" y="601956"/>
                </a:lnTo>
                <a:lnTo>
                  <a:pt x="30847" y="602741"/>
                </a:lnTo>
                <a:lnTo>
                  <a:pt x="61694" y="607430"/>
                </a:lnTo>
                <a:lnTo>
                  <a:pt x="92541" y="602979"/>
                </a:lnTo>
                <a:lnTo>
                  <a:pt x="123389" y="597224"/>
                </a:lnTo>
                <a:lnTo>
                  <a:pt x="154236" y="598860"/>
                </a:lnTo>
                <a:lnTo>
                  <a:pt x="185083" y="605141"/>
                </a:lnTo>
                <a:lnTo>
                  <a:pt x="215930" y="607587"/>
                </a:lnTo>
                <a:lnTo>
                  <a:pt x="246777" y="607292"/>
                </a:lnTo>
                <a:lnTo>
                  <a:pt x="277624" y="600189"/>
                </a:lnTo>
                <a:lnTo>
                  <a:pt x="308471" y="595610"/>
                </a:lnTo>
                <a:lnTo>
                  <a:pt x="339319" y="608471"/>
                </a:lnTo>
                <a:lnTo>
                  <a:pt x="370166" y="606270"/>
                </a:lnTo>
                <a:lnTo>
                  <a:pt x="401013" y="604814"/>
                </a:lnTo>
                <a:lnTo>
                  <a:pt x="431860" y="603737"/>
                </a:lnTo>
                <a:lnTo>
                  <a:pt x="462707" y="594041"/>
                </a:lnTo>
                <a:lnTo>
                  <a:pt x="493554" y="605876"/>
                </a:lnTo>
                <a:lnTo>
                  <a:pt x="524401" y="604014"/>
                </a:lnTo>
                <a:lnTo>
                  <a:pt x="555249" y="601105"/>
                </a:lnTo>
                <a:lnTo>
                  <a:pt x="586096" y="605684"/>
                </a:lnTo>
                <a:lnTo>
                  <a:pt x="616943" y="595038"/>
                </a:lnTo>
                <a:lnTo>
                  <a:pt x="647790" y="604537"/>
                </a:lnTo>
                <a:lnTo>
                  <a:pt x="678637" y="599143"/>
                </a:lnTo>
                <a:lnTo>
                  <a:pt x="709484" y="598098"/>
                </a:lnTo>
                <a:lnTo>
                  <a:pt x="740331" y="603495"/>
                </a:lnTo>
                <a:lnTo>
                  <a:pt x="771179" y="596043"/>
                </a:lnTo>
                <a:lnTo>
                  <a:pt x="802026" y="601004"/>
                </a:lnTo>
                <a:lnTo>
                  <a:pt x="832873" y="588378"/>
                </a:lnTo>
                <a:lnTo>
                  <a:pt x="863720" y="590189"/>
                </a:lnTo>
                <a:lnTo>
                  <a:pt x="894567" y="591904"/>
                </a:lnTo>
                <a:lnTo>
                  <a:pt x="925414" y="588197"/>
                </a:lnTo>
                <a:lnTo>
                  <a:pt x="956262" y="583907"/>
                </a:lnTo>
                <a:lnTo>
                  <a:pt x="987109" y="564105"/>
                </a:lnTo>
                <a:lnTo>
                  <a:pt x="1017956" y="565515"/>
                </a:lnTo>
                <a:lnTo>
                  <a:pt x="1048803" y="561660"/>
                </a:lnTo>
                <a:lnTo>
                  <a:pt x="1079650" y="550166"/>
                </a:lnTo>
                <a:lnTo>
                  <a:pt x="1110497" y="542919"/>
                </a:lnTo>
                <a:lnTo>
                  <a:pt x="1141344" y="518790"/>
                </a:lnTo>
                <a:lnTo>
                  <a:pt x="1172192" y="515570"/>
                </a:lnTo>
                <a:lnTo>
                  <a:pt x="1203039" y="509169"/>
                </a:lnTo>
                <a:lnTo>
                  <a:pt x="1233886" y="489760"/>
                </a:lnTo>
                <a:lnTo>
                  <a:pt x="1264733" y="484666"/>
                </a:lnTo>
                <a:lnTo>
                  <a:pt x="1295580" y="462772"/>
                </a:lnTo>
                <a:lnTo>
                  <a:pt x="1326427" y="456084"/>
                </a:lnTo>
                <a:lnTo>
                  <a:pt x="1357274" y="450154"/>
                </a:lnTo>
                <a:lnTo>
                  <a:pt x="1388122" y="437767"/>
                </a:lnTo>
                <a:lnTo>
                  <a:pt x="1418969" y="436968"/>
                </a:lnTo>
                <a:lnTo>
                  <a:pt x="1449816" y="431800"/>
                </a:lnTo>
                <a:lnTo>
                  <a:pt x="1480663" y="427840"/>
                </a:lnTo>
                <a:lnTo>
                  <a:pt x="1511510" y="429942"/>
                </a:lnTo>
                <a:lnTo>
                  <a:pt x="1542357" y="431959"/>
                </a:lnTo>
                <a:lnTo>
                  <a:pt x="1573204" y="439705"/>
                </a:lnTo>
                <a:lnTo>
                  <a:pt x="1604052" y="453935"/>
                </a:lnTo>
                <a:lnTo>
                  <a:pt x="1634899" y="455578"/>
                </a:lnTo>
                <a:lnTo>
                  <a:pt x="1665746" y="464755"/>
                </a:lnTo>
                <a:lnTo>
                  <a:pt x="1696593" y="475797"/>
                </a:lnTo>
                <a:lnTo>
                  <a:pt x="1727440" y="489654"/>
                </a:lnTo>
                <a:lnTo>
                  <a:pt x="1758287" y="505889"/>
                </a:lnTo>
                <a:lnTo>
                  <a:pt x="1789134" y="517280"/>
                </a:lnTo>
                <a:lnTo>
                  <a:pt x="1819982" y="525266"/>
                </a:lnTo>
                <a:lnTo>
                  <a:pt x="1850829" y="533183"/>
                </a:lnTo>
                <a:lnTo>
                  <a:pt x="1881676" y="548221"/>
                </a:lnTo>
                <a:lnTo>
                  <a:pt x="1912523" y="558493"/>
                </a:lnTo>
                <a:lnTo>
                  <a:pt x="1943370" y="570217"/>
                </a:lnTo>
                <a:lnTo>
                  <a:pt x="1974217" y="573809"/>
                </a:lnTo>
                <a:lnTo>
                  <a:pt x="2005064" y="572125"/>
                </a:lnTo>
                <a:lnTo>
                  <a:pt x="2035912" y="586592"/>
                </a:lnTo>
                <a:lnTo>
                  <a:pt x="2066759" y="588846"/>
                </a:lnTo>
                <a:lnTo>
                  <a:pt x="2097606" y="590208"/>
                </a:lnTo>
                <a:lnTo>
                  <a:pt x="2128453" y="598614"/>
                </a:lnTo>
                <a:lnTo>
                  <a:pt x="2159300" y="589834"/>
                </a:lnTo>
                <a:lnTo>
                  <a:pt x="2190147" y="603245"/>
                </a:lnTo>
                <a:lnTo>
                  <a:pt x="2220994" y="599545"/>
                </a:lnTo>
                <a:lnTo>
                  <a:pt x="2251842" y="595004"/>
                </a:lnTo>
                <a:lnTo>
                  <a:pt x="2282689" y="606486"/>
                </a:lnTo>
                <a:lnTo>
                  <a:pt x="2313536" y="598002"/>
                </a:lnTo>
                <a:lnTo>
                  <a:pt x="2344383" y="607501"/>
                </a:lnTo>
                <a:lnTo>
                  <a:pt x="2375230" y="600582"/>
                </a:lnTo>
                <a:lnTo>
                  <a:pt x="2406077" y="595980"/>
                </a:lnTo>
                <a:lnTo>
                  <a:pt x="2436924" y="608181"/>
                </a:lnTo>
                <a:lnTo>
                  <a:pt x="2467772" y="604809"/>
                </a:lnTo>
                <a:lnTo>
                  <a:pt x="2498619" y="607845"/>
                </a:lnTo>
                <a:lnTo>
                  <a:pt x="2529466" y="598605"/>
                </a:lnTo>
                <a:lnTo>
                  <a:pt x="2560313" y="597658"/>
                </a:lnTo>
                <a:lnTo>
                  <a:pt x="2591160" y="606813"/>
                </a:lnTo>
                <a:lnTo>
                  <a:pt x="2622007" y="605195"/>
                </a:lnTo>
                <a:lnTo>
                  <a:pt x="2652855" y="607073"/>
                </a:lnTo>
                <a:lnTo>
                  <a:pt x="2683702" y="597120"/>
                </a:lnTo>
                <a:lnTo>
                  <a:pt x="2714549" y="599848"/>
                </a:lnTo>
                <a:lnTo>
                  <a:pt x="2745396" y="605821"/>
                </a:lnTo>
                <a:lnTo>
                  <a:pt x="2776243" y="599656"/>
                </a:lnTo>
                <a:lnTo>
                  <a:pt x="2807090" y="607740"/>
                </a:lnTo>
                <a:lnTo>
                  <a:pt x="2837937" y="598046"/>
                </a:lnTo>
                <a:lnTo>
                  <a:pt x="2868785" y="601306"/>
                </a:lnTo>
                <a:lnTo>
                  <a:pt x="2899632" y="606703"/>
                </a:lnTo>
                <a:lnTo>
                  <a:pt x="2930479" y="596896"/>
                </a:lnTo>
                <a:lnTo>
                  <a:pt x="2961326" y="606383"/>
                </a:lnTo>
                <a:lnTo>
                  <a:pt x="2961326" y="628775"/>
                </a:lnTo>
                <a:close/>
              </a:path>
            </a:pathLst>
          </a:custGeom>
          <a:solidFill>
            <a:srgbClr val="E2622F">
              <a:alpha val="12000"/>
            </a:srgbClr>
          </a:solidFill>
          <a:ln w="16510">
            <a:solidFill>
              <a:srgbClr val="E2622F"/>
            </a:solidFill>
            <a:prstDash val="solid"/>
          </a:ln>
        </p:spPr>
      </p:sp>
      <p:sp>
        <p:nvSpPr>
          <p:cNvPr id="26" name="Shape 24"/>
          <p:cNvSpPr/>
          <p:nvPr/>
        </p:nvSpPr>
        <p:spPr>
          <a:xfrm>
            <a:off x="6750101" y="4163928"/>
            <a:ext cx="2961326" cy="0"/>
          </a:xfrm>
          <a:prstGeom prst="line">
            <a:avLst/>
          </a:prstGeom>
          <a:noFill/>
          <a:ln w="20320">
            <a:solidFill>
              <a:srgbClr val="15181C">
                <a:alpha val="55000"/>
              </a:srgbClr>
            </a:solidFill>
            <a:prstDash val="solid"/>
          </a:ln>
        </p:spPr>
      </p:sp>
      <p:sp>
        <p:nvSpPr>
          <p:cNvPr id="27" name="Shape 25"/>
          <p:cNvSpPr/>
          <p:nvPr/>
        </p:nvSpPr>
        <p:spPr>
          <a:xfrm>
            <a:off x="10035956" y="2439869"/>
            <a:ext cx="0" cy="1551654"/>
          </a:xfrm>
          <a:prstGeom prst="line">
            <a:avLst/>
          </a:prstGeom>
          <a:noFill/>
          <a:ln w="15240">
            <a:solidFill>
              <a:srgbClr val="15181C"/>
            </a:solidFill>
            <a:prstDash val="solid"/>
          </a:ln>
        </p:spPr>
      </p:sp>
      <p:sp>
        <p:nvSpPr>
          <p:cNvPr id="28" name="Shape 26"/>
          <p:cNvSpPr/>
          <p:nvPr/>
        </p:nvSpPr>
        <p:spPr>
          <a:xfrm>
            <a:off x="10035956" y="2439869"/>
            <a:ext cx="70991" cy="0"/>
          </a:xfrm>
          <a:prstGeom prst="line">
            <a:avLst/>
          </a:prstGeom>
          <a:noFill/>
          <a:ln w="15240">
            <a:solidFill>
              <a:srgbClr val="15181C"/>
            </a:solidFill>
            <a:prstDash val="solid"/>
          </a:ln>
        </p:spPr>
      </p:sp>
      <p:sp>
        <p:nvSpPr>
          <p:cNvPr id="29" name="Shape 27"/>
          <p:cNvSpPr/>
          <p:nvPr/>
        </p:nvSpPr>
        <p:spPr>
          <a:xfrm>
            <a:off x="10035956" y="3991522"/>
            <a:ext cx="70991" cy="0"/>
          </a:xfrm>
          <a:prstGeom prst="line">
            <a:avLst/>
          </a:prstGeom>
          <a:noFill/>
          <a:ln w="15240">
            <a:solidFill>
              <a:srgbClr val="15181C"/>
            </a:solidFill>
            <a:prstDash val="solid"/>
          </a:ln>
        </p:spPr>
      </p:sp>
      <p:sp>
        <p:nvSpPr>
          <p:cNvPr id="30" name="Text 28"/>
          <p:cNvSpPr txBox="1"/>
          <p:nvPr/>
        </p:nvSpPr>
        <p:spPr>
          <a:xfrm>
            <a:off x="10167795" y="3114280"/>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log₂ ratio</a:t>
            </a:r>
            <a:endParaRPr lang="en-US" sz="1200" dirty="0"/>
          </a:p>
        </p:txBody>
      </p:sp>
      <p:sp>
        <p:nvSpPr>
          <p:cNvPr id="31" name="Text 29"/>
          <p:cNvSpPr txBox="1"/>
          <p:nvPr/>
        </p:nvSpPr>
        <p:spPr>
          <a:xfrm>
            <a:off x="10167795" y="4123362"/>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number</a:t>
            </a:r>
            <a:endParaRPr lang="en-US" sz="1100" dirty="0"/>
          </a:p>
        </p:txBody>
      </p:sp>
      <p:sp>
        <p:nvSpPr>
          <p:cNvPr id="32" name="Text 30"/>
          <p:cNvSpPr txBox="1"/>
          <p:nvPr/>
        </p:nvSpPr>
        <p:spPr>
          <a:xfrm>
            <a:off x="10167795" y="4275485"/>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per site</a:t>
            </a:r>
            <a:endParaRPr lang="en-US" sz="1100" dirty="0"/>
          </a:p>
        </p:txBody>
      </p:sp>
      <p:sp>
        <p:nvSpPr>
          <p:cNvPr id="33" name="Shape 31"/>
          <p:cNvSpPr/>
          <p:nvPr/>
        </p:nvSpPr>
        <p:spPr>
          <a:xfrm>
            <a:off x="644901" y="4752137"/>
            <a:ext cx="10871717" cy="0"/>
          </a:xfrm>
          <a:prstGeom prst="line">
            <a:avLst/>
          </a:prstGeom>
          <a:noFill/>
          <a:ln w="12700">
            <a:solidFill>
              <a:srgbClr val="AFB5BD"/>
            </a:solidFill>
            <a:prstDash val="dash"/>
          </a:ln>
        </p:spPr>
      </p:sp>
      <p:sp>
        <p:nvSpPr>
          <p:cNvPr id="34" name="Text 32"/>
          <p:cNvSpPr txBox="1"/>
          <p:nvPr/>
        </p:nvSpPr>
        <p:spPr>
          <a:xfrm>
            <a:off x="644901" y="4873835"/>
            <a:ext cx="91273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both predictions come from the same 131 kb window, so only the edit can move them</a:t>
            </a:r>
            <a:endParaRPr lang="en-US" sz="1100" dirty="0"/>
          </a:p>
        </p:txBody>
      </p:sp>
      <p:sp>
        <p:nvSpPr>
          <p:cNvPr id="35" name="Shape 33"/>
          <p:cNvSpPr/>
          <p:nvPr/>
        </p:nvSpPr>
        <p:spPr>
          <a:xfrm>
            <a:off x="502920" y="5989320"/>
            <a:ext cx="50292" cy="566928"/>
          </a:xfrm>
          <a:prstGeom prst="rect">
            <a:avLst/>
          </a:prstGeom>
          <a:solidFill>
            <a:srgbClr val="3F3F3F"/>
          </a:solidFill>
          <a:ln w="12700">
            <a:solidFill>
              <a:srgbClr val="333333"/>
            </a:solidFill>
            <a:prstDash val="solid"/>
          </a:ln>
        </p:spPr>
      </p:sp>
      <p:sp>
        <p:nvSpPr>
          <p:cNvPr id="36" name="Text 3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sp>
        <p:nvSpPr>
          <p:cNvPr id="3" name="Text 1"/>
          <p:cNvSpPr txBox="1"/>
          <p:nvPr/>
        </p:nvSpPr>
        <p:spPr>
          <a:xfrm>
            <a:off x="949147"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A REAL SITE</a:t>
            </a:r>
            <a:endParaRPr lang="en-US" sz="1300" dirty="0"/>
          </a:p>
        </p:txBody>
      </p:sp>
      <p:sp>
        <p:nvSpPr>
          <p:cNvPr id="4" name="Shape 2"/>
          <p:cNvSpPr/>
          <p:nvPr/>
        </p:nvSpPr>
        <p:spPr>
          <a:xfrm>
            <a:off x="949147" y="2358736"/>
            <a:ext cx="2555665" cy="628775"/>
          </a:xfrm>
          <a:custGeom>
            <a:avLst/>
            <a:gdLst/>
            <a:ahLst/>
            <a:cxnLst/>
            <a:rect l="l" t="t" r="r" b="b"/>
            <a:pathLst>
              <a:path w="2555665" h="628775">
                <a:moveTo>
                  <a:pt x="0" y="628775"/>
                </a:moveTo>
                <a:lnTo>
                  <a:pt x="0" y="603439"/>
                </a:lnTo>
                <a:lnTo>
                  <a:pt x="26622" y="608031"/>
                </a:lnTo>
                <a:lnTo>
                  <a:pt x="53243" y="604345"/>
                </a:lnTo>
                <a:lnTo>
                  <a:pt x="79865" y="595464"/>
                </a:lnTo>
                <a:lnTo>
                  <a:pt x="106486" y="598537"/>
                </a:lnTo>
                <a:lnTo>
                  <a:pt x="133108" y="605581"/>
                </a:lnTo>
                <a:lnTo>
                  <a:pt x="159729" y="604897"/>
                </a:lnTo>
                <a:lnTo>
                  <a:pt x="186351" y="606394"/>
                </a:lnTo>
                <a:lnTo>
                  <a:pt x="212972" y="597019"/>
                </a:lnTo>
                <a:lnTo>
                  <a:pt x="239594" y="593290"/>
                </a:lnTo>
                <a:lnTo>
                  <a:pt x="266215" y="602510"/>
                </a:lnTo>
                <a:lnTo>
                  <a:pt x="292837" y="599706"/>
                </a:lnTo>
                <a:lnTo>
                  <a:pt x="319458" y="597170"/>
                </a:lnTo>
                <a:lnTo>
                  <a:pt x="346080" y="594968"/>
                </a:lnTo>
                <a:lnTo>
                  <a:pt x="372701" y="584507"/>
                </a:lnTo>
                <a:lnTo>
                  <a:pt x="399323" y="590447"/>
                </a:lnTo>
                <a:lnTo>
                  <a:pt x="425944" y="586166"/>
                </a:lnTo>
                <a:lnTo>
                  <a:pt x="452566" y="580334"/>
                </a:lnTo>
                <a:lnTo>
                  <a:pt x="479187" y="580918"/>
                </a:lnTo>
                <a:lnTo>
                  <a:pt x="505809" y="566104"/>
                </a:lnTo>
                <a:lnTo>
                  <a:pt x="532430" y="565944"/>
                </a:lnTo>
                <a:lnTo>
                  <a:pt x="559052" y="554329"/>
                </a:lnTo>
                <a:lnTo>
                  <a:pt x="585673" y="546528"/>
                </a:lnTo>
                <a:lnTo>
                  <a:pt x="612295" y="543162"/>
                </a:lnTo>
                <a:lnTo>
                  <a:pt x="638916" y="526226"/>
                </a:lnTo>
                <a:lnTo>
                  <a:pt x="665538" y="516483"/>
                </a:lnTo>
                <a:lnTo>
                  <a:pt x="692159" y="492468"/>
                </a:lnTo>
                <a:lnTo>
                  <a:pt x="718781" y="482590"/>
                </a:lnTo>
                <a:lnTo>
                  <a:pt x="745402" y="470386"/>
                </a:lnTo>
                <a:lnTo>
                  <a:pt x="772024" y="451898"/>
                </a:lnTo>
                <a:lnTo>
                  <a:pt x="798645" y="430409"/>
                </a:lnTo>
                <a:lnTo>
                  <a:pt x="825267" y="394086"/>
                </a:lnTo>
                <a:lnTo>
                  <a:pt x="851888" y="380892"/>
                </a:lnTo>
                <a:lnTo>
                  <a:pt x="878510" y="360984"/>
                </a:lnTo>
                <a:lnTo>
                  <a:pt x="905131" y="330421"/>
                </a:lnTo>
                <a:lnTo>
                  <a:pt x="931753" y="309693"/>
                </a:lnTo>
                <a:lnTo>
                  <a:pt x="958374" y="269225"/>
                </a:lnTo>
                <a:lnTo>
                  <a:pt x="984996" y="253103"/>
                </a:lnTo>
                <a:lnTo>
                  <a:pt x="1011617" y="229640"/>
                </a:lnTo>
                <a:lnTo>
                  <a:pt x="1038239" y="198485"/>
                </a:lnTo>
                <a:lnTo>
                  <a:pt x="1064860" y="182248"/>
                </a:lnTo>
                <a:lnTo>
                  <a:pt x="1091482" y="150748"/>
                </a:lnTo>
                <a:lnTo>
                  <a:pt x="1118103" y="135891"/>
                </a:lnTo>
                <a:lnTo>
                  <a:pt x="1144725" y="117885"/>
                </a:lnTo>
                <a:lnTo>
                  <a:pt x="1171346" y="99512"/>
                </a:lnTo>
                <a:lnTo>
                  <a:pt x="1197968" y="93203"/>
                </a:lnTo>
                <a:lnTo>
                  <a:pt x="1224589" y="83548"/>
                </a:lnTo>
                <a:lnTo>
                  <a:pt x="1251211" y="76395"/>
                </a:lnTo>
                <a:lnTo>
                  <a:pt x="1277832" y="71952"/>
                </a:lnTo>
                <a:lnTo>
                  <a:pt x="1304454" y="73824"/>
                </a:lnTo>
                <a:lnTo>
                  <a:pt x="1331075" y="82263"/>
                </a:lnTo>
                <a:lnTo>
                  <a:pt x="1357697" y="95747"/>
                </a:lnTo>
                <a:lnTo>
                  <a:pt x="1384318" y="102794"/>
                </a:lnTo>
                <a:lnTo>
                  <a:pt x="1410940" y="113162"/>
                </a:lnTo>
                <a:lnTo>
                  <a:pt x="1437561" y="131926"/>
                </a:lnTo>
                <a:lnTo>
                  <a:pt x="1464183" y="155061"/>
                </a:lnTo>
                <a:lnTo>
                  <a:pt x="1490805" y="178372"/>
                </a:lnTo>
                <a:lnTo>
                  <a:pt x="1517426" y="204101"/>
                </a:lnTo>
                <a:lnTo>
                  <a:pt x="1544048" y="222839"/>
                </a:lnTo>
                <a:lnTo>
                  <a:pt x="1570669" y="246915"/>
                </a:lnTo>
                <a:lnTo>
                  <a:pt x="1597291" y="279401"/>
                </a:lnTo>
                <a:lnTo>
                  <a:pt x="1623912" y="303440"/>
                </a:lnTo>
                <a:lnTo>
                  <a:pt x="1650534" y="333427"/>
                </a:lnTo>
                <a:lnTo>
                  <a:pt x="1677155" y="355849"/>
                </a:lnTo>
                <a:lnTo>
                  <a:pt x="1703777" y="373817"/>
                </a:lnTo>
                <a:lnTo>
                  <a:pt x="1730398" y="407976"/>
                </a:lnTo>
                <a:lnTo>
                  <a:pt x="1757020" y="424609"/>
                </a:lnTo>
                <a:lnTo>
                  <a:pt x="1783641" y="444267"/>
                </a:lnTo>
                <a:lnTo>
                  <a:pt x="1810263" y="469841"/>
                </a:lnTo>
                <a:lnTo>
                  <a:pt x="1836884" y="477520"/>
                </a:lnTo>
                <a:lnTo>
                  <a:pt x="1863506" y="503565"/>
                </a:lnTo>
                <a:lnTo>
                  <a:pt x="1890127" y="512483"/>
                </a:lnTo>
                <a:lnTo>
                  <a:pt x="1916749" y="521427"/>
                </a:lnTo>
                <a:lnTo>
                  <a:pt x="1943370" y="543138"/>
                </a:lnTo>
                <a:lnTo>
                  <a:pt x="1969992" y="546179"/>
                </a:lnTo>
                <a:lnTo>
                  <a:pt x="1996613" y="561039"/>
                </a:lnTo>
                <a:lnTo>
                  <a:pt x="2023235" y="562140"/>
                </a:lnTo>
                <a:lnTo>
                  <a:pt x="2049856" y="565698"/>
                </a:lnTo>
                <a:lnTo>
                  <a:pt x="2076478" y="581873"/>
                </a:lnTo>
                <a:lnTo>
                  <a:pt x="2103099" y="585556"/>
                </a:lnTo>
                <a:lnTo>
                  <a:pt x="2129721" y="590671"/>
                </a:lnTo>
                <a:lnTo>
                  <a:pt x="2156342" y="584213"/>
                </a:lnTo>
                <a:lnTo>
                  <a:pt x="2182964" y="587835"/>
                </a:lnTo>
                <a:lnTo>
                  <a:pt x="2209585" y="599889"/>
                </a:lnTo>
                <a:lnTo>
                  <a:pt x="2236207" y="597089"/>
                </a:lnTo>
                <a:lnTo>
                  <a:pt x="2262828" y="602913"/>
                </a:lnTo>
                <a:lnTo>
                  <a:pt x="2289450" y="592554"/>
                </a:lnTo>
                <a:lnTo>
                  <a:pt x="2316071" y="597930"/>
                </a:lnTo>
                <a:lnTo>
                  <a:pt x="2342693" y="605335"/>
                </a:lnTo>
                <a:lnTo>
                  <a:pt x="2369314" y="596560"/>
                </a:lnTo>
                <a:lnTo>
                  <a:pt x="2395936" y="606931"/>
                </a:lnTo>
                <a:lnTo>
                  <a:pt x="2422557" y="597063"/>
                </a:lnTo>
                <a:lnTo>
                  <a:pt x="2449179" y="601942"/>
                </a:lnTo>
                <a:lnTo>
                  <a:pt x="2475800" y="607604"/>
                </a:lnTo>
                <a:lnTo>
                  <a:pt x="2502422" y="595450"/>
                </a:lnTo>
                <a:lnTo>
                  <a:pt x="2529043" y="606045"/>
                </a:lnTo>
                <a:lnTo>
                  <a:pt x="2555665" y="602162"/>
                </a:lnTo>
                <a:lnTo>
                  <a:pt x="2555665" y="628775"/>
                </a:lnTo>
                <a:close/>
              </a:path>
            </a:pathLst>
          </a:custGeom>
          <a:solidFill>
            <a:srgbClr val="55637A">
              <a:alpha val="14000"/>
            </a:srgbClr>
          </a:solidFill>
          <a:ln w="16510">
            <a:solidFill>
              <a:srgbClr val="55637A"/>
            </a:solidFill>
            <a:prstDash val="solid"/>
          </a:ln>
        </p:spPr>
      </p:sp>
      <p:sp>
        <p:nvSpPr>
          <p:cNvPr id="5" name="Shape 3"/>
          <p:cNvSpPr/>
          <p:nvPr/>
        </p:nvSpPr>
        <p:spPr>
          <a:xfrm>
            <a:off x="949147" y="2987511"/>
            <a:ext cx="2555665" cy="0"/>
          </a:xfrm>
          <a:prstGeom prst="line">
            <a:avLst/>
          </a:prstGeom>
          <a:noFill/>
          <a:ln w="20320">
            <a:solidFill>
              <a:srgbClr val="15181C">
                <a:alpha val="55000"/>
              </a:srgbClr>
            </a:solidFill>
            <a:prstDash val="solid"/>
          </a:ln>
        </p:spPr>
      </p:sp>
      <p:sp>
        <p:nvSpPr>
          <p:cNvPr id="6" name="Shape 4"/>
          <p:cNvSpPr/>
          <p:nvPr/>
        </p:nvSpPr>
        <p:spPr>
          <a:xfrm>
            <a:off x="2095140"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1618488" y="2176189"/>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1334525" y="3073714"/>
            <a:ext cx="1784909" cy="172406"/>
          </a:xfrm>
          <a:prstGeom prst="roundRect">
            <a:avLst>
              <a:gd name="adj" fmla="val 10608"/>
            </a:avLst>
          </a:prstGeom>
          <a:ln w="12700">
            <a:solidFill>
              <a:srgbClr val="15181C"/>
            </a:solidFill>
            <a:prstDash val="dash"/>
          </a:ln>
        </p:spPr>
      </p:sp>
      <p:sp>
        <p:nvSpPr>
          <p:cNvPr id="9" name="Text 7"/>
          <p:cNvSpPr txBox="1"/>
          <p:nvPr/>
        </p:nvSpPr>
        <p:spPr>
          <a:xfrm>
            <a:off x="1009996" y="3312040"/>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lift out its whole peak</a:t>
            </a:r>
            <a:endParaRPr lang="en-US" sz="1100" dirty="0"/>
          </a:p>
        </p:txBody>
      </p:sp>
      <p:sp>
        <p:nvSpPr>
          <p:cNvPr id="10" name="Text 8"/>
          <p:cNvSpPr txBox="1"/>
          <p:nvPr/>
        </p:nvSpPr>
        <p:spPr>
          <a:xfrm>
            <a:off x="4478399"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AN EMPTY PLACE</a:t>
            </a:r>
            <a:endParaRPr lang="en-US" sz="1300" dirty="0"/>
          </a:p>
        </p:txBody>
      </p:sp>
      <p:sp>
        <p:nvSpPr>
          <p:cNvPr id="11" name="Shape 9"/>
          <p:cNvSpPr/>
          <p:nvPr/>
        </p:nvSpPr>
        <p:spPr>
          <a:xfrm>
            <a:off x="4478399" y="2358736"/>
            <a:ext cx="2555665" cy="628775"/>
          </a:xfrm>
          <a:custGeom>
            <a:avLst/>
            <a:gdLst/>
            <a:ahLst/>
            <a:cxnLst/>
            <a:rect l="l" t="t" r="r" b="b"/>
            <a:pathLst>
              <a:path w="2555665" h="628775">
                <a:moveTo>
                  <a:pt x="0" y="628775"/>
                </a:moveTo>
                <a:lnTo>
                  <a:pt x="0" y="607057"/>
                </a:lnTo>
                <a:lnTo>
                  <a:pt x="26622" y="595146"/>
                </a:lnTo>
                <a:lnTo>
                  <a:pt x="53243" y="601674"/>
                </a:lnTo>
                <a:lnTo>
                  <a:pt x="79865" y="604702"/>
                </a:lnTo>
                <a:lnTo>
                  <a:pt x="106486" y="605344"/>
                </a:lnTo>
                <a:lnTo>
                  <a:pt x="133108" y="604266"/>
                </a:lnTo>
                <a:lnTo>
                  <a:pt x="159729" y="599561"/>
                </a:lnTo>
                <a:lnTo>
                  <a:pt x="186351" y="599417"/>
                </a:lnTo>
                <a:lnTo>
                  <a:pt x="212972" y="600305"/>
                </a:lnTo>
                <a:lnTo>
                  <a:pt x="239594" y="604044"/>
                </a:lnTo>
                <a:lnTo>
                  <a:pt x="266215" y="602256"/>
                </a:lnTo>
                <a:lnTo>
                  <a:pt x="292837" y="603964"/>
                </a:lnTo>
                <a:lnTo>
                  <a:pt x="319458" y="599273"/>
                </a:lnTo>
                <a:lnTo>
                  <a:pt x="346080" y="598243"/>
                </a:lnTo>
                <a:lnTo>
                  <a:pt x="372701" y="601536"/>
                </a:lnTo>
                <a:lnTo>
                  <a:pt x="399323" y="602373"/>
                </a:lnTo>
                <a:lnTo>
                  <a:pt x="425944" y="606921"/>
                </a:lnTo>
                <a:lnTo>
                  <a:pt x="452566" y="602056"/>
                </a:lnTo>
                <a:lnTo>
                  <a:pt x="479187" y="599150"/>
                </a:lnTo>
                <a:lnTo>
                  <a:pt x="505809" y="597877"/>
                </a:lnTo>
                <a:lnTo>
                  <a:pt x="532430" y="604573"/>
                </a:lnTo>
                <a:lnTo>
                  <a:pt x="559052" y="608418"/>
                </a:lnTo>
                <a:lnTo>
                  <a:pt x="585673" y="606966"/>
                </a:lnTo>
                <a:lnTo>
                  <a:pt x="612295" y="602054"/>
                </a:lnTo>
                <a:lnTo>
                  <a:pt x="638916" y="594492"/>
                </a:lnTo>
                <a:lnTo>
                  <a:pt x="665538" y="607456"/>
                </a:lnTo>
                <a:lnTo>
                  <a:pt x="692159" y="607330"/>
                </a:lnTo>
                <a:lnTo>
                  <a:pt x="718781" y="604927"/>
                </a:lnTo>
                <a:lnTo>
                  <a:pt x="745402" y="605039"/>
                </a:lnTo>
                <a:lnTo>
                  <a:pt x="772024" y="593324"/>
                </a:lnTo>
                <a:lnTo>
                  <a:pt x="798645" y="607746"/>
                </a:lnTo>
                <a:lnTo>
                  <a:pt x="825267" y="605000"/>
                </a:lnTo>
                <a:lnTo>
                  <a:pt x="851888" y="601537"/>
                </a:lnTo>
                <a:lnTo>
                  <a:pt x="878510" y="606517"/>
                </a:lnTo>
                <a:lnTo>
                  <a:pt x="905131" y="595545"/>
                </a:lnTo>
                <a:lnTo>
                  <a:pt x="931753" y="607992"/>
                </a:lnTo>
                <a:lnTo>
                  <a:pt x="958374" y="601221"/>
                </a:lnTo>
                <a:lnTo>
                  <a:pt x="984996" y="600529"/>
                </a:lnTo>
                <a:lnTo>
                  <a:pt x="1011617" y="606232"/>
                </a:lnTo>
                <a:lnTo>
                  <a:pt x="1038239" y="600729"/>
                </a:lnTo>
                <a:lnTo>
                  <a:pt x="1064860" y="607295"/>
                </a:lnTo>
                <a:lnTo>
                  <a:pt x="1091482" y="597076"/>
                </a:lnTo>
                <a:lnTo>
                  <a:pt x="1118103" y="601085"/>
                </a:lnTo>
                <a:lnTo>
                  <a:pt x="1144725" y="605337"/>
                </a:lnTo>
                <a:lnTo>
                  <a:pt x="1171346" y="607033"/>
                </a:lnTo>
                <a:lnTo>
                  <a:pt x="1197968" y="605845"/>
                </a:lnTo>
                <a:lnTo>
                  <a:pt x="1224589" y="594481"/>
                </a:lnTo>
                <a:lnTo>
                  <a:pt x="1251211" y="601623"/>
                </a:lnTo>
                <a:lnTo>
                  <a:pt x="1277832" y="605491"/>
                </a:lnTo>
                <a:lnTo>
                  <a:pt x="1304454" y="604692"/>
                </a:lnTo>
                <a:lnTo>
                  <a:pt x="1331075" y="606281"/>
                </a:lnTo>
                <a:lnTo>
                  <a:pt x="1357697" y="594945"/>
                </a:lnTo>
                <a:lnTo>
                  <a:pt x="1384318" y="601027"/>
                </a:lnTo>
                <a:lnTo>
                  <a:pt x="1410940" y="607614"/>
                </a:lnTo>
                <a:lnTo>
                  <a:pt x="1437561" y="601703"/>
                </a:lnTo>
                <a:lnTo>
                  <a:pt x="1464183" y="607949"/>
                </a:lnTo>
                <a:lnTo>
                  <a:pt x="1490805" y="598535"/>
                </a:lnTo>
                <a:lnTo>
                  <a:pt x="1517426" y="599517"/>
                </a:lnTo>
                <a:lnTo>
                  <a:pt x="1544048" y="605815"/>
                </a:lnTo>
                <a:lnTo>
                  <a:pt x="1570669" y="600676"/>
                </a:lnTo>
                <a:lnTo>
                  <a:pt x="1597291" y="603996"/>
                </a:lnTo>
                <a:lnTo>
                  <a:pt x="1623912" y="603765"/>
                </a:lnTo>
                <a:lnTo>
                  <a:pt x="1650534" y="598554"/>
                </a:lnTo>
                <a:lnTo>
                  <a:pt x="1677155" y="602521"/>
                </a:lnTo>
                <a:lnTo>
                  <a:pt x="1703777" y="600226"/>
                </a:lnTo>
                <a:lnTo>
                  <a:pt x="1730398" y="600806"/>
                </a:lnTo>
                <a:lnTo>
                  <a:pt x="1757020" y="608488"/>
                </a:lnTo>
                <a:lnTo>
                  <a:pt x="1783641" y="599816"/>
                </a:lnTo>
                <a:lnTo>
                  <a:pt x="1810263" y="601205"/>
                </a:lnTo>
                <a:lnTo>
                  <a:pt x="1836884" y="599065"/>
                </a:lnTo>
                <a:lnTo>
                  <a:pt x="1863506" y="599914"/>
                </a:lnTo>
                <a:lnTo>
                  <a:pt x="1890127" y="605756"/>
                </a:lnTo>
                <a:lnTo>
                  <a:pt x="1916749" y="603970"/>
                </a:lnTo>
                <a:lnTo>
                  <a:pt x="1943370" y="602443"/>
                </a:lnTo>
                <a:lnTo>
                  <a:pt x="1969992" y="597047"/>
                </a:lnTo>
                <a:lnTo>
                  <a:pt x="1996613" y="601457"/>
                </a:lnTo>
                <a:lnTo>
                  <a:pt x="2023235" y="605036"/>
                </a:lnTo>
                <a:lnTo>
                  <a:pt x="2049856" y="606910"/>
                </a:lnTo>
                <a:lnTo>
                  <a:pt x="2076478" y="605261"/>
                </a:lnTo>
                <a:lnTo>
                  <a:pt x="2103099" y="595369"/>
                </a:lnTo>
                <a:lnTo>
                  <a:pt x="2129721" y="604154"/>
                </a:lnTo>
                <a:lnTo>
                  <a:pt x="2156342" y="605040"/>
                </a:lnTo>
                <a:lnTo>
                  <a:pt x="2182964" y="600949"/>
                </a:lnTo>
                <a:lnTo>
                  <a:pt x="2209585" y="607771"/>
                </a:lnTo>
                <a:lnTo>
                  <a:pt x="2236207" y="595761"/>
                </a:lnTo>
                <a:lnTo>
                  <a:pt x="2262828" y="606248"/>
                </a:lnTo>
                <a:lnTo>
                  <a:pt x="2289450" y="604242"/>
                </a:lnTo>
                <a:lnTo>
                  <a:pt x="2316071" y="597149"/>
                </a:lnTo>
                <a:lnTo>
                  <a:pt x="2342693" y="608433"/>
                </a:lnTo>
                <a:lnTo>
                  <a:pt x="2369314" y="599233"/>
                </a:lnTo>
                <a:lnTo>
                  <a:pt x="2395936" y="606744"/>
                </a:lnTo>
                <a:lnTo>
                  <a:pt x="2422557" y="602054"/>
                </a:lnTo>
                <a:lnTo>
                  <a:pt x="2449179" y="596288"/>
                </a:lnTo>
                <a:lnTo>
                  <a:pt x="2475800" y="607072"/>
                </a:lnTo>
                <a:lnTo>
                  <a:pt x="2502422" y="605241"/>
                </a:lnTo>
                <a:lnTo>
                  <a:pt x="2529043" y="606092"/>
                </a:lnTo>
                <a:lnTo>
                  <a:pt x="2555665" y="599325"/>
                </a:lnTo>
                <a:lnTo>
                  <a:pt x="2555665" y="628775"/>
                </a:lnTo>
                <a:close/>
              </a:path>
            </a:pathLst>
          </a:custGeom>
          <a:solidFill>
            <a:srgbClr val="55637A">
              <a:alpha val="14000"/>
            </a:srgbClr>
          </a:solidFill>
          <a:ln w="16510">
            <a:solidFill>
              <a:srgbClr val="55637A"/>
            </a:solidFill>
            <a:prstDash val="solid"/>
          </a:ln>
        </p:spPr>
      </p:sp>
      <p:sp>
        <p:nvSpPr>
          <p:cNvPr id="12" name="Shape 10"/>
          <p:cNvSpPr/>
          <p:nvPr/>
        </p:nvSpPr>
        <p:spPr>
          <a:xfrm>
            <a:off x="4478399" y="2987511"/>
            <a:ext cx="2555665" cy="0"/>
          </a:xfrm>
          <a:prstGeom prst="line">
            <a:avLst/>
          </a:prstGeom>
          <a:noFill/>
          <a:ln w="20320">
            <a:solidFill>
              <a:srgbClr val="15181C">
                <a:alpha val="55000"/>
              </a:srgbClr>
            </a:solidFill>
            <a:prstDash val="solid"/>
          </a:ln>
        </p:spPr>
      </p:sp>
      <p:sp>
        <p:nvSpPr>
          <p:cNvPr id="13" name="Text 11"/>
          <p:cNvSpPr txBox="1"/>
          <p:nvPr/>
        </p:nvSpPr>
        <p:spPr>
          <a:xfrm>
            <a:off x="4539248" y="3129492"/>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a closed background</a:t>
            </a:r>
            <a:endParaRPr lang="en-US" sz="1100" dirty="0"/>
          </a:p>
        </p:txBody>
      </p:sp>
      <p:sp>
        <p:nvSpPr>
          <p:cNvPr id="14" name="Text 12"/>
          <p:cNvSpPr txBox="1"/>
          <p:nvPr/>
        </p:nvSpPr>
        <p:spPr>
          <a:xfrm>
            <a:off x="4539248" y="3291757"/>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with no called peak</a:t>
            </a:r>
            <a:endParaRPr lang="en-US" sz="1100" dirty="0"/>
          </a:p>
        </p:txBody>
      </p:sp>
      <p:sp>
        <p:nvSpPr>
          <p:cNvPr id="15" name="Text 13"/>
          <p:cNvSpPr txBox="1"/>
          <p:nvPr/>
        </p:nvSpPr>
        <p:spPr>
          <a:xfrm>
            <a:off x="8007650"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IT BUILDS THERE</a:t>
            </a:r>
            <a:endParaRPr lang="en-US" sz="1300" dirty="0"/>
          </a:p>
        </p:txBody>
      </p:sp>
      <p:sp>
        <p:nvSpPr>
          <p:cNvPr id="16" name="Shape 14"/>
          <p:cNvSpPr/>
          <p:nvPr/>
        </p:nvSpPr>
        <p:spPr>
          <a:xfrm>
            <a:off x="8007650" y="2358736"/>
            <a:ext cx="2555665" cy="628775"/>
          </a:xfrm>
          <a:custGeom>
            <a:avLst/>
            <a:gdLst/>
            <a:ahLst/>
            <a:cxnLst/>
            <a:rect l="l" t="t" r="r" b="b"/>
            <a:pathLst>
              <a:path w="2555665" h="628775">
                <a:moveTo>
                  <a:pt x="0" y="628775"/>
                </a:moveTo>
                <a:lnTo>
                  <a:pt x="0" y="608456"/>
                </a:lnTo>
                <a:lnTo>
                  <a:pt x="26622" y="604413"/>
                </a:lnTo>
                <a:lnTo>
                  <a:pt x="53243" y="602405"/>
                </a:lnTo>
                <a:lnTo>
                  <a:pt x="79865" y="597591"/>
                </a:lnTo>
                <a:lnTo>
                  <a:pt x="106486" y="600076"/>
                </a:lnTo>
                <a:lnTo>
                  <a:pt x="133108" y="603001"/>
                </a:lnTo>
                <a:lnTo>
                  <a:pt x="159729" y="605855"/>
                </a:lnTo>
                <a:lnTo>
                  <a:pt x="186351" y="600818"/>
                </a:lnTo>
                <a:lnTo>
                  <a:pt x="212972" y="599094"/>
                </a:lnTo>
                <a:lnTo>
                  <a:pt x="239594" y="598822"/>
                </a:lnTo>
                <a:lnTo>
                  <a:pt x="266215" y="599333"/>
                </a:lnTo>
                <a:lnTo>
                  <a:pt x="292837" y="606012"/>
                </a:lnTo>
                <a:lnTo>
                  <a:pt x="319458" y="600620"/>
                </a:lnTo>
                <a:lnTo>
                  <a:pt x="346080" y="598238"/>
                </a:lnTo>
                <a:lnTo>
                  <a:pt x="372701" y="598496"/>
                </a:lnTo>
                <a:lnTo>
                  <a:pt x="399323" y="596042"/>
                </a:lnTo>
                <a:lnTo>
                  <a:pt x="425944" y="596547"/>
                </a:lnTo>
                <a:lnTo>
                  <a:pt x="452566" y="598319"/>
                </a:lnTo>
                <a:lnTo>
                  <a:pt x="479187" y="591873"/>
                </a:lnTo>
                <a:lnTo>
                  <a:pt x="505809" y="593562"/>
                </a:lnTo>
                <a:lnTo>
                  <a:pt x="532430" y="586510"/>
                </a:lnTo>
                <a:lnTo>
                  <a:pt x="559052" y="577561"/>
                </a:lnTo>
                <a:lnTo>
                  <a:pt x="585673" y="584367"/>
                </a:lnTo>
                <a:lnTo>
                  <a:pt x="612295" y="572314"/>
                </a:lnTo>
                <a:lnTo>
                  <a:pt x="638916" y="571094"/>
                </a:lnTo>
                <a:lnTo>
                  <a:pt x="665538" y="557104"/>
                </a:lnTo>
                <a:lnTo>
                  <a:pt x="692159" y="537980"/>
                </a:lnTo>
                <a:lnTo>
                  <a:pt x="718781" y="539996"/>
                </a:lnTo>
                <a:lnTo>
                  <a:pt x="745402" y="525402"/>
                </a:lnTo>
                <a:lnTo>
                  <a:pt x="772024" y="510710"/>
                </a:lnTo>
                <a:lnTo>
                  <a:pt x="798645" y="490461"/>
                </a:lnTo>
                <a:lnTo>
                  <a:pt x="825267" y="463050"/>
                </a:lnTo>
                <a:lnTo>
                  <a:pt x="851888" y="456415"/>
                </a:lnTo>
                <a:lnTo>
                  <a:pt x="878510" y="431950"/>
                </a:lnTo>
                <a:lnTo>
                  <a:pt x="905131" y="408766"/>
                </a:lnTo>
                <a:lnTo>
                  <a:pt x="931753" y="379796"/>
                </a:lnTo>
                <a:lnTo>
                  <a:pt x="958374" y="349597"/>
                </a:lnTo>
                <a:lnTo>
                  <a:pt x="984996" y="332996"/>
                </a:lnTo>
                <a:lnTo>
                  <a:pt x="1011617" y="298806"/>
                </a:lnTo>
                <a:lnTo>
                  <a:pt x="1038239" y="279421"/>
                </a:lnTo>
                <a:lnTo>
                  <a:pt x="1064860" y="248959"/>
                </a:lnTo>
                <a:lnTo>
                  <a:pt x="1091482" y="225575"/>
                </a:lnTo>
                <a:lnTo>
                  <a:pt x="1118103" y="207376"/>
                </a:lnTo>
                <a:lnTo>
                  <a:pt x="1144725" y="177101"/>
                </a:lnTo>
                <a:lnTo>
                  <a:pt x="1171346" y="170670"/>
                </a:lnTo>
                <a:lnTo>
                  <a:pt x="1197968" y="153852"/>
                </a:lnTo>
                <a:lnTo>
                  <a:pt x="1224589" y="146918"/>
                </a:lnTo>
                <a:lnTo>
                  <a:pt x="1251211" y="141670"/>
                </a:lnTo>
                <a:lnTo>
                  <a:pt x="1277832" y="127445"/>
                </a:lnTo>
                <a:lnTo>
                  <a:pt x="1304454" y="138586"/>
                </a:lnTo>
                <a:lnTo>
                  <a:pt x="1331075" y="147380"/>
                </a:lnTo>
                <a:lnTo>
                  <a:pt x="1357697" y="159000"/>
                </a:lnTo>
                <a:lnTo>
                  <a:pt x="1384318" y="173392"/>
                </a:lnTo>
                <a:lnTo>
                  <a:pt x="1410940" y="177996"/>
                </a:lnTo>
                <a:lnTo>
                  <a:pt x="1437561" y="201345"/>
                </a:lnTo>
                <a:lnTo>
                  <a:pt x="1464183" y="230330"/>
                </a:lnTo>
                <a:lnTo>
                  <a:pt x="1490805" y="256065"/>
                </a:lnTo>
                <a:lnTo>
                  <a:pt x="1517426" y="278032"/>
                </a:lnTo>
                <a:lnTo>
                  <a:pt x="1544048" y="298964"/>
                </a:lnTo>
                <a:lnTo>
                  <a:pt x="1570669" y="322865"/>
                </a:lnTo>
                <a:lnTo>
                  <a:pt x="1597291" y="354661"/>
                </a:lnTo>
                <a:lnTo>
                  <a:pt x="1623912" y="384206"/>
                </a:lnTo>
                <a:lnTo>
                  <a:pt x="1650534" y="405352"/>
                </a:lnTo>
                <a:lnTo>
                  <a:pt x="1677155" y="429298"/>
                </a:lnTo>
                <a:lnTo>
                  <a:pt x="1703777" y="445513"/>
                </a:lnTo>
                <a:lnTo>
                  <a:pt x="1730398" y="469750"/>
                </a:lnTo>
                <a:lnTo>
                  <a:pt x="1757020" y="490276"/>
                </a:lnTo>
                <a:lnTo>
                  <a:pt x="1783641" y="506920"/>
                </a:lnTo>
                <a:lnTo>
                  <a:pt x="1810263" y="524297"/>
                </a:lnTo>
                <a:lnTo>
                  <a:pt x="1836884" y="532893"/>
                </a:lnTo>
                <a:lnTo>
                  <a:pt x="1863506" y="546157"/>
                </a:lnTo>
                <a:lnTo>
                  <a:pt x="1890127" y="552293"/>
                </a:lnTo>
                <a:lnTo>
                  <a:pt x="1916749" y="567056"/>
                </a:lnTo>
                <a:lnTo>
                  <a:pt x="1943370" y="575665"/>
                </a:lnTo>
                <a:lnTo>
                  <a:pt x="1969992" y="581255"/>
                </a:lnTo>
                <a:lnTo>
                  <a:pt x="1996613" y="585259"/>
                </a:lnTo>
                <a:lnTo>
                  <a:pt x="2023235" y="578991"/>
                </a:lnTo>
                <a:lnTo>
                  <a:pt x="2049856" y="594709"/>
                </a:lnTo>
                <a:lnTo>
                  <a:pt x="2076478" y="597875"/>
                </a:lnTo>
                <a:lnTo>
                  <a:pt x="2103099" y="599910"/>
                </a:lnTo>
                <a:lnTo>
                  <a:pt x="2129721" y="601002"/>
                </a:lnTo>
                <a:lnTo>
                  <a:pt x="2156342" y="588522"/>
                </a:lnTo>
                <a:lnTo>
                  <a:pt x="2182964" y="604219"/>
                </a:lnTo>
                <a:lnTo>
                  <a:pt x="2209585" y="605219"/>
                </a:lnTo>
                <a:lnTo>
                  <a:pt x="2236207" y="601849"/>
                </a:lnTo>
                <a:lnTo>
                  <a:pt x="2262828" y="605279"/>
                </a:lnTo>
                <a:lnTo>
                  <a:pt x="2289450" y="593688"/>
                </a:lnTo>
                <a:lnTo>
                  <a:pt x="2316071" y="605513"/>
                </a:lnTo>
                <a:lnTo>
                  <a:pt x="2342693" y="602542"/>
                </a:lnTo>
                <a:lnTo>
                  <a:pt x="2369314" y="601901"/>
                </a:lnTo>
                <a:lnTo>
                  <a:pt x="2395936" y="604872"/>
                </a:lnTo>
                <a:lnTo>
                  <a:pt x="2422557" y="599278"/>
                </a:lnTo>
                <a:lnTo>
                  <a:pt x="2449179" y="604062"/>
                </a:lnTo>
                <a:lnTo>
                  <a:pt x="2475800" y="598286"/>
                </a:lnTo>
                <a:lnTo>
                  <a:pt x="2502422" y="601991"/>
                </a:lnTo>
                <a:lnTo>
                  <a:pt x="2529043" y="603561"/>
                </a:lnTo>
                <a:lnTo>
                  <a:pt x="2555665" y="605160"/>
                </a:lnTo>
                <a:lnTo>
                  <a:pt x="2555665" y="628775"/>
                </a:lnTo>
                <a:close/>
              </a:path>
            </a:pathLst>
          </a:custGeom>
          <a:solidFill>
            <a:srgbClr val="55637A">
              <a:alpha val="14000"/>
            </a:srgbClr>
          </a:solidFill>
          <a:ln w="16510">
            <a:solidFill>
              <a:srgbClr val="55637A"/>
            </a:solidFill>
            <a:prstDash val="solid"/>
          </a:ln>
        </p:spPr>
      </p:sp>
      <p:sp>
        <p:nvSpPr>
          <p:cNvPr id="17" name="Shape 15"/>
          <p:cNvSpPr/>
          <p:nvPr/>
        </p:nvSpPr>
        <p:spPr>
          <a:xfrm>
            <a:off x="8007650" y="2987511"/>
            <a:ext cx="2555665" cy="0"/>
          </a:xfrm>
          <a:prstGeom prst="line">
            <a:avLst/>
          </a:prstGeom>
          <a:noFill/>
          <a:ln w="20320">
            <a:solidFill>
              <a:srgbClr val="15181C">
                <a:alpha val="55000"/>
              </a:srgbClr>
            </a:solidFill>
            <a:prstDash val="solid"/>
          </a:ln>
        </p:spPr>
      </p:sp>
      <p:sp>
        <p:nvSpPr>
          <p:cNvPr id="18" name="Shape 16"/>
          <p:cNvSpPr/>
          <p:nvPr/>
        </p:nvSpPr>
        <p:spPr>
          <a:xfrm>
            <a:off x="9153643"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19" name="Text 17"/>
          <p:cNvSpPr txBox="1"/>
          <p:nvPr/>
        </p:nvSpPr>
        <p:spPr>
          <a:xfrm>
            <a:off x="8007650" y="3109209"/>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element</a:t>
            </a:r>
            <a:endParaRPr lang="en-US" sz="1200" dirty="0"/>
          </a:p>
        </p:txBody>
      </p:sp>
      <p:sp>
        <p:nvSpPr>
          <p:cNvPr id="20" name="Shape 18"/>
          <p:cNvSpPr/>
          <p:nvPr/>
        </p:nvSpPr>
        <p:spPr>
          <a:xfrm>
            <a:off x="8007650" y="3677135"/>
            <a:ext cx="2555665" cy="628775"/>
          </a:xfrm>
          <a:custGeom>
            <a:avLst/>
            <a:gdLst/>
            <a:ahLst/>
            <a:cxnLst/>
            <a:rect l="l" t="t" r="r" b="b"/>
            <a:pathLst>
              <a:path w="2555665" h="628775">
                <a:moveTo>
                  <a:pt x="0" y="628775"/>
                </a:moveTo>
                <a:lnTo>
                  <a:pt x="0" y="608472"/>
                </a:lnTo>
                <a:lnTo>
                  <a:pt x="26622" y="604438"/>
                </a:lnTo>
                <a:lnTo>
                  <a:pt x="53243" y="602443"/>
                </a:lnTo>
                <a:lnTo>
                  <a:pt x="79865" y="597646"/>
                </a:lnTo>
                <a:lnTo>
                  <a:pt x="106486" y="600158"/>
                </a:lnTo>
                <a:lnTo>
                  <a:pt x="133108" y="603121"/>
                </a:lnTo>
                <a:lnTo>
                  <a:pt x="159729" y="606030"/>
                </a:lnTo>
                <a:lnTo>
                  <a:pt x="186351" y="601069"/>
                </a:lnTo>
                <a:lnTo>
                  <a:pt x="212972" y="599453"/>
                </a:lnTo>
                <a:lnTo>
                  <a:pt x="239594" y="599330"/>
                </a:lnTo>
                <a:lnTo>
                  <a:pt x="266215" y="600044"/>
                </a:lnTo>
                <a:lnTo>
                  <a:pt x="292837" y="607001"/>
                </a:lnTo>
                <a:lnTo>
                  <a:pt x="319458" y="601984"/>
                </a:lnTo>
                <a:lnTo>
                  <a:pt x="346080" y="600101"/>
                </a:lnTo>
                <a:lnTo>
                  <a:pt x="372701" y="601019"/>
                </a:lnTo>
                <a:lnTo>
                  <a:pt x="399323" y="599429"/>
                </a:lnTo>
                <a:lnTo>
                  <a:pt x="425944" y="601054"/>
                </a:lnTo>
                <a:lnTo>
                  <a:pt x="452566" y="604263"/>
                </a:lnTo>
                <a:lnTo>
                  <a:pt x="479187" y="599645"/>
                </a:lnTo>
                <a:lnTo>
                  <a:pt x="505809" y="603634"/>
                </a:lnTo>
                <a:lnTo>
                  <a:pt x="532430" y="599449"/>
                </a:lnTo>
                <a:lnTo>
                  <a:pt x="559052" y="594037"/>
                </a:lnTo>
                <a:lnTo>
                  <a:pt x="585673" y="605164"/>
                </a:lnTo>
                <a:lnTo>
                  <a:pt x="612295" y="598336"/>
                </a:lnTo>
                <a:lnTo>
                  <a:pt x="638916" y="603368"/>
                </a:lnTo>
                <a:lnTo>
                  <a:pt x="665538" y="596783"/>
                </a:lnTo>
                <a:lnTo>
                  <a:pt x="692159" y="586335"/>
                </a:lnTo>
                <a:lnTo>
                  <a:pt x="718781" y="598409"/>
                </a:lnTo>
                <a:lnTo>
                  <a:pt x="745402" y="595347"/>
                </a:lnTo>
                <a:lnTo>
                  <a:pt x="772024" y="593731"/>
                </a:lnTo>
                <a:lnTo>
                  <a:pt x="798645" y="588140"/>
                </a:lnTo>
                <a:lnTo>
                  <a:pt x="825267" y="576970"/>
                </a:lnTo>
                <a:lnTo>
                  <a:pt x="851888" y="588114"/>
                </a:lnTo>
                <a:lnTo>
                  <a:pt x="878510" y="582869"/>
                </a:lnTo>
                <a:lnTo>
                  <a:pt x="905131" y="580199"/>
                </a:lnTo>
                <a:lnTo>
                  <a:pt x="931753" y="572825"/>
                </a:lnTo>
                <a:lnTo>
                  <a:pt x="958374" y="565042"/>
                </a:lnTo>
                <a:lnTo>
                  <a:pt x="984996" y="571356"/>
                </a:lnTo>
                <a:lnTo>
                  <a:pt x="1011617" y="560210"/>
                </a:lnTo>
                <a:lnTo>
                  <a:pt x="1038239" y="563588"/>
                </a:lnTo>
                <a:lnTo>
                  <a:pt x="1064860" y="555168"/>
                </a:lnTo>
                <a:lnTo>
                  <a:pt x="1091482" y="552649"/>
                </a:lnTo>
                <a:lnTo>
                  <a:pt x="1118103" y="553679"/>
                </a:lnTo>
                <a:lnTo>
                  <a:pt x="1144725" y="540556"/>
                </a:lnTo>
                <a:lnTo>
                  <a:pt x="1171346" y="548788"/>
                </a:lnTo>
                <a:lnTo>
                  <a:pt x="1197968" y="543782"/>
                </a:lnTo>
                <a:lnTo>
                  <a:pt x="1224589" y="545511"/>
                </a:lnTo>
                <a:lnTo>
                  <a:pt x="1251211" y="545553"/>
                </a:lnTo>
                <a:lnTo>
                  <a:pt x="1277832" y="533106"/>
                </a:lnTo>
                <a:lnTo>
                  <a:pt x="1304454" y="542468"/>
                </a:lnTo>
                <a:lnTo>
                  <a:pt x="1331075" y="545973"/>
                </a:lnTo>
                <a:lnTo>
                  <a:pt x="1357697" y="548930"/>
                </a:lnTo>
                <a:lnTo>
                  <a:pt x="1384318" y="551510"/>
                </a:lnTo>
                <a:lnTo>
                  <a:pt x="1410940" y="541451"/>
                </a:lnTo>
                <a:lnTo>
                  <a:pt x="1437561" y="547648"/>
                </a:lnTo>
                <a:lnTo>
                  <a:pt x="1464183" y="557404"/>
                </a:lnTo>
                <a:lnTo>
                  <a:pt x="1490805" y="562274"/>
                </a:lnTo>
                <a:lnTo>
                  <a:pt x="1517426" y="562199"/>
                </a:lnTo>
                <a:lnTo>
                  <a:pt x="1544048" y="560368"/>
                </a:lnTo>
                <a:lnTo>
                  <a:pt x="1570669" y="561225"/>
                </a:lnTo>
                <a:lnTo>
                  <a:pt x="1597291" y="570106"/>
                </a:lnTo>
                <a:lnTo>
                  <a:pt x="1623912" y="577235"/>
                </a:lnTo>
                <a:lnTo>
                  <a:pt x="1650534" y="576785"/>
                </a:lnTo>
                <a:lnTo>
                  <a:pt x="1677155" y="580218"/>
                </a:lnTo>
                <a:lnTo>
                  <a:pt x="1703777" y="577212"/>
                </a:lnTo>
                <a:lnTo>
                  <a:pt x="1730398" y="583671"/>
                </a:lnTo>
                <a:lnTo>
                  <a:pt x="1757020" y="587955"/>
                </a:lnTo>
                <a:lnTo>
                  <a:pt x="1783641" y="589941"/>
                </a:lnTo>
                <a:lnTo>
                  <a:pt x="1810263" y="594241"/>
                </a:lnTo>
                <a:lnTo>
                  <a:pt x="1836884" y="591306"/>
                </a:lnTo>
                <a:lnTo>
                  <a:pt x="1863506" y="594511"/>
                </a:lnTo>
                <a:lnTo>
                  <a:pt x="1890127" y="591971"/>
                </a:lnTo>
                <a:lnTo>
                  <a:pt x="1916749" y="599330"/>
                </a:lnTo>
                <a:lnTo>
                  <a:pt x="1943370" y="601687"/>
                </a:lnTo>
                <a:lnTo>
                  <a:pt x="1969992" y="602052"/>
                </a:lnTo>
                <a:lnTo>
                  <a:pt x="1996613" y="601735"/>
                </a:lnTo>
                <a:lnTo>
                  <a:pt x="2023235" y="591929"/>
                </a:lnTo>
                <a:lnTo>
                  <a:pt x="2049856" y="604781"/>
                </a:lnTo>
                <a:lnTo>
                  <a:pt x="2076478" y="605646"/>
                </a:lnTo>
                <a:lnTo>
                  <a:pt x="2103099" y="605854"/>
                </a:lnTo>
                <a:lnTo>
                  <a:pt x="2129721" y="605508"/>
                </a:lnTo>
                <a:lnTo>
                  <a:pt x="2156342" y="591909"/>
                </a:lnTo>
                <a:lnTo>
                  <a:pt x="2182964" y="606742"/>
                </a:lnTo>
                <a:lnTo>
                  <a:pt x="2209585" y="607082"/>
                </a:lnTo>
                <a:lnTo>
                  <a:pt x="2236207" y="603213"/>
                </a:lnTo>
                <a:lnTo>
                  <a:pt x="2262828" y="606268"/>
                </a:lnTo>
                <a:lnTo>
                  <a:pt x="2289450" y="594400"/>
                </a:lnTo>
                <a:lnTo>
                  <a:pt x="2316071" y="606020"/>
                </a:lnTo>
                <a:lnTo>
                  <a:pt x="2342693" y="602900"/>
                </a:lnTo>
                <a:lnTo>
                  <a:pt x="2369314" y="602152"/>
                </a:lnTo>
                <a:lnTo>
                  <a:pt x="2395936" y="605047"/>
                </a:lnTo>
                <a:lnTo>
                  <a:pt x="2422557" y="599398"/>
                </a:lnTo>
                <a:lnTo>
                  <a:pt x="2449179" y="604144"/>
                </a:lnTo>
                <a:lnTo>
                  <a:pt x="2475800" y="598341"/>
                </a:lnTo>
                <a:lnTo>
                  <a:pt x="2502422" y="602028"/>
                </a:lnTo>
                <a:lnTo>
                  <a:pt x="2529043" y="603585"/>
                </a:lnTo>
                <a:lnTo>
                  <a:pt x="2555665" y="605176"/>
                </a:lnTo>
                <a:lnTo>
                  <a:pt x="2555665" y="628775"/>
                </a:lnTo>
                <a:close/>
              </a:path>
            </a:pathLst>
          </a:custGeom>
          <a:solidFill>
            <a:srgbClr val="E2622F">
              <a:alpha val="12000"/>
            </a:srgbClr>
          </a:solidFill>
          <a:ln w="16510">
            <a:solidFill>
              <a:srgbClr val="E2622F"/>
            </a:solidFill>
            <a:prstDash val="solid"/>
          </a:ln>
        </p:spPr>
      </p:sp>
      <p:sp>
        <p:nvSpPr>
          <p:cNvPr id="21" name="Shape 19"/>
          <p:cNvSpPr/>
          <p:nvPr/>
        </p:nvSpPr>
        <p:spPr>
          <a:xfrm>
            <a:off x="8007650" y="4305910"/>
            <a:ext cx="2555665" cy="0"/>
          </a:xfrm>
          <a:prstGeom prst="line">
            <a:avLst/>
          </a:prstGeom>
          <a:noFill/>
          <a:ln w="20320">
            <a:solidFill>
              <a:srgbClr val="15181C">
                <a:alpha val="55000"/>
              </a:srgbClr>
            </a:solidFill>
            <a:prstDash val="solid"/>
          </a:ln>
        </p:spPr>
      </p:sp>
      <p:sp>
        <p:nvSpPr>
          <p:cNvPr id="22" name="Shape 20"/>
          <p:cNvSpPr/>
          <p:nvPr/>
        </p:nvSpPr>
        <p:spPr>
          <a:xfrm>
            <a:off x="9133360" y="4239990"/>
            <a:ext cx="304246" cy="131840"/>
          </a:xfrm>
          <a:prstGeom prst="roundRect">
            <a:avLst>
              <a:gd name="adj" fmla="val 13871"/>
            </a:avLst>
          </a:prstGeom>
          <a:solidFill>
            <a:srgbClr val="E2622F">
              <a:alpha val="14000"/>
            </a:srgbClr>
          </a:solidFill>
          <a:ln w="9525">
            <a:solidFill>
              <a:srgbClr val="E2622F"/>
            </a:solidFill>
            <a:prstDash val="solid"/>
          </a:ln>
        </p:spPr>
      </p:sp>
      <p:sp>
        <p:nvSpPr>
          <p:cNvPr id="23" name="Shape 21"/>
          <p:cNvSpPr/>
          <p:nvPr/>
        </p:nvSpPr>
        <p:spPr>
          <a:xfrm>
            <a:off x="9133360" y="4255202"/>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24" name="Text 22"/>
          <p:cNvSpPr txBox="1"/>
          <p:nvPr/>
        </p:nvSpPr>
        <p:spPr>
          <a:xfrm>
            <a:off x="8007650" y="4427608"/>
            <a:ext cx="2636797" cy="202831"/>
          </a:xfrm>
          <a:prstGeom prst="rect">
            <a:avLst/>
          </a:prstGeom>
          <a:noFill/>
          <a:ln/>
        </p:spPr>
        <p:txBody>
          <a:bodyPr wrap="square" lIns="0" tIns="0" rIns="0" bIns="0" rtlCol="0" anchor="ctr"/>
          <a:lstStyle/>
          <a:p>
            <a:pPr algn="l" indent="0" marL="0">
              <a:lnSpc>
                <a:spcPct val="95000"/>
              </a:lnSpc>
              <a:buNone/>
            </a:pPr>
            <a:r>
              <a:rPr lang="en-US" sz="1200" dirty="0">
                <a:solidFill>
                  <a:srgbClr val="A2380F"/>
                </a:solidFill>
                <a:latin typeface="Arial" pitchFamily="34" charset="0"/>
                <a:ea typeface="Arial" pitchFamily="34" charset="-122"/>
                <a:cs typeface="Arial" pitchFamily="34" charset="-120"/>
              </a:rPr>
              <a:t>the same letters, shuffled</a:t>
            </a:r>
            <a:endParaRPr lang="en-US" sz="1200" dirty="0"/>
          </a:p>
        </p:txBody>
      </p:sp>
      <p:sp>
        <p:nvSpPr>
          <p:cNvPr id="25" name="Text 23"/>
          <p:cNvSpPr txBox="1"/>
          <p:nvPr/>
        </p:nvSpPr>
        <p:spPr>
          <a:xfrm>
            <a:off x="8007650" y="4650722"/>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host is in both, so it cancels</a:t>
            </a:r>
            <a:endParaRPr lang="en-US" sz="1100" dirty="0"/>
          </a:p>
        </p:txBody>
      </p:sp>
      <p:sp>
        <p:nvSpPr>
          <p:cNvPr id="26" name="Shape 24"/>
          <p:cNvSpPr/>
          <p:nvPr/>
        </p:nvSpPr>
        <p:spPr>
          <a:xfrm>
            <a:off x="10806712" y="2521001"/>
            <a:ext cx="0" cy="1703777"/>
          </a:xfrm>
          <a:prstGeom prst="line">
            <a:avLst/>
          </a:prstGeom>
          <a:noFill/>
          <a:ln w="15240">
            <a:solidFill>
              <a:srgbClr val="15181C"/>
            </a:solidFill>
            <a:prstDash val="solid"/>
          </a:ln>
        </p:spPr>
      </p:sp>
      <p:sp>
        <p:nvSpPr>
          <p:cNvPr id="27" name="Shape 25"/>
          <p:cNvSpPr/>
          <p:nvPr/>
        </p:nvSpPr>
        <p:spPr>
          <a:xfrm>
            <a:off x="10806712" y="2521001"/>
            <a:ext cx="70991" cy="0"/>
          </a:xfrm>
          <a:prstGeom prst="line">
            <a:avLst/>
          </a:prstGeom>
          <a:noFill/>
          <a:ln w="15240">
            <a:solidFill>
              <a:srgbClr val="15181C"/>
            </a:solidFill>
            <a:prstDash val="solid"/>
          </a:ln>
        </p:spPr>
      </p:sp>
      <p:sp>
        <p:nvSpPr>
          <p:cNvPr id="28" name="Shape 26"/>
          <p:cNvSpPr/>
          <p:nvPr/>
        </p:nvSpPr>
        <p:spPr>
          <a:xfrm>
            <a:off x="10806712" y="4224777"/>
            <a:ext cx="70991" cy="0"/>
          </a:xfrm>
          <a:prstGeom prst="line">
            <a:avLst/>
          </a:prstGeom>
          <a:noFill/>
          <a:ln w="15240">
            <a:solidFill>
              <a:srgbClr val="15181C"/>
            </a:solidFill>
            <a:prstDash val="solid"/>
          </a:ln>
        </p:spPr>
      </p:sp>
      <p:sp>
        <p:nvSpPr>
          <p:cNvPr id="29" name="Text 27"/>
          <p:cNvSpPr txBox="1"/>
          <p:nvPr/>
        </p:nvSpPr>
        <p:spPr>
          <a:xfrm>
            <a:off x="10938552" y="3271474"/>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effect</a:t>
            </a:r>
            <a:endParaRPr lang="en-US" sz="1200" dirty="0"/>
          </a:p>
        </p:txBody>
      </p:sp>
      <p:sp>
        <p:nvSpPr>
          <p:cNvPr id="30" name="Shape 28"/>
          <p:cNvSpPr/>
          <p:nvPr/>
        </p:nvSpPr>
        <p:spPr>
          <a:xfrm>
            <a:off x="3687360" y="2825247"/>
            <a:ext cx="608492" cy="0"/>
          </a:xfrm>
          <a:prstGeom prst="line">
            <a:avLst/>
          </a:prstGeom>
          <a:noFill/>
          <a:ln w="15240">
            <a:solidFill>
              <a:srgbClr val="5A6471">
                <a:alpha val="65000"/>
              </a:srgbClr>
            </a:solidFill>
            <a:prstDash val="solid"/>
            <a:tailEnd type="triangle"/>
          </a:ln>
        </p:spPr>
      </p:sp>
      <p:sp>
        <p:nvSpPr>
          <p:cNvPr id="31" name="Shape 29"/>
          <p:cNvSpPr/>
          <p:nvPr/>
        </p:nvSpPr>
        <p:spPr>
          <a:xfrm>
            <a:off x="7216611" y="2825247"/>
            <a:ext cx="608492" cy="0"/>
          </a:xfrm>
          <a:prstGeom prst="line">
            <a:avLst/>
          </a:prstGeom>
          <a:noFill/>
          <a:ln w="15240">
            <a:solidFill>
              <a:srgbClr val="5A6471">
                <a:alpha val="65000"/>
              </a:srgbClr>
            </a:solidFill>
            <a:prstDash val="solid"/>
            <a:tailEnd type="triangle"/>
          </a:ln>
        </p:spPr>
      </p:sp>
      <p:sp>
        <p:nvSpPr>
          <p:cNvPr id="32" name="Shape 30"/>
          <p:cNvSpPr/>
          <p:nvPr/>
        </p:nvSpPr>
        <p:spPr>
          <a:xfrm>
            <a:off x="644901" y="4914401"/>
            <a:ext cx="10871717" cy="0"/>
          </a:xfrm>
          <a:prstGeom prst="line">
            <a:avLst/>
          </a:prstGeom>
          <a:noFill/>
          <a:ln w="12700">
            <a:solidFill>
              <a:srgbClr val="AFB5BD"/>
            </a:solidFill>
            <a:prstDash val="dash"/>
          </a:ln>
        </p:spPr>
      </p:sp>
      <p:sp>
        <p:nvSpPr>
          <p:cNvPr id="33" name="Text 31"/>
          <p:cNvSpPr txBox="1"/>
          <p:nvPr/>
        </p:nvSpPr>
        <p:spPr>
          <a:xfrm>
            <a:off x="644901" y="5036100"/>
            <a:ext cx="8113222"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20 backgrounds per element   ·   50 elements per class   ·   whole-peak width</a:t>
            </a:r>
            <a:endParaRPr lang="en-US" sz="1100" dirty="0"/>
          </a:p>
        </p:txBody>
      </p:sp>
      <p:sp>
        <p:nvSpPr>
          <p:cNvPr id="34" name="Shape 32"/>
          <p:cNvSpPr/>
          <p:nvPr/>
        </p:nvSpPr>
        <p:spPr>
          <a:xfrm>
            <a:off x="502920" y="5989320"/>
            <a:ext cx="50292" cy="566928"/>
          </a:xfrm>
          <a:prstGeom prst="rect">
            <a:avLst/>
          </a:prstGeom>
          <a:solidFill>
            <a:srgbClr val="3F3F3F"/>
          </a:solidFill>
          <a:ln w="12700">
            <a:solidFill>
              <a:srgbClr val="333333"/>
            </a:solidFill>
            <a:prstDash val="solid"/>
          </a:ln>
        </p:spPr>
      </p:sp>
      <p:sp>
        <p:nvSpPr>
          <p:cNvPr id="35" name="Text 33"/>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 Up = AP-1 gained, Down = AP-1 lost;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sp>
        <p:nvSpPr>
          <p:cNvPr id="3" name="Text 1"/>
          <p:cNvSpPr txBox="1"/>
          <p:nvPr/>
        </p:nvSpPr>
        <p:spPr>
          <a:xfrm>
            <a:off x="949147"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DONOR</a:t>
            </a:r>
            <a:endParaRPr lang="en-US" sz="1300" dirty="0"/>
          </a:p>
        </p:txBody>
      </p:sp>
      <p:sp>
        <p:nvSpPr>
          <p:cNvPr id="4" name="Text 2"/>
          <p:cNvSpPr txBox="1"/>
          <p:nvPr/>
        </p:nvSpPr>
        <p:spPr>
          <a:xfrm>
            <a:off x="949147" y="2216755"/>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strong element</a:t>
            </a:r>
            <a:endParaRPr lang="en-US" sz="1100" dirty="0"/>
          </a:p>
        </p:txBody>
      </p:sp>
      <p:sp>
        <p:nvSpPr>
          <p:cNvPr id="5" name="Shape 3"/>
          <p:cNvSpPr/>
          <p:nvPr/>
        </p:nvSpPr>
        <p:spPr>
          <a:xfrm>
            <a:off x="949147" y="2237038"/>
            <a:ext cx="2352834" cy="628775"/>
          </a:xfrm>
          <a:custGeom>
            <a:avLst/>
            <a:gdLst/>
            <a:ahLst/>
            <a:cxnLst/>
            <a:rect l="l" t="t" r="r" b="b"/>
            <a:pathLst>
              <a:path w="2352834" h="628775">
                <a:moveTo>
                  <a:pt x="0" y="628775"/>
                </a:moveTo>
                <a:lnTo>
                  <a:pt x="0" y="606942"/>
                </a:lnTo>
                <a:lnTo>
                  <a:pt x="24509" y="606304"/>
                </a:lnTo>
                <a:lnTo>
                  <a:pt x="49017" y="595018"/>
                </a:lnTo>
                <a:lnTo>
                  <a:pt x="73526" y="599882"/>
                </a:lnTo>
                <a:lnTo>
                  <a:pt x="98035" y="607936"/>
                </a:lnTo>
                <a:lnTo>
                  <a:pt x="122543" y="604498"/>
                </a:lnTo>
                <a:lnTo>
                  <a:pt x="147052" y="606291"/>
                </a:lnTo>
                <a:lnTo>
                  <a:pt x="171561" y="598088"/>
                </a:lnTo>
                <a:lnTo>
                  <a:pt x="196070" y="596310"/>
                </a:lnTo>
                <a:lnTo>
                  <a:pt x="220578" y="602861"/>
                </a:lnTo>
                <a:lnTo>
                  <a:pt x="245087" y="601451"/>
                </a:lnTo>
                <a:lnTo>
                  <a:pt x="269596" y="600148"/>
                </a:lnTo>
                <a:lnTo>
                  <a:pt x="294104" y="599539"/>
                </a:lnTo>
                <a:lnTo>
                  <a:pt x="318613" y="591436"/>
                </a:lnTo>
                <a:lnTo>
                  <a:pt x="343122" y="595045"/>
                </a:lnTo>
                <a:lnTo>
                  <a:pt x="367630" y="593176"/>
                </a:lnTo>
                <a:lnTo>
                  <a:pt x="392139" y="589927"/>
                </a:lnTo>
                <a:lnTo>
                  <a:pt x="416648" y="592835"/>
                </a:lnTo>
                <a:lnTo>
                  <a:pt x="441156" y="581066"/>
                </a:lnTo>
                <a:lnTo>
                  <a:pt x="465665" y="579582"/>
                </a:lnTo>
                <a:lnTo>
                  <a:pt x="490174" y="571565"/>
                </a:lnTo>
                <a:lnTo>
                  <a:pt x="514683" y="567835"/>
                </a:lnTo>
                <a:lnTo>
                  <a:pt x="539191" y="567579"/>
                </a:lnTo>
                <a:lnTo>
                  <a:pt x="563700" y="554303"/>
                </a:lnTo>
                <a:lnTo>
                  <a:pt x="588209" y="544410"/>
                </a:lnTo>
                <a:lnTo>
                  <a:pt x="612717" y="524779"/>
                </a:lnTo>
                <a:lnTo>
                  <a:pt x="637226" y="519767"/>
                </a:lnTo>
                <a:lnTo>
                  <a:pt x="661735" y="509853"/>
                </a:lnTo>
                <a:lnTo>
                  <a:pt x="686243" y="492835"/>
                </a:lnTo>
                <a:lnTo>
                  <a:pt x="710752" y="474258"/>
                </a:lnTo>
                <a:lnTo>
                  <a:pt x="735261" y="441743"/>
                </a:lnTo>
                <a:lnTo>
                  <a:pt x="759769" y="432503"/>
                </a:lnTo>
                <a:lnTo>
                  <a:pt x="784278" y="411558"/>
                </a:lnTo>
                <a:lnTo>
                  <a:pt x="808787" y="382679"/>
                </a:lnTo>
                <a:lnTo>
                  <a:pt x="833295" y="363521"/>
                </a:lnTo>
                <a:lnTo>
                  <a:pt x="857804" y="324213"/>
                </a:lnTo>
                <a:lnTo>
                  <a:pt x="882313" y="309309"/>
                </a:lnTo>
                <a:lnTo>
                  <a:pt x="906822" y="281390"/>
                </a:lnTo>
                <a:lnTo>
                  <a:pt x="931330" y="249921"/>
                </a:lnTo>
                <a:lnTo>
                  <a:pt x="955839" y="232250"/>
                </a:lnTo>
                <a:lnTo>
                  <a:pt x="980348" y="199172"/>
                </a:lnTo>
                <a:lnTo>
                  <a:pt x="1004856" y="182463"/>
                </a:lnTo>
                <a:lnTo>
                  <a:pt x="1029365" y="157423"/>
                </a:lnTo>
                <a:lnTo>
                  <a:pt x="1053874" y="136926"/>
                </a:lnTo>
                <a:lnTo>
                  <a:pt x="1078382" y="127538"/>
                </a:lnTo>
                <a:lnTo>
                  <a:pt x="1102891" y="114570"/>
                </a:lnTo>
                <a:lnTo>
                  <a:pt x="1127400" y="104188"/>
                </a:lnTo>
                <a:lnTo>
                  <a:pt x="1151908" y="92493"/>
                </a:lnTo>
                <a:lnTo>
                  <a:pt x="1176417" y="92413"/>
                </a:lnTo>
                <a:lnTo>
                  <a:pt x="1200926" y="98446"/>
                </a:lnTo>
                <a:lnTo>
                  <a:pt x="1225435" y="106509"/>
                </a:lnTo>
                <a:lnTo>
                  <a:pt x="1249943" y="113734"/>
                </a:lnTo>
                <a:lnTo>
                  <a:pt x="1274452" y="118999"/>
                </a:lnTo>
                <a:lnTo>
                  <a:pt x="1298961" y="137564"/>
                </a:lnTo>
                <a:lnTo>
                  <a:pt x="1323469" y="160423"/>
                </a:lnTo>
                <a:lnTo>
                  <a:pt x="1347978" y="179687"/>
                </a:lnTo>
                <a:lnTo>
                  <a:pt x="1372487" y="207379"/>
                </a:lnTo>
                <a:lnTo>
                  <a:pt x="1396995" y="223792"/>
                </a:lnTo>
                <a:lnTo>
                  <a:pt x="1421504" y="249257"/>
                </a:lnTo>
                <a:lnTo>
                  <a:pt x="1446013" y="283131"/>
                </a:lnTo>
                <a:lnTo>
                  <a:pt x="1470521" y="304102"/>
                </a:lnTo>
                <a:lnTo>
                  <a:pt x="1495030" y="335139"/>
                </a:lnTo>
                <a:lnTo>
                  <a:pt x="1519539" y="358700"/>
                </a:lnTo>
                <a:lnTo>
                  <a:pt x="1544048" y="378355"/>
                </a:lnTo>
                <a:lnTo>
                  <a:pt x="1568556" y="412011"/>
                </a:lnTo>
                <a:lnTo>
                  <a:pt x="1593065" y="427737"/>
                </a:lnTo>
                <a:lnTo>
                  <a:pt x="1617574" y="448856"/>
                </a:lnTo>
                <a:lnTo>
                  <a:pt x="1642082" y="475367"/>
                </a:lnTo>
                <a:lnTo>
                  <a:pt x="1666591" y="484055"/>
                </a:lnTo>
                <a:lnTo>
                  <a:pt x="1691100" y="506882"/>
                </a:lnTo>
                <a:lnTo>
                  <a:pt x="1715608" y="516651"/>
                </a:lnTo>
                <a:lnTo>
                  <a:pt x="1740117" y="526999"/>
                </a:lnTo>
                <a:lnTo>
                  <a:pt x="1764626" y="547270"/>
                </a:lnTo>
                <a:lnTo>
                  <a:pt x="1789134" y="552358"/>
                </a:lnTo>
                <a:lnTo>
                  <a:pt x="1813643" y="563754"/>
                </a:lnTo>
                <a:lnTo>
                  <a:pt x="1838152" y="565360"/>
                </a:lnTo>
                <a:lnTo>
                  <a:pt x="1862661" y="570344"/>
                </a:lnTo>
                <a:lnTo>
                  <a:pt x="1887169" y="583915"/>
                </a:lnTo>
                <a:lnTo>
                  <a:pt x="1911678" y="589995"/>
                </a:lnTo>
                <a:lnTo>
                  <a:pt x="1936187" y="591995"/>
                </a:lnTo>
                <a:lnTo>
                  <a:pt x="1960695" y="585976"/>
                </a:lnTo>
                <a:lnTo>
                  <a:pt x="1985204" y="591115"/>
                </a:lnTo>
                <a:lnTo>
                  <a:pt x="2009713" y="599970"/>
                </a:lnTo>
                <a:lnTo>
                  <a:pt x="2034221" y="597249"/>
                </a:lnTo>
                <a:lnTo>
                  <a:pt x="2058730" y="603906"/>
                </a:lnTo>
                <a:lnTo>
                  <a:pt x="2083239" y="593448"/>
                </a:lnTo>
                <a:lnTo>
                  <a:pt x="2107747" y="600279"/>
                </a:lnTo>
                <a:lnTo>
                  <a:pt x="2132256" y="605506"/>
                </a:lnTo>
                <a:lnTo>
                  <a:pt x="2156765" y="596051"/>
                </a:lnTo>
                <a:lnTo>
                  <a:pt x="2181273" y="607422"/>
                </a:lnTo>
                <a:lnTo>
                  <a:pt x="2205782" y="597805"/>
                </a:lnTo>
                <a:lnTo>
                  <a:pt x="2230291" y="603834"/>
                </a:lnTo>
                <a:lnTo>
                  <a:pt x="2254800" y="605782"/>
                </a:lnTo>
                <a:lnTo>
                  <a:pt x="2279308" y="594889"/>
                </a:lnTo>
                <a:lnTo>
                  <a:pt x="2303817" y="606481"/>
                </a:lnTo>
                <a:lnTo>
                  <a:pt x="2328326" y="603143"/>
                </a:lnTo>
                <a:lnTo>
                  <a:pt x="2352834" y="604704"/>
                </a:lnTo>
                <a:lnTo>
                  <a:pt x="2352834" y="628775"/>
                </a:lnTo>
                <a:close/>
              </a:path>
            </a:pathLst>
          </a:custGeom>
          <a:solidFill>
            <a:srgbClr val="55637A">
              <a:alpha val="14000"/>
            </a:srgbClr>
          </a:solidFill>
          <a:ln w="16510">
            <a:solidFill>
              <a:srgbClr val="55637A"/>
            </a:solidFill>
            <a:prstDash val="solid"/>
          </a:ln>
        </p:spPr>
      </p:sp>
      <p:sp>
        <p:nvSpPr>
          <p:cNvPr id="6" name="Shape 4"/>
          <p:cNvSpPr/>
          <p:nvPr/>
        </p:nvSpPr>
        <p:spPr>
          <a:xfrm>
            <a:off x="949147" y="2865813"/>
            <a:ext cx="2352834" cy="0"/>
          </a:xfrm>
          <a:prstGeom prst="line">
            <a:avLst/>
          </a:prstGeom>
          <a:noFill/>
          <a:ln w="20320">
            <a:solidFill>
              <a:srgbClr val="15181C">
                <a:alpha val="55000"/>
              </a:srgbClr>
            </a:solidFill>
            <a:prstDash val="solid"/>
          </a:ln>
        </p:spPr>
      </p:sp>
      <p:sp>
        <p:nvSpPr>
          <p:cNvPr id="7" name="Shape 5"/>
          <p:cNvSpPr/>
          <p:nvPr/>
        </p:nvSpPr>
        <p:spPr>
          <a:xfrm>
            <a:off x="1993725" y="2810034"/>
            <a:ext cx="263680"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3656852"/>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RECIPIENT</a:t>
            </a:r>
            <a:endParaRPr lang="en-US" sz="1300" dirty="0"/>
          </a:p>
        </p:txBody>
      </p:sp>
      <p:sp>
        <p:nvSpPr>
          <p:cNvPr id="9" name="Text 7"/>
          <p:cNvSpPr txBox="1"/>
          <p:nvPr/>
        </p:nvSpPr>
        <p:spPr>
          <a:xfrm>
            <a:off x="949147" y="383939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weak location</a:t>
            </a:r>
            <a:endParaRPr lang="en-US" sz="1100" dirty="0"/>
          </a:p>
        </p:txBody>
      </p:sp>
      <p:sp>
        <p:nvSpPr>
          <p:cNvPr id="10" name="Shape 8"/>
          <p:cNvSpPr/>
          <p:nvPr/>
        </p:nvSpPr>
        <p:spPr>
          <a:xfrm>
            <a:off x="949147" y="3575720"/>
            <a:ext cx="2352834" cy="628775"/>
          </a:xfrm>
          <a:custGeom>
            <a:avLst/>
            <a:gdLst/>
            <a:ahLst/>
            <a:cxnLst/>
            <a:rect l="l" t="t" r="r" b="b"/>
            <a:pathLst>
              <a:path w="2352834" h="628775">
                <a:moveTo>
                  <a:pt x="0" y="628775"/>
                </a:moveTo>
                <a:lnTo>
                  <a:pt x="0" y="600547"/>
                </a:lnTo>
                <a:lnTo>
                  <a:pt x="24509" y="606438"/>
                </a:lnTo>
                <a:lnTo>
                  <a:pt x="49017" y="598080"/>
                </a:lnTo>
                <a:lnTo>
                  <a:pt x="73526" y="608405"/>
                </a:lnTo>
                <a:lnTo>
                  <a:pt x="98035" y="598719"/>
                </a:lnTo>
                <a:lnTo>
                  <a:pt x="122543" y="601945"/>
                </a:lnTo>
                <a:lnTo>
                  <a:pt x="147052" y="607465"/>
                </a:lnTo>
                <a:lnTo>
                  <a:pt x="171561" y="595740"/>
                </a:lnTo>
                <a:lnTo>
                  <a:pt x="196070" y="605134"/>
                </a:lnTo>
                <a:lnTo>
                  <a:pt x="220578" y="602589"/>
                </a:lnTo>
                <a:lnTo>
                  <a:pt x="245087" y="601904"/>
                </a:lnTo>
                <a:lnTo>
                  <a:pt x="269596" y="605529"/>
                </a:lnTo>
                <a:lnTo>
                  <a:pt x="294104" y="595391"/>
                </a:lnTo>
                <a:lnTo>
                  <a:pt x="318613" y="599921"/>
                </a:lnTo>
                <a:lnTo>
                  <a:pt x="343122" y="606297"/>
                </a:lnTo>
                <a:lnTo>
                  <a:pt x="367630" y="600604"/>
                </a:lnTo>
                <a:lnTo>
                  <a:pt x="392139" y="600148"/>
                </a:lnTo>
                <a:lnTo>
                  <a:pt x="416648" y="594108"/>
                </a:lnTo>
                <a:lnTo>
                  <a:pt x="441156" y="593108"/>
                </a:lnTo>
                <a:lnTo>
                  <a:pt x="465665" y="597109"/>
                </a:lnTo>
                <a:lnTo>
                  <a:pt x="490174" y="597300"/>
                </a:lnTo>
                <a:lnTo>
                  <a:pt x="514683" y="592103"/>
                </a:lnTo>
                <a:lnTo>
                  <a:pt x="539191" y="587393"/>
                </a:lnTo>
                <a:lnTo>
                  <a:pt x="563700" y="583108"/>
                </a:lnTo>
                <a:lnTo>
                  <a:pt x="588209" y="583790"/>
                </a:lnTo>
                <a:lnTo>
                  <a:pt x="612717" y="585734"/>
                </a:lnTo>
                <a:lnTo>
                  <a:pt x="637226" y="578100"/>
                </a:lnTo>
                <a:lnTo>
                  <a:pt x="661735" y="570554"/>
                </a:lnTo>
                <a:lnTo>
                  <a:pt x="686243" y="565982"/>
                </a:lnTo>
                <a:lnTo>
                  <a:pt x="710752" y="562287"/>
                </a:lnTo>
                <a:lnTo>
                  <a:pt x="735261" y="555506"/>
                </a:lnTo>
                <a:lnTo>
                  <a:pt x="759769" y="553871"/>
                </a:lnTo>
                <a:lnTo>
                  <a:pt x="784278" y="541547"/>
                </a:lnTo>
                <a:lnTo>
                  <a:pt x="808787" y="538355"/>
                </a:lnTo>
                <a:lnTo>
                  <a:pt x="833295" y="530108"/>
                </a:lnTo>
                <a:lnTo>
                  <a:pt x="857804" y="514679"/>
                </a:lnTo>
                <a:lnTo>
                  <a:pt x="882313" y="519032"/>
                </a:lnTo>
                <a:lnTo>
                  <a:pt x="906822" y="504802"/>
                </a:lnTo>
                <a:lnTo>
                  <a:pt x="931330" y="502876"/>
                </a:lnTo>
                <a:lnTo>
                  <a:pt x="955839" y="491775"/>
                </a:lnTo>
                <a:lnTo>
                  <a:pt x="980348" y="473275"/>
                </a:lnTo>
                <a:lnTo>
                  <a:pt x="1004856" y="481733"/>
                </a:lnTo>
                <a:lnTo>
                  <a:pt x="1029365" y="472613"/>
                </a:lnTo>
                <a:lnTo>
                  <a:pt x="1053874" y="468774"/>
                </a:lnTo>
                <a:lnTo>
                  <a:pt x="1078382" y="460315"/>
                </a:lnTo>
                <a:lnTo>
                  <a:pt x="1102891" y="446861"/>
                </a:lnTo>
                <a:lnTo>
                  <a:pt x="1127400" y="457107"/>
                </a:lnTo>
                <a:lnTo>
                  <a:pt x="1151908" y="453970"/>
                </a:lnTo>
                <a:lnTo>
                  <a:pt x="1176417" y="454804"/>
                </a:lnTo>
                <a:lnTo>
                  <a:pt x="1200926" y="450495"/>
                </a:lnTo>
                <a:lnTo>
                  <a:pt x="1225435" y="447502"/>
                </a:lnTo>
                <a:lnTo>
                  <a:pt x="1249943" y="457569"/>
                </a:lnTo>
                <a:lnTo>
                  <a:pt x="1274452" y="456308"/>
                </a:lnTo>
                <a:lnTo>
                  <a:pt x="1298961" y="468028"/>
                </a:lnTo>
                <a:lnTo>
                  <a:pt x="1323469" y="468072"/>
                </a:lnTo>
                <a:lnTo>
                  <a:pt x="1347978" y="474726"/>
                </a:lnTo>
                <a:lnTo>
                  <a:pt x="1372487" y="483622"/>
                </a:lnTo>
                <a:lnTo>
                  <a:pt x="1396995" y="483284"/>
                </a:lnTo>
                <a:lnTo>
                  <a:pt x="1421504" y="500205"/>
                </a:lnTo>
                <a:lnTo>
                  <a:pt x="1446013" y="505294"/>
                </a:lnTo>
                <a:lnTo>
                  <a:pt x="1470521" y="515647"/>
                </a:lnTo>
                <a:lnTo>
                  <a:pt x="1495030" y="523573"/>
                </a:lnTo>
                <a:lnTo>
                  <a:pt x="1519539" y="521884"/>
                </a:lnTo>
                <a:lnTo>
                  <a:pt x="1544048" y="535930"/>
                </a:lnTo>
                <a:lnTo>
                  <a:pt x="1568556" y="546980"/>
                </a:lnTo>
                <a:lnTo>
                  <a:pt x="1593065" y="554596"/>
                </a:lnTo>
                <a:lnTo>
                  <a:pt x="1617574" y="562388"/>
                </a:lnTo>
                <a:lnTo>
                  <a:pt x="1642082" y="557743"/>
                </a:lnTo>
                <a:lnTo>
                  <a:pt x="1666591" y="563559"/>
                </a:lnTo>
                <a:lnTo>
                  <a:pt x="1691100" y="577593"/>
                </a:lnTo>
                <a:lnTo>
                  <a:pt x="1715608" y="582809"/>
                </a:lnTo>
                <a:lnTo>
                  <a:pt x="1740117" y="584090"/>
                </a:lnTo>
                <a:lnTo>
                  <a:pt x="1764626" y="582883"/>
                </a:lnTo>
                <a:lnTo>
                  <a:pt x="1789134" y="580517"/>
                </a:lnTo>
                <a:lnTo>
                  <a:pt x="1813643" y="591416"/>
                </a:lnTo>
                <a:lnTo>
                  <a:pt x="1838152" y="596555"/>
                </a:lnTo>
                <a:lnTo>
                  <a:pt x="1862661" y="594631"/>
                </a:lnTo>
                <a:lnTo>
                  <a:pt x="1887169" y="596628"/>
                </a:lnTo>
                <a:lnTo>
                  <a:pt x="1911678" y="590505"/>
                </a:lnTo>
                <a:lnTo>
                  <a:pt x="1936187" y="598506"/>
                </a:lnTo>
                <a:lnTo>
                  <a:pt x="1960695" y="599120"/>
                </a:lnTo>
                <a:lnTo>
                  <a:pt x="1985204" y="599969"/>
                </a:lnTo>
                <a:lnTo>
                  <a:pt x="2009713" y="602340"/>
                </a:lnTo>
                <a:lnTo>
                  <a:pt x="2034221" y="597868"/>
                </a:lnTo>
                <a:lnTo>
                  <a:pt x="2058730" y="602927"/>
                </a:lnTo>
                <a:lnTo>
                  <a:pt x="2083239" y="596533"/>
                </a:lnTo>
                <a:lnTo>
                  <a:pt x="2107747" y="603302"/>
                </a:lnTo>
                <a:lnTo>
                  <a:pt x="2132256" y="604260"/>
                </a:lnTo>
                <a:lnTo>
                  <a:pt x="2156765" y="604425"/>
                </a:lnTo>
                <a:lnTo>
                  <a:pt x="2181273" y="606103"/>
                </a:lnTo>
                <a:lnTo>
                  <a:pt x="2205782" y="593280"/>
                </a:lnTo>
                <a:lnTo>
                  <a:pt x="2230291" y="605270"/>
                </a:lnTo>
                <a:lnTo>
                  <a:pt x="2254800" y="605829"/>
                </a:lnTo>
                <a:lnTo>
                  <a:pt x="2279308" y="607078"/>
                </a:lnTo>
                <a:lnTo>
                  <a:pt x="2303817" y="607586"/>
                </a:lnTo>
                <a:lnTo>
                  <a:pt x="2328326" y="592398"/>
                </a:lnTo>
                <a:lnTo>
                  <a:pt x="2352834" y="605402"/>
                </a:lnTo>
                <a:lnTo>
                  <a:pt x="2352834" y="628775"/>
                </a:lnTo>
                <a:close/>
              </a:path>
            </a:pathLst>
          </a:custGeom>
          <a:solidFill>
            <a:srgbClr val="55637A">
              <a:alpha val="14000"/>
            </a:srgbClr>
          </a:solidFill>
          <a:ln w="16510">
            <a:solidFill>
              <a:srgbClr val="55637A"/>
            </a:solidFill>
            <a:prstDash val="solid"/>
          </a:ln>
        </p:spPr>
      </p:sp>
      <p:sp>
        <p:nvSpPr>
          <p:cNvPr id="11" name="Shape 9"/>
          <p:cNvSpPr/>
          <p:nvPr/>
        </p:nvSpPr>
        <p:spPr>
          <a:xfrm>
            <a:off x="949147" y="4204494"/>
            <a:ext cx="2352834" cy="0"/>
          </a:xfrm>
          <a:prstGeom prst="line">
            <a:avLst/>
          </a:prstGeom>
          <a:noFill/>
          <a:ln w="20320">
            <a:solidFill>
              <a:srgbClr val="15181C">
                <a:alpha val="55000"/>
              </a:srgbClr>
            </a:solidFill>
            <a:prstDash val="solid"/>
          </a:ln>
        </p:spPr>
      </p:sp>
      <p:sp>
        <p:nvSpPr>
          <p:cNvPr id="12" name="Shape 10"/>
          <p:cNvSpPr/>
          <p:nvPr/>
        </p:nvSpPr>
        <p:spPr>
          <a:xfrm>
            <a:off x="1993725" y="4148716"/>
            <a:ext cx="263680" cy="111557"/>
          </a:xfrm>
          <a:prstGeom prst="roundRect">
            <a:avLst>
              <a:gd name="adj" fmla="val 16393"/>
            </a:avLst>
          </a:prstGeom>
          <a:solidFill>
            <a:srgbClr val="D9A32B">
              <a:alpha val="45000"/>
            </a:srgbClr>
          </a:solidFill>
          <a:ln w="13970">
            <a:solidFill>
              <a:srgbClr val="D9A32B"/>
            </a:solidFill>
            <a:prstDash val="solid"/>
          </a:ln>
        </p:spPr>
      </p:sp>
      <p:sp>
        <p:nvSpPr>
          <p:cNvPr id="13" name="Shape 11"/>
          <p:cNvSpPr/>
          <p:nvPr/>
        </p:nvSpPr>
        <p:spPr>
          <a:xfrm>
            <a:off x="3768492" y="3028077"/>
            <a:ext cx="0" cy="912737"/>
          </a:xfrm>
          <a:prstGeom prst="line">
            <a:avLst/>
          </a:prstGeom>
          <a:noFill/>
          <a:ln w="20320">
            <a:solidFill>
              <a:srgbClr val="E2622F"/>
            </a:solidFill>
            <a:prstDash val="solid"/>
            <a:tailEnd type="triangle"/>
          </a:ln>
        </p:spPr>
      </p:sp>
      <p:sp>
        <p:nvSpPr>
          <p:cNvPr id="14" name="Text 12"/>
          <p:cNvSpPr txBox="1"/>
          <p:nvPr/>
        </p:nvSpPr>
        <p:spPr>
          <a:xfrm>
            <a:off x="3971322" y="3342465"/>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write the donor's sequence</a:t>
            </a:r>
            <a:endParaRPr lang="en-US" sz="1200" dirty="0"/>
          </a:p>
        </p:txBody>
      </p:sp>
      <p:sp>
        <p:nvSpPr>
          <p:cNvPr id="15" name="Text 13"/>
          <p:cNvSpPr txBox="1"/>
          <p:nvPr/>
        </p:nvSpPr>
        <p:spPr>
          <a:xfrm>
            <a:off x="3971322" y="3525012"/>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into the recipient's place</a:t>
            </a:r>
            <a:endParaRPr lang="en-US" sz="1200" dirty="0"/>
          </a:p>
        </p:txBody>
      </p:sp>
      <p:sp>
        <p:nvSpPr>
          <p:cNvPr id="16" name="Shape 14"/>
          <p:cNvSpPr/>
          <p:nvPr/>
        </p:nvSpPr>
        <p:spPr>
          <a:xfrm>
            <a:off x="6608119" y="2034207"/>
            <a:ext cx="0" cy="2697646"/>
          </a:xfrm>
          <a:prstGeom prst="line">
            <a:avLst/>
          </a:prstGeom>
          <a:noFill/>
          <a:ln w="12700">
            <a:solidFill>
              <a:srgbClr val="AFB5BD"/>
            </a:solidFill>
            <a:prstDash val="dash"/>
          </a:ln>
        </p:spPr>
      </p:sp>
      <p:sp>
        <p:nvSpPr>
          <p:cNvPr id="17" name="Text 15"/>
          <p:cNvSpPr txBox="1"/>
          <p:nvPr/>
        </p:nvSpPr>
        <p:spPr>
          <a:xfrm>
            <a:off x="7074630"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WHICH HEIGHT DOES IT TAKE?</a:t>
            </a:r>
            <a:endParaRPr lang="en-US" sz="1300" dirty="0"/>
          </a:p>
        </p:txBody>
      </p:sp>
      <p:sp>
        <p:nvSpPr>
          <p:cNvPr id="18" name="Shape 16"/>
          <p:cNvSpPr/>
          <p:nvPr/>
        </p:nvSpPr>
        <p:spPr>
          <a:xfrm>
            <a:off x="7074630" y="2480435"/>
            <a:ext cx="2717929" cy="628775"/>
          </a:xfrm>
          <a:custGeom>
            <a:avLst/>
            <a:gdLst/>
            <a:ahLst/>
            <a:cxnLst/>
            <a:rect l="l" t="t" r="r" b="b"/>
            <a:pathLst>
              <a:path w="2717929" h="628775">
                <a:moveTo>
                  <a:pt x="0" y="628775"/>
                </a:moveTo>
                <a:lnTo>
                  <a:pt x="0" y="607036"/>
                </a:lnTo>
                <a:lnTo>
                  <a:pt x="28312" y="606438"/>
                </a:lnTo>
                <a:lnTo>
                  <a:pt x="56624" y="595207"/>
                </a:lnTo>
                <a:lnTo>
                  <a:pt x="84935" y="600147"/>
                </a:lnTo>
                <a:lnTo>
                  <a:pt x="113247" y="608303"/>
                </a:lnTo>
                <a:lnTo>
                  <a:pt x="141559" y="605004"/>
                </a:lnTo>
                <a:lnTo>
                  <a:pt x="169871" y="606982"/>
                </a:lnTo>
                <a:lnTo>
                  <a:pt x="198182" y="599025"/>
                </a:lnTo>
                <a:lnTo>
                  <a:pt x="226494" y="597569"/>
                </a:lnTo>
                <a:lnTo>
                  <a:pt x="254806" y="604539"/>
                </a:lnTo>
                <a:lnTo>
                  <a:pt x="283118" y="603669"/>
                </a:lnTo>
                <a:lnTo>
                  <a:pt x="311429" y="603053"/>
                </a:lnTo>
                <a:lnTo>
                  <a:pt x="339741" y="603312"/>
                </a:lnTo>
                <a:lnTo>
                  <a:pt x="368053" y="596292"/>
                </a:lnTo>
                <a:lnTo>
                  <a:pt x="396365" y="601238"/>
                </a:lnTo>
                <a:lnTo>
                  <a:pt x="424676" y="601003"/>
                </a:lnTo>
                <a:lnTo>
                  <a:pt x="452988" y="599727"/>
                </a:lnTo>
                <a:lnTo>
                  <a:pt x="481300" y="604986"/>
                </a:lnTo>
                <a:lnTo>
                  <a:pt x="509612" y="595986"/>
                </a:lnTo>
                <a:lnTo>
                  <a:pt x="537924" y="597718"/>
                </a:lnTo>
                <a:lnTo>
                  <a:pt x="566235" y="593384"/>
                </a:lnTo>
                <a:lnTo>
                  <a:pt x="594547" y="593809"/>
                </a:lnTo>
                <a:lnTo>
                  <a:pt x="622859" y="598166"/>
                </a:lnTo>
                <a:lnTo>
                  <a:pt x="651171" y="589925"/>
                </a:lnTo>
                <a:lnTo>
                  <a:pt x="679482" y="585421"/>
                </a:lnTo>
                <a:lnTo>
                  <a:pt x="707794" y="571439"/>
                </a:lnTo>
                <a:lnTo>
                  <a:pt x="736106" y="572210"/>
                </a:lnTo>
                <a:lnTo>
                  <a:pt x="764418" y="568054"/>
                </a:lnTo>
                <a:lnTo>
                  <a:pt x="792729" y="556583"/>
                </a:lnTo>
                <a:lnTo>
                  <a:pt x="821041" y="543134"/>
                </a:lnTo>
                <a:lnTo>
                  <a:pt x="849353" y="515102"/>
                </a:lnTo>
                <a:lnTo>
                  <a:pt x="877665" y="509472"/>
                </a:lnTo>
                <a:lnTo>
                  <a:pt x="905976" y="491047"/>
                </a:lnTo>
                <a:lnTo>
                  <a:pt x="934288" y="463404"/>
                </a:lnTo>
                <a:lnTo>
                  <a:pt x="962600" y="444044"/>
                </a:lnTo>
                <a:lnTo>
                  <a:pt x="990912" y="402998"/>
                </a:lnTo>
                <a:lnTo>
                  <a:pt x="1019223" y="384792"/>
                </a:lnTo>
                <a:lnTo>
                  <a:pt x="1047535" y="352055"/>
                </a:lnTo>
                <a:lnTo>
                  <a:pt x="1075847" y="314388"/>
                </a:lnTo>
                <a:lnTo>
                  <a:pt x="1104159" y="289360"/>
                </a:lnTo>
                <a:lnTo>
                  <a:pt x="1132471" y="248065"/>
                </a:lnTo>
                <a:lnTo>
                  <a:pt x="1160782" y="222646"/>
                </a:lnTo>
                <a:lnTo>
                  <a:pt x="1189094" y="188818"/>
                </a:lnTo>
                <a:lnTo>
                  <a:pt x="1217406" y="159893"/>
                </a:lnTo>
                <a:lnTo>
                  <a:pt x="1245718" y="142878"/>
                </a:lnTo>
                <a:lnTo>
                  <a:pt x="1274029" y="123489"/>
                </a:lnTo>
                <a:lnTo>
                  <a:pt x="1302341" y="108248"/>
                </a:lnTo>
                <a:lnTo>
                  <a:pt x="1330653" y="93522"/>
                </a:lnTo>
                <a:lnTo>
                  <a:pt x="1358965" y="92413"/>
                </a:lnTo>
                <a:lnTo>
                  <a:pt x="1387276" y="99476"/>
                </a:lnTo>
                <a:lnTo>
                  <a:pt x="1415588" y="110569"/>
                </a:lnTo>
                <a:lnTo>
                  <a:pt x="1443900" y="122653"/>
                </a:lnTo>
                <a:lnTo>
                  <a:pt x="1472212" y="134338"/>
                </a:lnTo>
                <a:lnTo>
                  <a:pt x="1500523" y="160532"/>
                </a:lnTo>
                <a:lnTo>
                  <a:pt x="1528835" y="191818"/>
                </a:lnTo>
                <a:lnTo>
                  <a:pt x="1557147" y="219871"/>
                </a:lnTo>
                <a:lnTo>
                  <a:pt x="1585459" y="256273"/>
                </a:lnTo>
                <a:lnTo>
                  <a:pt x="1613771" y="280902"/>
                </a:lnTo>
                <a:lnTo>
                  <a:pt x="1642082" y="313724"/>
                </a:lnTo>
                <a:lnTo>
                  <a:pt x="1670394" y="353795"/>
                </a:lnTo>
                <a:lnTo>
                  <a:pt x="1698706" y="379584"/>
                </a:lnTo>
                <a:lnTo>
                  <a:pt x="1727018" y="413924"/>
                </a:lnTo>
                <a:lnTo>
                  <a:pt x="1755329" y="439223"/>
                </a:lnTo>
                <a:lnTo>
                  <a:pt x="1783641" y="459080"/>
                </a:lnTo>
                <a:lnTo>
                  <a:pt x="1811953" y="491500"/>
                </a:lnTo>
                <a:lnTo>
                  <a:pt x="1840265" y="504706"/>
                </a:lnTo>
                <a:lnTo>
                  <a:pt x="1868576" y="522215"/>
                </a:lnTo>
                <a:lnTo>
                  <a:pt x="1896888" y="544243"/>
                </a:lnTo>
                <a:lnTo>
                  <a:pt x="1925200" y="547803"/>
                </a:lnTo>
                <a:lnTo>
                  <a:pt x="1953512" y="565083"/>
                </a:lnTo>
                <a:lnTo>
                  <a:pt x="1981823" y="569094"/>
                </a:lnTo>
                <a:lnTo>
                  <a:pt x="2010135" y="573659"/>
                </a:lnTo>
                <a:lnTo>
                  <a:pt x="2038447" y="588281"/>
                </a:lnTo>
                <a:lnTo>
                  <a:pt x="2066759" y="587980"/>
                </a:lnTo>
                <a:lnTo>
                  <a:pt x="2095071" y="594342"/>
                </a:lnTo>
                <a:lnTo>
                  <a:pt x="2123382" y="591334"/>
                </a:lnTo>
                <a:lnTo>
                  <a:pt x="2151694" y="592163"/>
                </a:lnTo>
                <a:lnTo>
                  <a:pt x="2180006" y="602051"/>
                </a:lnTo>
                <a:lnTo>
                  <a:pt x="2208318" y="604915"/>
                </a:lnTo>
                <a:lnTo>
                  <a:pt x="2236629" y="604146"/>
                </a:lnTo>
                <a:lnTo>
                  <a:pt x="2264941" y="595776"/>
                </a:lnTo>
                <a:lnTo>
                  <a:pt x="2293253" y="598943"/>
                </a:lnTo>
                <a:lnTo>
                  <a:pt x="2321565" y="606163"/>
                </a:lnTo>
                <a:lnTo>
                  <a:pt x="2349876" y="602105"/>
                </a:lnTo>
                <a:lnTo>
                  <a:pt x="2378188" y="607679"/>
                </a:lnTo>
                <a:lnTo>
                  <a:pt x="2406500" y="596353"/>
                </a:lnTo>
                <a:lnTo>
                  <a:pt x="2434812" y="602496"/>
                </a:lnTo>
                <a:lnTo>
                  <a:pt x="2463123" y="607184"/>
                </a:lnTo>
                <a:lnTo>
                  <a:pt x="2491435" y="597310"/>
                </a:lnTo>
                <a:lnTo>
                  <a:pt x="2519747" y="608359"/>
                </a:lnTo>
                <a:lnTo>
                  <a:pt x="2548059" y="598496"/>
                </a:lnTo>
                <a:lnTo>
                  <a:pt x="2576370" y="604340"/>
                </a:lnTo>
                <a:lnTo>
                  <a:pt x="2604682" y="606150"/>
                </a:lnTo>
                <a:lnTo>
                  <a:pt x="2632994" y="595153"/>
                </a:lnTo>
                <a:lnTo>
                  <a:pt x="2661306" y="606670"/>
                </a:lnTo>
                <a:lnTo>
                  <a:pt x="2689618" y="603277"/>
                </a:lnTo>
                <a:lnTo>
                  <a:pt x="2717929" y="604798"/>
                </a:lnTo>
                <a:lnTo>
                  <a:pt x="2717929" y="628775"/>
                </a:lnTo>
                <a:close/>
              </a:path>
            </a:pathLst>
          </a:custGeom>
          <a:solidFill>
            <a:srgbClr val="55637A">
              <a:alpha val="8000"/>
            </a:srgbClr>
          </a:solidFill>
          <a:ln w="16510">
            <a:solidFill>
              <a:srgbClr val="55637A"/>
            </a:solidFill>
            <a:prstDash val="solid"/>
          </a:ln>
        </p:spPr>
      </p:sp>
      <p:sp>
        <p:nvSpPr>
          <p:cNvPr id="19" name="Shape 17"/>
          <p:cNvSpPr/>
          <p:nvPr/>
        </p:nvSpPr>
        <p:spPr>
          <a:xfrm>
            <a:off x="7074630" y="3109209"/>
            <a:ext cx="2717929" cy="0"/>
          </a:xfrm>
          <a:prstGeom prst="line">
            <a:avLst/>
          </a:prstGeom>
          <a:noFill/>
          <a:ln w="20320">
            <a:solidFill>
              <a:srgbClr val="15181C">
                <a:alpha val="55000"/>
              </a:srgbClr>
            </a:solidFill>
            <a:prstDash val="solid"/>
          </a:ln>
        </p:spPr>
      </p:sp>
      <p:sp>
        <p:nvSpPr>
          <p:cNvPr id="20" name="Shape 18"/>
          <p:cNvSpPr/>
          <p:nvPr/>
        </p:nvSpPr>
        <p:spPr>
          <a:xfrm>
            <a:off x="8301754" y="3053431"/>
            <a:ext cx="263680" cy="111557"/>
          </a:xfrm>
          <a:prstGeom prst="roundRect">
            <a:avLst>
              <a:gd name="adj" fmla="val 16393"/>
            </a:avLst>
          </a:prstGeom>
          <a:solidFill>
            <a:srgbClr val="D9A32B">
              <a:alpha val="80000"/>
            </a:srgbClr>
          </a:solidFill>
          <a:ln w="13970">
            <a:solidFill>
              <a:srgbClr val="D9A32B"/>
            </a:solidFill>
            <a:prstDash val="solid"/>
          </a:ln>
        </p:spPr>
      </p:sp>
      <p:sp>
        <p:nvSpPr>
          <p:cNvPr id="21" name="Text 19"/>
          <p:cNvSpPr txBox="1"/>
          <p:nvPr/>
        </p:nvSpPr>
        <p:spPr>
          <a:xfrm>
            <a:off x="9975106" y="2926662"/>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55637A"/>
                </a:solidFill>
                <a:latin typeface="Arial" pitchFamily="34" charset="0"/>
                <a:ea typeface="Arial" pitchFamily="34" charset="-122"/>
                <a:cs typeface="Arial" pitchFamily="34" charset="-120"/>
              </a:rPr>
              <a:t>the donor's</a:t>
            </a:r>
            <a:endParaRPr lang="en-US" sz="1200" dirty="0"/>
          </a:p>
        </p:txBody>
      </p:sp>
      <p:sp>
        <p:nvSpPr>
          <p:cNvPr id="22" name="Text 20"/>
          <p:cNvSpPr txBox="1"/>
          <p:nvPr/>
        </p:nvSpPr>
        <p:spPr>
          <a:xfrm>
            <a:off x="9975106" y="3099068"/>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sequence wins</a:t>
            </a:r>
            <a:endParaRPr lang="en-US" sz="1100" dirty="0"/>
          </a:p>
        </p:txBody>
      </p:sp>
      <p:sp>
        <p:nvSpPr>
          <p:cNvPr id="23" name="Shape 21"/>
          <p:cNvSpPr/>
          <p:nvPr/>
        </p:nvSpPr>
        <p:spPr>
          <a:xfrm>
            <a:off x="7074630" y="3737984"/>
            <a:ext cx="2717929" cy="628775"/>
          </a:xfrm>
          <a:custGeom>
            <a:avLst/>
            <a:gdLst/>
            <a:ahLst/>
            <a:cxnLst/>
            <a:rect l="l" t="t" r="r" b="b"/>
            <a:pathLst>
              <a:path w="2717929" h="628775">
                <a:moveTo>
                  <a:pt x="0" y="628775"/>
                </a:moveTo>
                <a:lnTo>
                  <a:pt x="0" y="600575"/>
                </a:lnTo>
                <a:lnTo>
                  <a:pt x="28312" y="606478"/>
                </a:lnTo>
                <a:lnTo>
                  <a:pt x="56624" y="598137"/>
                </a:lnTo>
                <a:lnTo>
                  <a:pt x="84935" y="608484"/>
                </a:lnTo>
                <a:lnTo>
                  <a:pt x="113247" y="598829"/>
                </a:lnTo>
                <a:lnTo>
                  <a:pt x="141559" y="602096"/>
                </a:lnTo>
                <a:lnTo>
                  <a:pt x="169871" y="607673"/>
                </a:lnTo>
                <a:lnTo>
                  <a:pt x="198182" y="596021"/>
                </a:lnTo>
                <a:lnTo>
                  <a:pt x="226494" y="605512"/>
                </a:lnTo>
                <a:lnTo>
                  <a:pt x="254806" y="603092"/>
                </a:lnTo>
                <a:lnTo>
                  <a:pt x="283118" y="602569"/>
                </a:lnTo>
                <a:lnTo>
                  <a:pt x="311429" y="606400"/>
                </a:lnTo>
                <a:lnTo>
                  <a:pt x="339741" y="596523"/>
                </a:lnTo>
                <a:lnTo>
                  <a:pt x="368053" y="601378"/>
                </a:lnTo>
                <a:lnTo>
                  <a:pt x="396365" y="608155"/>
                </a:lnTo>
                <a:lnTo>
                  <a:pt x="424676" y="602953"/>
                </a:lnTo>
                <a:lnTo>
                  <a:pt x="452988" y="603088"/>
                </a:lnTo>
                <a:lnTo>
                  <a:pt x="481300" y="597754"/>
                </a:lnTo>
                <a:lnTo>
                  <a:pt x="509612" y="597584"/>
                </a:lnTo>
                <a:lnTo>
                  <a:pt x="537924" y="602550"/>
                </a:lnTo>
                <a:lnTo>
                  <a:pt x="566235" y="603845"/>
                </a:lnTo>
                <a:lnTo>
                  <a:pt x="594547" y="599895"/>
                </a:lnTo>
                <a:lnTo>
                  <a:pt x="622859" y="596569"/>
                </a:lnTo>
                <a:lnTo>
                  <a:pt x="651171" y="593795"/>
                </a:lnTo>
                <a:lnTo>
                  <a:pt x="679482" y="596094"/>
                </a:lnTo>
                <a:lnTo>
                  <a:pt x="707794" y="599732"/>
                </a:lnTo>
                <a:lnTo>
                  <a:pt x="736106" y="593833"/>
                </a:lnTo>
                <a:lnTo>
                  <a:pt x="764418" y="588015"/>
                </a:lnTo>
                <a:lnTo>
                  <a:pt x="792729" y="585107"/>
                </a:lnTo>
                <a:lnTo>
                  <a:pt x="821041" y="582950"/>
                </a:lnTo>
                <a:lnTo>
                  <a:pt x="849353" y="577513"/>
                </a:lnTo>
                <a:lnTo>
                  <a:pt x="877665" y="576962"/>
                </a:lnTo>
                <a:lnTo>
                  <a:pt x="905976" y="565393"/>
                </a:lnTo>
                <a:lnTo>
                  <a:pt x="934288" y="562573"/>
                </a:lnTo>
                <a:lnTo>
                  <a:pt x="962600" y="554265"/>
                </a:lnTo>
                <a:lnTo>
                  <a:pt x="990912" y="538314"/>
                </a:lnTo>
                <a:lnTo>
                  <a:pt x="1019223" y="541677"/>
                </a:lnTo>
                <a:lnTo>
                  <a:pt x="1047535" y="526001"/>
                </a:lnTo>
                <a:lnTo>
                  <a:pt x="1075847" y="522216"/>
                </a:lnTo>
                <a:lnTo>
                  <a:pt x="1104159" y="508908"/>
                </a:lnTo>
                <a:lnTo>
                  <a:pt x="1132471" y="487943"/>
                </a:lnTo>
                <a:lnTo>
                  <a:pt x="1160782" y="493788"/>
                </a:lnTo>
                <a:lnTo>
                  <a:pt x="1189094" y="482031"/>
                </a:lnTo>
                <a:lnTo>
                  <a:pt x="1217406" y="475664"/>
                </a:lnTo>
                <a:lnTo>
                  <a:pt x="1245718" y="464917"/>
                </a:lnTo>
                <a:lnTo>
                  <a:pt x="1274029" y="449537"/>
                </a:lnTo>
                <a:lnTo>
                  <a:pt x="1302341" y="458325"/>
                </a:lnTo>
                <a:lnTo>
                  <a:pt x="1330653" y="454279"/>
                </a:lnTo>
                <a:lnTo>
                  <a:pt x="1358965" y="454804"/>
                </a:lnTo>
                <a:lnTo>
                  <a:pt x="1387276" y="450803"/>
                </a:lnTo>
                <a:lnTo>
                  <a:pt x="1415588" y="448720"/>
                </a:lnTo>
                <a:lnTo>
                  <a:pt x="1443900" y="460245"/>
                </a:lnTo>
                <a:lnTo>
                  <a:pt x="1472212" y="460910"/>
                </a:lnTo>
                <a:lnTo>
                  <a:pt x="1500523" y="474918"/>
                </a:lnTo>
                <a:lnTo>
                  <a:pt x="1528835" y="477490"/>
                </a:lnTo>
                <a:lnTo>
                  <a:pt x="1557147" y="486781"/>
                </a:lnTo>
                <a:lnTo>
                  <a:pt x="1585459" y="498290"/>
                </a:lnTo>
                <a:lnTo>
                  <a:pt x="1613771" y="500417"/>
                </a:lnTo>
                <a:lnTo>
                  <a:pt x="1642082" y="519545"/>
                </a:lnTo>
                <a:lnTo>
                  <a:pt x="1670394" y="526494"/>
                </a:lnTo>
                <a:lnTo>
                  <a:pt x="1698706" y="538292"/>
                </a:lnTo>
                <a:lnTo>
                  <a:pt x="1727018" y="547208"/>
                </a:lnTo>
                <a:lnTo>
                  <a:pt x="1755329" y="546040"/>
                </a:lnTo>
                <a:lnTo>
                  <a:pt x="1783641" y="560147"/>
                </a:lnTo>
                <a:lnTo>
                  <a:pt x="1811953" y="570826"/>
                </a:lnTo>
                <a:lnTo>
                  <a:pt x="1840265" y="577687"/>
                </a:lnTo>
                <a:lnTo>
                  <a:pt x="1868576" y="584396"/>
                </a:lnTo>
                <a:lnTo>
                  <a:pt x="1896888" y="578406"/>
                </a:lnTo>
                <a:lnTo>
                  <a:pt x="1925200" y="582683"/>
                </a:lnTo>
                <a:lnTo>
                  <a:pt x="1953512" y="595053"/>
                </a:lnTo>
                <a:lnTo>
                  <a:pt x="1981823" y="598542"/>
                </a:lnTo>
                <a:lnTo>
                  <a:pt x="2010135" y="598088"/>
                </a:lnTo>
                <a:lnTo>
                  <a:pt x="2038447" y="595187"/>
                </a:lnTo>
                <a:lnTo>
                  <a:pt x="2066759" y="591204"/>
                </a:lnTo>
                <a:lnTo>
                  <a:pt x="2095071" y="600593"/>
                </a:lnTo>
                <a:lnTo>
                  <a:pt x="2123382" y="604347"/>
                </a:lnTo>
                <a:lnTo>
                  <a:pt x="2151694" y="601177"/>
                </a:lnTo>
                <a:lnTo>
                  <a:pt x="2180006" y="602069"/>
                </a:lnTo>
                <a:lnTo>
                  <a:pt x="2208318" y="594981"/>
                </a:lnTo>
                <a:lnTo>
                  <a:pt x="2236629" y="602152"/>
                </a:lnTo>
                <a:lnTo>
                  <a:pt x="2264941" y="602060"/>
                </a:lnTo>
                <a:lnTo>
                  <a:pt x="2293253" y="602318"/>
                </a:lnTo>
                <a:lnTo>
                  <a:pt x="2321565" y="604198"/>
                </a:lnTo>
                <a:lnTo>
                  <a:pt x="2349876" y="599324"/>
                </a:lnTo>
                <a:lnTo>
                  <a:pt x="2378188" y="604058"/>
                </a:lnTo>
                <a:lnTo>
                  <a:pt x="2406500" y="597404"/>
                </a:lnTo>
                <a:lnTo>
                  <a:pt x="2434812" y="603968"/>
                </a:lnTo>
                <a:lnTo>
                  <a:pt x="2463123" y="604763"/>
                </a:lnTo>
                <a:lnTo>
                  <a:pt x="2491435" y="604802"/>
                </a:lnTo>
                <a:lnTo>
                  <a:pt x="2519747" y="606384"/>
                </a:lnTo>
                <a:lnTo>
                  <a:pt x="2548059" y="593487"/>
                </a:lnTo>
                <a:lnTo>
                  <a:pt x="2576370" y="605422"/>
                </a:lnTo>
                <a:lnTo>
                  <a:pt x="2604682" y="605939"/>
                </a:lnTo>
                <a:lnTo>
                  <a:pt x="2632994" y="607157"/>
                </a:lnTo>
                <a:lnTo>
                  <a:pt x="2661306" y="607642"/>
                </a:lnTo>
                <a:lnTo>
                  <a:pt x="2689618" y="592438"/>
                </a:lnTo>
                <a:lnTo>
                  <a:pt x="2717929" y="605430"/>
                </a:lnTo>
                <a:lnTo>
                  <a:pt x="2717929" y="628775"/>
                </a:lnTo>
                <a:close/>
              </a:path>
            </a:pathLst>
          </a:custGeom>
          <a:solidFill>
            <a:srgbClr val="E2622F">
              <a:alpha val="10000"/>
            </a:srgbClr>
          </a:solidFill>
          <a:ln w="16510">
            <a:solidFill>
              <a:srgbClr val="E2622F"/>
            </a:solidFill>
            <a:prstDash val="solid"/>
          </a:ln>
        </p:spPr>
      </p:sp>
      <p:sp>
        <p:nvSpPr>
          <p:cNvPr id="24" name="Shape 22"/>
          <p:cNvSpPr/>
          <p:nvPr/>
        </p:nvSpPr>
        <p:spPr>
          <a:xfrm>
            <a:off x="7074630" y="4366759"/>
            <a:ext cx="2717929" cy="0"/>
          </a:xfrm>
          <a:prstGeom prst="line">
            <a:avLst/>
          </a:prstGeom>
          <a:noFill/>
          <a:ln w="20320">
            <a:solidFill>
              <a:srgbClr val="15181C">
                <a:alpha val="55000"/>
              </a:srgbClr>
            </a:solidFill>
            <a:prstDash val="solid"/>
          </a:ln>
        </p:spPr>
      </p:sp>
      <p:sp>
        <p:nvSpPr>
          <p:cNvPr id="25" name="Shape 23"/>
          <p:cNvSpPr/>
          <p:nvPr/>
        </p:nvSpPr>
        <p:spPr>
          <a:xfrm>
            <a:off x="8301754" y="4310980"/>
            <a:ext cx="263680" cy="111557"/>
          </a:xfrm>
          <a:prstGeom prst="roundRect">
            <a:avLst>
              <a:gd name="adj" fmla="val 16393"/>
            </a:avLst>
          </a:prstGeom>
          <a:solidFill>
            <a:srgbClr val="D9A32B">
              <a:alpha val="80000"/>
            </a:srgbClr>
          </a:solidFill>
          <a:ln w="13970">
            <a:solidFill>
              <a:srgbClr val="D9A32B"/>
            </a:solidFill>
            <a:prstDash val="solid"/>
          </a:ln>
        </p:spPr>
      </p:sp>
      <p:sp>
        <p:nvSpPr>
          <p:cNvPr id="26" name="Text 24"/>
          <p:cNvSpPr txBox="1"/>
          <p:nvPr/>
        </p:nvSpPr>
        <p:spPr>
          <a:xfrm>
            <a:off x="9975106" y="4184211"/>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the recipient's</a:t>
            </a:r>
            <a:endParaRPr lang="en-US" sz="1200" dirty="0"/>
          </a:p>
        </p:txBody>
      </p:sp>
      <p:sp>
        <p:nvSpPr>
          <p:cNvPr id="27" name="Text 25"/>
          <p:cNvSpPr txBox="1"/>
          <p:nvPr/>
        </p:nvSpPr>
        <p:spPr>
          <a:xfrm>
            <a:off x="9975106" y="4356617"/>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place wins</a:t>
            </a:r>
            <a:endParaRPr lang="en-US" sz="1100" dirty="0"/>
          </a:p>
        </p:txBody>
      </p:sp>
      <p:sp>
        <p:nvSpPr>
          <p:cNvPr id="28" name="Text 26"/>
          <p:cNvSpPr txBox="1"/>
          <p:nvPr/>
        </p:nvSpPr>
        <p:spPr>
          <a:xfrm>
            <a:off x="8078641" y="3778550"/>
            <a:ext cx="709907" cy="202831"/>
          </a:xfrm>
          <a:prstGeom prst="rect">
            <a:avLst/>
          </a:prstGeom>
          <a:noFill/>
          <a:ln/>
        </p:spPr>
        <p:txBody>
          <a:bodyPr wrap="square" lIns="0" tIns="0" rIns="0" bIns="0" rtlCol="0" anchor="ctr"/>
          <a:lstStyle/>
          <a:p>
            <a:pPr algn="ctr" indent="0" marL="0">
              <a:lnSpc>
                <a:spcPct val="95000"/>
              </a:lnSpc>
              <a:buNone/>
            </a:pPr>
            <a:r>
              <a:rPr lang="en-US" sz="3000" b="1" dirty="0">
                <a:solidFill>
                  <a:srgbClr val="AFB5BD"/>
                </a:solidFill>
                <a:latin typeface="Arial" pitchFamily="34" charset="0"/>
                <a:ea typeface="Arial" pitchFamily="34" charset="-122"/>
                <a:cs typeface="Arial" pitchFamily="34" charset="-120"/>
              </a:rPr>
              <a:t>?</a:t>
            </a:r>
            <a:endParaRPr lang="en-US" sz="3000" dirty="0"/>
          </a:p>
        </p:txBody>
      </p:sp>
      <p:sp>
        <p:nvSpPr>
          <p:cNvPr id="29" name="Shape 27"/>
          <p:cNvSpPr/>
          <p:nvPr/>
        </p:nvSpPr>
        <p:spPr>
          <a:xfrm>
            <a:off x="644901" y="4873835"/>
            <a:ext cx="10871717" cy="0"/>
          </a:xfrm>
          <a:prstGeom prst="line">
            <a:avLst/>
          </a:prstGeom>
          <a:noFill/>
          <a:ln w="12700">
            <a:solidFill>
              <a:srgbClr val="AFB5BD"/>
            </a:solidFill>
            <a:prstDash val="dash"/>
          </a:ln>
        </p:spPr>
      </p:sp>
      <p:sp>
        <p:nvSpPr>
          <p:cNvPr id="30" name="Text 28"/>
          <p:cNvSpPr txBox="1"/>
          <p:nvPr/>
        </p:nvSpPr>
        <p:spPr>
          <a:xfrm>
            <a:off x="644901" y="499553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62,250 swaps   ·   two widths: 170 bp and the whole peak   ·   intervals from a cluster bootstrap over the 250 donors</a:t>
            </a:r>
            <a:endParaRPr lang="en-US" sz="1100" dirty="0"/>
          </a:p>
        </p:txBody>
      </p:sp>
      <p:sp>
        <p:nvSpPr>
          <p:cNvPr id="31" name="Shape 29"/>
          <p:cNvSpPr/>
          <p:nvPr/>
        </p:nvSpPr>
        <p:spPr>
          <a:xfrm>
            <a:off x="502920" y="5989320"/>
            <a:ext cx="50292" cy="566928"/>
          </a:xfrm>
          <a:prstGeom prst="rect">
            <a:avLst/>
          </a:prstGeom>
          <a:solidFill>
            <a:srgbClr val="3F3F3F"/>
          </a:solidFill>
          <a:ln w="12700">
            <a:solidFill>
              <a:srgbClr val="333333"/>
            </a:solidFill>
            <a:prstDash val="solid"/>
          </a:ln>
        </p:spPr>
      </p:sp>
      <p:sp>
        <p:nvSpPr>
          <p:cNvPr id="32" name="Text 30"/>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written into every other site's location; the accessibility that results regressed on the donor element's own level and on the recipient location's. Both weights are positive, drawn apart only so the pair can be compared. 62,250 swaps; 95% CI from a cluster bootstrap over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444752" y="1335024"/>
            <a:ext cx="9272016"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Read it as a transplant: take a strong element, put it somewhere weak. At 170 bp it comes out weak — the location carries most of the weight (0.61 against 0.24). At full peak width it stays strong — the element now carries most of it (0.71 against 0.20). Nothing about the element changed, only how much of it we moved. P tests the two weights against each other.</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sp>
        <p:nvSpPr>
          <p:cNvPr id="3" name="Text 1"/>
          <p:cNvSpPr txBox="1"/>
          <p:nvPr/>
        </p:nvSpPr>
        <p:spPr>
          <a:xfrm>
            <a:off x="644901" y="1770528"/>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ONE SITE</a:t>
            </a:r>
            <a:endParaRPr lang="en-US" sz="1300" dirty="0"/>
          </a:p>
        </p:txBody>
      </p:sp>
      <p:sp>
        <p:nvSpPr>
          <p:cNvPr id="4" name="Text 2"/>
          <p:cNvSpPr txBox="1"/>
          <p:nvPr/>
        </p:nvSpPr>
        <p:spPr>
          <a:xfrm>
            <a:off x="644901" y="1953075"/>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its own motif,</a:t>
            </a:r>
            <a:endParaRPr lang="en-US" sz="1100" dirty="0"/>
          </a:p>
        </p:txBody>
      </p:sp>
      <p:sp>
        <p:nvSpPr>
          <p:cNvPr id="5" name="Text 3"/>
          <p:cNvSpPr txBox="1"/>
          <p:nvPr/>
        </p:nvSpPr>
        <p:spPr>
          <a:xfrm>
            <a:off x="644901" y="2115340"/>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and its partners</a:t>
            </a:r>
            <a:endParaRPr lang="en-US" sz="1100" dirty="0"/>
          </a:p>
        </p:txBody>
      </p:sp>
      <p:sp>
        <p:nvSpPr>
          <p:cNvPr id="6" name="Shape 4"/>
          <p:cNvSpPr/>
          <p:nvPr/>
        </p:nvSpPr>
        <p:spPr>
          <a:xfrm>
            <a:off x="2815188" y="1953075"/>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4000"/>
            </a:srgbClr>
          </a:solidFill>
          <a:ln w="16510">
            <a:solidFill>
              <a:srgbClr val="55637A"/>
            </a:solidFill>
            <a:prstDash val="solid"/>
          </a:ln>
        </p:spPr>
      </p:sp>
      <p:sp>
        <p:nvSpPr>
          <p:cNvPr id="7" name="Shape 5"/>
          <p:cNvSpPr/>
          <p:nvPr/>
        </p:nvSpPr>
        <p:spPr>
          <a:xfrm>
            <a:off x="2815188" y="2581850"/>
            <a:ext cx="5598123" cy="0"/>
          </a:xfrm>
          <a:prstGeom prst="line">
            <a:avLst/>
          </a:prstGeom>
          <a:noFill/>
          <a:ln w="20320">
            <a:solidFill>
              <a:srgbClr val="15181C">
                <a:alpha val="55000"/>
              </a:srgbClr>
            </a:solidFill>
            <a:prstDash val="solid"/>
          </a:ln>
        </p:spPr>
      </p:sp>
      <p:sp>
        <p:nvSpPr>
          <p:cNvPr id="8" name="Shape 6"/>
          <p:cNvSpPr/>
          <p:nvPr/>
        </p:nvSpPr>
        <p:spPr>
          <a:xfrm>
            <a:off x="5482410" y="2526072"/>
            <a:ext cx="263680" cy="111557"/>
          </a:xfrm>
          <a:prstGeom prst="roundRect">
            <a:avLst>
              <a:gd name="adj" fmla="val 16393"/>
            </a:avLst>
          </a:prstGeom>
          <a:solidFill>
            <a:srgbClr val="D9A32B">
              <a:alpha val="80000"/>
            </a:srgbClr>
          </a:solidFill>
          <a:ln w="13970">
            <a:solidFill>
              <a:srgbClr val="D9A32B"/>
            </a:solidFill>
            <a:prstDash val="solid"/>
          </a:ln>
        </p:spPr>
      </p:sp>
      <p:sp>
        <p:nvSpPr>
          <p:cNvPr id="9" name="Text 7"/>
          <p:cNvSpPr txBox="1"/>
          <p:nvPr/>
        </p:nvSpPr>
        <p:spPr>
          <a:xfrm>
            <a:off x="5005758" y="1831377"/>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10" name="Shape 8"/>
          <p:cNvSpPr/>
          <p:nvPr/>
        </p:nvSpPr>
        <p:spPr>
          <a:xfrm>
            <a:off x="414372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1" name="Text 9"/>
          <p:cNvSpPr txBox="1"/>
          <p:nvPr/>
        </p:nvSpPr>
        <p:spPr>
          <a:xfrm>
            <a:off x="364679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2" name="Shape 10"/>
          <p:cNvSpPr/>
          <p:nvPr/>
        </p:nvSpPr>
        <p:spPr>
          <a:xfrm>
            <a:off x="686165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3" name="Text 11"/>
          <p:cNvSpPr txBox="1"/>
          <p:nvPr/>
        </p:nvSpPr>
        <p:spPr>
          <a:xfrm>
            <a:off x="636472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4" name="Shape 12"/>
          <p:cNvSpPr/>
          <p:nvPr/>
        </p:nvSpPr>
        <p:spPr>
          <a:xfrm>
            <a:off x="644901" y="2987511"/>
            <a:ext cx="10871717" cy="0"/>
          </a:xfrm>
          <a:prstGeom prst="line">
            <a:avLst/>
          </a:prstGeom>
          <a:noFill/>
          <a:ln w="12700">
            <a:solidFill>
              <a:srgbClr val="AFB5BD"/>
            </a:solidFill>
            <a:prstDash val="dash"/>
          </a:ln>
        </p:spPr>
      </p:sp>
      <p:sp>
        <p:nvSpPr>
          <p:cNvPr id="15" name="Text 13"/>
          <p:cNvSpPr txBox="1"/>
          <p:nvPr/>
        </p:nvSpPr>
        <p:spPr>
          <a:xfrm>
            <a:off x="644901" y="3433738"/>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AP-1</a:t>
            </a:r>
            <a:endParaRPr lang="en-US" sz="1200" dirty="0"/>
          </a:p>
        </p:txBody>
      </p:sp>
      <p:sp>
        <p:nvSpPr>
          <p:cNvPr id="16" name="Shape 14"/>
          <p:cNvSpPr/>
          <p:nvPr/>
        </p:nvSpPr>
        <p:spPr>
          <a:xfrm>
            <a:off x="2815188" y="2906379"/>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5"/>
                </a:lnTo>
                <a:lnTo>
                  <a:pt x="1516158" y="488887"/>
                </a:lnTo>
                <a:lnTo>
                  <a:pt x="1574472" y="509393"/>
                </a:lnTo>
                <a:lnTo>
                  <a:pt x="1632786" y="530461"/>
                </a:lnTo>
                <a:lnTo>
                  <a:pt x="1691100" y="553086"/>
                </a:lnTo>
                <a:lnTo>
                  <a:pt x="1749413" y="576949"/>
                </a:lnTo>
                <a:lnTo>
                  <a:pt x="1807727" y="584854"/>
                </a:lnTo>
                <a:lnTo>
                  <a:pt x="1866041" y="597834"/>
                </a:lnTo>
                <a:lnTo>
                  <a:pt x="1924355" y="597583"/>
                </a:lnTo>
                <a:lnTo>
                  <a:pt x="1982669" y="592903"/>
                </a:lnTo>
                <a:lnTo>
                  <a:pt x="2040982" y="605317"/>
                </a:lnTo>
                <a:lnTo>
                  <a:pt x="2099296" y="598493"/>
                </a:lnTo>
                <a:lnTo>
                  <a:pt x="2157610" y="600124"/>
                </a:lnTo>
                <a:lnTo>
                  <a:pt x="2215924" y="590544"/>
                </a:lnTo>
                <a:lnTo>
                  <a:pt x="2274237" y="573804"/>
                </a:lnTo>
                <a:lnTo>
                  <a:pt x="2332551" y="577448"/>
                </a:lnTo>
                <a:lnTo>
                  <a:pt x="2390865" y="564190"/>
                </a:lnTo>
                <a:lnTo>
                  <a:pt x="2449179" y="547116"/>
                </a:lnTo>
                <a:lnTo>
                  <a:pt x="2507493" y="525553"/>
                </a:lnTo>
                <a:lnTo>
                  <a:pt x="2565806" y="498641"/>
                </a:lnTo>
                <a:lnTo>
                  <a:pt x="2624120" y="494342"/>
                </a:lnTo>
                <a:lnTo>
                  <a:pt x="2682434" y="475270"/>
                </a:lnTo>
                <a:lnTo>
                  <a:pt x="2740748" y="467449"/>
                </a:lnTo>
                <a:lnTo>
                  <a:pt x="2799062" y="459527"/>
                </a:lnTo>
                <a:lnTo>
                  <a:pt x="2857375" y="459829"/>
                </a:lnTo>
                <a:lnTo>
                  <a:pt x="2915689" y="477905"/>
                </a:lnTo>
                <a:lnTo>
                  <a:pt x="2974003" y="484219"/>
                </a:lnTo>
                <a:lnTo>
                  <a:pt x="3032317" y="510188"/>
                </a:lnTo>
                <a:lnTo>
                  <a:pt x="3090630" y="524118"/>
                </a:lnTo>
                <a:lnTo>
                  <a:pt x="3148944" y="543814"/>
                </a:lnTo>
                <a:lnTo>
                  <a:pt x="3207258" y="562714"/>
                </a:lnTo>
                <a:lnTo>
                  <a:pt x="3265572" y="564802"/>
                </a:lnTo>
                <a:lnTo>
                  <a:pt x="3323886" y="585499"/>
                </a:lnTo>
                <a:lnTo>
                  <a:pt x="3382199" y="590584"/>
                </a:lnTo>
                <a:lnTo>
                  <a:pt x="3440513" y="598518"/>
                </a:lnTo>
                <a:lnTo>
                  <a:pt x="3498827" y="602269"/>
                </a:lnTo>
                <a:lnTo>
                  <a:pt x="3557141" y="591457"/>
                </a:lnTo>
                <a:lnTo>
                  <a:pt x="3615454" y="599874"/>
                </a:lnTo>
                <a:lnTo>
                  <a:pt x="3673768" y="603264"/>
                </a:lnTo>
                <a:lnTo>
                  <a:pt x="3732082" y="600817"/>
                </a:lnTo>
                <a:lnTo>
                  <a:pt x="3790396" y="593935"/>
                </a:lnTo>
                <a:lnTo>
                  <a:pt x="3848710" y="572565"/>
                </a:lnTo>
                <a:lnTo>
                  <a:pt x="3907023" y="559405"/>
                </a:lnTo>
                <a:lnTo>
                  <a:pt x="3965337" y="547246"/>
                </a:lnTo>
                <a:lnTo>
                  <a:pt x="4023651" y="530496"/>
                </a:lnTo>
                <a:lnTo>
                  <a:pt x="4081965" y="511117"/>
                </a:lnTo>
                <a:lnTo>
                  <a:pt x="4140279" y="499503"/>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17" name="Shape 15"/>
          <p:cNvSpPr/>
          <p:nvPr/>
        </p:nvSpPr>
        <p:spPr>
          <a:xfrm>
            <a:off x="2815188" y="3535154"/>
            <a:ext cx="5598123" cy="0"/>
          </a:xfrm>
          <a:prstGeom prst="line">
            <a:avLst/>
          </a:prstGeom>
          <a:noFill/>
          <a:ln w="20320">
            <a:solidFill>
              <a:srgbClr val="15181C">
                <a:alpha val="55000"/>
              </a:srgbClr>
            </a:solidFill>
            <a:prstDash val="solid"/>
          </a:ln>
        </p:spPr>
      </p:sp>
      <p:sp>
        <p:nvSpPr>
          <p:cNvPr id="18" name="Shape 16"/>
          <p:cNvSpPr/>
          <p:nvPr/>
        </p:nvSpPr>
        <p:spPr>
          <a:xfrm>
            <a:off x="5472268" y="3469234"/>
            <a:ext cx="283963" cy="131840"/>
          </a:xfrm>
          <a:prstGeom prst="roundRect">
            <a:avLst>
              <a:gd name="adj" fmla="val 13871"/>
            </a:avLst>
          </a:prstGeom>
          <a:solidFill>
            <a:srgbClr val="E2622F">
              <a:alpha val="14000"/>
            </a:srgbClr>
          </a:solidFill>
          <a:ln w="9525">
            <a:solidFill>
              <a:srgbClr val="E2622F"/>
            </a:solidFill>
            <a:prstDash val="solid"/>
          </a:ln>
        </p:spPr>
      </p:sp>
      <p:sp>
        <p:nvSpPr>
          <p:cNvPr id="19" name="Shape 17"/>
          <p:cNvSpPr/>
          <p:nvPr/>
        </p:nvSpPr>
        <p:spPr>
          <a:xfrm>
            <a:off x="5472268" y="3484446"/>
            <a:ext cx="283963" cy="101415"/>
          </a:xfrm>
          <a:custGeom>
            <a:avLst/>
            <a:gdLst/>
            <a:ahLst/>
            <a:cxnLst/>
            <a:rect l="l" t="t" r="r" b="b"/>
            <a:pathLst>
              <a:path w="283963" h="101415">
                <a:moveTo>
                  <a:pt x="0" y="10142"/>
                </a:moveTo>
                <a:lnTo>
                  <a:pt x="47327" y="91274"/>
                </a:lnTo>
                <a:lnTo>
                  <a:pt x="94654" y="10142"/>
                </a:lnTo>
                <a:lnTo>
                  <a:pt x="141981" y="91274"/>
                </a:lnTo>
                <a:lnTo>
                  <a:pt x="189309" y="10142"/>
                </a:lnTo>
                <a:lnTo>
                  <a:pt x="236636" y="91274"/>
                </a:lnTo>
                <a:lnTo>
                  <a:pt x="283963" y="10142"/>
                </a:lnTo>
              </a:path>
            </a:pathLst>
          </a:custGeom>
          <a:ln w="17780">
            <a:solidFill>
              <a:srgbClr val="E2622F"/>
            </a:solidFill>
            <a:prstDash val="solid"/>
          </a:ln>
        </p:spPr>
      </p:sp>
      <p:sp>
        <p:nvSpPr>
          <p:cNvPr id="20" name="Shape 18"/>
          <p:cNvSpPr/>
          <p:nvPr/>
        </p:nvSpPr>
        <p:spPr>
          <a:xfrm>
            <a:off x="414372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1" name="Shape 19"/>
          <p:cNvSpPr/>
          <p:nvPr/>
        </p:nvSpPr>
        <p:spPr>
          <a:xfrm>
            <a:off x="686165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2" name="Text 20"/>
          <p:cNvSpPr txBox="1"/>
          <p:nvPr/>
        </p:nvSpPr>
        <p:spPr>
          <a:xfrm>
            <a:off x="8616142" y="3433738"/>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big drop</a:t>
            </a:r>
            <a:endParaRPr lang="en-US" sz="1200" dirty="0"/>
          </a:p>
        </p:txBody>
      </p:sp>
      <p:sp>
        <p:nvSpPr>
          <p:cNvPr id="23" name="Text 21"/>
          <p:cNvSpPr txBox="1"/>
          <p:nvPr/>
        </p:nvSpPr>
        <p:spPr>
          <a:xfrm>
            <a:off x="644901" y="4062513"/>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 partner</a:t>
            </a:r>
            <a:endParaRPr lang="en-US" sz="1200" dirty="0"/>
          </a:p>
        </p:txBody>
      </p:sp>
      <p:sp>
        <p:nvSpPr>
          <p:cNvPr id="24" name="Shape 22"/>
          <p:cNvSpPr/>
          <p:nvPr/>
        </p:nvSpPr>
        <p:spPr>
          <a:xfrm>
            <a:off x="2815188" y="3535154"/>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7"/>
                </a:lnTo>
                <a:lnTo>
                  <a:pt x="583138" y="604517"/>
                </a:lnTo>
                <a:lnTo>
                  <a:pt x="641452" y="596078"/>
                </a:lnTo>
                <a:lnTo>
                  <a:pt x="699765" y="602317"/>
                </a:lnTo>
                <a:lnTo>
                  <a:pt x="758079" y="607056"/>
                </a:lnTo>
                <a:lnTo>
                  <a:pt x="816393" y="604597"/>
                </a:lnTo>
                <a:lnTo>
                  <a:pt x="874707" y="601755"/>
                </a:lnTo>
                <a:lnTo>
                  <a:pt x="933021" y="597730"/>
                </a:lnTo>
                <a:lnTo>
                  <a:pt x="991334" y="598771"/>
                </a:lnTo>
                <a:lnTo>
                  <a:pt x="1049648" y="600110"/>
                </a:lnTo>
                <a:lnTo>
                  <a:pt x="1107962" y="602869"/>
                </a:lnTo>
                <a:lnTo>
                  <a:pt x="1166276" y="594542"/>
                </a:lnTo>
                <a:lnTo>
                  <a:pt x="1224589" y="589697"/>
                </a:lnTo>
                <a:lnTo>
                  <a:pt x="1282903" y="585662"/>
                </a:lnTo>
                <a:lnTo>
                  <a:pt x="1341217" y="582347"/>
                </a:lnTo>
                <a:lnTo>
                  <a:pt x="1399531" y="586176"/>
                </a:lnTo>
                <a:lnTo>
                  <a:pt x="1457845" y="582581"/>
                </a:lnTo>
                <a:lnTo>
                  <a:pt x="1516158" y="581868"/>
                </a:lnTo>
                <a:lnTo>
                  <a:pt x="1574472" y="586733"/>
                </a:lnTo>
                <a:lnTo>
                  <a:pt x="1632786" y="588541"/>
                </a:lnTo>
                <a:lnTo>
                  <a:pt x="1691100" y="592444"/>
                </a:lnTo>
                <a:lnTo>
                  <a:pt x="1749413" y="600966"/>
                </a:lnTo>
                <a:lnTo>
                  <a:pt x="1807727" y="597925"/>
                </a:lnTo>
                <a:lnTo>
                  <a:pt x="1866041" y="603880"/>
                </a:lnTo>
                <a:lnTo>
                  <a:pt x="1924355" y="599266"/>
                </a:lnTo>
                <a:lnTo>
                  <a:pt x="1982669" y="591438"/>
                </a:lnTo>
                <a:lnTo>
                  <a:pt x="2040982" y="600562"/>
                </a:lnTo>
                <a:lnTo>
                  <a:pt x="2099296" y="589050"/>
                </a:lnTo>
                <a:lnTo>
                  <a:pt x="2157610" y="583335"/>
                </a:lnTo>
                <a:lnTo>
                  <a:pt x="2215924" y="562424"/>
                </a:lnTo>
                <a:lnTo>
                  <a:pt x="2274237" y="529036"/>
                </a:lnTo>
                <a:lnTo>
                  <a:pt x="2332551" y="509600"/>
                </a:lnTo>
                <a:lnTo>
                  <a:pt x="2390865" y="466275"/>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25" name="Shape 23"/>
          <p:cNvSpPr/>
          <p:nvPr/>
        </p:nvSpPr>
        <p:spPr>
          <a:xfrm>
            <a:off x="2815188" y="4163928"/>
            <a:ext cx="5598123" cy="0"/>
          </a:xfrm>
          <a:prstGeom prst="line">
            <a:avLst/>
          </a:prstGeom>
          <a:noFill/>
          <a:ln w="20320">
            <a:solidFill>
              <a:srgbClr val="15181C">
                <a:alpha val="55000"/>
              </a:srgbClr>
            </a:solidFill>
            <a:prstDash val="solid"/>
          </a:ln>
        </p:spPr>
      </p:sp>
      <p:sp>
        <p:nvSpPr>
          <p:cNvPr id="26" name="Shape 24"/>
          <p:cNvSpPr/>
          <p:nvPr/>
        </p:nvSpPr>
        <p:spPr>
          <a:xfrm>
            <a:off x="4133587" y="4098008"/>
            <a:ext cx="243397" cy="131840"/>
          </a:xfrm>
          <a:prstGeom prst="roundRect">
            <a:avLst>
              <a:gd name="adj" fmla="val 13871"/>
            </a:avLst>
          </a:prstGeom>
          <a:solidFill>
            <a:srgbClr val="E2622F">
              <a:alpha val="14000"/>
            </a:srgbClr>
          </a:solidFill>
          <a:ln w="9525">
            <a:solidFill>
              <a:srgbClr val="E2622F"/>
            </a:solidFill>
            <a:prstDash val="solid"/>
          </a:ln>
        </p:spPr>
      </p:sp>
      <p:sp>
        <p:nvSpPr>
          <p:cNvPr id="27" name="Shape 25"/>
          <p:cNvSpPr/>
          <p:nvPr/>
        </p:nvSpPr>
        <p:spPr>
          <a:xfrm>
            <a:off x="4133587" y="4113221"/>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E2622F"/>
            </a:solidFill>
            <a:prstDash val="solid"/>
          </a:ln>
        </p:spPr>
      </p:sp>
      <p:sp>
        <p:nvSpPr>
          <p:cNvPr id="28" name="Shape 26"/>
          <p:cNvSpPr/>
          <p:nvPr/>
        </p:nvSpPr>
        <p:spPr>
          <a:xfrm>
            <a:off x="5482410" y="4108150"/>
            <a:ext cx="263680" cy="111557"/>
          </a:xfrm>
          <a:prstGeom prst="roundRect">
            <a:avLst>
              <a:gd name="adj" fmla="val 16393"/>
            </a:avLst>
          </a:prstGeom>
          <a:solidFill>
            <a:srgbClr val="D9A32B">
              <a:alpha val="80000"/>
            </a:srgbClr>
          </a:solidFill>
          <a:ln w="13970">
            <a:solidFill>
              <a:srgbClr val="D9A32B"/>
            </a:solidFill>
            <a:prstDash val="solid"/>
          </a:ln>
        </p:spPr>
      </p:sp>
      <p:sp>
        <p:nvSpPr>
          <p:cNvPr id="29" name="Shape 27"/>
          <p:cNvSpPr/>
          <p:nvPr/>
        </p:nvSpPr>
        <p:spPr>
          <a:xfrm>
            <a:off x="6861658" y="4108150"/>
            <a:ext cx="223114" cy="111557"/>
          </a:xfrm>
          <a:prstGeom prst="roundRect">
            <a:avLst>
              <a:gd name="adj" fmla="val 16393"/>
            </a:avLst>
          </a:prstGeom>
          <a:solidFill>
            <a:srgbClr val="4E8E8A">
              <a:alpha val="80000"/>
            </a:srgbClr>
          </a:solidFill>
          <a:ln w="13970">
            <a:solidFill>
              <a:srgbClr val="4E8E8A"/>
            </a:solidFill>
            <a:prstDash val="solid"/>
          </a:ln>
        </p:spPr>
      </p:sp>
      <p:sp>
        <p:nvSpPr>
          <p:cNvPr id="30" name="Text 28"/>
          <p:cNvSpPr txBox="1"/>
          <p:nvPr/>
        </p:nvSpPr>
        <p:spPr>
          <a:xfrm>
            <a:off x="8616142" y="4062513"/>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small drop</a:t>
            </a:r>
            <a:endParaRPr lang="en-US" sz="1200" dirty="0"/>
          </a:p>
        </p:txBody>
      </p:sp>
      <p:sp>
        <p:nvSpPr>
          <p:cNvPr id="31" name="Text 29"/>
          <p:cNvSpPr txBox="1"/>
          <p:nvPr/>
        </p:nvSpPr>
        <p:spPr>
          <a:xfrm>
            <a:off x="644901" y="4691288"/>
            <a:ext cx="2129721"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scramble an empty window</a:t>
            </a:r>
            <a:endParaRPr lang="en-US" sz="1200" dirty="0"/>
          </a:p>
        </p:txBody>
      </p:sp>
      <p:sp>
        <p:nvSpPr>
          <p:cNvPr id="32" name="Shape 30"/>
          <p:cNvSpPr/>
          <p:nvPr/>
        </p:nvSpPr>
        <p:spPr>
          <a:xfrm>
            <a:off x="2815188" y="4163928"/>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2000"/>
            </a:srgbClr>
          </a:solidFill>
          <a:ln w="16510">
            <a:solidFill>
              <a:srgbClr val="55637A"/>
            </a:solidFill>
            <a:prstDash val="solid"/>
          </a:ln>
        </p:spPr>
      </p:sp>
      <p:sp>
        <p:nvSpPr>
          <p:cNvPr id="33" name="Shape 31"/>
          <p:cNvSpPr/>
          <p:nvPr/>
        </p:nvSpPr>
        <p:spPr>
          <a:xfrm>
            <a:off x="2815188" y="4792703"/>
            <a:ext cx="5598123" cy="0"/>
          </a:xfrm>
          <a:prstGeom prst="line">
            <a:avLst/>
          </a:prstGeom>
          <a:noFill/>
          <a:ln w="20320">
            <a:solidFill>
              <a:srgbClr val="15181C">
                <a:alpha val="55000"/>
              </a:srgbClr>
            </a:solidFill>
            <a:prstDash val="solid"/>
          </a:ln>
        </p:spPr>
      </p:sp>
      <p:sp>
        <p:nvSpPr>
          <p:cNvPr id="34" name="Shape 32"/>
          <p:cNvSpPr/>
          <p:nvPr/>
        </p:nvSpPr>
        <p:spPr>
          <a:xfrm>
            <a:off x="4924626" y="4726783"/>
            <a:ext cx="243397" cy="131840"/>
          </a:xfrm>
          <a:prstGeom prst="roundRect">
            <a:avLst>
              <a:gd name="adj" fmla="val 13871"/>
            </a:avLst>
          </a:prstGeom>
          <a:solidFill>
            <a:srgbClr val="5A6471">
              <a:alpha val="14000"/>
            </a:srgbClr>
          </a:solidFill>
          <a:ln w="9525">
            <a:solidFill>
              <a:srgbClr val="5A6471"/>
            </a:solidFill>
            <a:prstDash val="solid"/>
          </a:ln>
        </p:spPr>
      </p:sp>
      <p:sp>
        <p:nvSpPr>
          <p:cNvPr id="35" name="Shape 33"/>
          <p:cNvSpPr/>
          <p:nvPr/>
        </p:nvSpPr>
        <p:spPr>
          <a:xfrm>
            <a:off x="4924626" y="4741995"/>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5A6471"/>
            </a:solidFill>
            <a:prstDash val="solid"/>
          </a:ln>
        </p:spPr>
      </p:sp>
      <p:sp>
        <p:nvSpPr>
          <p:cNvPr id="36" name="Shape 34"/>
          <p:cNvSpPr/>
          <p:nvPr/>
        </p:nvSpPr>
        <p:spPr>
          <a:xfrm>
            <a:off x="4884060" y="4706500"/>
            <a:ext cx="324529" cy="172406"/>
          </a:xfrm>
          <a:prstGeom prst="roundRect">
            <a:avLst>
              <a:gd name="adj" fmla="val 10608"/>
            </a:avLst>
          </a:prstGeom>
          <a:ln w="13970">
            <a:solidFill>
              <a:srgbClr val="5A6471"/>
            </a:solidFill>
            <a:prstDash val="dash"/>
          </a:ln>
        </p:spPr>
      </p:sp>
      <p:sp>
        <p:nvSpPr>
          <p:cNvPr id="37" name="Shape 35"/>
          <p:cNvSpPr/>
          <p:nvPr/>
        </p:nvSpPr>
        <p:spPr>
          <a:xfrm>
            <a:off x="5482410" y="4736925"/>
            <a:ext cx="263680" cy="111557"/>
          </a:xfrm>
          <a:prstGeom prst="roundRect">
            <a:avLst>
              <a:gd name="adj" fmla="val 16393"/>
            </a:avLst>
          </a:prstGeom>
          <a:solidFill>
            <a:srgbClr val="D9A32B">
              <a:alpha val="80000"/>
            </a:srgbClr>
          </a:solidFill>
          <a:ln w="13970">
            <a:solidFill>
              <a:srgbClr val="D9A32B"/>
            </a:solidFill>
            <a:prstDash val="solid"/>
          </a:ln>
        </p:spPr>
      </p:sp>
      <p:sp>
        <p:nvSpPr>
          <p:cNvPr id="38" name="Shape 36"/>
          <p:cNvSpPr/>
          <p:nvPr/>
        </p:nvSpPr>
        <p:spPr>
          <a:xfrm>
            <a:off x="414372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39" name="Shape 37"/>
          <p:cNvSpPr/>
          <p:nvPr/>
        </p:nvSpPr>
        <p:spPr>
          <a:xfrm>
            <a:off x="686165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40" name="Text 38"/>
          <p:cNvSpPr txBox="1"/>
          <p:nvPr/>
        </p:nvSpPr>
        <p:spPr>
          <a:xfrm>
            <a:off x="8616142" y="4691288"/>
            <a:ext cx="1521229"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no drop</a:t>
            </a:r>
            <a:endParaRPr lang="en-US" sz="1200" dirty="0"/>
          </a:p>
        </p:txBody>
      </p:sp>
      <p:sp>
        <p:nvSpPr>
          <p:cNvPr id="41" name="Shape 39"/>
          <p:cNvSpPr/>
          <p:nvPr/>
        </p:nvSpPr>
        <p:spPr>
          <a:xfrm>
            <a:off x="9711427" y="4163928"/>
            <a:ext cx="101415" cy="0"/>
          </a:xfrm>
          <a:prstGeom prst="line">
            <a:avLst/>
          </a:prstGeom>
          <a:noFill/>
          <a:ln w="15240">
            <a:solidFill>
              <a:srgbClr val="15181C"/>
            </a:solidFill>
            <a:prstDash val="solid"/>
          </a:ln>
        </p:spPr>
      </p:sp>
      <p:sp>
        <p:nvSpPr>
          <p:cNvPr id="42" name="Shape 40"/>
          <p:cNvSpPr/>
          <p:nvPr/>
        </p:nvSpPr>
        <p:spPr>
          <a:xfrm>
            <a:off x="9812842" y="4163928"/>
            <a:ext cx="0" cy="628775"/>
          </a:xfrm>
          <a:prstGeom prst="line">
            <a:avLst/>
          </a:prstGeom>
          <a:noFill/>
          <a:ln w="15240">
            <a:solidFill>
              <a:srgbClr val="15181C"/>
            </a:solidFill>
            <a:prstDash val="solid"/>
          </a:ln>
        </p:spPr>
      </p:sp>
      <p:sp>
        <p:nvSpPr>
          <p:cNvPr id="43" name="Shape 41"/>
          <p:cNvSpPr/>
          <p:nvPr/>
        </p:nvSpPr>
        <p:spPr>
          <a:xfrm>
            <a:off x="9711427" y="4792703"/>
            <a:ext cx="101415" cy="0"/>
          </a:xfrm>
          <a:prstGeom prst="line">
            <a:avLst/>
          </a:prstGeom>
          <a:noFill/>
          <a:ln w="15240">
            <a:solidFill>
              <a:srgbClr val="15181C"/>
            </a:solidFill>
            <a:prstDash val="solid"/>
          </a:ln>
        </p:spPr>
      </p:sp>
      <p:sp>
        <p:nvSpPr>
          <p:cNvPr id="44" name="Text 42"/>
          <p:cNvSpPr txBox="1"/>
          <p:nvPr/>
        </p:nvSpPr>
        <p:spPr>
          <a:xfrm>
            <a:off x="9893974" y="4305910"/>
            <a:ext cx="18254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partner's effect</a:t>
            </a:r>
            <a:endParaRPr lang="en-US" sz="1100" dirty="0"/>
          </a:p>
        </p:txBody>
      </p:sp>
      <p:sp>
        <p:nvSpPr>
          <p:cNvPr id="45" name="Text 43"/>
          <p:cNvSpPr txBox="1"/>
          <p:nvPr/>
        </p:nvSpPr>
        <p:spPr>
          <a:xfrm>
            <a:off x="9893974" y="4468174"/>
            <a:ext cx="1825475"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is the difference</a:t>
            </a:r>
            <a:endParaRPr lang="en-US" sz="1200" dirty="0"/>
          </a:p>
        </p:txBody>
      </p:sp>
      <p:sp>
        <p:nvSpPr>
          <p:cNvPr id="46" name="Shape 44"/>
          <p:cNvSpPr/>
          <p:nvPr/>
        </p:nvSpPr>
        <p:spPr>
          <a:xfrm>
            <a:off x="644901" y="5137515"/>
            <a:ext cx="10871717" cy="0"/>
          </a:xfrm>
          <a:prstGeom prst="line">
            <a:avLst/>
          </a:prstGeom>
          <a:noFill/>
          <a:ln w="12700">
            <a:solidFill>
              <a:srgbClr val="AFB5BD"/>
            </a:solidFill>
            <a:prstDash val="dash"/>
          </a:ln>
        </p:spPr>
      </p:sp>
      <p:sp>
        <p:nvSpPr>
          <p:cNvPr id="47" name="Text 45"/>
          <p:cNvSpPr txBox="1"/>
          <p:nvPr/>
        </p:nvSpPr>
        <p:spPr>
          <a:xfrm>
            <a:off x="644901" y="525921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empty window is the same width, at the mirrored distance, with no footprint in it — so the comparison never leaves the site</a:t>
            </a:r>
            <a:endParaRPr lang="en-US" sz="1100" dirty="0"/>
          </a:p>
        </p:txBody>
      </p:sp>
      <p:sp>
        <p:nvSpPr>
          <p:cNvPr id="48" name="Shape 46"/>
          <p:cNvSpPr/>
          <p:nvPr/>
        </p:nvSpPr>
        <p:spPr>
          <a:xfrm>
            <a:off x="502920" y="5989320"/>
            <a:ext cx="50292" cy="566928"/>
          </a:xfrm>
          <a:prstGeom prst="rect">
            <a:avLst/>
          </a:prstGeom>
          <a:solidFill>
            <a:srgbClr val="3F3F3F"/>
          </a:solidFill>
          <a:ln w="12700">
            <a:solidFill>
              <a:srgbClr val="333333"/>
            </a:solidFill>
            <a:prstDash val="solid"/>
          </a:ln>
        </p:spPr>
      </p:sp>
      <p:sp>
        <p:nvSpPr>
          <p:cNvPr id="49" name="Text 4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6283142" y="1544898"/>
            <a:ext cx="137160" cy="137160"/>
          </a:xfrm>
          <a:prstGeom prst="rect">
            <a:avLst/>
          </a:prstGeom>
          <a:solidFill>
            <a:srgbClr val="D6D6D6"/>
          </a:solidFill>
          <a:ln w="11430">
            <a:solidFill>
              <a:srgbClr val="111111"/>
            </a:solidFill>
            <a:prstDash val="solid"/>
          </a:ln>
        </p:spPr>
      </p:sp>
      <p:sp>
        <p:nvSpPr>
          <p:cNvPr id="6" name="Shape 3"/>
          <p:cNvSpPr/>
          <p:nvPr/>
        </p:nvSpPr>
        <p:spPr>
          <a:xfrm>
            <a:off x="6283142" y="1743113"/>
            <a:ext cx="137160" cy="137160"/>
          </a:xfrm>
          <a:prstGeom prst="rect">
            <a:avLst/>
          </a:prstGeom>
          <a:solidFill>
            <a:srgbClr val="FFFFFF"/>
          </a:solidFill>
          <a:ln w="11430">
            <a:solidFill>
              <a:srgbClr val="111111"/>
            </a:solidFill>
            <a:prstDash val="solid"/>
          </a:ln>
        </p:spPr>
      </p:sp>
      <p:sp>
        <p:nvSpPr>
          <p:cNvPr id="7" name="Text 4"/>
          <p:cNvSpPr txBox="1"/>
          <p:nvPr/>
        </p:nvSpPr>
        <p:spPr>
          <a:xfrm>
            <a:off x="2010934" y="1613535"/>
            <a:ext cx="5277917" cy="237744"/>
          </a:xfrm>
          <a:prstGeom prst="rect">
            <a:avLst/>
          </a:prstGeom>
          <a:noFill/>
          <a:ln/>
        </p:spPr>
        <p:txBody>
          <a:bodyPr wrap="none" lIns="0" tIns="0" rIns="0" bIns="0" rtlCol="0" anchor="ctr"/>
          <a:lstStyle/>
          <a:p>
            <a:pPr algn="l" indent="0" marL="0">
              <a:buNone/>
            </a:pPr>
            <a:r>
              <a:rPr lang="en-US" sz="1233" dirty="0">
                <a:solidFill>
                  <a:srgbClr val="4D4D4D"/>
                </a:solidFill>
                <a:latin typeface="Arial" pitchFamily="34" charset="0"/>
                <a:ea typeface="Arial" pitchFamily="34" charset="-122"/>
                <a:cs typeface="Arial" pitchFamily="34" charset="-120"/>
              </a:rPr>
              <a:t>vs Stable, at the site's own AP-1 motif (BH across the four)</a:t>
            </a:r>
            <a:endParaRPr lang="en-US" sz="1233" dirty="0"/>
          </a:p>
        </p:txBody>
      </p:sp>
      <p:sp>
        <p:nvSpPr>
          <p:cNvPr id="8" name="Text 5"/>
          <p:cNvSpPr txBox="1"/>
          <p:nvPr/>
        </p:nvSpPr>
        <p:spPr>
          <a:xfrm>
            <a:off x="1654682"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reference</a:t>
            </a:r>
            <a:endParaRPr lang="en-US" sz="1233" dirty="0"/>
          </a:p>
        </p:txBody>
      </p:sp>
      <p:sp>
        <p:nvSpPr>
          <p:cNvPr id="9" name="Text 6"/>
          <p:cNvSpPr txBox="1"/>
          <p:nvPr/>
        </p:nvSpPr>
        <p:spPr>
          <a:xfrm>
            <a:off x="3673654"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0.93</a:t>
            </a:r>
            <a:endParaRPr lang="en-US" sz="1233" dirty="0"/>
          </a:p>
        </p:txBody>
      </p:sp>
      <p:sp>
        <p:nvSpPr>
          <p:cNvPr id="10" name="Text 7"/>
          <p:cNvSpPr txBox="1"/>
          <p:nvPr/>
        </p:nvSpPr>
        <p:spPr>
          <a:xfrm>
            <a:off x="5446103" y="2009965"/>
            <a:ext cx="1407444"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9.1 × 10⁻⁵</a:t>
            </a:r>
            <a:endParaRPr lang="en-US" sz="1233" dirty="0"/>
          </a:p>
        </p:txBody>
      </p:sp>
      <p:sp>
        <p:nvSpPr>
          <p:cNvPr id="11" name="Text 8"/>
          <p:cNvSpPr txBox="1"/>
          <p:nvPr/>
        </p:nvSpPr>
        <p:spPr>
          <a:xfrm>
            <a:off x="7711596"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0.49</a:t>
            </a:r>
            <a:endParaRPr lang="en-US" sz="1233" dirty="0"/>
          </a:p>
        </p:txBody>
      </p:sp>
      <p:sp>
        <p:nvSpPr>
          <p:cNvPr id="12" name="Text 9"/>
          <p:cNvSpPr txBox="1"/>
          <p:nvPr/>
        </p:nvSpPr>
        <p:spPr>
          <a:xfrm>
            <a:off x="9703958" y="2009965"/>
            <a:ext cx="967618"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0.043</a:t>
            </a:r>
            <a:endParaRPr lang="en-US" sz="1233" dirty="0"/>
          </a:p>
        </p:txBody>
      </p:sp>
      <p:sp>
        <p:nvSpPr>
          <p:cNvPr id="13" name="Text 10"/>
          <p:cNvSpPr txBox="1"/>
          <p:nvPr/>
        </p:nvSpPr>
        <p:spPr>
          <a:xfrm>
            <a:off x="6513240" y="1494606"/>
            <a:ext cx="1649349"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own AP-1 motif</a:t>
            </a:r>
            <a:endParaRPr lang="en-US" sz="1285" dirty="0"/>
          </a:p>
        </p:txBody>
      </p:sp>
      <p:sp>
        <p:nvSpPr>
          <p:cNvPr id="14" name="Text 11"/>
          <p:cNvSpPr txBox="1"/>
          <p:nvPr/>
        </p:nvSpPr>
        <p:spPr>
          <a:xfrm>
            <a:off x="6513240" y="1692821"/>
            <a:ext cx="4031742"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partner motifs, net of a matched control</a:t>
            </a:r>
            <a:endParaRPr lang="en-US" sz="1285" dirty="0"/>
          </a:p>
        </p:txBody>
      </p:sp>
      <p:sp>
        <p:nvSpPr>
          <p:cNvPr id="15" name="Shape 12"/>
          <p:cNvSpPr/>
          <p:nvPr/>
        </p:nvSpPr>
        <p:spPr>
          <a:xfrm>
            <a:off x="502920" y="5303520"/>
            <a:ext cx="50292" cy="868680"/>
          </a:xfrm>
          <a:prstGeom prst="rect">
            <a:avLst/>
          </a:prstGeom>
          <a:solidFill>
            <a:srgbClr val="3F3F3F"/>
          </a:solidFill>
          <a:ln w="12700">
            <a:solidFill>
              <a:srgbClr val="333333"/>
            </a:solidFill>
            <a:prstDash val="solid"/>
          </a:ln>
        </p:spPr>
      </p:sp>
      <p:sp>
        <p:nvSpPr>
          <p:cNvPr id="16" name="Text 1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sp>
        <p:nvSpPr>
          <p:cNvPr id="3" name="Text 1"/>
          <p:cNvSpPr txBox="1"/>
          <p:nvPr/>
        </p:nvSpPr>
        <p:spPr>
          <a:xfrm>
            <a:off x="644901" y="1618405"/>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WALK A 10 bp WINDOW ACROSS THE LOCUS</a:t>
            </a:r>
            <a:endParaRPr lang="en-US" sz="1300" dirty="0"/>
          </a:p>
        </p:txBody>
      </p:sp>
      <p:sp>
        <p:nvSpPr>
          <p:cNvPr id="4" name="Shape 2"/>
          <p:cNvSpPr/>
          <p:nvPr/>
        </p:nvSpPr>
        <p:spPr>
          <a:xfrm>
            <a:off x="2145847" y="1882085"/>
            <a:ext cx="7707561" cy="628775"/>
          </a:xfrm>
          <a:custGeom>
            <a:avLst/>
            <a:gdLst/>
            <a:ahLst/>
            <a:cxnLst/>
            <a:rect l="l" t="t" r="r" b="b"/>
            <a:pathLst>
              <a:path w="7707561" h="628775">
                <a:moveTo>
                  <a:pt x="0" y="628775"/>
                </a:moveTo>
                <a:lnTo>
                  <a:pt x="0" y="603339"/>
                </a:lnTo>
                <a:lnTo>
                  <a:pt x="80287" y="603994"/>
                </a:lnTo>
                <a:lnTo>
                  <a:pt x="160574" y="603482"/>
                </a:lnTo>
                <a:lnTo>
                  <a:pt x="240861" y="607197"/>
                </a:lnTo>
                <a:lnTo>
                  <a:pt x="321148" y="594197"/>
                </a:lnTo>
                <a:lnTo>
                  <a:pt x="401435" y="603792"/>
                </a:lnTo>
                <a:lnTo>
                  <a:pt x="481723" y="604529"/>
                </a:lnTo>
                <a:lnTo>
                  <a:pt x="562010" y="608405"/>
                </a:lnTo>
                <a:lnTo>
                  <a:pt x="642297" y="606747"/>
                </a:lnTo>
                <a:lnTo>
                  <a:pt x="722584" y="593177"/>
                </a:lnTo>
                <a:lnTo>
                  <a:pt x="802871" y="602925"/>
                </a:lnTo>
                <a:lnTo>
                  <a:pt x="883158" y="607054"/>
                </a:lnTo>
                <a:lnTo>
                  <a:pt x="963445" y="605123"/>
                </a:lnTo>
                <a:lnTo>
                  <a:pt x="1043732" y="608447"/>
                </a:lnTo>
                <a:lnTo>
                  <a:pt x="1124019" y="595585"/>
                </a:lnTo>
                <a:lnTo>
                  <a:pt x="1204306" y="600769"/>
                </a:lnTo>
                <a:lnTo>
                  <a:pt x="1284593" y="605803"/>
                </a:lnTo>
                <a:lnTo>
                  <a:pt x="1364881" y="603582"/>
                </a:lnTo>
                <a:lnTo>
                  <a:pt x="1445168" y="605215"/>
                </a:lnTo>
                <a:lnTo>
                  <a:pt x="1525455" y="600241"/>
                </a:lnTo>
                <a:lnTo>
                  <a:pt x="1605742" y="598717"/>
                </a:lnTo>
                <a:lnTo>
                  <a:pt x="1686029" y="601734"/>
                </a:lnTo>
                <a:lnTo>
                  <a:pt x="1766316" y="602538"/>
                </a:lnTo>
                <a:lnTo>
                  <a:pt x="1846603" y="602351"/>
                </a:lnTo>
                <a:lnTo>
                  <a:pt x="1926890" y="605069"/>
                </a:lnTo>
                <a:lnTo>
                  <a:pt x="2007177" y="598609"/>
                </a:lnTo>
                <a:lnTo>
                  <a:pt x="2087464" y="599604"/>
                </a:lnTo>
                <a:lnTo>
                  <a:pt x="2167751" y="600670"/>
                </a:lnTo>
                <a:lnTo>
                  <a:pt x="2248039" y="601462"/>
                </a:lnTo>
                <a:lnTo>
                  <a:pt x="2328326" y="608393"/>
                </a:lnTo>
                <a:lnTo>
                  <a:pt x="2408613" y="601461"/>
                </a:lnTo>
                <a:lnTo>
                  <a:pt x="2488900" y="600283"/>
                </a:lnTo>
                <a:lnTo>
                  <a:pt x="2569187" y="597704"/>
                </a:lnTo>
                <a:lnTo>
                  <a:pt x="2649474" y="602868"/>
                </a:lnTo>
                <a:lnTo>
                  <a:pt x="2729761" y="607026"/>
                </a:lnTo>
                <a:lnTo>
                  <a:pt x="2810048" y="606512"/>
                </a:lnTo>
                <a:lnTo>
                  <a:pt x="2890335" y="602439"/>
                </a:lnTo>
                <a:lnTo>
                  <a:pt x="2970622" y="592998"/>
                </a:lnTo>
                <a:lnTo>
                  <a:pt x="3050909" y="600760"/>
                </a:lnTo>
                <a:lnTo>
                  <a:pt x="3131197" y="594937"/>
                </a:lnTo>
                <a:lnTo>
                  <a:pt x="3211484" y="579476"/>
                </a:lnTo>
                <a:lnTo>
                  <a:pt x="3291771" y="555857"/>
                </a:lnTo>
                <a:lnTo>
                  <a:pt x="3372058" y="502004"/>
                </a:lnTo>
                <a:lnTo>
                  <a:pt x="3452345" y="454720"/>
                </a:lnTo>
                <a:lnTo>
                  <a:pt x="3532632" y="372996"/>
                </a:lnTo>
                <a:lnTo>
                  <a:pt x="3612919" y="279603"/>
                </a:lnTo>
                <a:lnTo>
                  <a:pt x="3693206" y="203210"/>
                </a:lnTo>
                <a:lnTo>
                  <a:pt x="3773493" y="131195"/>
                </a:lnTo>
                <a:lnTo>
                  <a:pt x="3853780" y="120956"/>
                </a:lnTo>
                <a:lnTo>
                  <a:pt x="3934067" y="137232"/>
                </a:lnTo>
                <a:lnTo>
                  <a:pt x="4014355" y="194337"/>
                </a:lnTo>
                <a:lnTo>
                  <a:pt x="4094642" y="286415"/>
                </a:lnTo>
                <a:lnTo>
                  <a:pt x="4174929" y="369306"/>
                </a:lnTo>
                <a:lnTo>
                  <a:pt x="4255216" y="453760"/>
                </a:lnTo>
                <a:lnTo>
                  <a:pt x="4335503" y="506673"/>
                </a:lnTo>
                <a:lnTo>
                  <a:pt x="4415790" y="548970"/>
                </a:lnTo>
                <a:lnTo>
                  <a:pt x="4496077" y="580636"/>
                </a:lnTo>
                <a:lnTo>
                  <a:pt x="4576364" y="596351"/>
                </a:lnTo>
                <a:lnTo>
                  <a:pt x="4656651" y="600624"/>
                </a:lnTo>
                <a:lnTo>
                  <a:pt x="4736938" y="594161"/>
                </a:lnTo>
                <a:lnTo>
                  <a:pt x="4817225" y="599539"/>
                </a:lnTo>
                <a:lnTo>
                  <a:pt x="4897513" y="604756"/>
                </a:lnTo>
                <a:lnTo>
                  <a:pt x="4977800" y="603510"/>
                </a:lnTo>
                <a:lnTo>
                  <a:pt x="5058087" y="605878"/>
                </a:lnTo>
                <a:lnTo>
                  <a:pt x="5138374" y="596168"/>
                </a:lnTo>
                <a:lnTo>
                  <a:pt x="5218661" y="600299"/>
                </a:lnTo>
                <a:lnTo>
                  <a:pt x="5298948" y="606159"/>
                </a:lnTo>
                <a:lnTo>
                  <a:pt x="5379235" y="600288"/>
                </a:lnTo>
                <a:lnTo>
                  <a:pt x="5459522" y="608164"/>
                </a:lnTo>
                <a:lnTo>
                  <a:pt x="5539809" y="599438"/>
                </a:lnTo>
                <a:lnTo>
                  <a:pt x="5620096" y="599503"/>
                </a:lnTo>
                <a:lnTo>
                  <a:pt x="5700383" y="607839"/>
                </a:lnTo>
                <a:lnTo>
                  <a:pt x="5780671" y="599370"/>
                </a:lnTo>
                <a:lnTo>
                  <a:pt x="5860958" y="603774"/>
                </a:lnTo>
                <a:lnTo>
                  <a:pt x="5941245" y="604494"/>
                </a:lnTo>
                <a:lnTo>
                  <a:pt x="6021532" y="598959"/>
                </a:lnTo>
                <a:lnTo>
                  <a:pt x="6101819" y="604562"/>
                </a:lnTo>
                <a:lnTo>
                  <a:pt x="6182106" y="599507"/>
                </a:lnTo>
                <a:lnTo>
                  <a:pt x="6262393" y="599884"/>
                </a:lnTo>
                <a:lnTo>
                  <a:pt x="6342680" y="607756"/>
                </a:lnTo>
                <a:lnTo>
                  <a:pt x="6422967" y="600324"/>
                </a:lnTo>
                <a:lnTo>
                  <a:pt x="6503254" y="602784"/>
                </a:lnTo>
                <a:lnTo>
                  <a:pt x="6583541" y="599220"/>
                </a:lnTo>
                <a:lnTo>
                  <a:pt x="6663829" y="598266"/>
                </a:lnTo>
                <a:lnTo>
                  <a:pt x="6744116" y="605022"/>
                </a:lnTo>
                <a:lnTo>
                  <a:pt x="6824403" y="604454"/>
                </a:lnTo>
                <a:lnTo>
                  <a:pt x="6904690" y="603365"/>
                </a:lnTo>
                <a:lnTo>
                  <a:pt x="6984977" y="598007"/>
                </a:lnTo>
                <a:lnTo>
                  <a:pt x="7065264" y="599395"/>
                </a:lnTo>
                <a:lnTo>
                  <a:pt x="7145551" y="604553"/>
                </a:lnTo>
                <a:lnTo>
                  <a:pt x="7225838" y="606331"/>
                </a:lnTo>
                <a:lnTo>
                  <a:pt x="7306125" y="605639"/>
                </a:lnTo>
                <a:lnTo>
                  <a:pt x="7386412" y="596752"/>
                </a:lnTo>
                <a:lnTo>
                  <a:pt x="7466699" y="602219"/>
                </a:lnTo>
                <a:lnTo>
                  <a:pt x="7546987" y="605176"/>
                </a:lnTo>
                <a:lnTo>
                  <a:pt x="7627274" y="600059"/>
                </a:lnTo>
                <a:lnTo>
                  <a:pt x="7707561" y="607858"/>
                </a:lnTo>
                <a:lnTo>
                  <a:pt x="7707561" y="628775"/>
                </a:lnTo>
                <a:close/>
              </a:path>
            </a:pathLst>
          </a:custGeom>
          <a:solidFill>
            <a:srgbClr val="55637A">
              <a:alpha val="14000"/>
            </a:srgbClr>
          </a:solidFill>
          <a:ln w="16510">
            <a:solidFill>
              <a:srgbClr val="55637A"/>
            </a:solidFill>
            <a:prstDash val="solid"/>
          </a:ln>
        </p:spPr>
      </p:sp>
      <p:sp>
        <p:nvSpPr>
          <p:cNvPr id="5" name="Shape 3"/>
          <p:cNvSpPr/>
          <p:nvPr/>
        </p:nvSpPr>
        <p:spPr>
          <a:xfrm>
            <a:off x="2145847" y="2510859"/>
            <a:ext cx="7707561" cy="0"/>
          </a:xfrm>
          <a:prstGeom prst="line">
            <a:avLst/>
          </a:prstGeom>
          <a:noFill/>
          <a:ln w="20320">
            <a:solidFill>
              <a:srgbClr val="15181C">
                <a:alpha val="55000"/>
              </a:srgbClr>
            </a:solidFill>
            <a:prstDash val="solid"/>
          </a:ln>
        </p:spPr>
      </p:sp>
      <p:sp>
        <p:nvSpPr>
          <p:cNvPr id="6" name="Shape 4"/>
          <p:cNvSpPr/>
          <p:nvPr/>
        </p:nvSpPr>
        <p:spPr>
          <a:xfrm>
            <a:off x="5867788" y="2455081"/>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5391136" y="1740103"/>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2153961" y="2622416"/>
            <a:ext cx="240692" cy="172406"/>
          </a:xfrm>
          <a:prstGeom prst="roundRect">
            <a:avLst>
              <a:gd name="adj" fmla="val 5304"/>
            </a:avLst>
          </a:prstGeom>
          <a:ln w="9525">
            <a:solidFill>
              <a:srgbClr val="E2622F">
                <a:alpha val="38000"/>
              </a:srgbClr>
            </a:solidFill>
            <a:prstDash val="solid"/>
          </a:ln>
        </p:spPr>
      </p:sp>
      <p:sp>
        <p:nvSpPr>
          <p:cNvPr id="9" name="Shape 7"/>
          <p:cNvSpPr/>
          <p:nvPr/>
        </p:nvSpPr>
        <p:spPr>
          <a:xfrm>
            <a:off x="2410879" y="2622416"/>
            <a:ext cx="240692" cy="172406"/>
          </a:xfrm>
          <a:prstGeom prst="roundRect">
            <a:avLst>
              <a:gd name="adj" fmla="val 5304"/>
            </a:avLst>
          </a:prstGeom>
          <a:ln w="9525">
            <a:solidFill>
              <a:srgbClr val="E2622F">
                <a:alpha val="38000"/>
              </a:srgbClr>
            </a:solidFill>
            <a:prstDash val="solid"/>
          </a:ln>
        </p:spPr>
      </p:sp>
      <p:sp>
        <p:nvSpPr>
          <p:cNvPr id="10" name="Shape 8"/>
          <p:cNvSpPr/>
          <p:nvPr/>
        </p:nvSpPr>
        <p:spPr>
          <a:xfrm>
            <a:off x="2667798" y="2622416"/>
            <a:ext cx="240692" cy="172406"/>
          </a:xfrm>
          <a:prstGeom prst="roundRect">
            <a:avLst>
              <a:gd name="adj" fmla="val 5304"/>
            </a:avLst>
          </a:prstGeom>
          <a:ln w="9525">
            <a:solidFill>
              <a:srgbClr val="E2622F">
                <a:alpha val="38000"/>
              </a:srgbClr>
            </a:solidFill>
            <a:prstDash val="solid"/>
          </a:ln>
        </p:spPr>
      </p:sp>
      <p:sp>
        <p:nvSpPr>
          <p:cNvPr id="11" name="Shape 9"/>
          <p:cNvSpPr/>
          <p:nvPr/>
        </p:nvSpPr>
        <p:spPr>
          <a:xfrm>
            <a:off x="2924717" y="2622416"/>
            <a:ext cx="240692" cy="172406"/>
          </a:xfrm>
          <a:prstGeom prst="roundRect">
            <a:avLst>
              <a:gd name="adj" fmla="val 5304"/>
            </a:avLst>
          </a:prstGeom>
          <a:ln w="9525">
            <a:solidFill>
              <a:srgbClr val="E2622F">
                <a:alpha val="38000"/>
              </a:srgbClr>
            </a:solidFill>
            <a:prstDash val="solid"/>
          </a:ln>
        </p:spPr>
      </p:sp>
      <p:sp>
        <p:nvSpPr>
          <p:cNvPr id="12" name="Shape 10"/>
          <p:cNvSpPr/>
          <p:nvPr/>
        </p:nvSpPr>
        <p:spPr>
          <a:xfrm>
            <a:off x="3181635" y="2622416"/>
            <a:ext cx="240692" cy="172406"/>
          </a:xfrm>
          <a:prstGeom prst="roundRect">
            <a:avLst>
              <a:gd name="adj" fmla="val 5304"/>
            </a:avLst>
          </a:prstGeom>
          <a:ln w="9525">
            <a:solidFill>
              <a:srgbClr val="E2622F">
                <a:alpha val="38000"/>
              </a:srgbClr>
            </a:solidFill>
            <a:prstDash val="solid"/>
          </a:ln>
        </p:spPr>
      </p:sp>
      <p:sp>
        <p:nvSpPr>
          <p:cNvPr id="13" name="Shape 11"/>
          <p:cNvSpPr/>
          <p:nvPr/>
        </p:nvSpPr>
        <p:spPr>
          <a:xfrm>
            <a:off x="3438554" y="2622416"/>
            <a:ext cx="240692" cy="172406"/>
          </a:xfrm>
          <a:prstGeom prst="roundRect">
            <a:avLst>
              <a:gd name="adj" fmla="val 5304"/>
            </a:avLst>
          </a:prstGeom>
          <a:ln w="9525">
            <a:solidFill>
              <a:srgbClr val="E2622F">
                <a:alpha val="38000"/>
              </a:srgbClr>
            </a:solidFill>
            <a:prstDash val="solid"/>
          </a:ln>
        </p:spPr>
      </p:sp>
      <p:sp>
        <p:nvSpPr>
          <p:cNvPr id="14" name="Shape 12"/>
          <p:cNvSpPr/>
          <p:nvPr/>
        </p:nvSpPr>
        <p:spPr>
          <a:xfrm>
            <a:off x="3695473" y="2622416"/>
            <a:ext cx="240692" cy="172406"/>
          </a:xfrm>
          <a:prstGeom prst="roundRect">
            <a:avLst>
              <a:gd name="adj" fmla="val 5304"/>
            </a:avLst>
          </a:prstGeom>
          <a:ln w="9525">
            <a:solidFill>
              <a:srgbClr val="E2622F">
                <a:alpha val="38000"/>
              </a:srgbClr>
            </a:solidFill>
            <a:prstDash val="solid"/>
          </a:ln>
        </p:spPr>
      </p:sp>
      <p:sp>
        <p:nvSpPr>
          <p:cNvPr id="15" name="Shape 13"/>
          <p:cNvSpPr/>
          <p:nvPr/>
        </p:nvSpPr>
        <p:spPr>
          <a:xfrm>
            <a:off x="3952391" y="2622416"/>
            <a:ext cx="240692" cy="172406"/>
          </a:xfrm>
          <a:prstGeom prst="roundRect">
            <a:avLst>
              <a:gd name="adj" fmla="val 5304"/>
            </a:avLst>
          </a:prstGeom>
          <a:ln w="9525">
            <a:solidFill>
              <a:srgbClr val="E2622F">
                <a:alpha val="38000"/>
              </a:srgbClr>
            </a:solidFill>
            <a:prstDash val="solid"/>
          </a:ln>
        </p:spPr>
      </p:sp>
      <p:sp>
        <p:nvSpPr>
          <p:cNvPr id="16" name="Shape 14"/>
          <p:cNvSpPr/>
          <p:nvPr/>
        </p:nvSpPr>
        <p:spPr>
          <a:xfrm>
            <a:off x="4209310" y="2622416"/>
            <a:ext cx="240692" cy="172406"/>
          </a:xfrm>
          <a:prstGeom prst="roundRect">
            <a:avLst>
              <a:gd name="adj" fmla="val 5304"/>
            </a:avLst>
          </a:prstGeom>
          <a:ln w="9525">
            <a:solidFill>
              <a:srgbClr val="E2622F">
                <a:alpha val="38000"/>
              </a:srgbClr>
            </a:solidFill>
            <a:prstDash val="solid"/>
          </a:ln>
        </p:spPr>
      </p:sp>
      <p:sp>
        <p:nvSpPr>
          <p:cNvPr id="17" name="Shape 15"/>
          <p:cNvSpPr/>
          <p:nvPr/>
        </p:nvSpPr>
        <p:spPr>
          <a:xfrm>
            <a:off x="4466229" y="2622416"/>
            <a:ext cx="240692" cy="172406"/>
          </a:xfrm>
          <a:prstGeom prst="roundRect">
            <a:avLst>
              <a:gd name="adj" fmla="val 5304"/>
            </a:avLst>
          </a:prstGeom>
          <a:ln w="9525">
            <a:solidFill>
              <a:srgbClr val="E2622F">
                <a:alpha val="38000"/>
              </a:srgbClr>
            </a:solidFill>
            <a:prstDash val="solid"/>
          </a:ln>
        </p:spPr>
      </p:sp>
      <p:sp>
        <p:nvSpPr>
          <p:cNvPr id="18" name="Shape 16"/>
          <p:cNvSpPr/>
          <p:nvPr/>
        </p:nvSpPr>
        <p:spPr>
          <a:xfrm>
            <a:off x="4723148" y="2622416"/>
            <a:ext cx="240692" cy="172406"/>
          </a:xfrm>
          <a:prstGeom prst="roundRect">
            <a:avLst>
              <a:gd name="adj" fmla="val 5304"/>
            </a:avLst>
          </a:prstGeom>
          <a:ln w="9525">
            <a:solidFill>
              <a:srgbClr val="E2622F">
                <a:alpha val="38000"/>
              </a:srgbClr>
            </a:solidFill>
            <a:prstDash val="solid"/>
          </a:ln>
        </p:spPr>
      </p:sp>
      <p:sp>
        <p:nvSpPr>
          <p:cNvPr id="19" name="Shape 17"/>
          <p:cNvSpPr/>
          <p:nvPr/>
        </p:nvSpPr>
        <p:spPr>
          <a:xfrm>
            <a:off x="4980066" y="2622416"/>
            <a:ext cx="240692" cy="172406"/>
          </a:xfrm>
          <a:prstGeom prst="roundRect">
            <a:avLst>
              <a:gd name="adj" fmla="val 5304"/>
            </a:avLst>
          </a:prstGeom>
          <a:solidFill>
            <a:srgbClr val="E2622F">
              <a:alpha val="75000"/>
            </a:srgbClr>
          </a:solidFill>
          <a:ln w="13970">
            <a:solidFill>
              <a:srgbClr val="E2622F"/>
            </a:solidFill>
            <a:prstDash val="solid"/>
          </a:ln>
        </p:spPr>
      </p:sp>
      <p:sp>
        <p:nvSpPr>
          <p:cNvPr id="20" name="Shape 18"/>
          <p:cNvSpPr/>
          <p:nvPr/>
        </p:nvSpPr>
        <p:spPr>
          <a:xfrm>
            <a:off x="5236985" y="2622416"/>
            <a:ext cx="240692" cy="172406"/>
          </a:xfrm>
          <a:prstGeom prst="roundRect">
            <a:avLst>
              <a:gd name="adj" fmla="val 5304"/>
            </a:avLst>
          </a:prstGeom>
          <a:ln w="9525">
            <a:solidFill>
              <a:srgbClr val="E2622F">
                <a:alpha val="38000"/>
              </a:srgbClr>
            </a:solidFill>
            <a:prstDash val="solid"/>
          </a:ln>
        </p:spPr>
      </p:sp>
      <p:sp>
        <p:nvSpPr>
          <p:cNvPr id="21" name="Shape 19"/>
          <p:cNvSpPr/>
          <p:nvPr/>
        </p:nvSpPr>
        <p:spPr>
          <a:xfrm>
            <a:off x="5493904" y="2622416"/>
            <a:ext cx="240692" cy="172406"/>
          </a:xfrm>
          <a:prstGeom prst="roundRect">
            <a:avLst>
              <a:gd name="adj" fmla="val 5304"/>
            </a:avLst>
          </a:prstGeom>
          <a:ln w="9525">
            <a:solidFill>
              <a:srgbClr val="E2622F">
                <a:alpha val="38000"/>
              </a:srgbClr>
            </a:solidFill>
            <a:prstDash val="solid"/>
          </a:ln>
        </p:spPr>
      </p:sp>
      <p:sp>
        <p:nvSpPr>
          <p:cNvPr id="22" name="Shape 20"/>
          <p:cNvSpPr/>
          <p:nvPr/>
        </p:nvSpPr>
        <p:spPr>
          <a:xfrm>
            <a:off x="5750822" y="2622416"/>
            <a:ext cx="240692" cy="172406"/>
          </a:xfrm>
          <a:prstGeom prst="roundRect">
            <a:avLst>
              <a:gd name="adj" fmla="val 5304"/>
            </a:avLst>
          </a:prstGeom>
          <a:ln w="9525">
            <a:solidFill>
              <a:srgbClr val="E2622F">
                <a:alpha val="38000"/>
              </a:srgbClr>
            </a:solidFill>
            <a:prstDash val="solid"/>
          </a:ln>
        </p:spPr>
      </p:sp>
      <p:sp>
        <p:nvSpPr>
          <p:cNvPr id="23" name="Shape 21"/>
          <p:cNvSpPr/>
          <p:nvPr/>
        </p:nvSpPr>
        <p:spPr>
          <a:xfrm>
            <a:off x="6007741" y="2622416"/>
            <a:ext cx="240692" cy="172406"/>
          </a:xfrm>
          <a:prstGeom prst="roundRect">
            <a:avLst>
              <a:gd name="adj" fmla="val 5304"/>
            </a:avLst>
          </a:prstGeom>
          <a:ln w="9525">
            <a:solidFill>
              <a:srgbClr val="E2622F">
                <a:alpha val="38000"/>
              </a:srgbClr>
            </a:solidFill>
            <a:prstDash val="solid"/>
          </a:ln>
        </p:spPr>
      </p:sp>
      <p:sp>
        <p:nvSpPr>
          <p:cNvPr id="24" name="Shape 22"/>
          <p:cNvSpPr/>
          <p:nvPr/>
        </p:nvSpPr>
        <p:spPr>
          <a:xfrm>
            <a:off x="6264660" y="2622416"/>
            <a:ext cx="240692" cy="172406"/>
          </a:xfrm>
          <a:prstGeom prst="roundRect">
            <a:avLst>
              <a:gd name="adj" fmla="val 5304"/>
            </a:avLst>
          </a:prstGeom>
          <a:ln w="9525">
            <a:solidFill>
              <a:srgbClr val="E2622F">
                <a:alpha val="38000"/>
              </a:srgbClr>
            </a:solidFill>
            <a:prstDash val="solid"/>
          </a:ln>
        </p:spPr>
      </p:sp>
      <p:sp>
        <p:nvSpPr>
          <p:cNvPr id="25" name="Shape 23"/>
          <p:cNvSpPr/>
          <p:nvPr/>
        </p:nvSpPr>
        <p:spPr>
          <a:xfrm>
            <a:off x="6521578" y="2622416"/>
            <a:ext cx="240692" cy="172406"/>
          </a:xfrm>
          <a:prstGeom prst="roundRect">
            <a:avLst>
              <a:gd name="adj" fmla="val 5304"/>
            </a:avLst>
          </a:prstGeom>
          <a:ln w="9525">
            <a:solidFill>
              <a:srgbClr val="E2622F">
                <a:alpha val="38000"/>
              </a:srgbClr>
            </a:solidFill>
            <a:prstDash val="solid"/>
          </a:ln>
        </p:spPr>
      </p:sp>
      <p:sp>
        <p:nvSpPr>
          <p:cNvPr id="26" name="Shape 24"/>
          <p:cNvSpPr/>
          <p:nvPr/>
        </p:nvSpPr>
        <p:spPr>
          <a:xfrm>
            <a:off x="6778497" y="2622416"/>
            <a:ext cx="240692" cy="172406"/>
          </a:xfrm>
          <a:prstGeom prst="roundRect">
            <a:avLst>
              <a:gd name="adj" fmla="val 5304"/>
            </a:avLst>
          </a:prstGeom>
          <a:ln w="9525">
            <a:solidFill>
              <a:srgbClr val="E2622F">
                <a:alpha val="38000"/>
              </a:srgbClr>
            </a:solidFill>
            <a:prstDash val="solid"/>
          </a:ln>
        </p:spPr>
      </p:sp>
      <p:sp>
        <p:nvSpPr>
          <p:cNvPr id="27" name="Shape 25"/>
          <p:cNvSpPr/>
          <p:nvPr/>
        </p:nvSpPr>
        <p:spPr>
          <a:xfrm>
            <a:off x="7035416" y="2622416"/>
            <a:ext cx="240692" cy="172406"/>
          </a:xfrm>
          <a:prstGeom prst="roundRect">
            <a:avLst>
              <a:gd name="adj" fmla="val 5304"/>
            </a:avLst>
          </a:prstGeom>
          <a:ln w="9525">
            <a:solidFill>
              <a:srgbClr val="E2622F">
                <a:alpha val="38000"/>
              </a:srgbClr>
            </a:solidFill>
            <a:prstDash val="solid"/>
          </a:ln>
        </p:spPr>
      </p:sp>
      <p:sp>
        <p:nvSpPr>
          <p:cNvPr id="28" name="Shape 26"/>
          <p:cNvSpPr/>
          <p:nvPr/>
        </p:nvSpPr>
        <p:spPr>
          <a:xfrm>
            <a:off x="7292334" y="2622416"/>
            <a:ext cx="240692" cy="172406"/>
          </a:xfrm>
          <a:prstGeom prst="roundRect">
            <a:avLst>
              <a:gd name="adj" fmla="val 5304"/>
            </a:avLst>
          </a:prstGeom>
          <a:ln w="9525">
            <a:solidFill>
              <a:srgbClr val="E2622F">
                <a:alpha val="38000"/>
              </a:srgbClr>
            </a:solidFill>
            <a:prstDash val="solid"/>
          </a:ln>
        </p:spPr>
      </p:sp>
      <p:sp>
        <p:nvSpPr>
          <p:cNvPr id="29" name="Shape 27"/>
          <p:cNvSpPr/>
          <p:nvPr/>
        </p:nvSpPr>
        <p:spPr>
          <a:xfrm>
            <a:off x="7549253" y="2622416"/>
            <a:ext cx="240692" cy="172406"/>
          </a:xfrm>
          <a:prstGeom prst="roundRect">
            <a:avLst>
              <a:gd name="adj" fmla="val 5304"/>
            </a:avLst>
          </a:prstGeom>
          <a:ln w="9525">
            <a:solidFill>
              <a:srgbClr val="E2622F">
                <a:alpha val="38000"/>
              </a:srgbClr>
            </a:solidFill>
            <a:prstDash val="solid"/>
          </a:ln>
        </p:spPr>
      </p:sp>
      <p:sp>
        <p:nvSpPr>
          <p:cNvPr id="30" name="Shape 28"/>
          <p:cNvSpPr/>
          <p:nvPr/>
        </p:nvSpPr>
        <p:spPr>
          <a:xfrm>
            <a:off x="7806172" y="2622416"/>
            <a:ext cx="240692" cy="172406"/>
          </a:xfrm>
          <a:prstGeom prst="roundRect">
            <a:avLst>
              <a:gd name="adj" fmla="val 5304"/>
            </a:avLst>
          </a:prstGeom>
          <a:ln w="9525">
            <a:solidFill>
              <a:srgbClr val="E2622F">
                <a:alpha val="38000"/>
              </a:srgbClr>
            </a:solidFill>
            <a:prstDash val="solid"/>
          </a:ln>
        </p:spPr>
      </p:sp>
      <p:sp>
        <p:nvSpPr>
          <p:cNvPr id="31" name="Shape 29"/>
          <p:cNvSpPr/>
          <p:nvPr/>
        </p:nvSpPr>
        <p:spPr>
          <a:xfrm>
            <a:off x="8063091" y="2622416"/>
            <a:ext cx="240692" cy="172406"/>
          </a:xfrm>
          <a:prstGeom prst="roundRect">
            <a:avLst>
              <a:gd name="adj" fmla="val 5304"/>
            </a:avLst>
          </a:prstGeom>
          <a:ln w="9525">
            <a:solidFill>
              <a:srgbClr val="E2622F">
                <a:alpha val="38000"/>
              </a:srgbClr>
            </a:solidFill>
            <a:prstDash val="solid"/>
          </a:ln>
        </p:spPr>
      </p:sp>
      <p:sp>
        <p:nvSpPr>
          <p:cNvPr id="32" name="Shape 30"/>
          <p:cNvSpPr/>
          <p:nvPr/>
        </p:nvSpPr>
        <p:spPr>
          <a:xfrm>
            <a:off x="8320009" y="2622416"/>
            <a:ext cx="240692" cy="172406"/>
          </a:xfrm>
          <a:prstGeom prst="roundRect">
            <a:avLst>
              <a:gd name="adj" fmla="val 5304"/>
            </a:avLst>
          </a:prstGeom>
          <a:ln w="9525">
            <a:solidFill>
              <a:srgbClr val="E2622F">
                <a:alpha val="38000"/>
              </a:srgbClr>
            </a:solidFill>
            <a:prstDash val="solid"/>
          </a:ln>
        </p:spPr>
      </p:sp>
      <p:sp>
        <p:nvSpPr>
          <p:cNvPr id="33" name="Shape 31"/>
          <p:cNvSpPr/>
          <p:nvPr/>
        </p:nvSpPr>
        <p:spPr>
          <a:xfrm>
            <a:off x="8576928" y="2622416"/>
            <a:ext cx="240692" cy="172406"/>
          </a:xfrm>
          <a:prstGeom prst="roundRect">
            <a:avLst>
              <a:gd name="adj" fmla="val 5304"/>
            </a:avLst>
          </a:prstGeom>
          <a:ln w="9525">
            <a:solidFill>
              <a:srgbClr val="E2622F">
                <a:alpha val="38000"/>
              </a:srgbClr>
            </a:solidFill>
            <a:prstDash val="solid"/>
          </a:ln>
        </p:spPr>
      </p:sp>
      <p:sp>
        <p:nvSpPr>
          <p:cNvPr id="34" name="Shape 32"/>
          <p:cNvSpPr/>
          <p:nvPr/>
        </p:nvSpPr>
        <p:spPr>
          <a:xfrm>
            <a:off x="8833847" y="2622416"/>
            <a:ext cx="240692" cy="172406"/>
          </a:xfrm>
          <a:prstGeom prst="roundRect">
            <a:avLst>
              <a:gd name="adj" fmla="val 5304"/>
            </a:avLst>
          </a:prstGeom>
          <a:ln w="9525">
            <a:solidFill>
              <a:srgbClr val="E2622F">
                <a:alpha val="38000"/>
              </a:srgbClr>
            </a:solidFill>
            <a:prstDash val="solid"/>
          </a:ln>
        </p:spPr>
      </p:sp>
      <p:sp>
        <p:nvSpPr>
          <p:cNvPr id="35" name="Shape 33"/>
          <p:cNvSpPr/>
          <p:nvPr/>
        </p:nvSpPr>
        <p:spPr>
          <a:xfrm>
            <a:off x="9090765" y="2622416"/>
            <a:ext cx="240692" cy="172406"/>
          </a:xfrm>
          <a:prstGeom prst="roundRect">
            <a:avLst>
              <a:gd name="adj" fmla="val 5304"/>
            </a:avLst>
          </a:prstGeom>
          <a:ln w="9525">
            <a:solidFill>
              <a:srgbClr val="E2622F">
                <a:alpha val="38000"/>
              </a:srgbClr>
            </a:solidFill>
            <a:prstDash val="solid"/>
          </a:ln>
        </p:spPr>
      </p:sp>
      <p:sp>
        <p:nvSpPr>
          <p:cNvPr id="36" name="Shape 34"/>
          <p:cNvSpPr/>
          <p:nvPr/>
        </p:nvSpPr>
        <p:spPr>
          <a:xfrm>
            <a:off x="9347684" y="2622416"/>
            <a:ext cx="240692" cy="172406"/>
          </a:xfrm>
          <a:prstGeom prst="roundRect">
            <a:avLst>
              <a:gd name="adj" fmla="val 5304"/>
            </a:avLst>
          </a:prstGeom>
          <a:ln w="9525">
            <a:solidFill>
              <a:srgbClr val="E2622F">
                <a:alpha val="38000"/>
              </a:srgbClr>
            </a:solidFill>
            <a:prstDash val="solid"/>
          </a:ln>
        </p:spPr>
      </p:sp>
      <p:sp>
        <p:nvSpPr>
          <p:cNvPr id="37" name="Shape 35"/>
          <p:cNvSpPr/>
          <p:nvPr/>
        </p:nvSpPr>
        <p:spPr>
          <a:xfrm>
            <a:off x="9604603" y="2622416"/>
            <a:ext cx="240692" cy="172406"/>
          </a:xfrm>
          <a:prstGeom prst="roundRect">
            <a:avLst>
              <a:gd name="adj" fmla="val 5304"/>
            </a:avLst>
          </a:prstGeom>
          <a:ln w="9525">
            <a:solidFill>
              <a:srgbClr val="E2622F">
                <a:alpha val="38000"/>
              </a:srgbClr>
            </a:solidFill>
            <a:prstDash val="solid"/>
          </a:ln>
        </p:spPr>
      </p:sp>
      <p:sp>
        <p:nvSpPr>
          <p:cNvPr id="38" name="Shape 36"/>
          <p:cNvSpPr/>
          <p:nvPr/>
        </p:nvSpPr>
        <p:spPr>
          <a:xfrm>
            <a:off x="2145847" y="2916520"/>
            <a:ext cx="7707561" cy="0"/>
          </a:xfrm>
          <a:prstGeom prst="line">
            <a:avLst/>
          </a:prstGeom>
          <a:noFill/>
          <a:ln w="12700">
            <a:solidFill>
              <a:srgbClr val="AFB5BD"/>
            </a:solidFill>
            <a:prstDash val="solid"/>
          </a:ln>
        </p:spPr>
      </p:sp>
      <p:sp>
        <p:nvSpPr>
          <p:cNvPr id="39" name="Text 37"/>
          <p:cNvSpPr txBox="1"/>
          <p:nvPr/>
        </p:nvSpPr>
        <p:spPr>
          <a:xfrm>
            <a:off x="2145847" y="2997653"/>
            <a:ext cx="1419814"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−300 bp</a:t>
            </a:r>
            <a:endParaRPr lang="en-US" sz="1100" dirty="0"/>
          </a:p>
        </p:txBody>
      </p:sp>
      <p:sp>
        <p:nvSpPr>
          <p:cNvPr id="40" name="Text 38"/>
          <p:cNvSpPr txBox="1"/>
          <p:nvPr/>
        </p:nvSpPr>
        <p:spPr>
          <a:xfrm>
            <a:off x="8433594" y="2997653"/>
            <a:ext cx="1419814"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+290 bp</a:t>
            </a:r>
            <a:endParaRPr lang="en-US" sz="1100" dirty="0"/>
          </a:p>
        </p:txBody>
      </p:sp>
      <p:sp>
        <p:nvSpPr>
          <p:cNvPr id="41" name="Text 39"/>
          <p:cNvSpPr txBox="1"/>
          <p:nvPr/>
        </p:nvSpPr>
        <p:spPr>
          <a:xfrm>
            <a:off x="4478399" y="2997653"/>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60 tiles, one prediction each</a:t>
            </a:r>
            <a:endParaRPr lang="en-US" sz="1100" dirty="0"/>
          </a:p>
        </p:txBody>
      </p:sp>
      <p:sp>
        <p:nvSpPr>
          <p:cNvPr id="42" name="Shape 40"/>
          <p:cNvSpPr/>
          <p:nvPr/>
        </p:nvSpPr>
        <p:spPr>
          <a:xfrm>
            <a:off x="644901" y="3464163"/>
            <a:ext cx="10871717" cy="0"/>
          </a:xfrm>
          <a:prstGeom prst="line">
            <a:avLst/>
          </a:prstGeom>
          <a:noFill/>
          <a:ln w="12700">
            <a:solidFill>
              <a:srgbClr val="AFB5BD"/>
            </a:solidFill>
            <a:prstDash val="dash"/>
          </a:ln>
        </p:spPr>
      </p:sp>
      <p:sp>
        <p:nvSpPr>
          <p:cNvPr id="43" name="Text 41"/>
          <p:cNvSpPr txBox="1"/>
          <p:nvPr/>
        </p:nvSpPr>
        <p:spPr>
          <a:xfrm>
            <a:off x="644901" y="3768409"/>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THEN ZOOM IN AND CHANGE EVERY BASE</a:t>
            </a:r>
            <a:endParaRPr lang="en-US" sz="1300" dirty="0"/>
          </a:p>
        </p:txBody>
      </p:sp>
      <p:sp>
        <p:nvSpPr>
          <p:cNvPr id="44" name="Text 42"/>
          <p:cNvSpPr txBox="1"/>
          <p:nvPr/>
        </p:nvSpPr>
        <p:spPr>
          <a:xfrm>
            <a:off x="3667077" y="4194353"/>
            <a:ext cx="4665103" cy="324529"/>
          </a:xfrm>
          <a:prstGeom prst="rect">
            <a:avLst/>
          </a:prstGeom>
          <a:noFill/>
          <a:ln/>
        </p:spPr>
        <p:txBody>
          <a:bodyPr wrap="square" lIns="0" tIns="0" rIns="0" bIns="0" rtlCol="0" anchor="ctr"/>
          <a:lstStyle/>
          <a:p>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b="1" spc="120" kern="0" dirty="0">
                <a:solidFill>
                  <a:srgbClr val="A2380F"/>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a:t>
            </a:r>
            <a:endParaRPr lang="en-US" sz="1300" dirty="0"/>
          </a:p>
        </p:txBody>
      </p:sp>
      <p:sp>
        <p:nvSpPr>
          <p:cNvPr id="45" name="Shape 43"/>
          <p:cNvSpPr/>
          <p:nvPr/>
        </p:nvSpPr>
        <p:spPr>
          <a:xfrm>
            <a:off x="6007516" y="4224777"/>
            <a:ext cx="243397" cy="263680"/>
          </a:xfrm>
          <a:prstGeom prst="roundRect">
            <a:avLst>
              <a:gd name="adj" fmla="val 7514"/>
            </a:avLst>
          </a:prstGeom>
          <a:solidFill>
            <a:srgbClr val="E2622F">
              <a:alpha val="14000"/>
            </a:srgbClr>
          </a:solidFill>
          <a:ln w="13970">
            <a:solidFill>
              <a:srgbClr val="E2622F"/>
            </a:solidFill>
            <a:prstDash val="solid"/>
          </a:ln>
        </p:spPr>
      </p:sp>
      <p:sp>
        <p:nvSpPr>
          <p:cNvPr id="46" name="Text 44"/>
          <p:cNvSpPr txBox="1"/>
          <p:nvPr/>
        </p:nvSpPr>
        <p:spPr>
          <a:xfrm>
            <a:off x="1801035" y="4255202"/>
            <a:ext cx="1724060"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61 positions</a:t>
            </a:r>
            <a:endParaRPr lang="en-US" sz="1100" dirty="0"/>
          </a:p>
        </p:txBody>
      </p:sp>
      <p:sp>
        <p:nvSpPr>
          <p:cNvPr id="47" name="Shape 45"/>
          <p:cNvSpPr/>
          <p:nvPr/>
        </p:nvSpPr>
        <p:spPr>
          <a:xfrm flipV="1">
            <a:off x="3667077" y="2815105"/>
            <a:ext cx="1419814" cy="1277832"/>
          </a:xfrm>
          <a:prstGeom prst="line">
            <a:avLst/>
          </a:prstGeom>
          <a:noFill/>
          <a:ln w="12700">
            <a:solidFill>
              <a:srgbClr val="AFB5BD">
                <a:alpha val="70000"/>
              </a:srgbClr>
            </a:solidFill>
            <a:prstDash val="dash"/>
          </a:ln>
        </p:spPr>
      </p:sp>
      <p:sp>
        <p:nvSpPr>
          <p:cNvPr id="48" name="Shape 46"/>
          <p:cNvSpPr/>
          <p:nvPr/>
        </p:nvSpPr>
        <p:spPr>
          <a:xfrm flipH="1" flipV="1">
            <a:off x="5208589" y="2815105"/>
            <a:ext cx="3123590" cy="1277832"/>
          </a:xfrm>
          <a:prstGeom prst="line">
            <a:avLst/>
          </a:prstGeom>
          <a:noFill/>
          <a:ln w="12700">
            <a:solidFill>
              <a:srgbClr val="AFB5BD">
                <a:alpha val="70000"/>
              </a:srgbClr>
            </a:solidFill>
            <a:prstDash val="dash"/>
          </a:ln>
        </p:spPr>
      </p:sp>
      <p:sp>
        <p:nvSpPr>
          <p:cNvPr id="49" name="Shape 47"/>
          <p:cNvSpPr/>
          <p:nvPr/>
        </p:nvSpPr>
        <p:spPr>
          <a:xfrm>
            <a:off x="6129214" y="4518882"/>
            <a:ext cx="0" cy="141981"/>
          </a:xfrm>
          <a:prstGeom prst="line">
            <a:avLst/>
          </a:prstGeom>
          <a:noFill/>
          <a:ln w="15240">
            <a:solidFill>
              <a:srgbClr val="E2622F"/>
            </a:solidFill>
            <a:prstDash val="solid"/>
          </a:ln>
        </p:spPr>
      </p:sp>
      <p:sp>
        <p:nvSpPr>
          <p:cNvPr id="50" name="Shape 48"/>
          <p:cNvSpPr/>
          <p:nvPr/>
        </p:nvSpPr>
        <p:spPr>
          <a:xfrm>
            <a:off x="5743836" y="4660863"/>
            <a:ext cx="770756" cy="0"/>
          </a:xfrm>
          <a:prstGeom prst="line">
            <a:avLst/>
          </a:prstGeom>
          <a:noFill/>
          <a:ln w="13970">
            <a:solidFill>
              <a:srgbClr val="E2622F"/>
            </a:solidFill>
            <a:prstDash val="solid"/>
          </a:ln>
        </p:spPr>
      </p:sp>
      <p:sp>
        <p:nvSpPr>
          <p:cNvPr id="51" name="Shape 49"/>
          <p:cNvSpPr/>
          <p:nvPr/>
        </p:nvSpPr>
        <p:spPr>
          <a:xfrm>
            <a:off x="5824968" y="4660863"/>
            <a:ext cx="0" cy="81132"/>
          </a:xfrm>
          <a:prstGeom prst="line">
            <a:avLst/>
          </a:prstGeom>
          <a:noFill/>
          <a:ln w="13970">
            <a:solidFill>
              <a:srgbClr val="E2622F"/>
            </a:solidFill>
            <a:prstDash val="solid"/>
          </a:ln>
        </p:spPr>
      </p:sp>
      <p:sp>
        <p:nvSpPr>
          <p:cNvPr id="52" name="Shape 50"/>
          <p:cNvSpPr/>
          <p:nvPr/>
        </p:nvSpPr>
        <p:spPr>
          <a:xfrm>
            <a:off x="5703270"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3" name="Text 51"/>
          <p:cNvSpPr txBox="1"/>
          <p:nvPr/>
        </p:nvSpPr>
        <p:spPr>
          <a:xfrm>
            <a:off x="5520722"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A</a:t>
            </a:r>
            <a:endParaRPr lang="en-US" sz="1250" dirty="0"/>
          </a:p>
        </p:txBody>
      </p:sp>
      <p:sp>
        <p:nvSpPr>
          <p:cNvPr id="54" name="Shape 52"/>
          <p:cNvSpPr/>
          <p:nvPr/>
        </p:nvSpPr>
        <p:spPr>
          <a:xfrm>
            <a:off x="6129214" y="4660863"/>
            <a:ext cx="0" cy="81132"/>
          </a:xfrm>
          <a:prstGeom prst="line">
            <a:avLst/>
          </a:prstGeom>
          <a:noFill/>
          <a:ln w="13970">
            <a:solidFill>
              <a:srgbClr val="E2622F"/>
            </a:solidFill>
            <a:prstDash val="solid"/>
          </a:ln>
        </p:spPr>
      </p:sp>
      <p:sp>
        <p:nvSpPr>
          <p:cNvPr id="55" name="Shape 53"/>
          <p:cNvSpPr/>
          <p:nvPr/>
        </p:nvSpPr>
        <p:spPr>
          <a:xfrm>
            <a:off x="6007516"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6" name="Text 54"/>
          <p:cNvSpPr txBox="1"/>
          <p:nvPr/>
        </p:nvSpPr>
        <p:spPr>
          <a:xfrm>
            <a:off x="5824968"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C</a:t>
            </a:r>
            <a:endParaRPr lang="en-US" sz="1250" dirty="0"/>
          </a:p>
        </p:txBody>
      </p:sp>
      <p:sp>
        <p:nvSpPr>
          <p:cNvPr id="57" name="Shape 55"/>
          <p:cNvSpPr/>
          <p:nvPr/>
        </p:nvSpPr>
        <p:spPr>
          <a:xfrm>
            <a:off x="6433460" y="4660863"/>
            <a:ext cx="0" cy="81132"/>
          </a:xfrm>
          <a:prstGeom prst="line">
            <a:avLst/>
          </a:prstGeom>
          <a:noFill/>
          <a:ln w="13970">
            <a:solidFill>
              <a:srgbClr val="E2622F"/>
            </a:solidFill>
            <a:prstDash val="solid"/>
          </a:ln>
        </p:spPr>
      </p:sp>
      <p:sp>
        <p:nvSpPr>
          <p:cNvPr id="58" name="Shape 56"/>
          <p:cNvSpPr/>
          <p:nvPr/>
        </p:nvSpPr>
        <p:spPr>
          <a:xfrm>
            <a:off x="6311761"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9" name="Text 57"/>
          <p:cNvSpPr txBox="1"/>
          <p:nvPr/>
        </p:nvSpPr>
        <p:spPr>
          <a:xfrm>
            <a:off x="6129214"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G</a:t>
            </a:r>
            <a:endParaRPr lang="en-US" sz="1250" dirty="0"/>
          </a:p>
        </p:txBody>
      </p:sp>
      <p:sp>
        <p:nvSpPr>
          <p:cNvPr id="60" name="Text 58"/>
          <p:cNvSpPr txBox="1"/>
          <p:nvPr/>
        </p:nvSpPr>
        <p:spPr>
          <a:xfrm>
            <a:off x="6757989" y="4762278"/>
            <a:ext cx="4259441"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of the other three bases, one prediction each</a:t>
            </a:r>
            <a:endParaRPr lang="en-US" sz="1100" dirty="0"/>
          </a:p>
        </p:txBody>
      </p:sp>
      <p:sp>
        <p:nvSpPr>
          <p:cNvPr id="61" name="Shape 59"/>
          <p:cNvSpPr/>
          <p:nvPr/>
        </p:nvSpPr>
        <p:spPr>
          <a:xfrm>
            <a:off x="644901" y="5289638"/>
            <a:ext cx="10871717" cy="0"/>
          </a:xfrm>
          <a:prstGeom prst="line">
            <a:avLst/>
          </a:prstGeom>
          <a:noFill/>
          <a:ln w="12700">
            <a:solidFill>
              <a:srgbClr val="AFB5BD"/>
            </a:solidFill>
            <a:prstDash val="dash"/>
          </a:ln>
        </p:spPr>
      </p:sp>
      <p:sp>
        <p:nvSpPr>
          <p:cNvPr id="62" name="Text 60"/>
          <p:cNvSpPr txBox="1"/>
          <p:nvPr/>
        </p:nvSpPr>
        <p:spPr>
          <a:xfrm>
            <a:off x="644901" y="5411336"/>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site's own noise floor is removed before its profile is normalised, because a less accessible site is a noisier one</a:t>
            </a:r>
            <a:endParaRPr lang="en-US" sz="1100" dirty="0"/>
          </a:p>
        </p:txBody>
      </p:sp>
      <p:sp>
        <p:nvSpPr>
          <p:cNvPr id="63" name="Shape 61"/>
          <p:cNvSpPr/>
          <p:nvPr/>
        </p:nvSpPr>
        <p:spPr>
          <a:xfrm>
            <a:off x="502920" y="5989320"/>
            <a:ext cx="50292" cy="566928"/>
          </a:xfrm>
          <a:prstGeom prst="rect">
            <a:avLst/>
          </a:prstGeom>
          <a:solidFill>
            <a:srgbClr val="3F3F3F"/>
          </a:solidFill>
          <a:ln w="12700">
            <a:solidFill>
              <a:srgbClr val="333333"/>
            </a:solidFill>
            <a:prstDash val="solid"/>
          </a:ln>
        </p:spPr>
      </p:sp>
      <p:sp>
        <p:nvSpPr>
          <p:cNvPr id="64" name="Text 6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keep half their dependence within 41 bp, Dynamic 48</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Cumulative share of a site's importance within ±x bp, against x. Median per site, band a bootstrap 95% CI. The value at ±20 bp is the 33.8% / 30.7% quoted on the previous slide, so the two readings cannot disagree.</a:t>
            </a:r>
            <a:endParaRPr lang="en-US" sz="1250" dirty="0"/>
          </a:p>
        </p:txBody>
      </p:sp>
      <p:pic>
        <p:nvPicPr>
          <p:cNvPr id="4" name="Image 0" descr="/Users/z5162865/WongLab/AlphaGenome_Ap1/Analysis/slide_figures/r_fb_density_cumulative.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Per-position differences of a point each add up: by ±60 bp the two curves are 5.3 points apart. Half of a Stable site's dependence sits within ±41 bp of the motif, against ±48 bp for a Dynamic one — the same result as the previous slide, said as a distance rather than a percentage.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Nothing is rescaled: the axis runs 0 to 100% and both curves end at 1. The half-radii are read off a profile sampled every 10 bp, so quote them as about 40 against about 50 bp until the sliding scan lands.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classes differ on the motif and nowhere else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Stable minus Dynamic at each position, on its own axis. Band from resampling sites within each class; filled points are FDR &lt; 0.05, Mann–Whitney with BH across the 60 tiles.</a:t>
            </a:r>
            <a:endParaRPr lang="en-US" sz="1250" dirty="0"/>
          </a:p>
        </p:txBody>
      </p:sp>
      <p:pic>
        <p:nvPicPr>
          <p:cNvPr id="4" name="Image 0" descr="/Users/z5162865/WongLab/AlphaGenome_Ap1/Analysis/slide_figures/r_fb_density_diff.png">    </p:cNvPr>
          <p:cNvPicPr>
            <a:picLocks noChangeAspect="1"/>
          </p:cNvPicPr>
          <p:nvPr/>
        </p:nvPicPr>
        <p:blipFill>
          <a:blip r:embed="rId1"/>
          <a:stretch>
            <a:fillRect/>
          </a:stretch>
        </p:blipFill>
        <p:spPr>
          <a:xfrm>
            <a:off x="1762615" y="1335024"/>
            <a:ext cx="8636290"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One curve instead of two overlapping ones. It is flat across the entire 600 bp except for a single spike of +0.94 points on the tile covering the AP-1 core — the difference between the classes is not spread along the element, it is on the motif itself.</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two classes that lose AP-1 spread their dependence furthest</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Share of a site's importance within ±25 bp of the motif, by class. Point, median per site; bar, bootstrap 95% CI; Mann–Whitney against Stable, BH across the four comparisons.</a:t>
            </a:r>
            <a:endParaRPr lang="en-US" sz="1250" dirty="0"/>
          </a:p>
        </p:txBody>
      </p:sp>
      <p:pic>
        <p:nvPicPr>
          <p:cNvPr id="4" name="Image 0" descr="/Users/z5162865/WongLab/AlphaGenome_Ap1/Analysis/slide_figures/r_fb_density_classes.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All four Dynamic classes are less motif-centred than Stable, and they order the same way the motif-shuffle slide did: the two AP-1-losing classes (28.3%, 28.6%) sit below the two gaining ones (31.3%, 31.5%), which sit below Stable at 33.8%. Two independent measures, the same split.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Exercise Down is 115 sites and its interval (24.2–32.2%) overlaps the gaining classes, so the ordering within Dynamic is suggestive, not established. Every class is below Stable, and that part is solid.</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sp>
        <p:nvSpPr>
          <p:cNvPr id="3" name="Text 1"/>
          <p:cNvSpPr txBox="1"/>
          <p:nvPr/>
        </p:nvSpPr>
        <p:spPr>
          <a:xfrm>
            <a:off x="644901" y="1679254"/>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WEAKEN THE MOTIF, ONE BASE AT A TIME</a:t>
            </a:r>
            <a:endParaRPr lang="en-US" sz="1300" dirty="0"/>
          </a:p>
        </p:txBody>
      </p:sp>
      <p:sp>
        <p:nvSpPr>
          <p:cNvPr id="4" name="Shape 2"/>
          <p:cNvSpPr/>
          <p:nvPr/>
        </p:nvSpPr>
        <p:spPr>
          <a:xfrm>
            <a:off x="2693490" y="2105198"/>
            <a:ext cx="4583970" cy="0"/>
          </a:xfrm>
          <a:prstGeom prst="line">
            <a:avLst/>
          </a:prstGeom>
          <a:noFill/>
          <a:ln w="13970">
            <a:solidFill>
              <a:srgbClr val="5A6471">
                <a:alpha val="45000"/>
              </a:srgbClr>
            </a:solidFill>
            <a:prstDash val="solid"/>
            <a:tailEnd type="triangle"/>
          </a:ln>
        </p:spPr>
      </p:sp>
      <p:sp>
        <p:nvSpPr>
          <p:cNvPr id="5" name="Text 3"/>
          <p:cNvSpPr txBox="1"/>
          <p:nvPr/>
        </p:nvSpPr>
        <p:spPr>
          <a:xfrm>
            <a:off x="3971322" y="1841518"/>
            <a:ext cx="2028305"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weaker grip</a:t>
            </a:r>
            <a:endParaRPr lang="en-US" sz="1100" dirty="0"/>
          </a:p>
        </p:txBody>
      </p:sp>
      <p:sp>
        <p:nvSpPr>
          <p:cNvPr id="6" name="Shape 4"/>
          <p:cNvSpPr/>
          <p:nvPr/>
        </p:nvSpPr>
        <p:spPr>
          <a:xfrm>
            <a:off x="989713" y="2652841"/>
            <a:ext cx="1541512" cy="0"/>
          </a:xfrm>
          <a:prstGeom prst="line">
            <a:avLst/>
          </a:prstGeom>
          <a:noFill/>
          <a:ln w="20320">
            <a:solidFill>
              <a:srgbClr val="15181C">
                <a:alpha val="55000"/>
              </a:srgbClr>
            </a:solidFill>
            <a:prstDash val="solid"/>
          </a:ln>
        </p:spPr>
      </p:sp>
      <p:sp>
        <p:nvSpPr>
          <p:cNvPr id="7" name="Shape 5"/>
          <p:cNvSpPr/>
          <p:nvPr/>
        </p:nvSpPr>
        <p:spPr>
          <a:xfrm>
            <a:off x="1517073" y="2597062"/>
            <a:ext cx="486793"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9" name="Text 7"/>
          <p:cNvSpPr txBox="1"/>
          <p:nvPr/>
        </p:nvSpPr>
        <p:spPr>
          <a:xfrm>
            <a:off x="644901"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perfect core</a:t>
            </a:r>
            <a:endParaRPr lang="en-US" sz="1100" dirty="0"/>
          </a:p>
        </p:txBody>
      </p:sp>
      <p:sp>
        <p:nvSpPr>
          <p:cNvPr id="10" name="Shape 8"/>
          <p:cNvSpPr/>
          <p:nvPr/>
        </p:nvSpPr>
        <p:spPr>
          <a:xfrm>
            <a:off x="3139717" y="2652841"/>
            <a:ext cx="1541512" cy="0"/>
          </a:xfrm>
          <a:prstGeom prst="line">
            <a:avLst/>
          </a:prstGeom>
          <a:noFill/>
          <a:ln w="20320">
            <a:solidFill>
              <a:srgbClr val="15181C">
                <a:alpha val="55000"/>
              </a:srgbClr>
            </a:solidFill>
            <a:prstDash val="solid"/>
          </a:ln>
        </p:spPr>
      </p:sp>
      <p:sp>
        <p:nvSpPr>
          <p:cNvPr id="11" name="Shape 9"/>
          <p:cNvSpPr/>
          <p:nvPr/>
        </p:nvSpPr>
        <p:spPr>
          <a:xfrm>
            <a:off x="3667077" y="2597062"/>
            <a:ext cx="486793" cy="111557"/>
          </a:xfrm>
          <a:prstGeom prst="roundRect">
            <a:avLst>
              <a:gd name="adj" fmla="val 16393"/>
            </a:avLst>
          </a:prstGeom>
          <a:solidFill>
            <a:srgbClr val="D9A32B">
              <a:alpha val="58000"/>
            </a:srgbClr>
          </a:solidFill>
          <a:ln w="13970">
            <a:solidFill>
              <a:srgbClr val="D9A32B"/>
            </a:solidFill>
            <a:prstDash val="solid"/>
          </a:ln>
        </p:spPr>
      </p:sp>
      <p:sp>
        <p:nvSpPr>
          <p:cNvPr id="12" name="Text 10"/>
          <p:cNvSpPr txBox="1"/>
          <p:nvPr/>
        </p:nvSpPr>
        <p:spPr>
          <a:xfrm>
            <a:off x="3099151"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3" name="Text 11"/>
          <p:cNvSpPr txBox="1"/>
          <p:nvPr/>
        </p:nvSpPr>
        <p:spPr>
          <a:xfrm>
            <a:off x="2794905"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base changed</a:t>
            </a:r>
            <a:endParaRPr lang="en-US" sz="1100" dirty="0"/>
          </a:p>
        </p:txBody>
      </p:sp>
      <p:sp>
        <p:nvSpPr>
          <p:cNvPr id="14" name="Shape 12"/>
          <p:cNvSpPr/>
          <p:nvPr/>
        </p:nvSpPr>
        <p:spPr>
          <a:xfrm>
            <a:off x="5289721" y="2652841"/>
            <a:ext cx="1541512" cy="0"/>
          </a:xfrm>
          <a:prstGeom prst="line">
            <a:avLst/>
          </a:prstGeom>
          <a:noFill/>
          <a:ln w="20320">
            <a:solidFill>
              <a:srgbClr val="15181C">
                <a:alpha val="55000"/>
              </a:srgbClr>
            </a:solidFill>
            <a:prstDash val="solid"/>
          </a:ln>
        </p:spPr>
      </p:sp>
      <p:sp>
        <p:nvSpPr>
          <p:cNvPr id="15" name="Shape 13"/>
          <p:cNvSpPr/>
          <p:nvPr/>
        </p:nvSpPr>
        <p:spPr>
          <a:xfrm>
            <a:off x="5817080" y="2597062"/>
            <a:ext cx="486793" cy="111557"/>
          </a:xfrm>
          <a:prstGeom prst="roundRect">
            <a:avLst>
              <a:gd name="adj" fmla="val 16393"/>
            </a:avLst>
          </a:prstGeom>
          <a:solidFill>
            <a:srgbClr val="D9A32B">
              <a:alpha val="36000"/>
            </a:srgbClr>
          </a:solidFill>
          <a:ln w="13970">
            <a:solidFill>
              <a:srgbClr val="D9A32B"/>
            </a:solidFill>
            <a:prstDash val="solid"/>
          </a:ln>
        </p:spPr>
      </p:sp>
      <p:sp>
        <p:nvSpPr>
          <p:cNvPr id="16" name="Text 14"/>
          <p:cNvSpPr txBox="1"/>
          <p:nvPr/>
        </p:nvSpPr>
        <p:spPr>
          <a:xfrm>
            <a:off x="5249155"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7" name="Text 15"/>
          <p:cNvSpPr txBox="1"/>
          <p:nvPr/>
        </p:nvSpPr>
        <p:spPr>
          <a:xfrm>
            <a:off x="4944909"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3 bases changed</a:t>
            </a:r>
            <a:endParaRPr lang="en-US" sz="1100" dirty="0"/>
          </a:p>
        </p:txBody>
      </p:sp>
      <p:sp>
        <p:nvSpPr>
          <p:cNvPr id="18" name="Shape 16"/>
          <p:cNvSpPr/>
          <p:nvPr/>
        </p:nvSpPr>
        <p:spPr>
          <a:xfrm>
            <a:off x="7439725" y="2652841"/>
            <a:ext cx="1541512" cy="0"/>
          </a:xfrm>
          <a:prstGeom prst="line">
            <a:avLst/>
          </a:prstGeom>
          <a:noFill/>
          <a:ln w="20320">
            <a:solidFill>
              <a:srgbClr val="15181C">
                <a:alpha val="55000"/>
              </a:srgbClr>
            </a:solidFill>
            <a:prstDash val="solid"/>
          </a:ln>
        </p:spPr>
      </p:sp>
      <p:sp>
        <p:nvSpPr>
          <p:cNvPr id="19" name="Shape 17"/>
          <p:cNvSpPr/>
          <p:nvPr/>
        </p:nvSpPr>
        <p:spPr>
          <a:xfrm>
            <a:off x="7967084" y="2586921"/>
            <a:ext cx="486793" cy="131840"/>
          </a:xfrm>
          <a:prstGeom prst="roundRect">
            <a:avLst>
              <a:gd name="adj" fmla="val 13871"/>
            </a:avLst>
          </a:prstGeom>
          <a:solidFill>
            <a:srgbClr val="E2622F">
              <a:alpha val="14000"/>
            </a:srgbClr>
          </a:solidFill>
          <a:ln w="9525">
            <a:solidFill>
              <a:srgbClr val="E2622F"/>
            </a:solidFill>
            <a:prstDash val="solid"/>
          </a:ln>
        </p:spPr>
      </p:sp>
      <p:sp>
        <p:nvSpPr>
          <p:cNvPr id="20" name="Shape 18"/>
          <p:cNvSpPr/>
          <p:nvPr/>
        </p:nvSpPr>
        <p:spPr>
          <a:xfrm>
            <a:off x="7967084" y="2602133"/>
            <a:ext cx="486793" cy="101415"/>
          </a:xfrm>
          <a:custGeom>
            <a:avLst/>
            <a:gdLst/>
            <a:ahLst/>
            <a:cxnLst/>
            <a:rect l="l" t="t" r="r" b="b"/>
            <a:pathLst>
              <a:path w="486793" h="101415">
                <a:moveTo>
                  <a:pt x="0" y="10142"/>
                </a:moveTo>
                <a:lnTo>
                  <a:pt x="48679" y="91274"/>
                </a:lnTo>
                <a:lnTo>
                  <a:pt x="97359" y="10142"/>
                </a:lnTo>
                <a:lnTo>
                  <a:pt x="146038" y="91274"/>
                </a:lnTo>
                <a:lnTo>
                  <a:pt x="194717" y="10142"/>
                </a:lnTo>
                <a:lnTo>
                  <a:pt x="243397" y="91274"/>
                </a:lnTo>
                <a:lnTo>
                  <a:pt x="292076" y="10142"/>
                </a:lnTo>
                <a:lnTo>
                  <a:pt x="340755" y="91274"/>
                </a:lnTo>
                <a:lnTo>
                  <a:pt x="389435" y="10142"/>
                </a:lnTo>
                <a:lnTo>
                  <a:pt x="438114" y="91274"/>
                </a:lnTo>
                <a:lnTo>
                  <a:pt x="486793" y="10142"/>
                </a:lnTo>
              </a:path>
            </a:pathLst>
          </a:custGeom>
          <a:ln w="17780">
            <a:solidFill>
              <a:srgbClr val="E2622F"/>
            </a:solidFill>
            <a:prstDash val="solid"/>
          </a:ln>
        </p:spPr>
      </p:sp>
      <p:sp>
        <p:nvSpPr>
          <p:cNvPr id="21" name="Text 19"/>
          <p:cNvSpPr txBox="1"/>
          <p:nvPr/>
        </p:nvSpPr>
        <p:spPr>
          <a:xfrm>
            <a:off x="7399159" y="2794822"/>
            <a:ext cx="1622644" cy="283963"/>
          </a:xfrm>
          <a:prstGeom prst="rect">
            <a:avLst/>
          </a:prstGeom>
          <a:noFill/>
          <a:ln/>
        </p:spPr>
        <p:txBody>
          <a:bodyPr wrap="square" lIns="0" tIns="0" rIns="0" bIns="0" rtlCol="0" anchor="ctr"/>
          <a:lstStyle/>
          <a:p>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G </a:t>
            </a:r>
            <a:pPr algn="ctr" indent="0" marL="0">
              <a:buNone/>
            </a:pPr>
            <a:r>
              <a:rPr lang="en-US" sz="1250" b="1" spc="150" kern="0" dirty="0">
                <a:solidFill>
                  <a:srgbClr val="A2380F"/>
                </a:solidFill>
                <a:latin typeface="Arial" pitchFamily="34" charset="0"/>
                <a:ea typeface="Arial" pitchFamily="34" charset="-122"/>
                <a:cs typeface="Arial" pitchFamily="34" charset="-120"/>
              </a:rPr>
              <a:t>G</a:t>
            </a:r>
            <a:endParaRPr lang="en-US" sz="1250" dirty="0"/>
          </a:p>
        </p:txBody>
      </p:sp>
      <p:sp>
        <p:nvSpPr>
          <p:cNvPr id="22" name="Text 20"/>
          <p:cNvSpPr txBox="1"/>
          <p:nvPr/>
        </p:nvSpPr>
        <p:spPr>
          <a:xfrm>
            <a:off x="7094913"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core gone</a:t>
            </a:r>
            <a:endParaRPr lang="en-US" sz="1100" dirty="0"/>
          </a:p>
        </p:txBody>
      </p:sp>
      <p:sp>
        <p:nvSpPr>
          <p:cNvPr id="23" name="Text 21"/>
          <p:cNvSpPr txBox="1"/>
          <p:nvPr/>
        </p:nvSpPr>
        <p:spPr>
          <a:xfrm>
            <a:off x="9751993" y="2368878"/>
            <a:ext cx="202830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also run</a:t>
            </a:r>
            <a:endParaRPr lang="en-US" sz="1100" dirty="0"/>
          </a:p>
        </p:txBody>
      </p:sp>
      <p:sp>
        <p:nvSpPr>
          <p:cNvPr id="24" name="Text 22"/>
          <p:cNvSpPr txBox="1"/>
          <p:nvPr/>
        </p:nvSpPr>
        <p:spPr>
          <a:xfrm>
            <a:off x="9751993" y="259199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upgrade the core</a:t>
            </a:r>
            <a:endParaRPr lang="en-US" sz="1200" dirty="0"/>
          </a:p>
        </p:txBody>
      </p:sp>
      <p:sp>
        <p:nvSpPr>
          <p:cNvPr id="25" name="Text 23"/>
          <p:cNvSpPr txBox="1"/>
          <p:nvPr/>
        </p:nvSpPr>
        <p:spPr>
          <a:xfrm>
            <a:off x="9751993" y="278468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half site</a:t>
            </a:r>
            <a:endParaRPr lang="en-US" sz="1200" dirty="0"/>
          </a:p>
        </p:txBody>
      </p:sp>
      <p:sp>
        <p:nvSpPr>
          <p:cNvPr id="26" name="Text 24"/>
          <p:cNvSpPr txBox="1"/>
          <p:nvPr/>
        </p:nvSpPr>
        <p:spPr>
          <a:xfrm>
            <a:off x="9751993" y="2977370"/>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reverse complement</a:t>
            </a:r>
            <a:endParaRPr lang="en-US" sz="1200" dirty="0"/>
          </a:p>
        </p:txBody>
      </p:sp>
      <p:sp>
        <p:nvSpPr>
          <p:cNvPr id="27" name="Shape 25"/>
          <p:cNvSpPr/>
          <p:nvPr/>
        </p:nvSpPr>
        <p:spPr>
          <a:xfrm>
            <a:off x="644901" y="3545295"/>
            <a:ext cx="10871717" cy="0"/>
          </a:xfrm>
          <a:prstGeom prst="line">
            <a:avLst/>
          </a:prstGeom>
          <a:noFill/>
          <a:ln w="12700">
            <a:solidFill>
              <a:srgbClr val="AFB5BD"/>
            </a:solidFill>
            <a:prstDash val="dash"/>
          </a:ln>
        </p:spPr>
      </p:sp>
      <p:sp>
        <p:nvSpPr>
          <p:cNvPr id="28" name="Text 26"/>
          <p:cNvSpPr txBox="1"/>
          <p:nvPr/>
        </p:nvSpPr>
        <p:spPr>
          <a:xfrm>
            <a:off x="644901" y="3808975"/>
            <a:ext cx="5679255"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OR ADD A SECOND COPY AT A SET DISTANCE</a:t>
            </a:r>
            <a:endParaRPr lang="en-US" sz="1300" dirty="0"/>
          </a:p>
        </p:txBody>
      </p:sp>
      <p:sp>
        <p:nvSpPr>
          <p:cNvPr id="29" name="Shape 27"/>
          <p:cNvSpPr/>
          <p:nvPr/>
        </p:nvSpPr>
        <p:spPr>
          <a:xfrm>
            <a:off x="2896320" y="4376900"/>
            <a:ext cx="5273594" cy="0"/>
          </a:xfrm>
          <a:prstGeom prst="line">
            <a:avLst/>
          </a:prstGeom>
          <a:noFill/>
          <a:ln w="20320">
            <a:solidFill>
              <a:srgbClr val="15181C">
                <a:alpha val="55000"/>
              </a:srgbClr>
            </a:solidFill>
            <a:prstDash val="solid"/>
          </a:ln>
        </p:spPr>
      </p:sp>
      <p:sp>
        <p:nvSpPr>
          <p:cNvPr id="30" name="Shape 28"/>
          <p:cNvSpPr/>
          <p:nvPr/>
        </p:nvSpPr>
        <p:spPr>
          <a:xfrm>
            <a:off x="4285710"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1" name="Shape 29"/>
          <p:cNvSpPr/>
          <p:nvPr/>
        </p:nvSpPr>
        <p:spPr>
          <a:xfrm>
            <a:off x="6314015"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2" name="Shape 30"/>
          <p:cNvSpPr/>
          <p:nvPr/>
        </p:nvSpPr>
        <p:spPr>
          <a:xfrm>
            <a:off x="4417550" y="4620297"/>
            <a:ext cx="2028305" cy="0"/>
          </a:xfrm>
          <a:prstGeom prst="line">
            <a:avLst/>
          </a:prstGeom>
          <a:noFill/>
          <a:ln w="13970">
            <a:solidFill>
              <a:srgbClr val="5A6471"/>
            </a:solidFill>
            <a:prstDash val="solid"/>
          </a:ln>
        </p:spPr>
      </p:sp>
      <p:sp>
        <p:nvSpPr>
          <p:cNvPr id="33" name="Shape 31"/>
          <p:cNvSpPr/>
          <p:nvPr/>
        </p:nvSpPr>
        <p:spPr>
          <a:xfrm>
            <a:off x="4417550" y="4569589"/>
            <a:ext cx="0" cy="101415"/>
          </a:xfrm>
          <a:prstGeom prst="line">
            <a:avLst/>
          </a:prstGeom>
          <a:noFill/>
          <a:ln w="13970">
            <a:solidFill>
              <a:srgbClr val="5A6471"/>
            </a:solidFill>
            <a:prstDash val="solid"/>
          </a:ln>
        </p:spPr>
      </p:sp>
      <p:sp>
        <p:nvSpPr>
          <p:cNvPr id="34" name="Shape 32"/>
          <p:cNvSpPr/>
          <p:nvPr/>
        </p:nvSpPr>
        <p:spPr>
          <a:xfrm>
            <a:off x="6445855" y="4569589"/>
            <a:ext cx="0" cy="101415"/>
          </a:xfrm>
          <a:prstGeom prst="line">
            <a:avLst/>
          </a:prstGeom>
          <a:noFill/>
          <a:ln w="13970">
            <a:solidFill>
              <a:srgbClr val="5A6471"/>
            </a:solidFill>
            <a:prstDash val="solid"/>
          </a:ln>
        </p:spPr>
      </p:sp>
      <p:sp>
        <p:nvSpPr>
          <p:cNvPr id="35" name="Text 33"/>
          <p:cNvSpPr txBox="1"/>
          <p:nvPr/>
        </p:nvSpPr>
        <p:spPr>
          <a:xfrm>
            <a:off x="5127456" y="4458033"/>
            <a:ext cx="608492"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5A6471"/>
                </a:solidFill>
                <a:latin typeface="Arial" pitchFamily="34" charset="0"/>
                <a:ea typeface="Arial" pitchFamily="34" charset="-122"/>
                <a:cs typeface="Arial" pitchFamily="34" charset="-120"/>
              </a:rPr>
              <a:t>d</a:t>
            </a:r>
            <a:endParaRPr lang="en-US" sz="1200" dirty="0"/>
          </a:p>
        </p:txBody>
      </p:sp>
      <p:sp>
        <p:nvSpPr>
          <p:cNvPr id="36" name="Text 34"/>
          <p:cNvSpPr txBox="1"/>
          <p:nvPr/>
        </p:nvSpPr>
        <p:spPr>
          <a:xfrm>
            <a:off x="8393028" y="4275485"/>
            <a:ext cx="2433967" cy="202831"/>
          </a:xfrm>
          <a:prstGeom prst="rect">
            <a:avLst/>
          </a:prstGeom>
          <a:noFill/>
          <a:ln/>
        </p:spPr>
        <p:txBody>
          <a:bodyPr wrap="square" lIns="0" tIns="0" rIns="0" bIns="0" rtlCol="0" anchor="ctr"/>
          <a:lstStyle/>
          <a:p>
            <a:pPr algn="l" indent="0" marL="0">
              <a:lnSpc>
                <a:spcPct val="95000"/>
              </a:lnSpc>
              <a:buNone/>
            </a:pPr>
            <a:r>
              <a:rPr lang="en-US" sz="1200" b="1" dirty="0">
                <a:solidFill>
                  <a:srgbClr val="8A6400"/>
                </a:solidFill>
                <a:latin typeface="Arial" pitchFamily="34" charset="0"/>
                <a:ea typeface="Arial" pitchFamily="34" charset="-122"/>
                <a:cs typeface="Arial" pitchFamily="34" charset="-120"/>
              </a:rPr>
              <a:t>a second AP-1</a:t>
            </a:r>
            <a:endParaRPr lang="en-US" sz="1200" dirty="0"/>
          </a:p>
        </p:txBody>
      </p:sp>
      <p:sp>
        <p:nvSpPr>
          <p:cNvPr id="37" name="Shape 35"/>
          <p:cNvSpPr/>
          <p:nvPr/>
        </p:nvSpPr>
        <p:spPr>
          <a:xfrm>
            <a:off x="2896320" y="5127373"/>
            <a:ext cx="5273594" cy="0"/>
          </a:xfrm>
          <a:prstGeom prst="line">
            <a:avLst/>
          </a:prstGeom>
          <a:noFill/>
          <a:ln w="20320">
            <a:solidFill>
              <a:srgbClr val="15181C">
                <a:alpha val="55000"/>
              </a:srgbClr>
            </a:solidFill>
            <a:prstDash val="solid"/>
          </a:ln>
        </p:spPr>
      </p:sp>
      <p:sp>
        <p:nvSpPr>
          <p:cNvPr id="38" name="Shape 36"/>
          <p:cNvSpPr/>
          <p:nvPr/>
        </p:nvSpPr>
        <p:spPr>
          <a:xfrm>
            <a:off x="4285710" y="5071595"/>
            <a:ext cx="263680" cy="111557"/>
          </a:xfrm>
          <a:prstGeom prst="roundRect">
            <a:avLst>
              <a:gd name="adj" fmla="val 16393"/>
            </a:avLst>
          </a:prstGeom>
          <a:solidFill>
            <a:srgbClr val="D9A32B">
              <a:alpha val="80000"/>
            </a:srgbClr>
          </a:solidFill>
          <a:ln w="13970">
            <a:solidFill>
              <a:srgbClr val="D9A32B"/>
            </a:solidFill>
            <a:prstDash val="solid"/>
          </a:ln>
        </p:spPr>
      </p:sp>
      <p:sp>
        <p:nvSpPr>
          <p:cNvPr id="39" name="Shape 37"/>
          <p:cNvSpPr/>
          <p:nvPr/>
        </p:nvSpPr>
        <p:spPr>
          <a:xfrm>
            <a:off x="6314015" y="5061453"/>
            <a:ext cx="263680" cy="131840"/>
          </a:xfrm>
          <a:prstGeom prst="roundRect">
            <a:avLst>
              <a:gd name="adj" fmla="val 13871"/>
            </a:avLst>
          </a:prstGeom>
          <a:solidFill>
            <a:srgbClr val="5A6471">
              <a:alpha val="14000"/>
            </a:srgbClr>
          </a:solidFill>
          <a:ln w="9525">
            <a:solidFill>
              <a:srgbClr val="5A6471"/>
            </a:solidFill>
            <a:prstDash val="solid"/>
          </a:ln>
        </p:spPr>
      </p:sp>
      <p:sp>
        <p:nvSpPr>
          <p:cNvPr id="40" name="Shape 38"/>
          <p:cNvSpPr/>
          <p:nvPr/>
        </p:nvSpPr>
        <p:spPr>
          <a:xfrm>
            <a:off x="6314015" y="5076666"/>
            <a:ext cx="263680" cy="101415"/>
          </a:xfrm>
          <a:custGeom>
            <a:avLst/>
            <a:gdLst/>
            <a:ahLst/>
            <a:cxnLst/>
            <a:rect l="l" t="t" r="r" b="b"/>
            <a:pathLst>
              <a:path w="263680" h="101415">
                <a:moveTo>
                  <a:pt x="0" y="10142"/>
                </a:moveTo>
                <a:lnTo>
                  <a:pt x="52736" y="91274"/>
                </a:lnTo>
                <a:lnTo>
                  <a:pt x="105472" y="10142"/>
                </a:lnTo>
                <a:lnTo>
                  <a:pt x="158208" y="91274"/>
                </a:lnTo>
                <a:lnTo>
                  <a:pt x="210944" y="10142"/>
                </a:lnTo>
                <a:lnTo>
                  <a:pt x="263680" y="91274"/>
                </a:lnTo>
              </a:path>
            </a:pathLst>
          </a:custGeom>
          <a:ln w="17780">
            <a:solidFill>
              <a:srgbClr val="5A6471"/>
            </a:solidFill>
            <a:prstDash val="solid"/>
          </a:ln>
        </p:spPr>
      </p:sp>
      <p:sp>
        <p:nvSpPr>
          <p:cNvPr id="41" name="Shape 39"/>
          <p:cNvSpPr/>
          <p:nvPr/>
        </p:nvSpPr>
        <p:spPr>
          <a:xfrm>
            <a:off x="6273449" y="5036100"/>
            <a:ext cx="344812" cy="182547"/>
          </a:xfrm>
          <a:prstGeom prst="roundRect">
            <a:avLst>
              <a:gd name="adj" fmla="val 10018"/>
            </a:avLst>
          </a:prstGeom>
          <a:ln w="13970">
            <a:solidFill>
              <a:srgbClr val="5A6471"/>
            </a:solidFill>
            <a:prstDash val="dash"/>
          </a:ln>
        </p:spPr>
      </p:sp>
      <p:sp>
        <p:nvSpPr>
          <p:cNvPr id="42" name="Text 40"/>
          <p:cNvSpPr txBox="1"/>
          <p:nvPr/>
        </p:nvSpPr>
        <p:spPr>
          <a:xfrm>
            <a:off x="644901" y="5025958"/>
            <a:ext cx="152122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control</a:t>
            </a:r>
            <a:endParaRPr lang="en-US" sz="1100" dirty="0"/>
          </a:p>
        </p:txBody>
      </p:sp>
      <p:sp>
        <p:nvSpPr>
          <p:cNvPr id="43" name="Text 41"/>
          <p:cNvSpPr txBox="1"/>
          <p:nvPr/>
        </p:nvSpPr>
        <p:spPr>
          <a:xfrm>
            <a:off x="8393028" y="5025958"/>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or the same width of scramble</a:t>
            </a:r>
            <a:endParaRPr lang="en-US" sz="1100" dirty="0"/>
          </a:p>
        </p:txBody>
      </p:sp>
      <p:sp>
        <p:nvSpPr>
          <p:cNvPr id="44" name="Text 42"/>
          <p:cNvSpPr txBox="1"/>
          <p:nvPr/>
        </p:nvSpPr>
        <p:spPr>
          <a:xfrm>
            <a:off x="3809058" y="5370770"/>
            <a:ext cx="3245289"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d = 20 to 150 bp, either side</a:t>
            </a:r>
            <a:endParaRPr lang="en-US" sz="1100" dirty="0"/>
          </a:p>
        </p:txBody>
      </p:sp>
      <p:sp>
        <p:nvSpPr>
          <p:cNvPr id="45" name="Shape 43"/>
          <p:cNvSpPr/>
          <p:nvPr/>
        </p:nvSpPr>
        <p:spPr>
          <a:xfrm>
            <a:off x="502920" y="5989320"/>
            <a:ext cx="50292" cy="566928"/>
          </a:xfrm>
          <a:prstGeom prst="rect">
            <a:avLst/>
          </a:prstGeom>
          <a:solidFill>
            <a:srgbClr val="3F3F3F"/>
          </a:solidFill>
          <a:ln w="12700">
            <a:solidFill>
              <a:srgbClr val="333333"/>
            </a:solidFill>
            <a:prstDash val="solid"/>
          </a:ln>
        </p:spPr>
      </p:sp>
      <p:sp>
        <p:nvSpPr>
          <p:cNvPr id="46" name="Text 4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2026-10-25T07:47:06Z</dcterms:created>
  <dcterms:modified xsi:type="dcterms:W3CDTF">2026-10-25T07:47:06Z</dcterms:modified>
</cp:coreProperties>
</file>