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in silico: AlphaGenome's predicted ATAC signal after we edit the sequence. The head was fine-tuned on our own 1 bp Tn5 insertion data with Borzoi fold-3 region-based splits, so the numbers quoted are on held-out regions. Site classes are the TOBIAS categories as given - Stable = bound in all three conditions; Dynamic = anything else; Age Up / Age Down are the directional age 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TOBIAS is used only to say where the partner footprints are and which family each belongs to. No footprint score enters any calculation; every number on these slides is an AlphaGenome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Per-donor medians over 20 hosts: Stable +4.65 log2 (25x), Dynamic +2.35 (5.1x), p = 4e-5.
By class: Age Down +2.62, Age Up +2.66, Exercise Down +2.20, Exercise Up +2.14, Stable +4.65.
IMPORTANT CAVEAT, be ready for this question: the donors are not matched on accessibility - Stable donors come from loci about 1.8x more accessible (measured ATAC: 32.2 vs 18.0 CPM/kb). Matching on MEASURED fibroblast ATAC (model-independent), the residual Stable advantage is +0.84 +- 0.30 log2, i.e. about 1.8x, p = 0.005 (covariance adjustment, 224 donors). The 47 matched pairs point the same way (+0.99) but are underpowered (p = 0.13). So: direction solid, magnitude about a third to a half of the raw gap. Do not defend 25x vs 5x as a sequence effect.
Also worth knowing: 0 of 50 Stable donors lack a measured ATAC peak, against 5-8 per Dynamic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62,250 swaps. 170 bp: beta(element) 0.24 vs beta(location) 0.61, R2 = 0.20. Whole peak: 0.71 vs 0.20, R2 = 0.46. Transfer fraction 0.29 at 170 bp, 0.83 at peak.
Link to the MPRA, if asked: the MPRA library is 170 bp, and its class difference there is tiny (flank shuffle 0.128 vs 0.016 log2, d = 0.14). Both assays agree that 170 bp is a poor window for this question. They are NOT the same measurement - the MPRA is episomal activity, this is chromatin accessibility in genomic context.
AVOID on a slide: our in-situ 170 bp shuffle has Stable sites losing more (-2.51 vs -1.96, p = 4e-40), which is the opposite direction to the MPRA flank result. Different assay, but it reads as a contradiction. Keep it off unless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2,352 sites. Own AP-1 motif: Stable -1.21 (n=1179), AP-1 gained -1.19 (n=605, p = 0.93 vs Stable), AP-1 lost -0.78 (n=209, p = 2.3e-5 vs Stable).
Partner motifs, net of control: Stable -0.20, gained -0.25, lost -0.22 - no class difference (lost vs Stable p = 0.66). So the deficit is AP-1-specific, not general weakness. No single partner family takes over: nothing survives FDR in the per-family split.
Agreement: pooled Stable vs Dynamic at the motif is a null, which matches the manuscript's core-scramble result (no class difference). Age-gained being on par with Stable is the sequence-level version of 'age-gained reporter activity on par with stable'.
Caveat: the own-AP-1 bar has no matched control, because one at distance 0 would overlap the motif. That inflates AP-1 relative to the partners in every class equally, so the class comparison is unaffected.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Stable 0.804 (n=1176) vs Dynamic 0.745 (n=1156), p = 7.5e-11. Every Dynamic class sits below Stable: AP-1 gained 0.754 (p = 6e-5), AP-1 lost 0.736 (p = 6e-6), other Dynamic 0.727 (p = 1.5e-8). Kruskal across the four, p = 1.7e-10.
Detection check, in case it is asked: footprint calling needs signal, so Stable sites carry more detected partners (5.89 vs 5.01 per site, p = 2e-82). Restricting to the 1,808 sites that hit the cap of 6 detected partners, the gap is unchanged: 0.806 vs 0.736, p = 2.1e-13. Not a detection artefact.
Note this is a DIFFERENT statement from the previous slide. There, only the AP-1-losing class drops in absolute AP-1 dependence. Here, all Dynamic classes are modestly less AP-1-centric in relative terms.
The equivalent tile-scan measure (motif share vs a 10-50 bp collar) does NOT survive accessibility matching (p = 0.11); the collar is mostly noise at low-accessibility sites. This version is better powered because it only scores footprinted motifs.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fibroblast titration, 2,359 sites, 860 accessibility-matched pairs (caliper 0.1 log10). This slide is the argument for why the matched analysis is worth doing - two of the five largest raw class differences in the titration were entirely explained by the accessibility gap.
Age Down is the outlier again, consistently with the other arms: one base of the core changed -0.62 vs Stable -0.83; motif gone -0.72 vs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flank question comes up: the MPRA destroys the flanks of a 170 bp fragment on a plasmid and reads transcription; we move an intact ~0.8 kb element into closed chromatin and read accessibility. There is no chromatin to open in the MPRA. The honest shared conclusion is that neither assay finds much class information in 170 bp.
Everything here is predicted accessibility from a model fine-tuned on our own fibroblast ATAC, not a measurement, and not the MPRA-trained probe used in the manuscript.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r>
              <a:rPr lang="en-US" sz="3800" b="1" dirty="0">
                <a:solidFill>
                  <a:schemeClr val="tx1"/>
                </a:solidFill>
              </a:rPr>
              <a:t> </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lstStyle>
            <a:lvl1pPr algn="l" indent="0" marL="0">
              <a:buNone/>
              <a:defRPr lang="en-US" sz="1700" dirty="0">
                <a:solidFill>
                  <a:schemeClr val="tx2"/>
                </a:solidFill>
              </a:defRPr>
            </a:lvl1pPr>
          </a:lstStyle>
          <a:p>
            <a:pPr algn="l" indent="0" marL="0">
              <a:buNone/>
            </a:pPr>
            <a:r>
              <a:rPr lang="en-US" sz="1700" dirty="0">
                <a:solidFill>
                  <a:schemeClr val="tx2"/>
                </a:solidFill>
              </a:rPr>
              <a:t> </a:t>
            </a: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SUL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BOD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r>
              <a:rPr lang="en-US" sz="2800" b="1" dirty="0">
                <a:solidFill>
                  <a:schemeClr val="tx1"/>
                </a:solidFill>
              </a:rPr>
              <a:t> </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lstStyle>
            <a:lvl1pPr algn="l" indent="0" marL="0">
              <a:buNone/>
              <a:defRPr lang="en-US" sz="1700" dirty="0">
                <a:solidFill>
                  <a:schemeClr val="tx1"/>
                </a:solidFill>
              </a:defRPr>
            </a:lvl1pPr>
          </a:lstStyle>
          <a:p>
            <a:pPr algn="l" indent="0" marL="0">
              <a:buNone/>
            </a:pPr>
            <a:r>
              <a:rPr lang="en-US" sz="1700" dirty="0">
                <a:solidFill>
                  <a:schemeClr val="tx1"/>
                </a:solidFill>
              </a:rPr>
              <a:t> </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463040"/>
          </a:xfrm>
          <a:prstGeom prst="rect">
            <a:avLst/>
          </a:prstGeom>
          <a:noFill/>
          <a:ln/>
        </p:spPr>
        <p:txBody>
          <a:bodyPr wrap="square" rtlCol="0" anchor="b"/>
          <a:lstStyle/>
          <a:p>
            <a:pPr algn="l" indent="0" marL="0">
              <a:buNone/>
            </a:pPr>
            <a:r>
              <a:rPr lang="en-US" sz="3800" b="1" dirty="0">
                <a:solidFill>
                  <a:schemeClr val="tx1"/>
                </a:solidFill>
              </a:rPr>
              <a:t>AP-1 sites in cardiac fibroblasts</a:t>
            </a:r>
            <a:endParaRPr lang="en-US" sz="3800" dirty="0"/>
          </a:p>
        </p:txBody>
      </p:sp>
      <p:sp>
        <p:nvSpPr>
          <p:cNvPr id="3" name="Text 0"/>
          <p:cNvSpPr/>
          <p:nvPr>
            <p:ph idx="101" type="body" hasCustomPrompt="1"/>
          </p:nvPr>
        </p:nvSpPr>
        <p:spPr>
          <a:xfrm>
            <a:off x="822960" y="3749040"/>
            <a:ext cx="10515600" cy="1463040"/>
          </a:xfrm>
          <a:prstGeom prst="rect">
            <a:avLst/>
          </a:prstGeom>
          <a:noFill/>
          <a:ln/>
        </p:spPr>
        <p:txBody>
          <a:bodyPr wrap="square" rtlCol="0" anchor="t"/>
          <a:lstStyle/>
          <a:p>
            <a:pPr algn="l" indent="0" marL="0">
              <a:spcAft>
                <a:spcPts val="1200"/>
              </a:spcAft>
              <a:buNone/>
            </a:pPr>
            <a:r>
              <a:rPr lang="en-US" sz="1900" dirty="0">
                <a:solidFill>
                  <a:srgbClr val="111111"/>
                </a:solidFill>
              </a:rPr>
              <a:t>What AlphaGenome says separates Stable from Dynamic sites</a:t>
            </a:r>
            <a:endParaRPr lang="en-US" sz="1700" dirty="0"/>
          </a:p>
          <a:p>
            <a:pPr algn="l" indent="0" marL="0">
              <a:buNone/>
            </a:pPr>
            <a:r>
              <a:rPr lang="en-US" sz="1350" dirty="0">
                <a:solidFill>
                  <a:srgbClr val="595959"/>
                </a:solidFill>
              </a:rPr>
              <a:t>Fine-tuned 1 bp ATAC head (held-out Spearman 0.68, against 0.27 for the built-in head)  ·  5,018 fibroblast AP-1 sites  ·  all effects are predicted accessibility, not measured</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Three perturbations, all in the native 131 kb window</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Transplant — take the element out and drop it into 20 closed, non-open backgrounds</a:t>
            </a:r>
            <a:endParaRPr lang="en-US" sz="1700" dirty="0"/>
          </a:p>
          <a:p>
            <a:pPr algn="l" lvl="1" marL="685800" indent="-342900">
              <a:spcAft>
                <a:spcPts val="400"/>
              </a:spcAft>
              <a:buSzPct val="100000"/>
              <a:buChar char="▪"/>
            </a:pPr>
            <a:r>
              <a:rPr lang="en-US" sz="1450" dirty="0">
                <a:solidFill>
                  <a:srgbClr val="595959"/>
                </a:solidFill>
              </a:rPr>
              <a:t>scored against the same sequence shuffled, so the host contributes nothing. 50 donors per class.</a:t>
            </a:r>
            <a:endParaRPr lang="en-US" sz="1700" dirty="0"/>
          </a:p>
          <a:p>
            <a:pPr algn="l" marL="342900" indent="-342900">
              <a:spcBef>
                <a:spcPts val="1100"/>
              </a:spcBef>
              <a:spcAft>
                <a:spcPts val="300"/>
              </a:spcAft>
              <a:buSzPct val="100000"/>
              <a:buChar char="•"/>
            </a:pPr>
            <a:r>
              <a:rPr lang="en-US" sz="1700" b="1" dirty="0">
                <a:solidFill>
                  <a:srgbClr val="111111"/>
                </a:solidFill>
              </a:rPr>
              <a:t>Swap — put every element into every other site's location, at two widths</a:t>
            </a:r>
            <a:endParaRPr lang="en-US" sz="1700" dirty="0"/>
          </a:p>
          <a:p>
            <a:pPr algn="l" lvl="1" marL="685800" indent="-342900">
              <a:spcAft>
                <a:spcPts val="400"/>
              </a:spcAft>
              <a:buSzPct val="100000"/>
              <a:buChar char="▪"/>
            </a:pPr>
            <a:r>
              <a:rPr lang="en-US" sz="1450" dirty="0">
                <a:solidFill>
                  <a:srgbClr val="595959"/>
                </a:solidFill>
              </a:rPr>
              <a:t>62,250 swaps; separates what the element IS from WHERE it sits.</a:t>
            </a:r>
            <a:endParaRPr lang="en-US" sz="1700" dirty="0"/>
          </a:p>
          <a:p>
            <a:pPr algn="l" marL="342900" indent="-342900">
              <a:spcBef>
                <a:spcPts val="1100"/>
              </a:spcBef>
              <a:spcAft>
                <a:spcPts val="300"/>
              </a:spcAft>
              <a:buSzPct val="100000"/>
              <a:buChar char="•"/>
            </a:pPr>
            <a:r>
              <a:rPr lang="en-US" sz="1700" b="1" dirty="0">
                <a:solidFill>
                  <a:srgbClr val="111111"/>
                </a:solidFill>
              </a:rPr>
              <a:t>Shuffle, motif by motif — scramble the site's own AP-1 motif, and each partner motif, one at a time</a:t>
            </a:r>
            <a:endParaRPr lang="en-US" sz="1700" dirty="0"/>
          </a:p>
          <a:p>
            <a:pPr algn="l" lvl="1" marL="685800" indent="-342900">
              <a:spcAft>
                <a:spcPts val="400"/>
              </a:spcAft>
              <a:buSzPct val="100000"/>
              <a:buChar char="▪"/>
            </a:pPr>
            <a:r>
              <a:rPr lang="en-US" sz="1450" dirty="0">
                <a:solidFill>
                  <a:srgbClr val="595959"/>
                </a:solidFill>
              </a:rPr>
              <a:t>each partner is scored against a footprint-free window of the same width at the mirrored distance, so the comparison is inside one site and needs no accessibility matching.</a:t>
            </a:r>
            <a:endParaRPr lang="en-US" sz="1700" dirty="0"/>
          </a:p>
          <a:p>
            <a:pPr algn="l" marL="342900" indent="-342900">
              <a:spcBef>
                <a:spcPts val="1100"/>
              </a:spcBef>
              <a:spcAft>
                <a:spcPts val="300"/>
              </a:spcAft>
              <a:buSzPct val="100000"/>
              <a:buChar char="•"/>
            </a:pPr>
            <a:r>
              <a:rPr lang="en-US" sz="1700" b="1" dirty="0">
                <a:solidFill>
                  <a:srgbClr val="111111"/>
                </a:solidFill>
              </a:rPr>
              <a:t>Why that last control matters</a:t>
            </a:r>
            <a:endParaRPr lang="en-US" sz="1700" dirty="0"/>
          </a:p>
          <a:p>
            <a:pPr algn="l" lvl="1" marL="685800" indent="-342900">
              <a:spcAft>
                <a:spcPts val="400"/>
              </a:spcAft>
              <a:buSzPct val="100000"/>
              <a:buChar char="▪"/>
            </a:pPr>
            <a:r>
              <a:rPr lang="en-US" sz="1450" dirty="0">
                <a:solidFill>
                  <a:srgbClr val="595959"/>
                </a:solidFill>
              </a:rPr>
              <a:t>Dynamic sites are about half as accessible as Stable ones. Any comparison that does not hold that constant will find a difference whether or not one exists - two results below are exactly that trap.</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A Stable element opens closed chromatin on its own</a:t>
            </a:r>
            <a:endParaRPr lang="en-US" sz="2800" dirty="0"/>
          </a:p>
        </p:txBody>
      </p:sp>
      <p:sp>
        <p:nvSpPr>
          <p:cNvPr id="3" name="Text 1"/>
          <p:cNvSpPr txBox="1"/>
          <p:nvPr/>
        </p:nvSpPr>
        <p:spPr>
          <a:xfrm>
            <a:off x="502920" y="987552"/>
            <a:ext cx="11155680" cy="292608"/>
          </a:xfrm>
          <a:prstGeom prst="rect">
            <a:avLst/>
          </a:prstGeom>
          <a:noFill/>
          <a:ln/>
        </p:spPr>
        <p:txBody>
          <a:bodyPr wrap="square" lIns="0" tIns="0" rIns="0" bIns="0" rtlCol="0" anchor="ctr"/>
          <a:lstStyle/>
          <a:p>
            <a:pPr indent="0" marL="0">
              <a:buNone/>
            </a:pPr>
            <a:r>
              <a:rPr lang="en-US" sz="1300" i="1" dirty="0">
                <a:solidFill>
                  <a:srgbClr val="595959"/>
                </a:solidFill>
              </a:rPr>
              <a:t>Each element moved into 20 closed backgrounds, against the same sequence shuffled. 50 Stable and 200 Dynamic donors, whole-peak width.</a:t>
            </a:r>
            <a:endParaRPr lang="en-US" sz="1300" dirty="0"/>
          </a:p>
        </p:txBody>
      </p:sp>
      <p:pic>
        <p:nvPicPr>
          <p:cNvPr id="4" name="Image 0" descr="/Users/z5162865/WongLab/AlphaGenome_Ap1/Analysis/slide_figures/s_fb_transplant.png">    </p:cNvPr>
          <p:cNvPicPr>
            <a:picLocks noChangeAspect="1"/>
          </p:cNvPicPr>
          <p:nvPr/>
        </p:nvPicPr>
        <p:blipFill>
          <a:blip r:embed="rId1"/>
          <a:stretch>
            <a:fillRect/>
          </a:stretch>
        </p:blipFill>
        <p:spPr>
          <a:xfrm>
            <a:off x="2093800" y="1371600"/>
            <a:ext cx="7973920" cy="3749040"/>
          </a:xfrm>
          <a:prstGeom prst="rect">
            <a:avLst/>
          </a:prstGeom>
        </p:spPr>
      </p:pic>
      <p:sp>
        <p:nvSpPr>
          <p:cNvPr id="5" name="Shape 2"/>
          <p:cNvSpPr/>
          <p:nvPr/>
        </p:nvSpPr>
        <p:spPr>
          <a:xfrm>
            <a:off x="502920" y="5321808"/>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21808"/>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Stable AP-1 elements carry enough sequence to build their own accessible site. Dynamic ones do not — they need the neighbourhood they came from. That is "context, not sequence autonomy", shown by moving the sequence.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The element's identity lives at peak scale, not in 170 bp</a:t>
            </a:r>
            <a:endParaRPr lang="en-US" sz="2800" dirty="0"/>
          </a:p>
        </p:txBody>
      </p:sp>
      <p:sp>
        <p:nvSpPr>
          <p:cNvPr id="3" name="Text 1"/>
          <p:cNvSpPr txBox="1"/>
          <p:nvPr/>
        </p:nvSpPr>
        <p:spPr>
          <a:xfrm>
            <a:off x="502920" y="987552"/>
            <a:ext cx="11155680" cy="292608"/>
          </a:xfrm>
          <a:prstGeom prst="rect">
            <a:avLst/>
          </a:prstGeom>
          <a:noFill/>
          <a:ln/>
        </p:spPr>
        <p:txBody>
          <a:bodyPr wrap="square" lIns="0" tIns="0" rIns="0" bIns="0" rtlCol="0" anchor="ctr"/>
          <a:lstStyle/>
          <a:p>
            <a:pPr indent="0" marL="0">
              <a:buNone/>
            </a:pPr>
            <a:r>
              <a:rPr lang="en-US" sz="1300" i="1" dirty="0">
                <a:solidFill>
                  <a:srgbClr val="595959"/>
                </a:solidFill>
              </a:rPr>
              <a:t>Every element swapped into every other site's location: regression of the swapped site's accessibility on the donor element and on the recipient location.</a:t>
            </a:r>
            <a:endParaRPr lang="en-US" sz="1300" dirty="0"/>
          </a:p>
        </p:txBody>
      </p:sp>
      <p:pic>
        <p:nvPicPr>
          <p:cNvPr id="4" name="Image 0" descr="/Users/z5162865/WongLab/AlphaGenome_Ap1/Analysis/slide_figures/s_fb_scale.png">    </p:cNvPr>
          <p:cNvPicPr>
            <a:picLocks noChangeAspect="1"/>
          </p:cNvPicPr>
          <p:nvPr/>
        </p:nvPicPr>
        <p:blipFill>
          <a:blip r:embed="rId1"/>
          <a:stretch>
            <a:fillRect/>
          </a:stretch>
        </p:blipFill>
        <p:spPr>
          <a:xfrm>
            <a:off x="2869860" y="1371600"/>
            <a:ext cx="6421801" cy="3749040"/>
          </a:xfrm>
          <a:prstGeom prst="rect">
            <a:avLst/>
          </a:prstGeom>
        </p:spPr>
      </p:pic>
      <p:sp>
        <p:nvSpPr>
          <p:cNvPr id="5" name="Shape 2"/>
          <p:cNvSpPr/>
          <p:nvPr/>
        </p:nvSpPr>
        <p:spPr>
          <a:xfrm>
            <a:off x="502920" y="5321808"/>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21808"/>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At 170 bp an element mostly takes on the level of wherever you put it; at full peak width it imposes its own. The information that opens chromatin is spread over the whole peak — which is why a 170 bp assay cannot see it.</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Only the AP-1-losing sites let go — and only of AP-1</a:t>
            </a:r>
            <a:endParaRPr lang="en-US" sz="2800" dirty="0"/>
          </a:p>
        </p:txBody>
      </p:sp>
      <p:sp>
        <p:nvSpPr>
          <p:cNvPr id="3" name="Text 1"/>
          <p:cNvSpPr txBox="1"/>
          <p:nvPr/>
        </p:nvSpPr>
        <p:spPr>
          <a:xfrm>
            <a:off x="502920" y="987552"/>
            <a:ext cx="11155680" cy="292608"/>
          </a:xfrm>
          <a:prstGeom prst="rect">
            <a:avLst/>
          </a:prstGeom>
          <a:noFill/>
          <a:ln/>
        </p:spPr>
        <p:txBody>
          <a:bodyPr wrap="square" lIns="0" tIns="0" rIns="0" bIns="0" rtlCol="0" anchor="ctr"/>
          <a:lstStyle/>
          <a:p>
            <a:pPr indent="0" marL="0">
              <a:buNone/>
            </a:pPr>
            <a:r>
              <a:rPr lang="en-US" sz="1300" i="1" dirty="0">
                <a:solidFill>
                  <a:srgbClr val="595959"/>
                </a:solidFill>
              </a:rPr>
              <a:t>The site's own AP-1 motif and each partner motif shuffled separately inside the same window; partners net of a width- and distance-matched footprint-free control.</a:t>
            </a:r>
            <a:endParaRPr lang="en-US" sz="1300" dirty="0"/>
          </a:p>
        </p:txBody>
      </p:sp>
      <p:pic>
        <p:nvPicPr>
          <p:cNvPr id="4" name="Image 0" descr="/Users/z5162865/WongLab/AlphaGenome_Ap1/Analysis/slide_figures/s_fb_specificity.png">    </p:cNvPr>
          <p:cNvPicPr>
            <a:picLocks noChangeAspect="1"/>
          </p:cNvPicPr>
          <p:nvPr/>
        </p:nvPicPr>
        <p:blipFill>
          <a:blip r:embed="rId1"/>
          <a:stretch>
            <a:fillRect/>
          </a:stretch>
        </p:blipFill>
        <p:spPr>
          <a:xfrm>
            <a:off x="3196777" y="1371600"/>
            <a:ext cx="5767965" cy="3749040"/>
          </a:xfrm>
          <a:prstGeom prst="rect">
            <a:avLst/>
          </a:prstGeom>
        </p:spPr>
      </p:pic>
      <p:sp>
        <p:nvSpPr>
          <p:cNvPr id="5" name="Shape 2"/>
          <p:cNvSpPr/>
          <p:nvPr/>
        </p:nvSpPr>
        <p:spPr>
          <a:xfrm>
            <a:off x="502920" y="5321808"/>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21808"/>
            <a:ext cx="10881360" cy="868680"/>
          </a:xfrm>
          <a:prstGeom prst="rect">
            <a:avLst/>
          </a:prstGeom>
          <a:noFill/>
          <a:ln/>
        </p:spPr>
        <p:txBody>
          <a:bodyPr wrap="square" lIns="0" tIns="0" rIns="0" bIns="0" rtlCol="0" anchor="ctr"/>
          <a:lstStyle/>
          <a:p>
            <a:pPr indent="0" marL="0">
              <a:buNone/>
            </a:pPr>
            <a:r>
              <a:rPr lang="en-US" sz="1700" dirty="0">
                <a:solidFill>
                  <a:srgbClr val="111111"/>
                </a:solidFill>
              </a:rPr>
              <a:t>Sites that lose AP-1 binding with age were never strongly AP-1-driven: they depend 36% less on their own motif while using every other motif exactly as much. Sites that gain AP-1 with age are indistinguishable from Stable.</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Stable sites are more AP-1-centric; Dynamic sites spread it around</a:t>
            </a:r>
            <a:endParaRPr lang="en-US" sz="2800" dirty="0"/>
          </a:p>
        </p:txBody>
      </p:sp>
      <p:sp>
        <p:nvSpPr>
          <p:cNvPr id="3" name="Text 1"/>
          <p:cNvSpPr txBox="1"/>
          <p:nvPr/>
        </p:nvSpPr>
        <p:spPr>
          <a:xfrm>
            <a:off x="502920" y="987552"/>
            <a:ext cx="11155680" cy="292608"/>
          </a:xfrm>
          <a:prstGeom prst="rect">
            <a:avLst/>
          </a:prstGeom>
          <a:noFill/>
          <a:ln/>
        </p:spPr>
        <p:txBody>
          <a:bodyPr wrap="square" lIns="0" tIns="0" rIns="0" bIns="0" rtlCol="0" anchor="ctr"/>
          <a:lstStyle/>
          <a:p>
            <a:pPr indent="0" marL="0">
              <a:buNone/>
            </a:pPr>
            <a:r>
              <a:rPr lang="en-US" sz="1300" i="1" dirty="0">
                <a:solidFill>
                  <a:srgbClr val="595959"/>
                </a:solidFill>
              </a:rPr>
              <a:t>Per site: |own AP-1| / (|own AP-1| + |partner motifs|). Both terms are AlphaGenome shuffle effects measured inside the same window, so accessibility cannot drive the comparison.</a:t>
            </a:r>
            <a:endParaRPr lang="en-US" sz="1300" dirty="0"/>
          </a:p>
        </p:txBody>
      </p:sp>
      <p:pic>
        <p:nvPicPr>
          <p:cNvPr id="4" name="Image 0" descr="/Users/z5162865/WongLab/AlphaGenome_Ap1/Analysis/slide_figures/s_fb_share.png">    </p:cNvPr>
          <p:cNvPicPr>
            <a:picLocks noChangeAspect="1"/>
          </p:cNvPicPr>
          <p:nvPr/>
        </p:nvPicPr>
        <p:blipFill>
          <a:blip r:embed="rId1"/>
          <a:stretch>
            <a:fillRect/>
          </a:stretch>
        </p:blipFill>
        <p:spPr>
          <a:xfrm>
            <a:off x="2987316" y="1371600"/>
            <a:ext cx="6186887" cy="3749040"/>
          </a:xfrm>
          <a:prstGeom prst="rect">
            <a:avLst/>
          </a:prstGeom>
        </p:spPr>
      </p:pic>
      <p:sp>
        <p:nvSpPr>
          <p:cNvPr id="5" name="Shape 2"/>
          <p:cNvSpPr/>
          <p:nvPr/>
        </p:nvSpPr>
        <p:spPr>
          <a:xfrm>
            <a:off x="502920" y="5321808"/>
            <a:ext cx="50292" cy="868680"/>
          </a:xfrm>
          <a:prstGeom prst="rect">
            <a:avLst/>
          </a:prstGeom>
          <a:solidFill>
            <a:srgbClr val="C2551C"/>
          </a:solidFill>
          <a:ln w="12700">
            <a:solidFill>
              <a:srgbClr val="333333"/>
            </a:solidFill>
            <a:prstDash val="solid"/>
          </a:ln>
        </p:spPr>
      </p:sp>
      <p:sp>
        <p:nvSpPr>
          <p:cNvPr id="6" name="Text 3"/>
          <p:cNvSpPr txBox="1"/>
          <p:nvPr/>
        </p:nvSpPr>
        <p:spPr>
          <a:xfrm>
            <a:off x="749808" y="5321808"/>
            <a:ext cx="10881360" cy="868680"/>
          </a:xfrm>
          <a:prstGeom prst="rect">
            <a:avLst/>
          </a:prstGeom>
          <a:noFill/>
          <a:ln/>
        </p:spPr>
        <p:txBody>
          <a:bodyPr wrap="square" lIns="0" tIns="0" rIns="0" bIns="0" rtlCol="0" anchor="ctr"/>
          <a:lstStyle/>
          <a:p>
            <a:pPr indent="0" marL="0">
              <a:buNone/>
            </a:pPr>
            <a:r>
              <a:rPr lang="en-US" sz="1700" dirty="0">
                <a:solidFill>
                  <a:srgbClr val="111111"/>
                </a:solidFill>
              </a:rPr>
              <a:t>A Stable site puts 80% of its motif dependence on AP-1 itself; a Dynamic site 74%, with the rest spread across partner motifs. Modest, but it is the AP-1-centric vs distributed picture, measured rather than inferred.</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Two differences that turned out to be accessibility</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 second AP-1 copy looked worth more to Dynamic sites</a:t>
            </a:r>
            <a:endParaRPr lang="en-US" sz="1700" dirty="0"/>
          </a:p>
          <a:p>
            <a:pPr algn="l" lvl="1" marL="685800" indent="-342900">
              <a:spcAft>
                <a:spcPts val="400"/>
              </a:spcAft>
              <a:buSzPct val="100000"/>
              <a:buChar char="▪"/>
            </a:pPr>
            <a:r>
              <a:rPr lang="en-US" sz="1450" dirty="0">
                <a:solidFill>
                  <a:srgbClr val="595959"/>
                </a:solidFill>
              </a:rPr>
              <a:t>+0.72 vs +0.60 log2, p &lt; 1e-4 — matched on accessibility, p = 0.93. Gone.</a:t>
            </a:r>
            <a:endParaRPr lang="en-US" sz="1700" dirty="0"/>
          </a:p>
          <a:p>
            <a:pPr algn="l" marL="342900" indent="-342900">
              <a:spcBef>
                <a:spcPts val="1100"/>
              </a:spcBef>
              <a:spcAft>
                <a:spcPts val="300"/>
              </a:spcAft>
              <a:buSzPct val="100000"/>
              <a:buChar char="•"/>
            </a:pPr>
            <a:r>
              <a:rPr lang="en-US" sz="1700" b="1" dirty="0">
                <a:solidFill>
                  <a:srgbClr val="111111"/>
                </a:solidFill>
              </a:rPr>
              <a:t>Upgrading an imperfect core to a perfect TGAGTCA looked worth more to Dynamic sites</a:t>
            </a:r>
            <a:endParaRPr lang="en-US" sz="1700" dirty="0"/>
          </a:p>
          <a:p>
            <a:pPr algn="l" lvl="1" marL="685800" indent="-342900">
              <a:spcAft>
                <a:spcPts val="400"/>
              </a:spcAft>
              <a:buSzPct val="100000"/>
              <a:buChar char="▪"/>
            </a:pPr>
            <a:r>
              <a:rPr lang="en-US" sz="1450" dirty="0">
                <a:solidFill>
                  <a:srgbClr val="595959"/>
                </a:solidFill>
              </a:rPr>
              <a:t>+0.66 vs +0.52, p &lt; 1e-4 — matched, p = 0.94. Gone.</a:t>
            </a:r>
            <a:endParaRPr lang="en-US" sz="1700" dirty="0"/>
          </a:p>
          <a:p>
            <a:pPr algn="l" marL="342900" indent="-342900">
              <a:spcBef>
                <a:spcPts val="1100"/>
              </a:spcBef>
              <a:spcAft>
                <a:spcPts val="300"/>
              </a:spcAft>
              <a:buSzPct val="100000"/>
              <a:buChar char="•"/>
            </a:pPr>
            <a:r>
              <a:rPr lang="en-US" sz="1700" b="1" dirty="0">
                <a:solidFill>
                  <a:srgbClr val="111111"/>
                </a:solidFill>
              </a:rPr>
              <a:t>What did survive matching</a:t>
            </a:r>
            <a:endParaRPr lang="en-US" sz="1700" dirty="0"/>
          </a:p>
          <a:p>
            <a:pPr algn="l" lvl="1" marL="685800" indent="-342900">
              <a:spcAft>
                <a:spcPts val="400"/>
              </a:spcAft>
              <a:buSzPct val="100000"/>
              <a:buChar char="▪"/>
            </a:pPr>
            <a:r>
              <a:rPr lang="en-US" sz="1450" dirty="0">
                <a:solidFill>
                  <a:srgbClr val="595959"/>
                </a:solidFill>
              </a:rPr>
              <a:t>Destroying the motif costs Dynamic sites less (+0.16, p = 4e-4); the dose-response is shallower; relocating the motif helps them less.</a:t>
            </a:r>
            <a:endParaRPr lang="en-US" sz="1700" dirty="0"/>
          </a:p>
          <a:p>
            <a:pPr algn="l" marL="342900" indent="-342900">
              <a:spcBef>
                <a:spcPts val="1100"/>
              </a:spcBef>
              <a:spcAft>
                <a:spcPts val="300"/>
              </a:spcAft>
              <a:buSzPct val="100000"/>
              <a:buChar char="•"/>
            </a:pPr>
            <a:r>
              <a:rPr lang="en-US" sz="1700" b="1" dirty="0">
                <a:solidFill>
                  <a:srgbClr val="111111"/>
                </a:solidFill>
              </a:rPr>
              <a:t>Two clean negatives worth having</a:t>
            </a:r>
            <a:endParaRPr lang="en-US" sz="1700" dirty="0"/>
          </a:p>
          <a:p>
            <a:pPr algn="l" lvl="1" marL="685800" indent="-342900">
              <a:spcAft>
                <a:spcPts val="400"/>
              </a:spcAft>
              <a:buSzPct val="100000"/>
              <a:buChar char="▪"/>
            </a:pPr>
            <a:r>
              <a:rPr lang="en-US" sz="1450" dirty="0">
                <a:solidFill>
                  <a:srgbClr val="595959"/>
                </a:solidFill>
              </a:rPr>
              <a:t>Reverse-complementing the whole motif costs nothing in either class (-0.03 log2, p = 0.89) — expected for a palindromic TRE, and a sanity check on the head.</a:t>
            </a:r>
            <a:endParaRPr lang="en-US" sz="1700" dirty="0"/>
          </a:p>
          <a:p>
            <a:pPr algn="l" lvl="1" marL="685800" indent="-342900">
              <a:spcAft>
                <a:spcPts val="400"/>
              </a:spcAft>
              <a:buSzPct val="100000"/>
              <a:buChar char="▪"/>
            </a:pPr>
            <a:r>
              <a:rPr lang="en-US" sz="1450" dirty="0">
                <a:solidFill>
                  <a:srgbClr val="595959"/>
                </a:solidFill>
              </a:rPr>
              <a:t>The spacing preference for a second copy is identical: best at ±20–40 bp, decaying by ±150 bp, with no class difference at any distance (all FDR &gt; 0.58).</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274320"/>
            <a:ext cx="11155680" cy="731520"/>
          </a:xfrm>
          <a:prstGeom prst="rect">
            <a:avLst/>
          </a:prstGeom>
          <a:noFill/>
          <a:ln/>
        </p:spPr>
        <p:txBody>
          <a:bodyPr wrap="square" rtlCol="0" anchor="ctr"/>
          <a:lstStyle/>
          <a:p>
            <a:pPr algn="l" indent="0" marL="0">
              <a:buNone/>
            </a:pPr>
            <a:r>
              <a:rPr lang="en-US" sz="2800" b="1" dirty="0">
                <a:solidFill>
                  <a:schemeClr val="tx1"/>
                </a:solidFill>
              </a:rPr>
              <a:t>How this sits with the MPRA work</a:t>
            </a:r>
            <a:endParaRPr lang="en-US" sz="2800" dirty="0"/>
          </a:p>
        </p:txBody>
      </p:sp>
      <p:sp>
        <p:nvSpPr>
          <p:cNvPr id="3" name="Text 0"/>
          <p:cNvSpPr/>
          <p:nvPr>
            <p:ph idx="101" type="body" hasCustomPrompt="1"/>
          </p:nvPr>
        </p:nvSpPr>
        <p:spPr>
          <a:xfrm>
            <a:off x="502920" y="1234440"/>
            <a:ext cx="11155680" cy="5029200"/>
          </a:xfrm>
          <a:prstGeom prst="rect">
            <a:avLst/>
          </a:prstGeom>
          <a:noFill/>
          <a:ln/>
        </p:spPr>
        <p:txBody>
          <a:bodyPr wrap="square" rtlCol="0" anchor="t"/>
          <a:lstStyle/>
          <a:p>
            <a:pPr algn="l" marL="342900" indent="-342900">
              <a:spcBef>
                <a:spcPts val="1100"/>
              </a:spcBef>
              <a:spcAft>
                <a:spcPts val="300"/>
              </a:spcAft>
              <a:buSzPct val="100000"/>
              <a:buChar char="•"/>
            </a:pPr>
            <a:r>
              <a:rPr lang="en-US" sz="1700" b="1" dirty="0">
                <a:solidFill>
                  <a:srgbClr val="111111"/>
                </a:solidFill>
              </a:rPr>
              <a:t>Agrees</a:t>
            </a:r>
            <a:endParaRPr lang="en-US" sz="1700" dirty="0"/>
          </a:p>
          <a:p>
            <a:pPr algn="l" lvl="1" marL="685800" indent="-342900">
              <a:spcAft>
                <a:spcPts val="400"/>
              </a:spcAft>
              <a:buSzPct val="100000"/>
              <a:buChar char="▪"/>
            </a:pPr>
            <a:r>
              <a:rPr lang="en-US" sz="1450" dirty="0">
                <a:solidFill>
                  <a:srgbClr val="595959"/>
                </a:solidFill>
              </a:rPr>
              <a:t>Dynamic elements have weaker endogenous chromatin, and depend on context rather than being sequence-autonomous.</a:t>
            </a:r>
            <a:endParaRPr lang="en-US" sz="1700" dirty="0"/>
          </a:p>
          <a:p>
            <a:pPr algn="l" lvl="1" marL="685800" indent="-342900">
              <a:spcAft>
                <a:spcPts val="400"/>
              </a:spcAft>
              <a:buSzPct val="100000"/>
              <a:buChar char="▪"/>
            </a:pPr>
            <a:r>
              <a:rPr lang="en-US" sz="1450" dirty="0">
                <a:solidFill>
                  <a:srgbClr val="595959"/>
                </a:solidFill>
              </a:rPr>
              <a:t>Shuffling the AP-1 core alone does not separate pooled Stable from pooled Dynamic.</a:t>
            </a:r>
            <a:endParaRPr lang="en-US" sz="1700" dirty="0"/>
          </a:p>
          <a:p>
            <a:pPr algn="l" lvl="1" marL="685800" indent="-342900">
              <a:spcAft>
                <a:spcPts val="400"/>
              </a:spcAft>
              <a:buSzPct val="100000"/>
              <a:buChar char="▪"/>
            </a:pPr>
            <a:r>
              <a:rPr lang="en-US" sz="1450" dirty="0">
                <a:solidFill>
                  <a:srgbClr val="595959"/>
                </a:solidFill>
              </a:rPr>
              <a:t>Age-gained elements behave like Stable ones — here, at their own AP-1 motif.</a:t>
            </a:r>
            <a:endParaRPr lang="en-US" sz="1700" dirty="0"/>
          </a:p>
          <a:p>
            <a:pPr algn="l" lvl="1" marL="685800" indent="-342900">
              <a:spcAft>
                <a:spcPts val="400"/>
              </a:spcAft>
              <a:buSzPct val="100000"/>
              <a:buChar char="▪"/>
            </a:pPr>
            <a:r>
              <a:rPr lang="en-US" sz="1450" dirty="0">
                <a:solidFill>
                  <a:srgbClr val="595959"/>
                </a:solidFill>
              </a:rPr>
              <a:t>C/EBP is the strongest partner motif at fibroblast AP-1 sites (net −0.71 log2, ahead of MEF2 and NFI).</a:t>
            </a:r>
            <a:endParaRPr lang="en-US" sz="1700" dirty="0"/>
          </a:p>
          <a:p>
            <a:pPr algn="l" marL="342900" indent="-342900">
              <a:spcBef>
                <a:spcPts val="1100"/>
              </a:spcBef>
              <a:spcAft>
                <a:spcPts val="300"/>
              </a:spcAft>
              <a:buSzPct val="100000"/>
              <a:buChar char="•"/>
            </a:pPr>
            <a:r>
              <a:rPr lang="en-US" sz="1700" b="1" dirty="0">
                <a:solidFill>
                  <a:srgbClr val="111111"/>
                </a:solidFill>
              </a:rPr>
              <a:t>Adds</a:t>
            </a:r>
            <a:endParaRPr lang="en-US" sz="1700" dirty="0"/>
          </a:p>
          <a:p>
            <a:pPr algn="l" lvl="1" marL="685800" indent="-342900">
              <a:spcAft>
                <a:spcPts val="400"/>
              </a:spcAft>
              <a:buSzPct val="100000"/>
              <a:buChar char="▪"/>
            </a:pPr>
            <a:r>
              <a:rPr lang="en-US" sz="1450" dirty="0">
                <a:solidFill>
                  <a:srgbClr val="595959"/>
                </a:solidFill>
              </a:rPr>
              <a:t>The class difference is a whole-peak property, not a 170 bp one.</a:t>
            </a:r>
            <a:endParaRPr lang="en-US" sz="1700" dirty="0"/>
          </a:p>
          <a:p>
            <a:pPr algn="l" lvl="1" marL="685800" indent="-342900">
              <a:spcAft>
                <a:spcPts val="400"/>
              </a:spcAft>
              <a:buSzPct val="100000"/>
              <a:buChar char="▪"/>
            </a:pPr>
            <a:r>
              <a:rPr lang="en-US" sz="1450" dirty="0">
                <a:solidFill>
                  <a:srgbClr val="595959"/>
                </a:solidFill>
              </a:rPr>
              <a:t>Within Dynamic, the AP-1-losing sites are the ones that are sequence-different; the gaining ones are not.</a:t>
            </a:r>
            <a:endParaRPr lang="en-US" sz="1700" dirty="0"/>
          </a:p>
          <a:p>
            <a:pPr algn="l" marL="342900" indent="-342900">
              <a:spcBef>
                <a:spcPts val="1100"/>
              </a:spcBef>
              <a:spcAft>
                <a:spcPts val="300"/>
              </a:spcAft>
              <a:buSzPct val="100000"/>
              <a:buChar char="•"/>
            </a:pPr>
            <a:r>
              <a:rPr lang="en-US" sz="1700" b="1" dirty="0">
                <a:solidFill>
                  <a:srgbClr val="111111"/>
                </a:solidFill>
              </a:rPr>
              <a:t>Keep off the slides</a:t>
            </a:r>
            <a:endParaRPr lang="en-US" sz="1700" dirty="0"/>
          </a:p>
          <a:p>
            <a:pPr algn="l" lvl="1" marL="685800" indent="-342900">
              <a:spcAft>
                <a:spcPts val="400"/>
              </a:spcAft>
              <a:buSzPct val="100000"/>
              <a:buChar char="▪"/>
            </a:pPr>
            <a:r>
              <a:rPr lang="en-US" sz="1450" dirty="0">
                <a:solidFill>
                  <a:srgbClr val="595959"/>
                </a:solidFill>
              </a:rPr>
              <a:t>Our in-situ 170 bp shuffle costs Stable sites more (−2.51 vs −1.96, p = 4e-40), the opposite of the MPRA flank result. Different assay — episomal activity vs chromatin accessibility — but it reads as a contradiction.</a:t>
            </a:r>
            <a:endParaRPr lang="en-US" sz="1700" dirty="0"/>
          </a:p>
        </p:txBody>
      </p:sp>
      <p:sp>
        <p:nvSpPr>
          <p:cNvPr id="25" name="Slide Number Placeholder 0"/>
          <p:cNvSpPr>
            <a:spLocks noGrp="1"/>
          </p:cNvSpPr>
          <p:nvPr>
            <p:ph type="sldNum" sz="quarter" idx="4294967295"/>
          </p:nvPr>
        </p:nvSpPr>
        <p:spPr>
          <a:xfrm>
            <a:off x="11658600" y="644652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A6A6A6"/>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P1 Mono">
  <a:themeElements>
    <a:clrScheme name="AP1 Mono">
      <a:dk1>
        <a:srgbClr val="111111"/>
      </a:dk1>
      <a:lt1>
        <a:srgbClr val="FFFFFF"/>
      </a:lt1>
      <a:dk2>
        <a:srgbClr val="595959"/>
      </a:dk2>
      <a:lt2>
        <a:srgbClr val="F2F2F2"/>
      </a:lt2>
      <a:accent1>
        <a:srgbClr val="C2551C"/>
      </a:accent1>
      <a:accent2>
        <a:srgbClr val="1F6FB2"/>
      </a:accent2>
      <a:accent3>
        <a:srgbClr val="111111"/>
      </a:accent3>
      <a:accent4>
        <a:srgbClr val="8C8C8C"/>
      </a:accent4>
      <a:accent5>
        <a:srgbClr val="D9D9D9"/>
      </a:accent5>
      <a:accent6>
        <a:srgbClr val="595959"/>
      </a:accent6>
      <a:hlink>
        <a:srgbClr val="1F6FB2"/>
      </a:hlink>
      <a:folHlink>
        <a:srgbClr val="595959"/>
      </a:folHlink>
    </a:clrScheme>
    <a:fontScheme name="AP1 Mono">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AP-1 sites in cardiac fibroblasts: what AlphaGenome says</dc:title>
  <dc:subject>PptxGenJS Presentation</dc:subject>
  <dc:creator>Jack</dc:creator>
  <cp:lastModifiedBy>Jack</cp:lastModifiedBy>
  <cp:revision>1</cp:revision>
  <dcterms:created xsi:type="dcterms:W3CDTF">2026-10-24T22:48:34Z</dcterms:created>
  <dcterms:modified xsi:type="dcterms:W3CDTF">2026-10-24T22:48:34Z</dcterms:modified>
</cp:coreProperties>
</file>